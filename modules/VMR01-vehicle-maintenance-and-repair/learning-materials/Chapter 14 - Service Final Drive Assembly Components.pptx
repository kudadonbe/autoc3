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28"/>
  </p:notesMasterIdLst>
  <p:sldIdLst>
    <p:sldId id="265" r:id="rId2"/>
    <p:sldId id="331" r:id="rId3"/>
    <p:sldId id="332" r:id="rId4"/>
    <p:sldId id="333" r:id="rId5"/>
    <p:sldId id="334" r:id="rId6"/>
    <p:sldId id="342" r:id="rId7"/>
    <p:sldId id="344" r:id="rId8"/>
    <p:sldId id="345" r:id="rId9"/>
    <p:sldId id="343" r:id="rId10"/>
    <p:sldId id="346" r:id="rId11"/>
    <p:sldId id="347" r:id="rId12"/>
    <p:sldId id="348" r:id="rId13"/>
    <p:sldId id="349" r:id="rId14"/>
    <p:sldId id="335" r:id="rId15"/>
    <p:sldId id="336" r:id="rId16"/>
    <p:sldId id="337" r:id="rId17"/>
    <p:sldId id="340" r:id="rId18"/>
    <p:sldId id="341" r:id="rId19"/>
    <p:sldId id="338" r:id="rId20"/>
    <p:sldId id="339" r:id="rId21"/>
    <p:sldId id="350" r:id="rId22"/>
    <p:sldId id="351" r:id="rId23"/>
    <p:sldId id="352" r:id="rId24"/>
    <p:sldId id="353" r:id="rId25"/>
    <p:sldId id="354" r:id="rId26"/>
    <p:sldId id="295" r:id="rId27"/>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5" d="100"/>
          <a:sy n="115" d="100"/>
        </p:scale>
        <p:origin x="498"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2025/12/1</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2025/12/1</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15.png"/><Relationship Id="rId4" Type="http://schemas.openxmlformats.org/officeDocument/2006/relationships/hyperlink" Target="https://www.google.com/search?q=differential&amp;rlz=1C1GCEU_enMV1103MV1103&amp;oq=what+is+car+final+drive+assebly&amp;gs_lcrp=EgZjaHJvbWUyBggAEEUYOTIJCAEQIRgKGKABMgkIAhAhGAoYoAEyCQgDECEYChigATIHCAQQIRifBTIHCAUQIRifBdIBCDk4NDZqMGo3qAIAsAIA&amp;sourceid=chrome&amp;ie=UTF-8&amp;mstk=AUtExfD-H_Vah9KvAPj0WvmE_iXI6p2yEPlEHUS-6tWOy7s320uqoNjAtaM4LRfscSna3ejjZLXvKq8xNYlQB9bVwnHR4jxp0NEH2CkwITU2bpJXEvCqHl-87HF7oLk8McNcdXkAAkuYR39Lg6Qt6xfrTA65RLajZn4C0TFMwfct_4IcHPcTB_vWlLE6bm7GWwbJL9jNT9widISkJj_ZrUgm3QiV_uuWRwI2IAY-wpU2w8JlN81A08gGVl_3w2sDDv7JPeXNB643cpojRo2SiWqymN4b&amp;csui=3&amp;ved=2ahUKEwiBtIukovuQAxWjwTgGHQohOL4QgK4QegQIARAE" TargetMode="Externa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2.xml"/><Relationship Id="rId1" Type="http://schemas.openxmlformats.org/officeDocument/2006/relationships/tags" Target="../tags/tag161.xm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4.xml"/><Relationship Id="rId1" Type="http://schemas.openxmlformats.org/officeDocument/2006/relationships/tags" Target="../tags/tag16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6.xml"/><Relationship Id="rId1" Type="http://schemas.openxmlformats.org/officeDocument/2006/relationships/tags" Target="../tags/tag16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8.xml"/><Relationship Id="rId1" Type="http://schemas.openxmlformats.org/officeDocument/2006/relationships/tags" Target="../tags/tag167.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0.xml"/><Relationship Id="rId1" Type="http://schemas.openxmlformats.org/officeDocument/2006/relationships/tags" Target="../tags/tag169.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1.xml"/><Relationship Id="rId7" Type="http://schemas.openxmlformats.org/officeDocument/2006/relationships/image" Target="../media/image21.png"/><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4.xml"/><Relationship Id="rId1" Type="http://schemas.openxmlformats.org/officeDocument/2006/relationships/tags" Target="../tags/tag173.xml"/></Relationships>
</file>

<file path=ppt/slides/_rels/slide10.xml.rels><?xml version="1.0" encoding="UTF-8" standalone="yes"?>
<Relationships xmlns="http://schemas.openxmlformats.org/package/2006/relationships"><Relationship Id="rId3" Type="http://schemas.openxmlformats.org/officeDocument/2006/relationships/video" Target="https://www.youtube.com/embed/nC6fsNXdcMQ" TargetMode="External"/><Relationship Id="rId2" Type="http://schemas.openxmlformats.org/officeDocument/2006/relationships/tags" Target="../tags/tag176.xml"/><Relationship Id="rId1" Type="http://schemas.openxmlformats.org/officeDocument/2006/relationships/tags" Target="../tags/tag175.xml"/><Relationship Id="rId5" Type="http://schemas.openxmlformats.org/officeDocument/2006/relationships/image" Target="../media/image24.jpe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8.xml"/><Relationship Id="rId1" Type="http://schemas.openxmlformats.org/officeDocument/2006/relationships/tags" Target="../tags/tag17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0.xml"/><Relationship Id="rId1" Type="http://schemas.openxmlformats.org/officeDocument/2006/relationships/tags" Target="../tags/tag17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2.xml"/><Relationship Id="rId1" Type="http://schemas.openxmlformats.org/officeDocument/2006/relationships/tags" Target="../tags/tag181.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4.xml"/><Relationship Id="rId1" Type="http://schemas.openxmlformats.org/officeDocument/2006/relationships/tags" Target="../tags/tag18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6.xml"/><Relationship Id="rId1" Type="http://schemas.openxmlformats.org/officeDocument/2006/relationships/tags" Target="../tags/tag18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8.xml"/><Relationship Id="rId1" Type="http://schemas.openxmlformats.org/officeDocument/2006/relationships/tags" Target="../tags/tag18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2.xml"/><Relationship Id="rId1" Type="http://schemas.openxmlformats.org/officeDocument/2006/relationships/tags" Target="../tags/tag19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4.xml"/><Relationship Id="rId1" Type="http://schemas.openxmlformats.org/officeDocument/2006/relationships/tags" Target="../tags/tag19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6.xml"/><Relationship Id="rId1" Type="http://schemas.openxmlformats.org/officeDocument/2006/relationships/tags" Target="../tags/tag19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8.xml"/><Relationship Id="rId1" Type="http://schemas.openxmlformats.org/officeDocument/2006/relationships/tags" Target="../tags/tag197.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0.xml"/><Relationship Id="rId1" Type="http://schemas.openxmlformats.org/officeDocument/2006/relationships/tags" Target="../tags/tag19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2.xml"/><Relationship Id="rId1" Type="http://schemas.openxmlformats.org/officeDocument/2006/relationships/tags" Target="../tags/tag20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4.xml"/><Relationship Id="rId1" Type="http://schemas.openxmlformats.org/officeDocument/2006/relationships/tags" Target="../tags/tag203.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video" Target="https://www.youtube.com/embed/-cTJqNWwmf0" TargetMode="External"/><Relationship Id="rId2" Type="http://schemas.openxmlformats.org/officeDocument/2006/relationships/tags" Target="../tags/tag206.xml"/><Relationship Id="rId1" Type="http://schemas.openxmlformats.org/officeDocument/2006/relationships/tags" Target="../tags/tag205.xml"/><Relationship Id="rId5" Type="http://schemas.openxmlformats.org/officeDocument/2006/relationships/image" Target="../media/image31.jpeg"/><Relationship Id="rId4"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8.xml"/><Relationship Id="rId1" Type="http://schemas.openxmlformats.org/officeDocument/2006/relationships/tags" Target="../tags/tag20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1096519"/>
          </a:xfrm>
          <a:prstGeom prst="rect">
            <a:avLst/>
          </a:prstGeom>
          <a:noFill/>
        </p:spPr>
        <p:txBody>
          <a:bodyPr wrap="square">
            <a:spAutoFit/>
          </a:bodyPr>
          <a:lstStyle/>
          <a:p>
            <a:pPr algn="ctr">
              <a:lnSpc>
                <a:spcPct val="107000"/>
              </a:lnSpc>
              <a:spcAft>
                <a:spcPts val="800"/>
              </a:spcAft>
              <a:defRPr/>
            </a:pPr>
            <a:r>
              <a:rPr kumimoji="0" lang="en-US" sz="2800" b="1" i="0" u="none" strike="noStrike" kern="100" cap="none" spc="0" normalizeH="0" baseline="0" noProof="0" dirty="0" smtClean="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2800" b="1" i="0" u="none" strike="noStrike" kern="100" cap="none" spc="0" normalizeH="0" baseline="0" noProof="0" dirty="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668295" y="1696979"/>
            <a:ext cx="9838678" cy="1477328"/>
          </a:xfrm>
          <a:prstGeom prst="rect">
            <a:avLst/>
          </a:prstGeom>
        </p:spPr>
        <p:txBody>
          <a:bodyPr wrap="square">
            <a:spAutoFit/>
          </a:bodyPr>
          <a:lstStyle/>
          <a:p>
            <a:r>
              <a:rPr lang="en-US" dirty="0">
                <a:solidFill>
                  <a:srgbClr val="0A0A0A"/>
                </a:solidFill>
                <a:latin typeface="Google Sans"/>
              </a:rPr>
              <a:t>A car's final drive assembly is </a:t>
            </a:r>
            <a:r>
              <a:rPr lang="en-US" dirty="0"/>
              <a:t>the last set of gears in the drivetrain that reduces engine speed (RPM) and increases torque before sending power to the wheels</a:t>
            </a:r>
            <a:r>
              <a:rPr lang="en-US" dirty="0">
                <a:solidFill>
                  <a:srgbClr val="0A0A0A"/>
                </a:solidFill>
                <a:latin typeface="Google Sans"/>
              </a:rPr>
              <a:t>. It is located either in the transmission/transaxle (for front-wheel drive) or in the rear axle (for rear-wheel drive). This assembly also contains the </a:t>
            </a:r>
            <a:r>
              <a:rPr lang="en-US" dirty="0">
                <a:latin typeface="Google Sans"/>
                <a:hlinkClick r:id="rId4"/>
              </a:rPr>
              <a:t>differential</a:t>
            </a:r>
            <a:r>
              <a:rPr lang="en-US" dirty="0">
                <a:solidFill>
                  <a:srgbClr val="0A0A0A"/>
                </a:solidFill>
                <a:latin typeface="Google Sans"/>
              </a:rPr>
              <a:t>, which allows the two drive wheels to rotate at different speeds when </a:t>
            </a:r>
            <a:r>
              <a:rPr lang="en-US" dirty="0" smtClean="0">
                <a:solidFill>
                  <a:srgbClr val="0A0A0A"/>
                </a:solidFill>
                <a:latin typeface="Google Sans"/>
              </a:rPr>
              <a:t>turning</a:t>
            </a:r>
            <a:endParaRPr lang="en-US" dirty="0"/>
          </a:p>
        </p:txBody>
      </p:sp>
      <p:sp>
        <p:nvSpPr>
          <p:cNvPr id="6" name="Rectangle 5"/>
          <p:cNvSpPr/>
          <p:nvPr/>
        </p:nvSpPr>
        <p:spPr>
          <a:xfrm>
            <a:off x="974858" y="1245348"/>
            <a:ext cx="1883849"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Introduction</a:t>
            </a:r>
            <a:r>
              <a:rPr lang="en-US" dirty="0" smtClean="0">
                <a:solidFill>
                  <a:srgbClr val="0A0A0A"/>
                </a:solidFill>
                <a:latin typeface="Google Sans"/>
              </a:rPr>
              <a:t> </a:t>
            </a:r>
            <a:endParaRPr lang="en-US" dirty="0"/>
          </a:p>
        </p:txBody>
      </p:sp>
      <p:pic>
        <p:nvPicPr>
          <p:cNvPr id="2" name="Picture 1"/>
          <p:cNvPicPr>
            <a:picLocks noChangeAspect="1"/>
          </p:cNvPicPr>
          <p:nvPr/>
        </p:nvPicPr>
        <p:blipFill>
          <a:blip r:embed="rId5"/>
          <a:stretch>
            <a:fillRect/>
          </a:stretch>
        </p:blipFill>
        <p:spPr>
          <a:xfrm>
            <a:off x="6533805" y="3591898"/>
            <a:ext cx="5091200" cy="2792638"/>
          </a:xfrm>
          <a:prstGeom prst="rect">
            <a:avLst/>
          </a:prstGeom>
        </p:spPr>
      </p:pic>
    </p:spTree>
    <p:custDataLst>
      <p:tags r:id="rId1"/>
    </p:custDataLst>
    <p:extLst>
      <p:ext uri="{BB962C8B-B14F-4D97-AF65-F5344CB8AC3E}">
        <p14:creationId xmlns:p14="http://schemas.microsoft.com/office/powerpoint/2010/main" val="8377917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974858" y="1245348"/>
            <a:ext cx="2589170"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Drive Components</a:t>
            </a:r>
            <a:r>
              <a:rPr lang="en-US" dirty="0" smtClean="0">
                <a:solidFill>
                  <a:srgbClr val="0A0A0A"/>
                </a:solidFill>
                <a:latin typeface="Google Sans"/>
              </a:rPr>
              <a:t> </a:t>
            </a:r>
            <a:endParaRPr lang="en-US" dirty="0"/>
          </a:p>
        </p:txBody>
      </p:sp>
      <p:sp>
        <p:nvSpPr>
          <p:cNvPr id="7" name="Rectangle 6"/>
          <p:cNvSpPr/>
          <p:nvPr/>
        </p:nvSpPr>
        <p:spPr>
          <a:xfrm>
            <a:off x="1039230" y="1699730"/>
            <a:ext cx="10131977" cy="369332"/>
          </a:xfrm>
          <a:prstGeom prst="rect">
            <a:avLst/>
          </a:prstGeom>
        </p:spPr>
        <p:txBody>
          <a:bodyPr wrap="square">
            <a:spAutoFit/>
          </a:bodyPr>
          <a:lstStyle/>
          <a:p>
            <a:r>
              <a:rPr lang="en-US" dirty="0"/>
              <a:t>the system of components that transfers power from the engine to the wheels</a:t>
            </a:r>
            <a:r>
              <a:rPr lang="en-US" dirty="0">
                <a:solidFill>
                  <a:srgbClr val="0A0A0A"/>
                </a:solidFill>
                <a:latin typeface="Google Sans"/>
              </a:rPr>
              <a:t>,</a:t>
            </a:r>
            <a:endParaRPr lang="en-US" dirty="0"/>
          </a:p>
        </p:txBody>
      </p:sp>
      <p:sp>
        <p:nvSpPr>
          <p:cNvPr id="8" name="Rectangle 7"/>
          <p:cNvSpPr/>
          <p:nvPr/>
        </p:nvSpPr>
        <p:spPr>
          <a:xfrm>
            <a:off x="1039230" y="2330341"/>
            <a:ext cx="10270000" cy="646331"/>
          </a:xfrm>
          <a:prstGeom prst="rect">
            <a:avLst/>
          </a:prstGeom>
        </p:spPr>
        <p:txBody>
          <a:bodyPr wrap="square">
            <a:spAutoFit/>
          </a:bodyPr>
          <a:lstStyle/>
          <a:p>
            <a:r>
              <a:rPr lang="en-US" dirty="0">
                <a:solidFill>
                  <a:srgbClr val="0A0A0A"/>
                </a:solidFill>
                <a:latin typeface="Google Sans"/>
              </a:rPr>
              <a:t>four main types being front-wheel drive (FWD), rear-wheel drive (RWD), all-wheel drive (AWD), and four-wheel drive (4WD).</a:t>
            </a:r>
            <a:endParaRPr lang="en-US" dirty="0"/>
          </a:p>
        </p:txBody>
      </p:sp>
      <p:sp>
        <p:nvSpPr>
          <p:cNvPr id="9" name="Rectangle 8"/>
          <p:cNvSpPr/>
          <p:nvPr/>
        </p:nvSpPr>
        <p:spPr>
          <a:xfrm>
            <a:off x="1039230" y="3048528"/>
            <a:ext cx="6189706" cy="1200329"/>
          </a:xfrm>
          <a:prstGeom prst="rect">
            <a:avLst/>
          </a:prstGeom>
        </p:spPr>
        <p:txBody>
          <a:bodyPr wrap="square">
            <a:spAutoFit/>
          </a:bodyPr>
          <a:lstStyle/>
          <a:p>
            <a:r>
              <a:rPr lang="en-US" dirty="0">
                <a:solidFill>
                  <a:srgbClr val="0A0A0A"/>
                </a:solidFill>
                <a:latin typeface="Google Sans"/>
              </a:rPr>
              <a:t>Key parts of the drivetrain include the transmission, which adjusts gear ratios, and the driveshaft or half-shafts, which transmit power to the differential, which then directs it to the drive wheels. </a:t>
            </a:r>
            <a:endParaRPr lang="en-US" dirty="0"/>
          </a:p>
        </p:txBody>
      </p:sp>
      <p:pic>
        <p:nvPicPr>
          <p:cNvPr id="10" name="Picture 9"/>
          <p:cNvPicPr>
            <a:picLocks noChangeAspect="1"/>
          </p:cNvPicPr>
          <p:nvPr/>
        </p:nvPicPr>
        <p:blipFill>
          <a:blip r:embed="rId4"/>
          <a:stretch>
            <a:fillRect/>
          </a:stretch>
        </p:blipFill>
        <p:spPr>
          <a:xfrm>
            <a:off x="7979793" y="3448757"/>
            <a:ext cx="2857500" cy="1600200"/>
          </a:xfrm>
          <a:prstGeom prst="rect">
            <a:avLst/>
          </a:prstGeom>
        </p:spPr>
      </p:pic>
    </p:spTree>
    <p:custDataLst>
      <p:tags r:id="rId1"/>
    </p:custDataLst>
    <p:extLst>
      <p:ext uri="{BB962C8B-B14F-4D97-AF65-F5344CB8AC3E}">
        <p14:creationId xmlns:p14="http://schemas.microsoft.com/office/powerpoint/2010/main" val="42087007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1022830" y="60472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1039231" y="1221126"/>
            <a:ext cx="3031599" cy="369332"/>
          </a:xfrm>
          <a:prstGeom prst="rect">
            <a:avLst/>
          </a:prstGeom>
        </p:spPr>
        <p:txBody>
          <a:bodyPr wrap="none">
            <a:spAutoFit/>
          </a:bodyPr>
          <a:lstStyle/>
          <a:p>
            <a:r>
              <a:rPr lang="en-US" dirty="0" smtClean="0">
                <a:solidFill>
                  <a:srgbClr val="0A0A0A"/>
                </a:solidFill>
                <a:latin typeface="Google Sans"/>
              </a:rPr>
              <a:t>The drivetrain Components </a:t>
            </a:r>
            <a:endParaRPr lang="en-US" dirty="0"/>
          </a:p>
        </p:txBody>
      </p:sp>
      <p:sp>
        <p:nvSpPr>
          <p:cNvPr id="5" name="Rectangle 4"/>
          <p:cNvSpPr/>
          <p:nvPr/>
        </p:nvSpPr>
        <p:spPr>
          <a:xfrm>
            <a:off x="1039231" y="1774483"/>
            <a:ext cx="9890437" cy="2585323"/>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Transmission:</a:t>
            </a:r>
            <a:r>
              <a:rPr lang="en-US" dirty="0">
                <a:solidFill>
                  <a:srgbClr val="0A0A0A"/>
                </a:solidFill>
                <a:latin typeface="Google Sans"/>
              </a:rPr>
              <a:t> Adjusts engine speed and torque to control vehicle speed and power output, including reverse functionality.</a:t>
            </a:r>
          </a:p>
          <a:p>
            <a:pPr>
              <a:buFont typeface="Arial" panose="020B0604020202020204" pitchFamily="34" charset="0"/>
              <a:buChar char="•"/>
            </a:pPr>
            <a:r>
              <a:rPr lang="en-US" b="1" dirty="0">
                <a:solidFill>
                  <a:srgbClr val="0A0A0A"/>
                </a:solidFill>
                <a:latin typeface="Google Sans"/>
              </a:rPr>
              <a:t>Driveshaft:</a:t>
            </a:r>
            <a:r>
              <a:rPr lang="en-US" dirty="0">
                <a:solidFill>
                  <a:srgbClr val="0A0A0A"/>
                </a:solidFill>
                <a:latin typeface="Google Sans"/>
              </a:rPr>
              <a:t> A rotating shaft that transfers torque from the transmission to the differential(s) (present in RWD, AWD, 4WD).</a:t>
            </a:r>
          </a:p>
          <a:p>
            <a:pPr>
              <a:buFont typeface="Arial" panose="020B0604020202020204" pitchFamily="34" charset="0"/>
              <a:buChar char="•"/>
            </a:pPr>
            <a:r>
              <a:rPr lang="en-US" b="1" dirty="0">
                <a:solidFill>
                  <a:srgbClr val="0A0A0A"/>
                </a:solidFill>
                <a:latin typeface="Google Sans"/>
              </a:rPr>
              <a:t>Differential:</a:t>
            </a:r>
            <a:r>
              <a:rPr lang="en-US" dirty="0">
                <a:solidFill>
                  <a:srgbClr val="0A0A0A"/>
                </a:solidFill>
                <a:latin typeface="Google Sans"/>
              </a:rPr>
              <a:t> A set of gears that allows the wheels on the same axle to rotate at different speeds, which is essential for turning corners smoothly.</a:t>
            </a:r>
          </a:p>
          <a:p>
            <a:pPr>
              <a:buFont typeface="Arial" panose="020B0604020202020204" pitchFamily="34" charset="0"/>
              <a:buChar char="•"/>
            </a:pPr>
            <a:r>
              <a:rPr lang="en-US" b="1" dirty="0">
                <a:solidFill>
                  <a:srgbClr val="0A0A0A"/>
                </a:solidFill>
                <a:latin typeface="Google Sans"/>
              </a:rPr>
              <a:t>Axles/Half-shafts:</a:t>
            </a:r>
            <a:r>
              <a:rPr lang="en-US" dirty="0">
                <a:solidFill>
                  <a:srgbClr val="0A0A0A"/>
                </a:solidFill>
                <a:latin typeface="Google Sans"/>
              </a:rPr>
              <a:t> Connect the differential to the drive wheels, transmitting the final power.</a:t>
            </a:r>
          </a:p>
          <a:p>
            <a:pPr>
              <a:buFont typeface="Arial" panose="020B0604020202020204" pitchFamily="34" charset="0"/>
              <a:buChar char="•"/>
            </a:pPr>
            <a:r>
              <a:rPr lang="en-US" b="1" dirty="0">
                <a:solidFill>
                  <a:srgbClr val="0A0A0A"/>
                </a:solidFill>
                <a:latin typeface="Google Sans"/>
              </a:rPr>
              <a:t>Transfer Case:</a:t>
            </a:r>
            <a:r>
              <a:rPr lang="en-US" dirty="0">
                <a:solidFill>
                  <a:srgbClr val="0A0A0A"/>
                </a:solidFill>
                <a:latin typeface="Google Sans"/>
              </a:rPr>
              <a:t> An extra component found in 4WD and some AWD systems that splits power between the front and rear axles and often provides low-range gearing for off-road use</a:t>
            </a:r>
            <a:endParaRPr lang="en-US"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22950829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1039230" y="1221126"/>
            <a:ext cx="10106097" cy="646331"/>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Transmission:</a:t>
            </a:r>
            <a:r>
              <a:rPr lang="en-US" dirty="0">
                <a:solidFill>
                  <a:srgbClr val="0A0A0A"/>
                </a:solidFill>
                <a:latin typeface="Google Sans"/>
              </a:rPr>
              <a:t> Adjusts engine speed and torque to control vehicle speed and power output, including reverse functionality.</a:t>
            </a:r>
          </a:p>
        </p:txBody>
      </p:sp>
      <p:sp>
        <p:nvSpPr>
          <p:cNvPr id="5" name="Rectangle 4"/>
          <p:cNvSpPr/>
          <p:nvPr/>
        </p:nvSpPr>
        <p:spPr>
          <a:xfrm>
            <a:off x="1039229" y="2017476"/>
            <a:ext cx="10537419" cy="830997"/>
          </a:xfrm>
          <a:prstGeom prst="rect">
            <a:avLst/>
          </a:prstGeom>
        </p:spPr>
        <p:txBody>
          <a:bodyPr wrap="square">
            <a:spAutoFit/>
          </a:bodyPr>
          <a:lstStyle/>
          <a:p>
            <a:r>
              <a:rPr lang="en-US" sz="1600" b="1" dirty="0">
                <a:solidFill>
                  <a:srgbClr val="0A0A0A"/>
                </a:solidFill>
                <a:latin typeface="Google Sans"/>
              </a:rPr>
              <a:t>Vary torque and speed</a:t>
            </a:r>
            <a:r>
              <a:rPr lang="en-US" sz="1600" dirty="0">
                <a:solidFill>
                  <a:srgbClr val="0A0A0A"/>
                </a:solidFill>
                <a:latin typeface="Google Sans"/>
              </a:rPr>
              <a:t>: Lower gears provide more torque (pulling power) to get the car moving from a standstill or climb hills, while higher gears allow for greater speed at lower engine revolutions per minute (RPM) for better fuel efficiency.</a:t>
            </a:r>
            <a:endParaRPr lang="en-US" sz="1600" b="0" i="0" dirty="0">
              <a:solidFill>
                <a:srgbClr val="0A0A0A"/>
              </a:solidFill>
              <a:effectLst/>
              <a:latin typeface="Google Sans"/>
            </a:endParaRPr>
          </a:p>
        </p:txBody>
      </p:sp>
      <p:sp>
        <p:nvSpPr>
          <p:cNvPr id="6" name="Rectangle 5"/>
          <p:cNvSpPr/>
          <p:nvPr/>
        </p:nvSpPr>
        <p:spPr>
          <a:xfrm>
            <a:off x="1039229" y="2998492"/>
            <a:ext cx="10426459" cy="338554"/>
          </a:xfrm>
          <a:prstGeom prst="rect">
            <a:avLst/>
          </a:prstGeom>
        </p:spPr>
        <p:txBody>
          <a:bodyPr wrap="square">
            <a:spAutoFit/>
          </a:bodyPr>
          <a:lstStyle/>
          <a:p>
            <a:r>
              <a:rPr lang="en-US" sz="1600" b="1" dirty="0">
                <a:solidFill>
                  <a:srgbClr val="0A0A0A"/>
                </a:solidFill>
                <a:latin typeface="Google Sans"/>
              </a:rPr>
              <a:t>Enable reversing</a:t>
            </a:r>
            <a:r>
              <a:rPr lang="en-US" sz="1600" dirty="0">
                <a:solidFill>
                  <a:srgbClr val="0A0A0A"/>
                </a:solidFill>
                <a:latin typeface="Google Sans"/>
              </a:rPr>
              <a:t>: The transmission includes a reverse gear, allowing the vehicle to move backward</a:t>
            </a:r>
            <a:endParaRPr lang="en-US" sz="1600" dirty="0"/>
          </a:p>
        </p:txBody>
      </p:sp>
      <p:sp>
        <p:nvSpPr>
          <p:cNvPr id="7" name="Rectangle 6"/>
          <p:cNvSpPr/>
          <p:nvPr/>
        </p:nvSpPr>
        <p:spPr>
          <a:xfrm>
            <a:off x="1039228" y="3405123"/>
            <a:ext cx="10347639" cy="584775"/>
          </a:xfrm>
          <a:prstGeom prst="rect">
            <a:avLst/>
          </a:prstGeom>
        </p:spPr>
        <p:txBody>
          <a:bodyPr wrap="square">
            <a:spAutoFit/>
          </a:bodyPr>
          <a:lstStyle/>
          <a:p>
            <a:r>
              <a:rPr lang="en-US" sz="1600" b="1" dirty="0">
                <a:solidFill>
                  <a:srgbClr val="0A0A0A"/>
                </a:solidFill>
                <a:latin typeface="Google Sans"/>
              </a:rPr>
              <a:t>Allow the vehicle to stop</a:t>
            </a:r>
            <a:r>
              <a:rPr lang="en-US" sz="1600" dirty="0">
                <a:solidFill>
                  <a:srgbClr val="0A0A0A"/>
                </a:solidFill>
                <a:latin typeface="Google Sans"/>
              </a:rPr>
              <a:t> without stalling the engine by temporarily disconnecting the engine from the drive wheels (via a clutch or torque converter).</a:t>
            </a:r>
            <a:endParaRPr lang="en-US" sz="1600" dirty="0"/>
          </a:p>
        </p:txBody>
      </p:sp>
    </p:spTree>
    <p:custDataLst>
      <p:tags r:id="rId1"/>
    </p:custDataLst>
    <p:extLst>
      <p:ext uri="{BB962C8B-B14F-4D97-AF65-F5344CB8AC3E}">
        <p14:creationId xmlns:p14="http://schemas.microsoft.com/office/powerpoint/2010/main" val="42623974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1022830" y="60472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1039231" y="1221126"/>
            <a:ext cx="3031599" cy="369332"/>
          </a:xfrm>
          <a:prstGeom prst="rect">
            <a:avLst/>
          </a:prstGeom>
        </p:spPr>
        <p:txBody>
          <a:bodyPr wrap="none">
            <a:spAutoFit/>
          </a:bodyPr>
          <a:lstStyle/>
          <a:p>
            <a:r>
              <a:rPr lang="en-US" dirty="0" smtClean="0">
                <a:solidFill>
                  <a:srgbClr val="0A0A0A"/>
                </a:solidFill>
                <a:latin typeface="Google Sans"/>
              </a:rPr>
              <a:t>The drivetrain Components </a:t>
            </a:r>
            <a:endParaRPr lang="en-US" dirty="0"/>
          </a:p>
        </p:txBody>
      </p:sp>
      <p:sp>
        <p:nvSpPr>
          <p:cNvPr id="5" name="Rectangle 4"/>
          <p:cNvSpPr/>
          <p:nvPr/>
        </p:nvSpPr>
        <p:spPr>
          <a:xfrm>
            <a:off x="1039231" y="1774483"/>
            <a:ext cx="9890437" cy="646331"/>
          </a:xfrm>
          <a:prstGeom prst="rect">
            <a:avLst/>
          </a:prstGeom>
        </p:spPr>
        <p:txBody>
          <a:bodyPr wrap="square">
            <a:spAutoFit/>
          </a:bodyPr>
          <a:lstStyle/>
          <a:p>
            <a:pPr>
              <a:buFont typeface="Arial" panose="020B0604020202020204" pitchFamily="34" charset="0"/>
              <a:buChar char="•"/>
            </a:pPr>
            <a:r>
              <a:rPr lang="en-US" b="1" dirty="0" smtClean="0">
                <a:solidFill>
                  <a:srgbClr val="0A0A0A"/>
                </a:solidFill>
                <a:latin typeface="Google Sans"/>
              </a:rPr>
              <a:t>Driveshaft</a:t>
            </a:r>
            <a:r>
              <a:rPr lang="en-US" b="1" dirty="0">
                <a:solidFill>
                  <a:srgbClr val="0A0A0A"/>
                </a:solidFill>
                <a:latin typeface="Google Sans"/>
              </a:rPr>
              <a:t>:</a:t>
            </a:r>
            <a:r>
              <a:rPr lang="en-US" dirty="0">
                <a:solidFill>
                  <a:srgbClr val="0A0A0A"/>
                </a:solidFill>
                <a:latin typeface="Google Sans"/>
              </a:rPr>
              <a:t> A rotating shaft that transfers torque from the transmission to the differential(s) (present in RWD, AWD, 4WD</a:t>
            </a:r>
            <a:r>
              <a:rPr lang="en-US" dirty="0" smtClean="0">
                <a:solidFill>
                  <a:srgbClr val="0A0A0A"/>
                </a:solidFill>
                <a:latin typeface="Google Sans"/>
              </a:rPr>
              <a:t>).</a:t>
            </a:r>
            <a:endParaRPr lang="en-US" dirty="0">
              <a:solidFill>
                <a:srgbClr val="0A0A0A"/>
              </a:solidFill>
              <a:latin typeface="Google Sans"/>
            </a:endParaRPr>
          </a:p>
        </p:txBody>
      </p:sp>
      <p:sp>
        <p:nvSpPr>
          <p:cNvPr id="6" name="Rectangle 5"/>
          <p:cNvSpPr/>
          <p:nvPr/>
        </p:nvSpPr>
        <p:spPr>
          <a:xfrm>
            <a:off x="1144384" y="2546203"/>
            <a:ext cx="9913489" cy="923330"/>
          </a:xfrm>
          <a:prstGeom prst="rect">
            <a:avLst/>
          </a:prstGeom>
        </p:spPr>
        <p:txBody>
          <a:bodyPr wrap="square">
            <a:spAutoFit/>
          </a:bodyPr>
          <a:lstStyle/>
          <a:p>
            <a:r>
              <a:rPr lang="en-US" dirty="0"/>
              <a:t>A </a:t>
            </a:r>
            <a:r>
              <a:rPr lang="en-US" b="1" dirty="0">
                <a:solidFill>
                  <a:srgbClr val="0A0A0A"/>
                </a:solidFill>
                <a:latin typeface="Google Sans"/>
              </a:rPr>
              <a:t>drive shaft</a:t>
            </a:r>
            <a:r>
              <a:rPr lang="en-US" dirty="0">
                <a:solidFill>
                  <a:srgbClr val="0A0A0A"/>
                </a:solidFill>
                <a:latin typeface="Google Sans"/>
              </a:rPr>
              <a:t>, also called a </a:t>
            </a:r>
            <a:r>
              <a:rPr lang="en-US" b="1" dirty="0">
                <a:solidFill>
                  <a:srgbClr val="0A0A0A"/>
                </a:solidFill>
                <a:latin typeface="Google Sans"/>
              </a:rPr>
              <a:t>propeller shaft</a:t>
            </a:r>
            <a:r>
              <a:rPr lang="en-US" dirty="0">
                <a:solidFill>
                  <a:srgbClr val="0A0A0A"/>
                </a:solidFill>
                <a:latin typeface="Google Sans"/>
              </a:rPr>
              <a:t> or </a:t>
            </a:r>
            <a:r>
              <a:rPr lang="en-US" b="1" dirty="0">
                <a:solidFill>
                  <a:srgbClr val="0A0A0A"/>
                </a:solidFill>
                <a:latin typeface="Google Sans"/>
              </a:rPr>
              <a:t>prop shaft</a:t>
            </a:r>
            <a:r>
              <a:rPr lang="en-US" dirty="0">
                <a:solidFill>
                  <a:srgbClr val="0A0A0A"/>
                </a:solidFill>
                <a:latin typeface="Google Sans"/>
              </a:rPr>
              <a:t>, is </a:t>
            </a:r>
            <a:r>
              <a:rPr lang="en-US" dirty="0"/>
              <a:t>a crucial component of a vehicle's drivetrain that </a:t>
            </a:r>
            <a:r>
              <a:rPr lang="en-US" b="1" dirty="0"/>
              <a:t>transmits torque</a:t>
            </a:r>
            <a:r>
              <a:rPr lang="en-US" dirty="0"/>
              <a:t> (rotational power) from the transmission to the wheels, enabling the vehicle to move</a:t>
            </a:r>
          </a:p>
        </p:txBody>
      </p:sp>
      <p:pic>
        <p:nvPicPr>
          <p:cNvPr id="7" name="Picture 6"/>
          <p:cNvPicPr>
            <a:picLocks noChangeAspect="1"/>
          </p:cNvPicPr>
          <p:nvPr/>
        </p:nvPicPr>
        <p:blipFill>
          <a:blip r:embed="rId4"/>
          <a:stretch>
            <a:fillRect/>
          </a:stretch>
        </p:blipFill>
        <p:spPr>
          <a:xfrm>
            <a:off x="5436525" y="3830781"/>
            <a:ext cx="5326812" cy="2104505"/>
          </a:xfrm>
          <a:prstGeom prst="rect">
            <a:avLst/>
          </a:prstGeom>
        </p:spPr>
      </p:pic>
    </p:spTree>
    <p:custDataLst>
      <p:tags r:id="rId1"/>
    </p:custDataLst>
    <p:extLst>
      <p:ext uri="{BB962C8B-B14F-4D97-AF65-F5344CB8AC3E}">
        <p14:creationId xmlns:p14="http://schemas.microsoft.com/office/powerpoint/2010/main" val="38368024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565630" y="6309360"/>
            <a:ext cx="4255752"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1039231" y="1221126"/>
            <a:ext cx="3031599" cy="369332"/>
          </a:xfrm>
          <a:prstGeom prst="rect">
            <a:avLst/>
          </a:prstGeom>
        </p:spPr>
        <p:txBody>
          <a:bodyPr wrap="none">
            <a:spAutoFit/>
          </a:bodyPr>
          <a:lstStyle/>
          <a:p>
            <a:r>
              <a:rPr lang="en-US" dirty="0" smtClean="0">
                <a:solidFill>
                  <a:srgbClr val="0A0A0A"/>
                </a:solidFill>
                <a:latin typeface="Google Sans"/>
              </a:rPr>
              <a:t>The drivetrain Components </a:t>
            </a:r>
            <a:endParaRPr lang="en-US" dirty="0"/>
          </a:p>
        </p:txBody>
      </p:sp>
      <p:sp>
        <p:nvSpPr>
          <p:cNvPr id="5" name="Rectangle 4"/>
          <p:cNvSpPr/>
          <p:nvPr/>
        </p:nvSpPr>
        <p:spPr>
          <a:xfrm>
            <a:off x="1022830" y="1590458"/>
            <a:ext cx="9890437" cy="646331"/>
          </a:xfrm>
          <a:prstGeom prst="rect">
            <a:avLst/>
          </a:prstGeom>
        </p:spPr>
        <p:txBody>
          <a:bodyPr wrap="square">
            <a:spAutoFit/>
          </a:bodyPr>
          <a:lstStyle/>
          <a:p>
            <a:pPr>
              <a:buFont typeface="Arial" panose="020B0604020202020204" pitchFamily="34" charset="0"/>
              <a:buChar char="•"/>
            </a:pPr>
            <a:r>
              <a:rPr lang="en-US" b="1" dirty="0" smtClean="0">
                <a:solidFill>
                  <a:srgbClr val="0A0A0A"/>
                </a:solidFill>
                <a:latin typeface="Google Sans"/>
              </a:rPr>
              <a:t>Driveshaft</a:t>
            </a:r>
            <a:r>
              <a:rPr lang="en-US" b="1" dirty="0">
                <a:solidFill>
                  <a:srgbClr val="0A0A0A"/>
                </a:solidFill>
                <a:latin typeface="Google Sans"/>
              </a:rPr>
              <a:t>:</a:t>
            </a:r>
            <a:r>
              <a:rPr lang="en-US" dirty="0">
                <a:solidFill>
                  <a:srgbClr val="0A0A0A"/>
                </a:solidFill>
                <a:latin typeface="Google Sans"/>
              </a:rPr>
              <a:t> A rotating shaft that transfers torque from the transmission to the differential(s) (present in RWD, AWD, 4WD</a:t>
            </a:r>
            <a:r>
              <a:rPr lang="en-US" dirty="0" smtClean="0">
                <a:solidFill>
                  <a:srgbClr val="0A0A0A"/>
                </a:solidFill>
                <a:latin typeface="Google Sans"/>
              </a:rPr>
              <a:t>).</a:t>
            </a:r>
            <a:endParaRPr lang="en-US" dirty="0">
              <a:solidFill>
                <a:srgbClr val="0A0A0A"/>
              </a:solidFill>
              <a:latin typeface="Google Sans"/>
            </a:endParaRPr>
          </a:p>
        </p:txBody>
      </p:sp>
      <p:sp>
        <p:nvSpPr>
          <p:cNvPr id="8" name="Rectangle 7"/>
          <p:cNvSpPr/>
          <p:nvPr/>
        </p:nvSpPr>
        <p:spPr>
          <a:xfrm>
            <a:off x="289967" y="2236789"/>
            <a:ext cx="10623300" cy="3970318"/>
          </a:xfrm>
          <a:prstGeom prst="rect">
            <a:avLst/>
          </a:prstGeom>
        </p:spPr>
        <p:txBody>
          <a:bodyPr wrap="square">
            <a:spAutoFit/>
          </a:bodyPr>
          <a:lstStyle/>
          <a:p>
            <a:r>
              <a:rPr lang="en-US" b="1" dirty="0"/>
              <a:t>Components</a:t>
            </a:r>
          </a:p>
          <a:p>
            <a:r>
              <a:rPr lang="en-US" b="1" dirty="0"/>
              <a:t>Shaft</a:t>
            </a:r>
            <a:r>
              <a:rPr lang="en-US" dirty="0"/>
              <a:t>: A long, tubular component, typically made of steel or aluminum, designed to withstand high torque and vibration.</a:t>
            </a:r>
          </a:p>
          <a:p>
            <a:r>
              <a:rPr lang="en-US" b="1" dirty="0"/>
              <a:t>Universal Joints (U-joints) or Constant Velocity (CV) Joints</a:t>
            </a:r>
            <a:r>
              <a:rPr lang="en-US" dirty="0"/>
              <a:t>: Flexible couplings that allow the drive shaft components to rotate at different angles relative to each other, which is essential for the wheels to move up and down with the suspension and for steering.</a:t>
            </a:r>
          </a:p>
          <a:p>
            <a:r>
              <a:rPr lang="en-US" b="1" dirty="0"/>
              <a:t>Slip Yoke</a:t>
            </a:r>
            <a:r>
              <a:rPr lang="en-US" dirty="0"/>
              <a:t>: A sliding mechanism that accommodates changes in the drive shaft's length as the suspension moves up and down.</a:t>
            </a:r>
          </a:p>
          <a:p>
            <a:r>
              <a:rPr lang="en-US" b="1" dirty="0"/>
              <a:t>Flange Yoke: </a:t>
            </a:r>
            <a:r>
              <a:rPr lang="en-US" dirty="0"/>
              <a:t>Connects the drive shaft to the transmission and differential with bolts to ensure a secure connection.</a:t>
            </a:r>
          </a:p>
          <a:p>
            <a:r>
              <a:rPr lang="en-US" b="1" dirty="0"/>
              <a:t>Center Bearing: </a:t>
            </a:r>
            <a:r>
              <a:rPr lang="en-US" dirty="0"/>
              <a:t>A support bearing used in longer, two-piece drive shafts to reduce vibration and provide stability.</a:t>
            </a:r>
          </a:p>
          <a:p>
            <a:r>
              <a:rPr lang="en-US" b="1" dirty="0"/>
              <a:t>Drive Shaft Boot: </a:t>
            </a:r>
            <a:r>
              <a:rPr lang="en-US" dirty="0"/>
              <a:t>A protective rubber or flexible cover that protects the CV or U-joints from dirt and water while keeping the lubricating grease from leaking out. </a:t>
            </a:r>
          </a:p>
        </p:txBody>
      </p:sp>
    </p:spTree>
    <p:custDataLst>
      <p:tags r:id="rId1"/>
    </p:custDataLst>
    <p:extLst>
      <p:ext uri="{BB962C8B-B14F-4D97-AF65-F5344CB8AC3E}">
        <p14:creationId xmlns:p14="http://schemas.microsoft.com/office/powerpoint/2010/main" val="25477757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565630" y="6309360"/>
            <a:ext cx="4255752"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1039231" y="1221126"/>
            <a:ext cx="3031599" cy="369332"/>
          </a:xfrm>
          <a:prstGeom prst="rect">
            <a:avLst/>
          </a:prstGeom>
        </p:spPr>
        <p:txBody>
          <a:bodyPr wrap="none">
            <a:spAutoFit/>
          </a:bodyPr>
          <a:lstStyle/>
          <a:p>
            <a:r>
              <a:rPr lang="en-US" dirty="0" smtClean="0">
                <a:solidFill>
                  <a:srgbClr val="0A0A0A"/>
                </a:solidFill>
                <a:latin typeface="Google Sans"/>
              </a:rPr>
              <a:t>The drivetrain Components </a:t>
            </a:r>
            <a:endParaRPr lang="en-US" dirty="0"/>
          </a:p>
        </p:txBody>
      </p:sp>
      <p:sp>
        <p:nvSpPr>
          <p:cNvPr id="5" name="Rectangle 4"/>
          <p:cNvSpPr/>
          <p:nvPr/>
        </p:nvSpPr>
        <p:spPr>
          <a:xfrm>
            <a:off x="1022830" y="1590458"/>
            <a:ext cx="9890437" cy="646331"/>
          </a:xfrm>
          <a:prstGeom prst="rect">
            <a:avLst/>
          </a:prstGeom>
        </p:spPr>
        <p:txBody>
          <a:bodyPr wrap="square">
            <a:spAutoFit/>
          </a:bodyPr>
          <a:lstStyle/>
          <a:p>
            <a:pPr>
              <a:buFont typeface="Arial" panose="020B0604020202020204" pitchFamily="34" charset="0"/>
              <a:buChar char="•"/>
            </a:pPr>
            <a:r>
              <a:rPr lang="en-US" b="1" dirty="0" smtClean="0">
                <a:solidFill>
                  <a:srgbClr val="0A0A0A"/>
                </a:solidFill>
                <a:latin typeface="Google Sans"/>
              </a:rPr>
              <a:t>Driveshaft</a:t>
            </a:r>
            <a:r>
              <a:rPr lang="en-US" b="1" dirty="0">
                <a:solidFill>
                  <a:srgbClr val="0A0A0A"/>
                </a:solidFill>
                <a:latin typeface="Google Sans"/>
              </a:rPr>
              <a:t>:</a:t>
            </a:r>
            <a:r>
              <a:rPr lang="en-US" dirty="0">
                <a:solidFill>
                  <a:srgbClr val="0A0A0A"/>
                </a:solidFill>
                <a:latin typeface="Google Sans"/>
              </a:rPr>
              <a:t> A rotating shaft that transfers torque from the transmission to the differential(s) (present in RWD, AWD, 4WD</a:t>
            </a:r>
            <a:r>
              <a:rPr lang="en-US" dirty="0" smtClean="0">
                <a:solidFill>
                  <a:srgbClr val="0A0A0A"/>
                </a:solidFill>
                <a:latin typeface="Google Sans"/>
              </a:rPr>
              <a:t>).</a:t>
            </a:r>
            <a:endParaRPr lang="en-US" dirty="0">
              <a:solidFill>
                <a:srgbClr val="0A0A0A"/>
              </a:solidFill>
              <a:latin typeface="Google Sans"/>
            </a:endParaRPr>
          </a:p>
        </p:txBody>
      </p:sp>
      <p:sp>
        <p:nvSpPr>
          <p:cNvPr id="8" name="Rectangle 7"/>
          <p:cNvSpPr/>
          <p:nvPr/>
        </p:nvSpPr>
        <p:spPr>
          <a:xfrm>
            <a:off x="289967" y="2236789"/>
            <a:ext cx="10623300" cy="3970318"/>
          </a:xfrm>
          <a:prstGeom prst="rect">
            <a:avLst/>
          </a:prstGeom>
        </p:spPr>
        <p:txBody>
          <a:bodyPr wrap="square">
            <a:spAutoFit/>
          </a:bodyPr>
          <a:lstStyle/>
          <a:p>
            <a:r>
              <a:rPr lang="en-US" b="1" dirty="0"/>
              <a:t>Components</a:t>
            </a:r>
          </a:p>
          <a:p>
            <a:r>
              <a:rPr lang="en-US" b="1" dirty="0"/>
              <a:t>Shaft</a:t>
            </a:r>
            <a:r>
              <a:rPr lang="en-US" dirty="0"/>
              <a:t>: </a:t>
            </a:r>
            <a:r>
              <a:rPr lang="en-US" dirty="0" smtClean="0"/>
              <a:t>                                              </a:t>
            </a:r>
            <a:r>
              <a:rPr lang="en-US" b="1" dirty="0" smtClean="0"/>
              <a:t>Universal </a:t>
            </a:r>
            <a:r>
              <a:rPr lang="en-US" b="1" dirty="0"/>
              <a:t>Joints (U-joints) or Constant Velocity (CV) </a:t>
            </a:r>
            <a:r>
              <a:rPr lang="en-US" b="1" dirty="0" smtClean="0"/>
              <a:t>Joints</a:t>
            </a:r>
          </a:p>
          <a:p>
            <a:endParaRPr lang="en-US" b="1" dirty="0"/>
          </a:p>
          <a:p>
            <a:endParaRPr lang="en-US" b="1" dirty="0" smtClean="0"/>
          </a:p>
          <a:p>
            <a:endParaRPr lang="en-US" b="1" dirty="0"/>
          </a:p>
          <a:p>
            <a:endParaRPr lang="en-US" b="1" dirty="0" smtClean="0"/>
          </a:p>
          <a:p>
            <a:endParaRPr lang="en-US" b="1" dirty="0"/>
          </a:p>
          <a:p>
            <a:endParaRPr lang="en-US" b="1" dirty="0" smtClean="0"/>
          </a:p>
          <a:p>
            <a:r>
              <a:rPr lang="en-US" b="1" dirty="0" smtClean="0"/>
              <a:t>Slip </a:t>
            </a:r>
            <a:r>
              <a:rPr lang="en-US" b="1" dirty="0"/>
              <a:t>Yoke</a:t>
            </a:r>
            <a:r>
              <a:rPr lang="en-US" dirty="0"/>
              <a:t>: </a:t>
            </a:r>
            <a:r>
              <a:rPr lang="en-US" dirty="0" smtClean="0"/>
              <a:t>                                     </a:t>
            </a:r>
            <a:r>
              <a:rPr lang="en-US" b="1" dirty="0" smtClean="0"/>
              <a:t>Flange </a:t>
            </a:r>
            <a:r>
              <a:rPr lang="en-US" b="1" dirty="0"/>
              <a:t>Yoke: </a:t>
            </a:r>
            <a:r>
              <a:rPr lang="en-US" b="1" dirty="0" smtClean="0"/>
              <a:t>                             Center Bearing:                           </a:t>
            </a:r>
          </a:p>
          <a:p>
            <a:endParaRPr lang="en-US" b="1" dirty="0"/>
          </a:p>
          <a:p>
            <a:endParaRPr lang="en-US" b="1" dirty="0" smtClean="0"/>
          </a:p>
          <a:p>
            <a:endParaRPr lang="en-US" b="1" dirty="0"/>
          </a:p>
          <a:p>
            <a:endParaRPr lang="en-US" b="1" dirty="0" smtClean="0"/>
          </a:p>
          <a:p>
            <a:r>
              <a:rPr lang="en-US" b="1" dirty="0" smtClean="0"/>
              <a:t>                           Drive </a:t>
            </a:r>
            <a:r>
              <a:rPr lang="en-US" b="1" dirty="0"/>
              <a:t>Shaft Boot</a:t>
            </a:r>
            <a:r>
              <a:rPr lang="en-US" b="1" dirty="0" smtClean="0"/>
              <a:t>:</a:t>
            </a:r>
            <a:endParaRPr lang="en-US" dirty="0"/>
          </a:p>
        </p:txBody>
      </p:sp>
      <p:pic>
        <p:nvPicPr>
          <p:cNvPr id="6" name="Picture 5"/>
          <p:cNvPicPr>
            <a:picLocks noChangeAspect="1"/>
          </p:cNvPicPr>
          <p:nvPr/>
        </p:nvPicPr>
        <p:blipFill>
          <a:blip r:embed="rId4"/>
          <a:stretch>
            <a:fillRect/>
          </a:stretch>
        </p:blipFill>
        <p:spPr>
          <a:xfrm>
            <a:off x="1194263" y="2606121"/>
            <a:ext cx="2438400" cy="1876425"/>
          </a:xfrm>
          <a:prstGeom prst="rect">
            <a:avLst/>
          </a:prstGeom>
        </p:spPr>
      </p:pic>
      <p:pic>
        <p:nvPicPr>
          <p:cNvPr id="7" name="Picture 6"/>
          <p:cNvPicPr>
            <a:picLocks noChangeAspect="1"/>
          </p:cNvPicPr>
          <p:nvPr/>
        </p:nvPicPr>
        <p:blipFill>
          <a:blip r:embed="rId5"/>
          <a:stretch>
            <a:fillRect/>
          </a:stretch>
        </p:blipFill>
        <p:spPr>
          <a:xfrm>
            <a:off x="9762691" y="2883120"/>
            <a:ext cx="1682547" cy="1682547"/>
          </a:xfrm>
          <a:prstGeom prst="rect">
            <a:avLst/>
          </a:prstGeom>
        </p:spPr>
      </p:pic>
      <p:pic>
        <p:nvPicPr>
          <p:cNvPr id="9" name="Picture 8"/>
          <p:cNvPicPr>
            <a:picLocks noChangeAspect="1"/>
          </p:cNvPicPr>
          <p:nvPr/>
        </p:nvPicPr>
        <p:blipFill>
          <a:blip r:embed="rId6"/>
          <a:stretch>
            <a:fillRect/>
          </a:stretch>
        </p:blipFill>
        <p:spPr>
          <a:xfrm>
            <a:off x="1927706" y="4164676"/>
            <a:ext cx="1522782" cy="1522782"/>
          </a:xfrm>
          <a:prstGeom prst="rect">
            <a:avLst/>
          </a:prstGeom>
        </p:spPr>
      </p:pic>
      <p:pic>
        <p:nvPicPr>
          <p:cNvPr id="10" name="Picture 9"/>
          <p:cNvPicPr>
            <a:picLocks noChangeAspect="1"/>
          </p:cNvPicPr>
          <p:nvPr/>
        </p:nvPicPr>
        <p:blipFill>
          <a:blip r:embed="rId7"/>
          <a:stretch>
            <a:fillRect/>
          </a:stretch>
        </p:blipFill>
        <p:spPr>
          <a:xfrm>
            <a:off x="5270402" y="2883120"/>
            <a:ext cx="1845537" cy="1845537"/>
          </a:xfrm>
          <a:prstGeom prst="rect">
            <a:avLst/>
          </a:prstGeom>
        </p:spPr>
      </p:pic>
      <p:pic>
        <p:nvPicPr>
          <p:cNvPr id="12" name="Picture 11"/>
          <p:cNvPicPr>
            <a:picLocks noChangeAspect="1"/>
          </p:cNvPicPr>
          <p:nvPr/>
        </p:nvPicPr>
        <p:blipFill>
          <a:blip r:embed="rId8"/>
          <a:stretch>
            <a:fillRect/>
          </a:stretch>
        </p:blipFill>
        <p:spPr>
          <a:xfrm>
            <a:off x="9597243" y="4565667"/>
            <a:ext cx="2143125" cy="2143125"/>
          </a:xfrm>
          <a:prstGeom prst="rect">
            <a:avLst/>
          </a:prstGeom>
        </p:spPr>
      </p:pic>
      <p:pic>
        <p:nvPicPr>
          <p:cNvPr id="13" name="Picture 12"/>
          <p:cNvPicPr>
            <a:picLocks noChangeAspect="1"/>
          </p:cNvPicPr>
          <p:nvPr/>
        </p:nvPicPr>
        <p:blipFill>
          <a:blip r:embed="rId9"/>
          <a:stretch>
            <a:fillRect/>
          </a:stretch>
        </p:blipFill>
        <p:spPr>
          <a:xfrm>
            <a:off x="4059404" y="5162550"/>
            <a:ext cx="2695575" cy="1695450"/>
          </a:xfrm>
          <a:prstGeom prst="rect">
            <a:avLst/>
          </a:prstGeom>
        </p:spPr>
      </p:pic>
    </p:spTree>
    <p:custDataLst>
      <p:tags r:id="rId1"/>
    </p:custDataLst>
    <p:extLst>
      <p:ext uri="{BB962C8B-B14F-4D97-AF65-F5344CB8AC3E}">
        <p14:creationId xmlns:p14="http://schemas.microsoft.com/office/powerpoint/2010/main" val="26928270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1022830" y="60472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1039231" y="1221126"/>
            <a:ext cx="3031599" cy="369332"/>
          </a:xfrm>
          <a:prstGeom prst="rect">
            <a:avLst/>
          </a:prstGeom>
        </p:spPr>
        <p:txBody>
          <a:bodyPr wrap="none">
            <a:spAutoFit/>
          </a:bodyPr>
          <a:lstStyle/>
          <a:p>
            <a:r>
              <a:rPr lang="en-US" dirty="0" smtClean="0">
                <a:solidFill>
                  <a:srgbClr val="0A0A0A"/>
                </a:solidFill>
                <a:latin typeface="Google Sans"/>
              </a:rPr>
              <a:t>The drivetrain Components </a:t>
            </a:r>
            <a:endParaRPr lang="en-US" dirty="0"/>
          </a:p>
        </p:txBody>
      </p:sp>
      <p:sp>
        <p:nvSpPr>
          <p:cNvPr id="5" name="Rectangle 4"/>
          <p:cNvSpPr/>
          <p:nvPr/>
        </p:nvSpPr>
        <p:spPr>
          <a:xfrm>
            <a:off x="1039231" y="1774483"/>
            <a:ext cx="9890437" cy="646331"/>
          </a:xfrm>
          <a:prstGeom prst="rect">
            <a:avLst/>
          </a:prstGeom>
        </p:spPr>
        <p:txBody>
          <a:bodyPr wrap="square">
            <a:spAutoFit/>
          </a:bodyPr>
          <a:lstStyle/>
          <a:p>
            <a:pPr>
              <a:buFont typeface="Arial" panose="020B0604020202020204" pitchFamily="34" charset="0"/>
              <a:buChar char="•"/>
            </a:pPr>
            <a:r>
              <a:rPr lang="en-US" b="1" dirty="0" smtClean="0">
                <a:solidFill>
                  <a:srgbClr val="0A0A0A"/>
                </a:solidFill>
                <a:latin typeface="Google Sans"/>
              </a:rPr>
              <a:t>Differential</a:t>
            </a:r>
            <a:r>
              <a:rPr lang="en-US" b="1" dirty="0">
                <a:solidFill>
                  <a:srgbClr val="0A0A0A"/>
                </a:solidFill>
                <a:latin typeface="Google Sans"/>
              </a:rPr>
              <a:t>:</a:t>
            </a:r>
            <a:r>
              <a:rPr lang="en-US" dirty="0">
                <a:solidFill>
                  <a:srgbClr val="0A0A0A"/>
                </a:solidFill>
                <a:latin typeface="Google Sans"/>
              </a:rPr>
              <a:t> A set of gears that allows the wheels on the same axle to rotate at different speeds, which is essential for turning corners smoothly</a:t>
            </a:r>
            <a:r>
              <a:rPr lang="en-US" dirty="0" smtClean="0">
                <a:solidFill>
                  <a:srgbClr val="0A0A0A"/>
                </a:solidFill>
                <a:latin typeface="Google Sans"/>
              </a:rPr>
              <a:t>.</a:t>
            </a:r>
            <a:endParaRPr lang="en-US" dirty="0">
              <a:solidFill>
                <a:srgbClr val="0A0A0A"/>
              </a:solidFill>
              <a:latin typeface="Google Sans"/>
            </a:endParaRPr>
          </a:p>
        </p:txBody>
      </p:sp>
      <p:sp>
        <p:nvSpPr>
          <p:cNvPr id="6" name="Rectangle 5"/>
          <p:cNvSpPr/>
          <p:nvPr/>
        </p:nvSpPr>
        <p:spPr>
          <a:xfrm>
            <a:off x="1039230" y="2604839"/>
            <a:ext cx="10690027" cy="646331"/>
          </a:xfrm>
          <a:prstGeom prst="rect">
            <a:avLst/>
          </a:prstGeom>
        </p:spPr>
        <p:txBody>
          <a:bodyPr wrap="square">
            <a:spAutoFit/>
          </a:bodyPr>
          <a:lstStyle/>
          <a:p>
            <a:r>
              <a:rPr lang="en-US" b="1" dirty="0"/>
              <a:t>Purpose</a:t>
            </a:r>
            <a:r>
              <a:rPr lang="en-US" dirty="0"/>
              <a:t>: To transmit engine power to the wheels and accommodate the difference in wheel speeds during turns</a:t>
            </a:r>
          </a:p>
        </p:txBody>
      </p:sp>
      <p:sp>
        <p:nvSpPr>
          <p:cNvPr id="7" name="Rectangle 6"/>
          <p:cNvSpPr/>
          <p:nvPr/>
        </p:nvSpPr>
        <p:spPr>
          <a:xfrm>
            <a:off x="1039229" y="3276867"/>
            <a:ext cx="10690027" cy="923330"/>
          </a:xfrm>
          <a:prstGeom prst="rect">
            <a:avLst/>
          </a:prstGeom>
        </p:spPr>
        <p:txBody>
          <a:bodyPr wrap="square">
            <a:spAutoFit/>
          </a:bodyPr>
          <a:lstStyle/>
          <a:p>
            <a:r>
              <a:rPr lang="en-US" b="1" dirty="0"/>
              <a:t>Location</a:t>
            </a:r>
            <a:r>
              <a:rPr lang="en-US" dirty="0"/>
              <a:t>: The differential is typically part of the axle assembly. In front-wheel drive cars, it's often combined with the transmission in a unit called a transaxle; in rear-wheel drive cars, it's located between the rear wheels</a:t>
            </a:r>
          </a:p>
        </p:txBody>
      </p:sp>
      <p:sp>
        <p:nvSpPr>
          <p:cNvPr id="8" name="Rectangle 7"/>
          <p:cNvSpPr/>
          <p:nvPr/>
        </p:nvSpPr>
        <p:spPr>
          <a:xfrm>
            <a:off x="1039229" y="4265551"/>
            <a:ext cx="10399084" cy="923330"/>
          </a:xfrm>
          <a:prstGeom prst="rect">
            <a:avLst/>
          </a:prstGeom>
        </p:spPr>
        <p:txBody>
          <a:bodyPr wrap="square">
            <a:spAutoFit/>
          </a:bodyPr>
          <a:lstStyle/>
          <a:p>
            <a:r>
              <a:rPr lang="en-US" b="1" dirty="0"/>
              <a:t>Types</a:t>
            </a:r>
            <a:r>
              <a:rPr lang="en-US" dirty="0"/>
              <a:t>: Common types include open, limited-slip, locking, and torque-vectoring differentials, each offering different performance characteristics, especially in low-traction conditions or high-performance applications</a:t>
            </a:r>
          </a:p>
        </p:txBody>
      </p:sp>
    </p:spTree>
    <p:custDataLst>
      <p:tags r:id="rId1"/>
    </p:custDataLst>
    <p:extLst>
      <p:ext uri="{BB962C8B-B14F-4D97-AF65-F5344CB8AC3E}">
        <p14:creationId xmlns:p14="http://schemas.microsoft.com/office/powerpoint/2010/main" val="37756465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1022830" y="60472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1039231" y="1221126"/>
            <a:ext cx="3031599" cy="369332"/>
          </a:xfrm>
          <a:prstGeom prst="rect">
            <a:avLst/>
          </a:prstGeom>
        </p:spPr>
        <p:txBody>
          <a:bodyPr wrap="none">
            <a:spAutoFit/>
          </a:bodyPr>
          <a:lstStyle/>
          <a:p>
            <a:r>
              <a:rPr lang="en-US" dirty="0" smtClean="0">
                <a:solidFill>
                  <a:srgbClr val="0A0A0A"/>
                </a:solidFill>
                <a:latin typeface="Google Sans"/>
              </a:rPr>
              <a:t>The drivetrain Components </a:t>
            </a:r>
            <a:endParaRPr lang="en-US" dirty="0"/>
          </a:p>
        </p:txBody>
      </p:sp>
      <p:sp>
        <p:nvSpPr>
          <p:cNvPr id="5" name="Rectangle 4"/>
          <p:cNvSpPr/>
          <p:nvPr/>
        </p:nvSpPr>
        <p:spPr>
          <a:xfrm>
            <a:off x="1039231" y="1774483"/>
            <a:ext cx="9890437" cy="646331"/>
          </a:xfrm>
          <a:prstGeom prst="rect">
            <a:avLst/>
          </a:prstGeom>
        </p:spPr>
        <p:txBody>
          <a:bodyPr wrap="square">
            <a:spAutoFit/>
          </a:bodyPr>
          <a:lstStyle/>
          <a:p>
            <a:pPr>
              <a:buFont typeface="Arial" panose="020B0604020202020204" pitchFamily="34" charset="0"/>
              <a:buChar char="•"/>
            </a:pPr>
            <a:r>
              <a:rPr lang="en-US" b="1" dirty="0" smtClean="0">
                <a:solidFill>
                  <a:srgbClr val="0A0A0A"/>
                </a:solidFill>
                <a:latin typeface="Google Sans"/>
              </a:rPr>
              <a:t>Differential</a:t>
            </a:r>
            <a:r>
              <a:rPr lang="en-US" b="1" dirty="0">
                <a:solidFill>
                  <a:srgbClr val="0A0A0A"/>
                </a:solidFill>
                <a:latin typeface="Google Sans"/>
              </a:rPr>
              <a:t>:</a:t>
            </a:r>
            <a:r>
              <a:rPr lang="en-US" dirty="0">
                <a:solidFill>
                  <a:srgbClr val="0A0A0A"/>
                </a:solidFill>
                <a:latin typeface="Google Sans"/>
              </a:rPr>
              <a:t> A set of gears that allows the wheels on the same axle to rotate at different speeds, which is essential for turning corners smoothly</a:t>
            </a:r>
            <a:r>
              <a:rPr lang="en-US" dirty="0" smtClean="0">
                <a:solidFill>
                  <a:srgbClr val="0A0A0A"/>
                </a:solidFill>
                <a:latin typeface="Google Sans"/>
              </a:rPr>
              <a:t>.</a:t>
            </a:r>
            <a:endParaRPr lang="en-US" dirty="0">
              <a:solidFill>
                <a:srgbClr val="0A0A0A"/>
              </a:solidFill>
              <a:latin typeface="Google Sans"/>
            </a:endParaRPr>
          </a:p>
        </p:txBody>
      </p:sp>
      <p:pic>
        <p:nvPicPr>
          <p:cNvPr id="9" name="nC6fsNXdcMQ"/>
          <p:cNvPicPr>
            <a:picLocks noRot="1" noChangeAspect="1"/>
          </p:cNvPicPr>
          <p:nvPr>
            <a:videoFile r:link="rId3"/>
          </p:nvPr>
        </p:nvPicPr>
        <p:blipFill>
          <a:blip r:embed="rId5"/>
          <a:stretch>
            <a:fillRect/>
          </a:stretch>
        </p:blipFill>
        <p:spPr>
          <a:xfrm>
            <a:off x="1476552" y="2604839"/>
            <a:ext cx="6221033" cy="3363699"/>
          </a:xfrm>
          <a:prstGeom prst="rect">
            <a:avLst/>
          </a:prstGeom>
        </p:spPr>
      </p:pic>
    </p:spTree>
    <p:custDataLst>
      <p:tags r:id="rId1"/>
    </p:custDataLst>
    <p:extLst>
      <p:ext uri="{BB962C8B-B14F-4D97-AF65-F5344CB8AC3E}">
        <p14:creationId xmlns:p14="http://schemas.microsoft.com/office/powerpoint/2010/main" val="10629880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1022830" y="60472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1039231" y="1221126"/>
            <a:ext cx="3031599" cy="369332"/>
          </a:xfrm>
          <a:prstGeom prst="rect">
            <a:avLst/>
          </a:prstGeom>
        </p:spPr>
        <p:txBody>
          <a:bodyPr wrap="none">
            <a:spAutoFit/>
          </a:bodyPr>
          <a:lstStyle/>
          <a:p>
            <a:r>
              <a:rPr lang="en-US" dirty="0" smtClean="0">
                <a:solidFill>
                  <a:srgbClr val="0A0A0A"/>
                </a:solidFill>
                <a:latin typeface="Google Sans"/>
              </a:rPr>
              <a:t>The drivetrain Components </a:t>
            </a:r>
            <a:endParaRPr lang="en-US" dirty="0"/>
          </a:p>
        </p:txBody>
      </p:sp>
      <p:sp>
        <p:nvSpPr>
          <p:cNvPr id="5" name="Rectangle 4"/>
          <p:cNvSpPr/>
          <p:nvPr/>
        </p:nvSpPr>
        <p:spPr>
          <a:xfrm>
            <a:off x="1039231" y="1774483"/>
            <a:ext cx="9890437" cy="369332"/>
          </a:xfrm>
          <a:prstGeom prst="rect">
            <a:avLst/>
          </a:prstGeom>
        </p:spPr>
        <p:txBody>
          <a:bodyPr wrap="square">
            <a:spAutoFit/>
          </a:bodyPr>
          <a:lstStyle/>
          <a:p>
            <a:pPr>
              <a:buFont typeface="Arial" panose="020B0604020202020204" pitchFamily="34" charset="0"/>
              <a:buChar char="•"/>
            </a:pPr>
            <a:r>
              <a:rPr lang="en-US" b="1" dirty="0" smtClean="0">
                <a:solidFill>
                  <a:srgbClr val="0A0A0A"/>
                </a:solidFill>
                <a:latin typeface="Google Sans"/>
              </a:rPr>
              <a:t>Axles/Half-shafts</a:t>
            </a:r>
            <a:r>
              <a:rPr lang="en-US" b="1" dirty="0">
                <a:solidFill>
                  <a:srgbClr val="0A0A0A"/>
                </a:solidFill>
                <a:latin typeface="Google Sans"/>
              </a:rPr>
              <a:t>:</a:t>
            </a:r>
            <a:r>
              <a:rPr lang="en-US" dirty="0">
                <a:solidFill>
                  <a:srgbClr val="0A0A0A"/>
                </a:solidFill>
                <a:latin typeface="Google Sans"/>
              </a:rPr>
              <a:t> Connect the differential to the drive wheels, transmitting the final power</a:t>
            </a:r>
            <a:r>
              <a:rPr lang="en-US" dirty="0" smtClean="0">
                <a:solidFill>
                  <a:srgbClr val="0A0A0A"/>
                </a:solidFill>
                <a:latin typeface="Google Sans"/>
              </a:rPr>
              <a:t>.</a:t>
            </a:r>
            <a:endParaRPr lang="en-US" dirty="0">
              <a:solidFill>
                <a:srgbClr val="0A0A0A"/>
              </a:solidFill>
              <a:latin typeface="Google Sans"/>
            </a:endParaRPr>
          </a:p>
        </p:txBody>
      </p:sp>
      <p:sp>
        <p:nvSpPr>
          <p:cNvPr id="6" name="Rectangle 5"/>
          <p:cNvSpPr/>
          <p:nvPr/>
        </p:nvSpPr>
        <p:spPr>
          <a:xfrm>
            <a:off x="1039231" y="2143815"/>
            <a:ext cx="10839656" cy="1754326"/>
          </a:xfrm>
          <a:prstGeom prst="rect">
            <a:avLst/>
          </a:prstGeom>
        </p:spPr>
        <p:txBody>
          <a:bodyPr wrap="square">
            <a:spAutoFit/>
          </a:bodyPr>
          <a:lstStyle/>
          <a:p>
            <a:r>
              <a:rPr lang="en-US" b="1" dirty="0"/>
              <a:t>Axle</a:t>
            </a:r>
            <a:r>
              <a:rPr lang="en-US" dirty="0"/>
              <a:t>: An axle is a central shaft for a rotating wheel or gear. Its primary function is to support the weight of the vehicle and its cargo</a:t>
            </a:r>
            <a:r>
              <a:rPr lang="en-US" dirty="0" smtClean="0"/>
              <a:t>.</a:t>
            </a:r>
          </a:p>
          <a:p>
            <a:endParaRPr lang="en-US" dirty="0"/>
          </a:p>
          <a:p>
            <a:r>
              <a:rPr lang="en-US" dirty="0"/>
              <a:t>Axles can be dead (non-driven) or live (driven by the engine).</a:t>
            </a:r>
          </a:p>
          <a:p>
            <a:r>
              <a:rPr lang="en-US" dirty="0"/>
              <a:t>In modern passenger cars, the term "axle" often refers to the entire assembly, including the housing, shafts, and differential.</a:t>
            </a:r>
          </a:p>
        </p:txBody>
      </p:sp>
      <p:sp>
        <p:nvSpPr>
          <p:cNvPr id="7" name="Rectangle 6"/>
          <p:cNvSpPr/>
          <p:nvPr/>
        </p:nvSpPr>
        <p:spPr>
          <a:xfrm>
            <a:off x="1039231" y="4144883"/>
            <a:ext cx="10598363" cy="1754326"/>
          </a:xfrm>
          <a:prstGeom prst="rect">
            <a:avLst/>
          </a:prstGeom>
        </p:spPr>
        <p:txBody>
          <a:bodyPr wrap="square">
            <a:spAutoFit/>
          </a:bodyPr>
          <a:lstStyle/>
          <a:p>
            <a:r>
              <a:rPr lang="en-US" b="1" dirty="0"/>
              <a:t>Half-shaft: </a:t>
            </a:r>
            <a:r>
              <a:rPr lang="en-US" dirty="0"/>
              <a:t>A half-shaft is a specific type of axle shaft that extends from the differential (or transaxle) to an individual wheel.</a:t>
            </a:r>
          </a:p>
          <a:p>
            <a:r>
              <a:rPr lang="en-US" dirty="0"/>
              <a:t>They are called "half" shafts because there are two of them, one for each wheel, making up the full drive axle assembly.</a:t>
            </a:r>
          </a:p>
          <a:p>
            <a:r>
              <a:rPr lang="en-US" dirty="0"/>
              <a:t>These components are primarily responsible for transmitting the rotational force (torque) from the differential to the wheels, allowing them to spin.</a:t>
            </a:r>
          </a:p>
        </p:txBody>
      </p:sp>
    </p:spTree>
    <p:custDataLst>
      <p:tags r:id="rId1"/>
    </p:custDataLst>
    <p:extLst>
      <p:ext uri="{BB962C8B-B14F-4D97-AF65-F5344CB8AC3E}">
        <p14:creationId xmlns:p14="http://schemas.microsoft.com/office/powerpoint/2010/main" val="22511397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1022830" y="60472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1039231" y="1221126"/>
            <a:ext cx="3031599" cy="369332"/>
          </a:xfrm>
          <a:prstGeom prst="rect">
            <a:avLst/>
          </a:prstGeom>
        </p:spPr>
        <p:txBody>
          <a:bodyPr wrap="none">
            <a:spAutoFit/>
          </a:bodyPr>
          <a:lstStyle/>
          <a:p>
            <a:r>
              <a:rPr lang="en-US" dirty="0" smtClean="0">
                <a:solidFill>
                  <a:srgbClr val="0A0A0A"/>
                </a:solidFill>
                <a:latin typeface="Google Sans"/>
              </a:rPr>
              <a:t>The drivetrain Components </a:t>
            </a:r>
            <a:endParaRPr lang="en-US" dirty="0"/>
          </a:p>
        </p:txBody>
      </p:sp>
      <p:sp>
        <p:nvSpPr>
          <p:cNvPr id="5" name="Rectangle 4"/>
          <p:cNvSpPr/>
          <p:nvPr/>
        </p:nvSpPr>
        <p:spPr>
          <a:xfrm>
            <a:off x="1022830" y="1591497"/>
            <a:ext cx="9890437" cy="369332"/>
          </a:xfrm>
          <a:prstGeom prst="rect">
            <a:avLst/>
          </a:prstGeom>
        </p:spPr>
        <p:txBody>
          <a:bodyPr wrap="square">
            <a:spAutoFit/>
          </a:bodyPr>
          <a:lstStyle/>
          <a:p>
            <a:pPr>
              <a:buFont typeface="Arial" panose="020B0604020202020204" pitchFamily="34" charset="0"/>
              <a:buChar char="•"/>
            </a:pPr>
            <a:r>
              <a:rPr lang="en-US" b="1" dirty="0" smtClean="0">
                <a:solidFill>
                  <a:srgbClr val="0A0A0A"/>
                </a:solidFill>
                <a:latin typeface="Google Sans"/>
              </a:rPr>
              <a:t>Axles/Half-shafts</a:t>
            </a:r>
            <a:r>
              <a:rPr lang="en-US" b="1" dirty="0">
                <a:solidFill>
                  <a:srgbClr val="0A0A0A"/>
                </a:solidFill>
                <a:latin typeface="Google Sans"/>
              </a:rPr>
              <a:t>:</a:t>
            </a:r>
            <a:r>
              <a:rPr lang="en-US" dirty="0">
                <a:solidFill>
                  <a:srgbClr val="0A0A0A"/>
                </a:solidFill>
                <a:latin typeface="Google Sans"/>
              </a:rPr>
              <a:t> Connect the differential to the drive wheels, transmitting the final power</a:t>
            </a:r>
            <a:r>
              <a:rPr lang="en-US" dirty="0" smtClean="0">
                <a:solidFill>
                  <a:srgbClr val="0A0A0A"/>
                </a:solidFill>
                <a:latin typeface="Google Sans"/>
              </a:rPr>
              <a:t>.</a:t>
            </a:r>
            <a:endParaRPr lang="en-US" dirty="0">
              <a:solidFill>
                <a:srgbClr val="0A0A0A"/>
              </a:solidFill>
              <a:latin typeface="Google Sans"/>
            </a:endParaRPr>
          </a:p>
        </p:txBody>
      </p:sp>
      <p:sp>
        <p:nvSpPr>
          <p:cNvPr id="8" name="Rectangle 7"/>
          <p:cNvSpPr/>
          <p:nvPr/>
        </p:nvSpPr>
        <p:spPr>
          <a:xfrm>
            <a:off x="764771" y="1971677"/>
            <a:ext cx="11114115" cy="2800767"/>
          </a:xfrm>
          <a:prstGeom prst="rect">
            <a:avLst/>
          </a:prstGeom>
        </p:spPr>
        <p:txBody>
          <a:bodyPr wrap="square">
            <a:spAutoFit/>
          </a:bodyPr>
          <a:lstStyle/>
          <a:p>
            <a:r>
              <a:rPr lang="en-US" sz="1600" b="1" dirty="0"/>
              <a:t>Key Differences and </a:t>
            </a:r>
            <a:r>
              <a:rPr lang="en-US" sz="1600" b="1" dirty="0" smtClean="0"/>
              <a:t>Functions.</a:t>
            </a:r>
          </a:p>
          <a:p>
            <a:r>
              <a:rPr lang="en-US" sz="1600" dirty="0" smtClean="0"/>
              <a:t>The </a:t>
            </a:r>
            <a:r>
              <a:rPr lang="en-US" sz="1600" dirty="0"/>
              <a:t>main distinction lies in their primary function and the stresses they endure</a:t>
            </a:r>
            <a:r>
              <a:rPr lang="en-US" sz="1600" dirty="0" smtClean="0"/>
              <a:t>:</a:t>
            </a:r>
          </a:p>
          <a:p>
            <a:endParaRPr lang="en-US" sz="1600" dirty="0"/>
          </a:p>
          <a:p>
            <a:r>
              <a:rPr lang="en-US" sz="1600" b="1" dirty="0"/>
              <a:t>Weight Bearing</a:t>
            </a:r>
            <a:r>
              <a:rPr lang="en-US" sz="1600" dirty="0"/>
              <a:t>: The general axle assembly (housing) supports the vehicle's weight, while the axle shafts themselves are primarily designed to withstand the torsional stress of power transmission</a:t>
            </a:r>
            <a:r>
              <a:rPr lang="en-US" sz="1600" dirty="0" smtClean="0"/>
              <a:t>.</a:t>
            </a:r>
          </a:p>
          <a:p>
            <a:endParaRPr lang="en-US" sz="1600" dirty="0"/>
          </a:p>
          <a:p>
            <a:r>
              <a:rPr lang="en-US" sz="1600" b="1" dirty="0"/>
              <a:t>Power Transmission</a:t>
            </a:r>
            <a:r>
              <a:rPr lang="en-US" sz="1600" dirty="0"/>
              <a:t>: Half-shafts are designed to transmit torque, allowing the wheels to move the car</a:t>
            </a:r>
            <a:r>
              <a:rPr lang="en-US" sz="1600" dirty="0" smtClean="0"/>
              <a:t>.</a:t>
            </a:r>
          </a:p>
          <a:p>
            <a:endParaRPr lang="en-US" sz="1600" dirty="0"/>
          </a:p>
          <a:p>
            <a:r>
              <a:rPr lang="en-US" sz="1600" b="1" dirty="0"/>
              <a:t>Flexibility: </a:t>
            </a:r>
            <a:r>
              <a:rPr lang="en-US" sz="1600" dirty="0"/>
              <a:t>In modern independent suspension systems (common in front-wheel-drive cars), half-shafts use constant velocity (CV) joints at both ends. These joints allow the shaft to flex and change angle as the wheels turn and the suspension moves up and down, ensuring smooth and consistent power delivery without binding</a:t>
            </a:r>
          </a:p>
        </p:txBody>
      </p:sp>
    </p:spTree>
    <p:custDataLst>
      <p:tags r:id="rId1"/>
    </p:custDataLst>
    <p:extLst>
      <p:ext uri="{BB962C8B-B14F-4D97-AF65-F5344CB8AC3E}">
        <p14:creationId xmlns:p14="http://schemas.microsoft.com/office/powerpoint/2010/main" val="37644815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1022830" y="60472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1039231" y="1221126"/>
            <a:ext cx="3031599" cy="369332"/>
          </a:xfrm>
          <a:prstGeom prst="rect">
            <a:avLst/>
          </a:prstGeom>
        </p:spPr>
        <p:txBody>
          <a:bodyPr wrap="none">
            <a:spAutoFit/>
          </a:bodyPr>
          <a:lstStyle/>
          <a:p>
            <a:r>
              <a:rPr lang="en-US" dirty="0" smtClean="0">
                <a:solidFill>
                  <a:srgbClr val="0A0A0A"/>
                </a:solidFill>
                <a:latin typeface="Google Sans"/>
              </a:rPr>
              <a:t>The drivetrain Components </a:t>
            </a:r>
            <a:endParaRPr lang="en-US" dirty="0"/>
          </a:p>
        </p:txBody>
      </p:sp>
      <p:sp>
        <p:nvSpPr>
          <p:cNvPr id="5" name="Rectangle 4"/>
          <p:cNvSpPr/>
          <p:nvPr/>
        </p:nvSpPr>
        <p:spPr>
          <a:xfrm>
            <a:off x="1022830" y="1591497"/>
            <a:ext cx="9890437" cy="369332"/>
          </a:xfrm>
          <a:prstGeom prst="rect">
            <a:avLst/>
          </a:prstGeom>
        </p:spPr>
        <p:txBody>
          <a:bodyPr wrap="square">
            <a:spAutoFit/>
          </a:bodyPr>
          <a:lstStyle/>
          <a:p>
            <a:pPr>
              <a:buFont typeface="Arial" panose="020B0604020202020204" pitchFamily="34" charset="0"/>
              <a:buChar char="•"/>
            </a:pPr>
            <a:r>
              <a:rPr lang="en-US" b="1" dirty="0" smtClean="0">
                <a:solidFill>
                  <a:srgbClr val="0A0A0A"/>
                </a:solidFill>
                <a:latin typeface="Google Sans"/>
              </a:rPr>
              <a:t>Axles/Half-shafts</a:t>
            </a:r>
            <a:r>
              <a:rPr lang="en-US" b="1" dirty="0">
                <a:solidFill>
                  <a:srgbClr val="0A0A0A"/>
                </a:solidFill>
                <a:latin typeface="Google Sans"/>
              </a:rPr>
              <a:t>:</a:t>
            </a:r>
            <a:r>
              <a:rPr lang="en-US" dirty="0">
                <a:solidFill>
                  <a:srgbClr val="0A0A0A"/>
                </a:solidFill>
                <a:latin typeface="Google Sans"/>
              </a:rPr>
              <a:t> Connect the differential to the drive wheels, transmitting the final power</a:t>
            </a:r>
            <a:r>
              <a:rPr lang="en-US" dirty="0" smtClean="0">
                <a:solidFill>
                  <a:srgbClr val="0A0A0A"/>
                </a:solidFill>
                <a:latin typeface="Google Sans"/>
              </a:rPr>
              <a:t>.</a:t>
            </a:r>
            <a:endParaRPr lang="en-US" dirty="0">
              <a:solidFill>
                <a:srgbClr val="0A0A0A"/>
              </a:solidFill>
              <a:latin typeface="Google Sans"/>
            </a:endParaRPr>
          </a:p>
        </p:txBody>
      </p:sp>
      <p:pic>
        <p:nvPicPr>
          <p:cNvPr id="6" name="Picture 5"/>
          <p:cNvPicPr>
            <a:picLocks noChangeAspect="1"/>
          </p:cNvPicPr>
          <p:nvPr/>
        </p:nvPicPr>
        <p:blipFill>
          <a:blip r:embed="rId4"/>
          <a:stretch>
            <a:fillRect/>
          </a:stretch>
        </p:blipFill>
        <p:spPr>
          <a:xfrm>
            <a:off x="1022830" y="2231015"/>
            <a:ext cx="5228341" cy="2224607"/>
          </a:xfrm>
          <a:prstGeom prst="rect">
            <a:avLst/>
          </a:prstGeom>
        </p:spPr>
      </p:pic>
      <p:pic>
        <p:nvPicPr>
          <p:cNvPr id="7" name="Picture 6"/>
          <p:cNvPicPr>
            <a:picLocks noChangeAspect="1"/>
          </p:cNvPicPr>
          <p:nvPr/>
        </p:nvPicPr>
        <p:blipFill>
          <a:blip r:embed="rId5"/>
          <a:stretch>
            <a:fillRect/>
          </a:stretch>
        </p:blipFill>
        <p:spPr>
          <a:xfrm>
            <a:off x="6251171" y="2231015"/>
            <a:ext cx="4806703" cy="2321504"/>
          </a:xfrm>
          <a:prstGeom prst="rect">
            <a:avLst/>
          </a:prstGeom>
        </p:spPr>
      </p:pic>
      <p:sp>
        <p:nvSpPr>
          <p:cNvPr id="9" name="Rectangle 8"/>
          <p:cNvSpPr/>
          <p:nvPr/>
        </p:nvSpPr>
        <p:spPr>
          <a:xfrm>
            <a:off x="5885776" y="4875690"/>
            <a:ext cx="6096000" cy="646331"/>
          </a:xfrm>
          <a:prstGeom prst="rect">
            <a:avLst/>
          </a:prstGeom>
        </p:spPr>
        <p:txBody>
          <a:bodyPr>
            <a:spAutoFit/>
          </a:bodyPr>
          <a:lstStyle/>
          <a:p>
            <a:r>
              <a:rPr lang="en-US" dirty="0"/>
              <a:t> It gets its name because a single half shaft only performs half of the work required for the axle</a:t>
            </a:r>
          </a:p>
        </p:txBody>
      </p:sp>
    </p:spTree>
    <p:custDataLst>
      <p:tags r:id="rId1"/>
    </p:custDataLst>
    <p:extLst>
      <p:ext uri="{BB962C8B-B14F-4D97-AF65-F5344CB8AC3E}">
        <p14:creationId xmlns:p14="http://schemas.microsoft.com/office/powerpoint/2010/main" val="19539601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687238"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640041" y="1511541"/>
            <a:ext cx="10287252" cy="830997"/>
          </a:xfrm>
          <a:prstGeom prst="rect">
            <a:avLst/>
          </a:prstGeom>
        </p:spPr>
        <p:txBody>
          <a:bodyPr wrap="square">
            <a:spAutoFit/>
          </a:bodyPr>
          <a:lstStyle/>
          <a:p>
            <a:r>
              <a:rPr lang="en-US" sz="1600" b="1" dirty="0"/>
              <a:t>Rear-Wheel Drive (RWD) </a:t>
            </a:r>
            <a:r>
              <a:rPr lang="en-US" sz="1600" dirty="0"/>
              <a:t>is a drivetrain layout where engine power is delivered only to the </a:t>
            </a:r>
            <a:r>
              <a:rPr lang="en-US" sz="1600" b="1" dirty="0"/>
              <a:t>rear wheels</a:t>
            </a:r>
            <a:r>
              <a:rPr lang="en-US" sz="1600" dirty="0"/>
              <a:t> of the vehicle</a:t>
            </a:r>
            <a:r>
              <a:rPr lang="en-US" sz="1600" dirty="0">
                <a:solidFill>
                  <a:srgbClr val="0A0A0A"/>
                </a:solidFill>
                <a:latin typeface="Google Sans"/>
              </a:rPr>
              <a:t>. In most RWD cars, the engine is located in the front, and a driveshaft runs the length of the vehicle to power the rear axle.</a:t>
            </a:r>
            <a:endParaRPr lang="en-US" sz="1600" dirty="0"/>
          </a:p>
        </p:txBody>
      </p:sp>
      <p:sp>
        <p:nvSpPr>
          <p:cNvPr id="6" name="Rectangle 5"/>
          <p:cNvSpPr/>
          <p:nvPr/>
        </p:nvSpPr>
        <p:spPr>
          <a:xfrm>
            <a:off x="640041" y="2601211"/>
            <a:ext cx="10114724" cy="830997"/>
          </a:xfrm>
          <a:prstGeom prst="rect">
            <a:avLst/>
          </a:prstGeom>
        </p:spPr>
        <p:txBody>
          <a:bodyPr wrap="square">
            <a:spAutoFit/>
          </a:bodyPr>
          <a:lstStyle/>
          <a:p>
            <a:r>
              <a:rPr lang="en-US" sz="1600" b="1" dirty="0">
                <a:solidFill>
                  <a:srgbClr val="0A0A0A"/>
                </a:solidFill>
                <a:latin typeface="Google Sans"/>
              </a:rPr>
              <a:t>Weight Distribution:</a:t>
            </a:r>
            <a:r>
              <a:rPr lang="en-US" sz="1600" dirty="0">
                <a:solidFill>
                  <a:srgbClr val="0A0A0A"/>
                </a:solidFill>
                <a:latin typeface="Google Sans"/>
              </a:rPr>
              <a:t> RWD systems typically have a more balanced weight distribution between the front and rear axles compared to FWD systems. This balance contributes to better handling and stability, especially during acceleration and aggressive cornering.</a:t>
            </a:r>
            <a:endParaRPr lang="en-US" sz="1600" b="0" i="0" dirty="0">
              <a:solidFill>
                <a:srgbClr val="0A0A0A"/>
              </a:solidFill>
              <a:effectLst/>
              <a:latin typeface="Google Sans"/>
            </a:endParaRPr>
          </a:p>
        </p:txBody>
      </p:sp>
      <p:sp>
        <p:nvSpPr>
          <p:cNvPr id="7" name="Rectangle 6"/>
          <p:cNvSpPr/>
          <p:nvPr/>
        </p:nvSpPr>
        <p:spPr>
          <a:xfrm>
            <a:off x="574750" y="3607510"/>
            <a:ext cx="10417833" cy="1077218"/>
          </a:xfrm>
          <a:prstGeom prst="rect">
            <a:avLst/>
          </a:prstGeom>
        </p:spPr>
        <p:txBody>
          <a:bodyPr wrap="square">
            <a:spAutoFit/>
          </a:bodyPr>
          <a:lstStyle/>
          <a:p>
            <a:r>
              <a:rPr lang="en-US" sz="1600" b="1" dirty="0">
                <a:solidFill>
                  <a:srgbClr val="0A0A0A"/>
                </a:solidFill>
                <a:latin typeface="Google Sans"/>
              </a:rPr>
              <a:t>Performance &amp; Handling:</a:t>
            </a:r>
            <a:r>
              <a:rPr lang="en-US" sz="1600" dirty="0">
                <a:solidFill>
                  <a:srgbClr val="0A0A0A"/>
                </a:solidFill>
                <a:latin typeface="Google Sans"/>
              </a:rPr>
              <a:t> Because the front wheels are responsible only for steering, and the rear wheels are responsible for power delivery, RWD vehicles often offer a purer, more engaging driving experience favored by performance enthusiasts. This setup allows for better acceleration as weight shifts to the rear wheels, increasing traction on launch</a:t>
            </a:r>
            <a:endParaRPr lang="en-US" sz="1600" dirty="0"/>
          </a:p>
        </p:txBody>
      </p:sp>
      <p:sp>
        <p:nvSpPr>
          <p:cNvPr id="8" name="Rectangle 7"/>
          <p:cNvSpPr/>
          <p:nvPr/>
        </p:nvSpPr>
        <p:spPr>
          <a:xfrm>
            <a:off x="574750" y="4959149"/>
            <a:ext cx="10849155" cy="584775"/>
          </a:xfrm>
          <a:prstGeom prst="rect">
            <a:avLst/>
          </a:prstGeom>
        </p:spPr>
        <p:txBody>
          <a:bodyPr wrap="square">
            <a:spAutoFit/>
          </a:bodyPr>
          <a:lstStyle/>
          <a:p>
            <a:r>
              <a:rPr lang="en-US" sz="1600" b="1" dirty="0">
                <a:solidFill>
                  <a:srgbClr val="0A0A0A"/>
                </a:solidFill>
                <a:latin typeface="Google Sans"/>
              </a:rPr>
              <a:t>Towing &amp; Heavy Loads:</a:t>
            </a:r>
            <a:r>
              <a:rPr lang="en-US" sz="1600" dirty="0">
                <a:solidFill>
                  <a:srgbClr val="0A0A0A"/>
                </a:solidFill>
                <a:latin typeface="Google Sans"/>
              </a:rPr>
              <a:t> The robust rear differential setup makes RWD an efficient choice for trucks and SUVs designed to carry heavy loads or tow trailers</a:t>
            </a:r>
            <a:endParaRPr lang="en-US" sz="1600" dirty="0"/>
          </a:p>
        </p:txBody>
      </p:sp>
    </p:spTree>
    <p:custDataLst>
      <p:tags r:id="rId1"/>
    </p:custDataLst>
    <p:extLst>
      <p:ext uri="{BB962C8B-B14F-4D97-AF65-F5344CB8AC3E}">
        <p14:creationId xmlns:p14="http://schemas.microsoft.com/office/powerpoint/2010/main" val="4799238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557842" y="5986870"/>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736120" y="1339759"/>
            <a:ext cx="10745637" cy="1077218"/>
          </a:xfrm>
          <a:prstGeom prst="rect">
            <a:avLst/>
          </a:prstGeom>
        </p:spPr>
        <p:txBody>
          <a:bodyPr wrap="square">
            <a:spAutoFit/>
          </a:bodyPr>
          <a:lstStyle/>
          <a:p>
            <a:r>
              <a:rPr lang="en-US" sz="1600" b="1" dirty="0">
                <a:solidFill>
                  <a:srgbClr val="0A0A0A"/>
                </a:solidFill>
                <a:latin typeface="Google Sans"/>
              </a:rPr>
              <a:t>Traction in Slippery Conditions:</a:t>
            </a:r>
            <a:r>
              <a:rPr lang="en-US" sz="1600" dirty="0">
                <a:solidFill>
                  <a:srgbClr val="0A0A0A"/>
                </a:solidFill>
                <a:latin typeface="Google Sans"/>
              </a:rPr>
              <a:t> RWD vehicles can struggle in snow, ice, and heavy rain because the majority of the vehicle's weight (the engine) is not positioned directly over the drive wheels, making them more prone to "oversteer" (fishtailing or losing rear-end traction). Modern traction control and stability control systems mitigate this risk significantly.</a:t>
            </a:r>
            <a:endParaRPr lang="en-US" sz="1600" b="0" i="0" dirty="0">
              <a:solidFill>
                <a:srgbClr val="0A0A0A"/>
              </a:solidFill>
              <a:effectLst/>
              <a:latin typeface="Google Sans"/>
            </a:endParaRPr>
          </a:p>
        </p:txBody>
      </p:sp>
      <p:sp>
        <p:nvSpPr>
          <p:cNvPr id="5" name="Rectangle 4"/>
          <p:cNvSpPr/>
          <p:nvPr/>
        </p:nvSpPr>
        <p:spPr>
          <a:xfrm>
            <a:off x="736120" y="2416977"/>
            <a:ext cx="11142454" cy="584775"/>
          </a:xfrm>
          <a:prstGeom prst="rect">
            <a:avLst/>
          </a:prstGeom>
        </p:spPr>
        <p:txBody>
          <a:bodyPr wrap="square">
            <a:spAutoFit/>
          </a:bodyPr>
          <a:lstStyle/>
          <a:p>
            <a:r>
              <a:rPr lang="en-US" sz="1600" b="1" dirty="0">
                <a:solidFill>
                  <a:srgbClr val="0A0A0A"/>
                </a:solidFill>
                <a:latin typeface="Google Sans"/>
              </a:rPr>
              <a:t>Interior Space:</a:t>
            </a:r>
            <a:r>
              <a:rPr lang="en-US" sz="1600" dirty="0">
                <a:solidFill>
                  <a:srgbClr val="0A0A0A"/>
                </a:solidFill>
                <a:latin typeface="Google Sans"/>
              </a:rPr>
              <a:t> The driveshaft tunnel required to run power to the back axle can slightly reduce rear passenger legroom and interior cabin space compared to FWD layouts.</a:t>
            </a:r>
            <a:endParaRPr lang="en-US" sz="1600" dirty="0"/>
          </a:p>
        </p:txBody>
      </p:sp>
      <p:sp>
        <p:nvSpPr>
          <p:cNvPr id="7" name="Rectangle 6"/>
          <p:cNvSpPr/>
          <p:nvPr/>
        </p:nvSpPr>
        <p:spPr>
          <a:xfrm>
            <a:off x="658482" y="2968736"/>
            <a:ext cx="11133827" cy="2554545"/>
          </a:xfrm>
          <a:prstGeom prst="rect">
            <a:avLst/>
          </a:prstGeom>
        </p:spPr>
        <p:txBody>
          <a:bodyPr wrap="square">
            <a:spAutoFit/>
          </a:bodyPr>
          <a:lstStyle/>
          <a:p>
            <a:r>
              <a:rPr lang="en-US" sz="1600" b="1" dirty="0"/>
              <a:t>Common Applications</a:t>
            </a:r>
          </a:p>
          <a:p>
            <a:r>
              <a:rPr lang="en-US" sz="1600" dirty="0"/>
              <a:t>RWD is a popular choice for</a:t>
            </a:r>
            <a:r>
              <a:rPr lang="en-US" sz="1600" dirty="0" smtClean="0"/>
              <a:t>:</a:t>
            </a:r>
          </a:p>
          <a:p>
            <a:endParaRPr lang="en-US" sz="1600" dirty="0"/>
          </a:p>
          <a:p>
            <a:r>
              <a:rPr lang="en-US" sz="1600" dirty="0"/>
              <a:t>Sports cars and Performance Sedans: Vehicles like the BMW 3 Series, Lexus IS, and Ford Mustang use RWD because of its superior handling characteristics</a:t>
            </a:r>
            <a:r>
              <a:rPr lang="en-US" sz="1600" dirty="0" smtClean="0"/>
              <a:t>.</a:t>
            </a:r>
          </a:p>
          <a:p>
            <a:endParaRPr lang="en-US" sz="1600" dirty="0"/>
          </a:p>
          <a:p>
            <a:r>
              <a:rPr lang="en-US" sz="1600" dirty="0"/>
              <a:t>Trucks and Large SUVs: The power delivery and weight handling capabilities make RWD a staple for pickup trucks (like the Ford F-150 or Chevrolet Silverado) and many full-size SUVs (like the Chevrolet Tahoe</a:t>
            </a:r>
            <a:r>
              <a:rPr lang="en-US" sz="1600" dirty="0" smtClean="0"/>
              <a:t>).</a:t>
            </a:r>
          </a:p>
          <a:p>
            <a:endParaRPr lang="en-US" sz="1600" dirty="0"/>
          </a:p>
          <a:p>
            <a:r>
              <a:rPr lang="en-US" sz="1600" dirty="0"/>
              <a:t>Luxury Vehicles: Many high-end luxury brands favor RWD for its smooth performance and balanced ride quality.</a:t>
            </a:r>
          </a:p>
        </p:txBody>
      </p:sp>
    </p:spTree>
    <p:custDataLst>
      <p:tags r:id="rId1"/>
    </p:custDataLst>
    <p:extLst>
      <p:ext uri="{BB962C8B-B14F-4D97-AF65-F5344CB8AC3E}">
        <p14:creationId xmlns:p14="http://schemas.microsoft.com/office/powerpoint/2010/main" val="3844856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764877" y="596961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942672" y="1313138"/>
            <a:ext cx="2924840" cy="369332"/>
          </a:xfrm>
          <a:prstGeom prst="rect">
            <a:avLst/>
          </a:prstGeom>
        </p:spPr>
        <p:txBody>
          <a:bodyPr wrap="none">
            <a:spAutoFit/>
          </a:bodyPr>
          <a:lstStyle/>
          <a:p>
            <a:r>
              <a:rPr lang="en-US" b="1" dirty="0"/>
              <a:t>Rear-Wheel Drive (RWD) </a:t>
            </a:r>
            <a:endParaRPr lang="en-US" dirty="0"/>
          </a:p>
        </p:txBody>
      </p:sp>
      <p:sp>
        <p:nvSpPr>
          <p:cNvPr id="6" name="Rectangle 5"/>
          <p:cNvSpPr/>
          <p:nvPr/>
        </p:nvSpPr>
        <p:spPr>
          <a:xfrm>
            <a:off x="1039230" y="1774482"/>
            <a:ext cx="10018643" cy="646331"/>
          </a:xfrm>
          <a:prstGeom prst="rect">
            <a:avLst/>
          </a:prstGeom>
        </p:spPr>
        <p:txBody>
          <a:bodyPr wrap="square">
            <a:spAutoFit/>
          </a:bodyPr>
          <a:lstStyle/>
          <a:p>
            <a:r>
              <a:rPr lang="en-US" dirty="0">
                <a:solidFill>
                  <a:srgbClr val="0A0A0A"/>
                </a:solidFill>
                <a:latin typeface="Google Sans"/>
              </a:rPr>
              <a:t>A rear-wheel drive (RWD) system </a:t>
            </a:r>
            <a:r>
              <a:rPr lang="en-US" dirty="0"/>
              <a:t>delivers engine power exclusively to the rear wheels, propelling the vehicle forward</a:t>
            </a:r>
            <a:r>
              <a:rPr lang="en-US" dirty="0">
                <a:solidFill>
                  <a:srgbClr val="0A0A0A"/>
                </a:solidFill>
                <a:latin typeface="Google Sans"/>
              </a:rPr>
              <a:t>.</a:t>
            </a:r>
            <a:endParaRPr lang="en-US" dirty="0"/>
          </a:p>
        </p:txBody>
      </p:sp>
      <p:sp>
        <p:nvSpPr>
          <p:cNvPr id="7" name="Rectangle 6"/>
          <p:cNvSpPr/>
          <p:nvPr/>
        </p:nvSpPr>
        <p:spPr>
          <a:xfrm>
            <a:off x="1039229" y="2512825"/>
            <a:ext cx="10321759" cy="646331"/>
          </a:xfrm>
          <a:prstGeom prst="rect">
            <a:avLst/>
          </a:prstGeom>
        </p:spPr>
        <p:txBody>
          <a:bodyPr wrap="square">
            <a:spAutoFit/>
          </a:bodyPr>
          <a:lstStyle/>
          <a:p>
            <a:r>
              <a:rPr lang="en-US" dirty="0">
                <a:solidFill>
                  <a:srgbClr val="0A0A0A"/>
                </a:solidFill>
                <a:latin typeface="Google Sans"/>
              </a:rPr>
              <a:t> This is often found in performance and luxury cars, as it can lead to better handling, acceleration, and weight balance because the front wheels are only responsible for steering. </a:t>
            </a:r>
            <a:endParaRPr lang="en-US" dirty="0"/>
          </a:p>
        </p:txBody>
      </p:sp>
      <p:sp>
        <p:nvSpPr>
          <p:cNvPr id="8" name="Rectangle 7"/>
          <p:cNvSpPr/>
          <p:nvPr/>
        </p:nvSpPr>
        <p:spPr>
          <a:xfrm>
            <a:off x="1039229" y="3271885"/>
            <a:ext cx="10018644" cy="646331"/>
          </a:xfrm>
          <a:prstGeom prst="rect">
            <a:avLst/>
          </a:prstGeom>
        </p:spPr>
        <p:txBody>
          <a:bodyPr wrap="square">
            <a:spAutoFit/>
          </a:bodyPr>
          <a:lstStyle/>
          <a:p>
            <a:r>
              <a:rPr lang="en-US" dirty="0">
                <a:solidFill>
                  <a:srgbClr val="0A0A0A"/>
                </a:solidFill>
                <a:latin typeface="Google Sans"/>
              </a:rPr>
              <a:t>However, RWD can struggle with traction in slippery conditions like rain or snow, though modern stability and traction control systems help mitigate this </a:t>
            </a:r>
            <a:r>
              <a:rPr lang="en-US" dirty="0" smtClean="0">
                <a:solidFill>
                  <a:srgbClr val="0A0A0A"/>
                </a:solidFill>
                <a:latin typeface="Google Sans"/>
              </a:rPr>
              <a:t>issue</a:t>
            </a:r>
            <a:endParaRPr lang="en-US" dirty="0"/>
          </a:p>
        </p:txBody>
      </p:sp>
    </p:spTree>
    <p:custDataLst>
      <p:tags r:id="rId1"/>
    </p:custDataLst>
    <p:extLst>
      <p:ext uri="{BB962C8B-B14F-4D97-AF65-F5344CB8AC3E}">
        <p14:creationId xmlns:p14="http://schemas.microsoft.com/office/powerpoint/2010/main" val="1045641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764877" y="596961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pic>
        <p:nvPicPr>
          <p:cNvPr id="2" name="Picture 1"/>
          <p:cNvPicPr>
            <a:picLocks noChangeAspect="1"/>
          </p:cNvPicPr>
          <p:nvPr/>
        </p:nvPicPr>
        <p:blipFill>
          <a:blip r:embed="rId4"/>
          <a:stretch>
            <a:fillRect/>
          </a:stretch>
        </p:blipFill>
        <p:spPr>
          <a:xfrm>
            <a:off x="1039231" y="1774483"/>
            <a:ext cx="5345860" cy="2365706"/>
          </a:xfrm>
          <a:prstGeom prst="rect">
            <a:avLst/>
          </a:prstGeom>
        </p:spPr>
      </p:pic>
    </p:spTree>
    <p:custDataLst>
      <p:tags r:id="rId1"/>
    </p:custDataLst>
    <p:extLst>
      <p:ext uri="{BB962C8B-B14F-4D97-AF65-F5344CB8AC3E}">
        <p14:creationId xmlns:p14="http://schemas.microsoft.com/office/powerpoint/2010/main" val="22010995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755761"/>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764877" y="6099443"/>
            <a:ext cx="6096000"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039231" y="1126132"/>
            <a:ext cx="2924840" cy="369332"/>
          </a:xfrm>
          <a:prstGeom prst="rect">
            <a:avLst/>
          </a:prstGeom>
        </p:spPr>
        <p:txBody>
          <a:bodyPr wrap="none">
            <a:spAutoFit/>
          </a:bodyPr>
          <a:lstStyle/>
          <a:p>
            <a:r>
              <a:rPr lang="en-US" b="1" dirty="0"/>
              <a:t>Rear-Wheel Drive (RWD) </a:t>
            </a:r>
            <a:endParaRPr lang="en-US" dirty="0"/>
          </a:p>
        </p:txBody>
      </p:sp>
      <p:sp>
        <p:nvSpPr>
          <p:cNvPr id="2" name="Rectangle 1"/>
          <p:cNvSpPr/>
          <p:nvPr/>
        </p:nvSpPr>
        <p:spPr>
          <a:xfrm>
            <a:off x="764877" y="1358324"/>
            <a:ext cx="10964173" cy="4770537"/>
          </a:xfrm>
          <a:prstGeom prst="rect">
            <a:avLst/>
          </a:prstGeom>
        </p:spPr>
        <p:txBody>
          <a:bodyPr wrap="square">
            <a:spAutoFit/>
          </a:bodyPr>
          <a:lstStyle/>
          <a:p>
            <a:r>
              <a:rPr lang="en-US" sz="1600" dirty="0"/>
              <a:t>Advantages of Rear-Wheel </a:t>
            </a:r>
            <a:r>
              <a:rPr lang="en-US" sz="1600" dirty="0" smtClean="0"/>
              <a:t>Drive</a:t>
            </a:r>
          </a:p>
          <a:p>
            <a:endParaRPr lang="en-US" sz="1600" dirty="0"/>
          </a:p>
          <a:p>
            <a:r>
              <a:rPr lang="en-US" sz="1600" dirty="0"/>
              <a:t>Superior Handling and Balance RWD vehicles generally have a more balanced weight distribution (often close to 50:50 between front and rear), which improves stability and cornering</a:t>
            </a:r>
            <a:r>
              <a:rPr lang="en-US" sz="1600" dirty="0" smtClean="0"/>
              <a:t>.</a:t>
            </a:r>
          </a:p>
          <a:p>
            <a:endParaRPr lang="en-US" sz="1600" dirty="0"/>
          </a:p>
          <a:p>
            <a:r>
              <a:rPr lang="en-US" sz="1600" dirty="0"/>
              <a:t>Enhanced Steering Feel The front wheels are responsible solely for steering, not power delivery, leading to more responsive, communicative, and precise steering</a:t>
            </a:r>
            <a:r>
              <a:rPr lang="en-US" sz="1600" dirty="0" smtClean="0"/>
              <a:t>.</a:t>
            </a:r>
          </a:p>
          <a:p>
            <a:endParaRPr lang="en-US" sz="1600" dirty="0"/>
          </a:p>
          <a:p>
            <a:r>
              <a:rPr lang="en-US" sz="1600" dirty="0"/>
              <a:t>Better Acceleration (in dry conditions) During acceleration, the vehicle's weight shifts to the rear, increasing the grip on the rear drive wheels and allowing for more efficient power delivery and faster launches from a stop</a:t>
            </a:r>
            <a:r>
              <a:rPr lang="en-US" sz="1600" dirty="0" smtClean="0"/>
              <a:t>.</a:t>
            </a:r>
          </a:p>
          <a:p>
            <a:endParaRPr lang="en-US" sz="1600" dirty="0"/>
          </a:p>
          <a:p>
            <a:r>
              <a:rPr lang="en-US" sz="1600" dirty="0"/>
              <a:t>No Torque Steer RWD cars are free from "torque steer", a phenomenon in high-powered front-wheel drive cars where the steering pulls to one side under heavy acceleration</a:t>
            </a:r>
            <a:r>
              <a:rPr lang="en-US" sz="1600" dirty="0" smtClean="0"/>
              <a:t>.</a:t>
            </a:r>
          </a:p>
          <a:p>
            <a:endParaRPr lang="en-US" sz="1600" dirty="0"/>
          </a:p>
          <a:p>
            <a:r>
              <a:rPr lang="en-US" sz="1600" dirty="0"/>
              <a:t>Ideal for High Horsepower and Towing The system is generally more robust and better able to handle high power outputs and heavy loads, making it suitable for sports cars, trucks, and performance vehicles</a:t>
            </a:r>
            <a:r>
              <a:rPr lang="en-US" sz="1600" dirty="0" smtClean="0"/>
              <a:t>.</a:t>
            </a:r>
          </a:p>
          <a:p>
            <a:endParaRPr lang="en-US" sz="1600" dirty="0"/>
          </a:p>
          <a:p>
            <a:r>
              <a:rPr lang="en-US" sz="1600" dirty="0"/>
              <a:t>Simpler Front Suspension The front suspension design is simpler when it only handles steering and braking, which can lead to less complex maintenance on those components.</a:t>
            </a:r>
          </a:p>
        </p:txBody>
      </p:sp>
    </p:spTree>
    <p:custDataLst>
      <p:tags r:id="rId1"/>
    </p:custDataLst>
    <p:extLst>
      <p:ext uri="{BB962C8B-B14F-4D97-AF65-F5344CB8AC3E}">
        <p14:creationId xmlns:p14="http://schemas.microsoft.com/office/powerpoint/2010/main" val="5381477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868394" y="599549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868394" y="1796191"/>
            <a:ext cx="10735826" cy="830997"/>
          </a:xfrm>
          <a:prstGeom prst="rect">
            <a:avLst/>
          </a:prstGeom>
        </p:spPr>
        <p:txBody>
          <a:bodyPr wrap="square">
            <a:spAutoFit/>
          </a:bodyPr>
          <a:lstStyle/>
          <a:p>
            <a:r>
              <a:rPr lang="en-US" sz="1600" dirty="0">
                <a:solidFill>
                  <a:srgbClr val="0A0A0A"/>
                </a:solidFill>
                <a:latin typeface="Google Sans"/>
              </a:rPr>
              <a:t>Front-Wheel Drive (</a:t>
            </a:r>
            <a:r>
              <a:rPr lang="en-US" sz="1600" b="1" dirty="0">
                <a:solidFill>
                  <a:srgbClr val="0A0A0A"/>
                </a:solidFill>
                <a:latin typeface="Google Sans"/>
              </a:rPr>
              <a:t>FWD</a:t>
            </a:r>
            <a:r>
              <a:rPr lang="en-US" sz="1600" dirty="0">
                <a:solidFill>
                  <a:srgbClr val="0A0A0A"/>
                </a:solidFill>
                <a:latin typeface="Google Sans"/>
              </a:rPr>
              <a:t>) is </a:t>
            </a:r>
            <a:r>
              <a:rPr lang="en-US" sz="1600" dirty="0"/>
              <a:t>a drivetrain configuration where power is delivered exclusively to the </a:t>
            </a:r>
            <a:r>
              <a:rPr lang="en-US" sz="1600" b="1" dirty="0"/>
              <a:t>front wheels</a:t>
            </a:r>
            <a:r>
              <a:rPr lang="en-US" sz="1600" dirty="0">
                <a:solidFill>
                  <a:srgbClr val="0A0A0A"/>
                </a:solidFill>
                <a:latin typeface="Google Sans"/>
              </a:rPr>
              <a:t>, which are responsible for both steering and propelling the vehicle. It is the most common layout in modern cars, particularly in compact and mid-size sedans and SUVs</a:t>
            </a:r>
            <a:endParaRPr lang="en-US" sz="1600" dirty="0"/>
          </a:p>
        </p:txBody>
      </p:sp>
      <p:sp>
        <p:nvSpPr>
          <p:cNvPr id="5" name="Rectangle 4"/>
          <p:cNvSpPr/>
          <p:nvPr/>
        </p:nvSpPr>
        <p:spPr>
          <a:xfrm>
            <a:off x="868394" y="2787848"/>
            <a:ext cx="10382143" cy="3046988"/>
          </a:xfrm>
          <a:prstGeom prst="rect">
            <a:avLst/>
          </a:prstGeom>
        </p:spPr>
        <p:txBody>
          <a:bodyPr wrap="square">
            <a:spAutoFit/>
          </a:bodyPr>
          <a:lstStyle/>
          <a:p>
            <a:r>
              <a:rPr lang="en-US" sz="1600" b="1" dirty="0"/>
              <a:t>Advantages of </a:t>
            </a:r>
            <a:r>
              <a:rPr lang="en-US" sz="1600" b="1" dirty="0" smtClean="0"/>
              <a:t>FWD</a:t>
            </a:r>
            <a:endParaRPr lang="en-US" sz="1600" b="1" dirty="0"/>
          </a:p>
          <a:p>
            <a:r>
              <a:rPr lang="en-US" sz="1600" dirty="0"/>
              <a:t>Better Traction in Poor Weather: Because the engine's weight sits directly over the drive wheels, FWD vehicles have superior traction on wet, snowy, or icy roads compared to RWD cars</a:t>
            </a:r>
            <a:r>
              <a:rPr lang="en-US" sz="1600" dirty="0" smtClean="0"/>
              <a:t>.</a:t>
            </a:r>
          </a:p>
          <a:p>
            <a:endParaRPr lang="en-US" sz="1600" dirty="0"/>
          </a:p>
          <a:p>
            <a:r>
              <a:rPr lang="en-US" sz="1600" dirty="0"/>
              <a:t>Fuel Efficiency: The system is more compact and lighter because it eliminates the need for a long driveshaft running to the back of the car. Fewer moving parts mean less energy loss, leading to better fuel economy.</a:t>
            </a:r>
          </a:p>
          <a:p>
            <a:r>
              <a:rPr lang="en-US" sz="1600" dirty="0"/>
              <a:t>More Interior Space: The compact, all-in-one powertrain design frees up cabin space by eliminating the large transmission tunnel typically found in RWD and AWD vehicles, providing a flatter floor and more legroom for passengers</a:t>
            </a:r>
            <a:r>
              <a:rPr lang="en-US" sz="1600" dirty="0" smtClean="0"/>
              <a:t>.</a:t>
            </a:r>
          </a:p>
          <a:p>
            <a:endParaRPr lang="en-US" sz="1600" dirty="0"/>
          </a:p>
          <a:p>
            <a:r>
              <a:rPr lang="en-US" sz="1600" dirty="0"/>
              <a:t>Lower Cost: FWD systems are generally simpler to manufacture and maintain, which often translates to a lower purchase price and reduced maintenance costs for the owner.</a:t>
            </a:r>
          </a:p>
        </p:txBody>
      </p:sp>
      <p:sp>
        <p:nvSpPr>
          <p:cNvPr id="6" name="Rectangle 5"/>
          <p:cNvSpPr/>
          <p:nvPr/>
        </p:nvSpPr>
        <p:spPr>
          <a:xfrm>
            <a:off x="868394" y="1241154"/>
            <a:ext cx="2409634" cy="338554"/>
          </a:xfrm>
          <a:prstGeom prst="rect">
            <a:avLst/>
          </a:prstGeom>
        </p:spPr>
        <p:txBody>
          <a:bodyPr wrap="none">
            <a:spAutoFit/>
          </a:bodyPr>
          <a:lstStyle/>
          <a:p>
            <a:r>
              <a:rPr lang="en-US" sz="1600" b="1" dirty="0" smtClean="0"/>
              <a:t>FWD Front wheel drive</a:t>
            </a:r>
            <a:endParaRPr lang="en-US" sz="1600" b="1" dirty="0"/>
          </a:p>
        </p:txBody>
      </p:sp>
    </p:spTree>
    <p:custDataLst>
      <p:tags r:id="rId1"/>
    </p:custDataLst>
    <p:extLst>
      <p:ext uri="{BB962C8B-B14F-4D97-AF65-F5344CB8AC3E}">
        <p14:creationId xmlns:p14="http://schemas.microsoft.com/office/powerpoint/2010/main" val="29159601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709354" y="59865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2" name="Rectangle 1"/>
          <p:cNvSpPr/>
          <p:nvPr/>
        </p:nvSpPr>
        <p:spPr>
          <a:xfrm>
            <a:off x="928254" y="1774483"/>
            <a:ext cx="10385367" cy="646331"/>
          </a:xfrm>
          <a:prstGeom prst="rect">
            <a:avLst/>
          </a:prstGeom>
        </p:spPr>
        <p:txBody>
          <a:bodyPr wrap="square">
            <a:spAutoFit/>
          </a:bodyPr>
          <a:lstStyle/>
          <a:p>
            <a:r>
              <a:rPr lang="en-US" dirty="0"/>
              <a:t>Four-wheel drive (4WD or 4x4) is a vehicle drivetrain system designed primarily for off-road use that delivers power to all four wheels simultaneously for maximum traction</a:t>
            </a:r>
          </a:p>
        </p:txBody>
      </p:sp>
      <p:sp>
        <p:nvSpPr>
          <p:cNvPr id="5" name="Rectangle 4"/>
          <p:cNvSpPr/>
          <p:nvPr/>
        </p:nvSpPr>
        <p:spPr>
          <a:xfrm>
            <a:off x="928254" y="2512506"/>
            <a:ext cx="10149700" cy="646331"/>
          </a:xfrm>
          <a:prstGeom prst="rect">
            <a:avLst/>
          </a:prstGeom>
        </p:spPr>
        <p:txBody>
          <a:bodyPr wrap="square">
            <a:spAutoFit/>
          </a:bodyPr>
          <a:lstStyle/>
          <a:p>
            <a:r>
              <a:rPr lang="en-US" dirty="0" smtClean="0"/>
              <a:t>It </a:t>
            </a:r>
            <a:r>
              <a:rPr lang="en-US" dirty="0"/>
              <a:t>typically requires manual engagement by the driver and uses a transfer case to split power between the front and rear axles. </a:t>
            </a:r>
          </a:p>
        </p:txBody>
      </p:sp>
      <p:sp>
        <p:nvSpPr>
          <p:cNvPr id="6" name="Rectangle 5"/>
          <p:cNvSpPr/>
          <p:nvPr/>
        </p:nvSpPr>
        <p:spPr>
          <a:xfrm>
            <a:off x="928254" y="3214000"/>
            <a:ext cx="3412153" cy="369332"/>
          </a:xfrm>
          <a:prstGeom prst="rect">
            <a:avLst/>
          </a:prstGeom>
        </p:spPr>
        <p:txBody>
          <a:bodyPr wrap="none">
            <a:spAutoFit/>
          </a:bodyPr>
          <a:lstStyle/>
          <a:p>
            <a:r>
              <a:rPr lang="en-US" b="1" dirty="0"/>
              <a:t>How Four-Wheel Drive Works</a:t>
            </a:r>
          </a:p>
        </p:txBody>
      </p:sp>
      <p:sp>
        <p:nvSpPr>
          <p:cNvPr id="7" name="Rectangle 6"/>
          <p:cNvSpPr/>
          <p:nvPr/>
        </p:nvSpPr>
        <p:spPr>
          <a:xfrm>
            <a:off x="928253" y="3583332"/>
            <a:ext cx="10385367" cy="1477328"/>
          </a:xfrm>
          <a:prstGeom prst="rect">
            <a:avLst/>
          </a:prstGeom>
        </p:spPr>
        <p:txBody>
          <a:bodyPr wrap="square">
            <a:spAutoFit/>
          </a:bodyPr>
          <a:lstStyle/>
          <a:p>
            <a:r>
              <a:rPr lang="en-US" dirty="0"/>
              <a:t>In a 4WD system, engine power is sent through the transmission to a transfer case, which then distributes that power to both the front and rear axles. A key feature of traditional 4WD systems is that when engaged, the front and rear axles are rigidly coupled and turn at the same speed (unless an inter-axle differential is used in a "full-time" system). This ensures maximum torque and traction in slippery or rugged conditions. The system usually offers different modes, such as</a:t>
            </a:r>
          </a:p>
        </p:txBody>
      </p:sp>
      <p:sp>
        <p:nvSpPr>
          <p:cNvPr id="8" name="Rectangle 7"/>
          <p:cNvSpPr/>
          <p:nvPr/>
        </p:nvSpPr>
        <p:spPr>
          <a:xfrm>
            <a:off x="928253" y="1248387"/>
            <a:ext cx="3506088" cy="369332"/>
          </a:xfrm>
          <a:prstGeom prst="rect">
            <a:avLst/>
          </a:prstGeom>
        </p:spPr>
        <p:txBody>
          <a:bodyPr wrap="none">
            <a:spAutoFit/>
          </a:bodyPr>
          <a:lstStyle/>
          <a:p>
            <a:r>
              <a:rPr lang="en-US" b="1" dirty="0"/>
              <a:t>Four-wheel drive (4WD or 4x4)</a:t>
            </a:r>
          </a:p>
        </p:txBody>
      </p:sp>
    </p:spTree>
    <p:custDataLst>
      <p:tags r:id="rId1"/>
    </p:custDataLst>
    <p:extLst>
      <p:ext uri="{BB962C8B-B14F-4D97-AF65-F5344CB8AC3E}">
        <p14:creationId xmlns:p14="http://schemas.microsoft.com/office/powerpoint/2010/main" val="25597861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709354" y="59865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928253" y="1248387"/>
            <a:ext cx="3506088" cy="369332"/>
          </a:xfrm>
          <a:prstGeom prst="rect">
            <a:avLst/>
          </a:prstGeom>
        </p:spPr>
        <p:txBody>
          <a:bodyPr wrap="none">
            <a:spAutoFit/>
          </a:bodyPr>
          <a:lstStyle/>
          <a:p>
            <a:r>
              <a:rPr lang="en-US" b="1" dirty="0"/>
              <a:t>Four-wheel drive (4WD or 4x4)</a:t>
            </a:r>
          </a:p>
        </p:txBody>
      </p:sp>
      <p:pic>
        <p:nvPicPr>
          <p:cNvPr id="10" name="Picture 9"/>
          <p:cNvPicPr>
            <a:picLocks noChangeAspect="1"/>
          </p:cNvPicPr>
          <p:nvPr/>
        </p:nvPicPr>
        <p:blipFill>
          <a:blip r:embed="rId4"/>
          <a:stretch>
            <a:fillRect/>
          </a:stretch>
        </p:blipFill>
        <p:spPr>
          <a:xfrm>
            <a:off x="3375920" y="1774483"/>
            <a:ext cx="6108975" cy="4396710"/>
          </a:xfrm>
          <a:prstGeom prst="rect">
            <a:avLst/>
          </a:prstGeom>
        </p:spPr>
      </p:pic>
    </p:spTree>
    <p:custDataLst>
      <p:tags r:id="rId1"/>
    </p:custDataLst>
    <p:extLst>
      <p:ext uri="{BB962C8B-B14F-4D97-AF65-F5344CB8AC3E}">
        <p14:creationId xmlns:p14="http://schemas.microsoft.com/office/powerpoint/2010/main" val="22357406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709354" y="59865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928253" y="1248387"/>
            <a:ext cx="3506088" cy="369332"/>
          </a:xfrm>
          <a:prstGeom prst="rect">
            <a:avLst/>
          </a:prstGeom>
        </p:spPr>
        <p:txBody>
          <a:bodyPr wrap="none">
            <a:spAutoFit/>
          </a:bodyPr>
          <a:lstStyle/>
          <a:p>
            <a:r>
              <a:rPr lang="en-US" b="1" dirty="0"/>
              <a:t>Four-wheel drive (4WD or 4x4)</a:t>
            </a:r>
          </a:p>
        </p:txBody>
      </p:sp>
      <p:sp>
        <p:nvSpPr>
          <p:cNvPr id="2" name="Rectangle 1"/>
          <p:cNvSpPr/>
          <p:nvPr/>
        </p:nvSpPr>
        <p:spPr>
          <a:xfrm>
            <a:off x="1039230" y="2097592"/>
            <a:ext cx="10349205" cy="2308324"/>
          </a:xfrm>
          <a:prstGeom prst="rect">
            <a:avLst/>
          </a:prstGeom>
        </p:spPr>
        <p:txBody>
          <a:bodyPr wrap="square">
            <a:spAutoFit/>
          </a:bodyPr>
          <a:lstStyle/>
          <a:p>
            <a:r>
              <a:rPr lang="en-US" dirty="0"/>
              <a:t>2WD Mode: The default for normal, dry pavement driving, where only one axle (usually the rear) receives power, improving fuel efficiency</a:t>
            </a:r>
            <a:r>
              <a:rPr lang="en-US" dirty="0" smtClean="0"/>
              <a:t>.</a:t>
            </a:r>
          </a:p>
          <a:p>
            <a:endParaRPr lang="en-US" dirty="0"/>
          </a:p>
          <a:p>
            <a:r>
              <a:rPr lang="en-US" dirty="0"/>
              <a:t>4WD High (4H): Used for slippery surfaces like snowy or icy paved roads, dirt roads, and gravel, where a reasonable speed can be maintained</a:t>
            </a:r>
            <a:r>
              <a:rPr lang="en-US" dirty="0" smtClean="0"/>
              <a:t>.</a:t>
            </a:r>
          </a:p>
          <a:p>
            <a:endParaRPr lang="en-US" dirty="0"/>
          </a:p>
          <a:p>
            <a:r>
              <a:rPr lang="en-US" dirty="0"/>
              <a:t>4WD Low (4L): Used for extreme off-road conditions such as deep mud, sand, rock crawling, or steep inclines/declines, where maximum torque at low speeds is needed.</a:t>
            </a:r>
          </a:p>
        </p:txBody>
      </p:sp>
    </p:spTree>
    <p:custDataLst>
      <p:tags r:id="rId1"/>
    </p:custDataLst>
    <p:extLst>
      <p:ext uri="{BB962C8B-B14F-4D97-AF65-F5344CB8AC3E}">
        <p14:creationId xmlns:p14="http://schemas.microsoft.com/office/powerpoint/2010/main" val="27723851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709354" y="59865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928253" y="1248387"/>
            <a:ext cx="2909836" cy="369332"/>
          </a:xfrm>
          <a:prstGeom prst="rect">
            <a:avLst/>
          </a:prstGeom>
        </p:spPr>
        <p:txBody>
          <a:bodyPr wrap="none">
            <a:spAutoFit/>
          </a:bodyPr>
          <a:lstStyle/>
          <a:p>
            <a:pPr marL="285750" indent="-285750">
              <a:buFont typeface="Wingdings" panose="05000000000000000000" pitchFamily="2" charset="2"/>
              <a:buChar char="Ø"/>
            </a:pPr>
            <a:r>
              <a:rPr lang="en-US" b="1" dirty="0" smtClean="0"/>
              <a:t>All Wheel Drive (AWD)</a:t>
            </a:r>
            <a:endParaRPr lang="en-US" b="1" dirty="0"/>
          </a:p>
        </p:txBody>
      </p:sp>
      <p:sp>
        <p:nvSpPr>
          <p:cNvPr id="5" name="Rectangle 4"/>
          <p:cNvSpPr/>
          <p:nvPr/>
        </p:nvSpPr>
        <p:spPr>
          <a:xfrm>
            <a:off x="928253" y="1770811"/>
            <a:ext cx="10850882" cy="1477328"/>
          </a:xfrm>
          <a:prstGeom prst="rect">
            <a:avLst/>
          </a:prstGeom>
        </p:spPr>
        <p:txBody>
          <a:bodyPr wrap="square">
            <a:spAutoFit/>
          </a:bodyPr>
          <a:lstStyle/>
          <a:p>
            <a:r>
              <a:rPr lang="en-US" dirty="0"/>
              <a:t>All-wheel drive (AWD) is a vehicle drivetrain system that automatically sends power to all four wheels as needed for enhanced on-road traction and stability in various </a:t>
            </a:r>
            <a:r>
              <a:rPr lang="en-US" dirty="0" smtClean="0"/>
              <a:t>conditions </a:t>
            </a:r>
            <a:r>
              <a:rPr lang="en-US" dirty="0"/>
              <a:t>like rain, snow, or ice</a:t>
            </a:r>
            <a:r>
              <a:rPr lang="en-US" dirty="0" smtClean="0"/>
              <a:t>.</a:t>
            </a:r>
          </a:p>
          <a:p>
            <a:endParaRPr lang="en-US" dirty="0" smtClean="0"/>
          </a:p>
          <a:p>
            <a:r>
              <a:rPr lang="en-US" dirty="0" smtClean="0"/>
              <a:t>It </a:t>
            </a:r>
            <a:r>
              <a:rPr lang="en-US" dirty="0"/>
              <a:t>generally operates without driver intervention and is engineered primarily for safety and performance on paved or lightly unpaved surfaces, rather than severe off-roading.</a:t>
            </a:r>
          </a:p>
        </p:txBody>
      </p:sp>
      <p:sp>
        <p:nvSpPr>
          <p:cNvPr id="6" name="Rectangle 5"/>
          <p:cNvSpPr/>
          <p:nvPr/>
        </p:nvSpPr>
        <p:spPr>
          <a:xfrm>
            <a:off x="928253" y="3279253"/>
            <a:ext cx="3474093" cy="369332"/>
          </a:xfrm>
          <a:prstGeom prst="rect">
            <a:avLst/>
          </a:prstGeom>
        </p:spPr>
        <p:txBody>
          <a:bodyPr wrap="none">
            <a:spAutoFit/>
          </a:bodyPr>
          <a:lstStyle/>
          <a:p>
            <a:pPr marL="285750" indent="-285750">
              <a:buFont typeface="Wingdings" panose="05000000000000000000" pitchFamily="2" charset="2"/>
              <a:buChar char="Ø"/>
            </a:pPr>
            <a:r>
              <a:rPr lang="en-US" b="1" dirty="0"/>
              <a:t>How All-Wheel Drive Works</a:t>
            </a:r>
          </a:p>
        </p:txBody>
      </p:sp>
      <p:sp>
        <p:nvSpPr>
          <p:cNvPr id="7" name="Rectangle 6"/>
          <p:cNvSpPr/>
          <p:nvPr/>
        </p:nvSpPr>
        <p:spPr>
          <a:xfrm>
            <a:off x="928253" y="3679699"/>
            <a:ext cx="10609812" cy="1754326"/>
          </a:xfrm>
          <a:prstGeom prst="rect">
            <a:avLst/>
          </a:prstGeom>
        </p:spPr>
        <p:txBody>
          <a:bodyPr wrap="square">
            <a:spAutoFit/>
          </a:bodyPr>
          <a:lstStyle/>
          <a:p>
            <a:r>
              <a:rPr lang="en-US" dirty="0"/>
              <a:t>AWD systems are "always on" (full-time) or automatically engage (part-time or on-demand) when sensors detect wheel slippage. The system uses a center differential or a viscous coupling (instead of a rugged transfer case with low-range gearing found in most 4WD systems) to manage torque distribution to the wheels that have the most grip. This allows all four wheels to rotate at different speeds when cornering on dry pavement, which is essential for safe handling and preventing damage to the drivetrain (known as "wind-up")</a:t>
            </a:r>
          </a:p>
        </p:txBody>
      </p:sp>
    </p:spTree>
    <p:custDataLst>
      <p:tags r:id="rId1"/>
    </p:custDataLst>
    <p:extLst>
      <p:ext uri="{BB962C8B-B14F-4D97-AF65-F5344CB8AC3E}">
        <p14:creationId xmlns:p14="http://schemas.microsoft.com/office/powerpoint/2010/main" val="7377006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709354" y="59865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928253" y="1248387"/>
            <a:ext cx="2909836" cy="369332"/>
          </a:xfrm>
          <a:prstGeom prst="rect">
            <a:avLst/>
          </a:prstGeom>
        </p:spPr>
        <p:txBody>
          <a:bodyPr wrap="none">
            <a:spAutoFit/>
          </a:bodyPr>
          <a:lstStyle/>
          <a:p>
            <a:pPr marL="285750" indent="-285750">
              <a:buFont typeface="Wingdings" panose="05000000000000000000" pitchFamily="2" charset="2"/>
              <a:buChar char="Ø"/>
            </a:pPr>
            <a:r>
              <a:rPr lang="en-US" b="1" dirty="0" smtClean="0"/>
              <a:t>All Wheel Drive (AWD)</a:t>
            </a:r>
            <a:endParaRPr lang="en-US" b="1" dirty="0"/>
          </a:p>
        </p:txBody>
      </p:sp>
      <p:pic>
        <p:nvPicPr>
          <p:cNvPr id="2" name="Picture 1"/>
          <p:cNvPicPr>
            <a:picLocks noChangeAspect="1"/>
          </p:cNvPicPr>
          <p:nvPr/>
        </p:nvPicPr>
        <p:blipFill>
          <a:blip r:embed="rId4"/>
          <a:stretch>
            <a:fillRect/>
          </a:stretch>
        </p:blipFill>
        <p:spPr>
          <a:xfrm>
            <a:off x="1073483" y="1860765"/>
            <a:ext cx="5603985" cy="3729197"/>
          </a:xfrm>
          <a:prstGeom prst="rect">
            <a:avLst/>
          </a:prstGeom>
        </p:spPr>
      </p:pic>
      <p:pic>
        <p:nvPicPr>
          <p:cNvPr id="9" name="Picture 8"/>
          <p:cNvPicPr>
            <a:picLocks noChangeAspect="1"/>
          </p:cNvPicPr>
          <p:nvPr/>
        </p:nvPicPr>
        <p:blipFill>
          <a:blip r:embed="rId5"/>
          <a:stretch>
            <a:fillRect/>
          </a:stretch>
        </p:blipFill>
        <p:spPr>
          <a:xfrm>
            <a:off x="6805354" y="1860765"/>
            <a:ext cx="4441766" cy="3999978"/>
          </a:xfrm>
          <a:prstGeom prst="rect">
            <a:avLst/>
          </a:prstGeom>
        </p:spPr>
      </p:pic>
    </p:spTree>
    <p:custDataLst>
      <p:tags r:id="rId1"/>
    </p:custDataLst>
    <p:extLst>
      <p:ext uri="{BB962C8B-B14F-4D97-AF65-F5344CB8AC3E}">
        <p14:creationId xmlns:p14="http://schemas.microsoft.com/office/powerpoint/2010/main" val="27760059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39231" y="850755"/>
            <a:ext cx="10018643" cy="370371"/>
          </a:xfrm>
          <a:prstGeom prst="rect">
            <a:avLst/>
          </a:prstGeom>
          <a:noFill/>
        </p:spPr>
        <p:txBody>
          <a:bodyPr wrap="square" rtlCol="0">
            <a:noAutofit/>
          </a:bodyPr>
          <a:lstStyle/>
          <a:p>
            <a:r>
              <a:rPr lang="en-US" b="1" dirty="0" smtClean="0"/>
              <a:t>Chapter 14 Service Final Drive Assembly Components  </a:t>
            </a:r>
          </a:p>
        </p:txBody>
      </p:sp>
      <p:sp>
        <p:nvSpPr>
          <p:cNvPr id="3" name="TextBox 2">
            <a:extLst>
              <a:ext uri="{FF2B5EF4-FFF2-40B4-BE49-F238E27FC236}">
                <a16:creationId xmlns:a16="http://schemas.microsoft.com/office/drawing/2014/main" id="{9C472C70-DEE9-F1B1-E1BE-971050E5C6AC}"/>
              </a:ext>
            </a:extLst>
          </p:cNvPr>
          <p:cNvSpPr txBox="1"/>
          <p:nvPr/>
        </p:nvSpPr>
        <p:spPr>
          <a:xfrm>
            <a:off x="709354" y="598655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2219863" y="297398"/>
            <a:ext cx="7657381" cy="553357"/>
          </a:xfrm>
          <a:prstGeom prst="rect">
            <a:avLst/>
          </a:prstGeom>
        </p:spPr>
        <p:txBody>
          <a:bodyPr wrap="square">
            <a:spAutoFit/>
          </a:bodyPr>
          <a:lstStyle/>
          <a:p>
            <a:pPr lvl="0" algn="ctr">
              <a:lnSpc>
                <a:spcPct val="107000"/>
              </a:lnSpc>
              <a:spcAft>
                <a:spcPts val="800"/>
              </a:spcAft>
              <a:defRPr/>
            </a:pPr>
            <a:r>
              <a:rPr lang="en-US" sz="2800" b="1" kern="100" dirty="0">
                <a:solidFill>
                  <a:srgbClr val="FFAD63">
                    <a:lumMod val="50000"/>
                  </a:srgb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rgbClr val="FFAD63">
                  <a:lumMod val="50000"/>
                </a:srgbClr>
              </a:solidFill>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928253" y="1248387"/>
            <a:ext cx="2909836" cy="369332"/>
          </a:xfrm>
          <a:prstGeom prst="rect">
            <a:avLst/>
          </a:prstGeom>
        </p:spPr>
        <p:txBody>
          <a:bodyPr wrap="none">
            <a:spAutoFit/>
          </a:bodyPr>
          <a:lstStyle/>
          <a:p>
            <a:pPr marL="285750" indent="-285750">
              <a:buFont typeface="Wingdings" panose="05000000000000000000" pitchFamily="2" charset="2"/>
              <a:buChar char="Ø"/>
            </a:pPr>
            <a:r>
              <a:rPr lang="en-US" b="1" dirty="0" smtClean="0"/>
              <a:t>All Wheel Drive (AWD)</a:t>
            </a:r>
            <a:endParaRPr lang="en-US" b="1" dirty="0"/>
          </a:p>
        </p:txBody>
      </p:sp>
      <p:pic>
        <p:nvPicPr>
          <p:cNvPr id="5" name="-cTJqNWwmf0"/>
          <p:cNvPicPr>
            <a:picLocks noRot="1" noChangeAspect="1"/>
          </p:cNvPicPr>
          <p:nvPr>
            <a:videoFile r:link="rId3"/>
          </p:nvPr>
        </p:nvPicPr>
        <p:blipFill>
          <a:blip r:embed="rId5"/>
          <a:stretch>
            <a:fillRect/>
          </a:stretch>
        </p:blipFill>
        <p:spPr>
          <a:xfrm>
            <a:off x="2344190" y="2092382"/>
            <a:ext cx="6217919" cy="3497580"/>
          </a:xfrm>
          <a:prstGeom prst="rect">
            <a:avLst/>
          </a:prstGeom>
        </p:spPr>
      </p:pic>
    </p:spTree>
    <p:custDataLst>
      <p:tags r:id="rId1"/>
    </p:custDataLst>
    <p:extLst>
      <p:ext uri="{BB962C8B-B14F-4D97-AF65-F5344CB8AC3E}">
        <p14:creationId xmlns:p14="http://schemas.microsoft.com/office/powerpoint/2010/main" val="4076526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2714</TotalTime>
  <Words>2123</Words>
  <Application>Microsoft Office PowerPoint</Application>
  <PresentationFormat>Widescreen</PresentationFormat>
  <Paragraphs>235</Paragraphs>
  <Slides>26</Slides>
  <Notes>0</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微软雅黑</vt:lpstr>
      <vt:lpstr>宋体</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227</cp:revision>
  <dcterms:created xsi:type="dcterms:W3CDTF">2019-06-19T02:08:00Z</dcterms:created>
  <dcterms:modified xsi:type="dcterms:W3CDTF">2025-12-01T13:15:44Z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