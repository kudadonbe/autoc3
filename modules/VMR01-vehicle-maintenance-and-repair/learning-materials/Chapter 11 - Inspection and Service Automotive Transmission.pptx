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31"/>
  </p:notesMasterIdLst>
  <p:sldIdLst>
    <p:sldId id="348" r:id="rId2"/>
    <p:sldId id="349" r:id="rId3"/>
    <p:sldId id="350" r:id="rId4"/>
    <p:sldId id="364" r:id="rId5"/>
    <p:sldId id="365" r:id="rId6"/>
    <p:sldId id="366" r:id="rId7"/>
    <p:sldId id="367" r:id="rId8"/>
    <p:sldId id="368" r:id="rId9"/>
    <p:sldId id="355" r:id="rId10"/>
    <p:sldId id="356" r:id="rId11"/>
    <p:sldId id="351" r:id="rId12"/>
    <p:sldId id="352" r:id="rId13"/>
    <p:sldId id="353" r:id="rId14"/>
    <p:sldId id="354" r:id="rId15"/>
    <p:sldId id="357" r:id="rId16"/>
    <p:sldId id="358" r:id="rId17"/>
    <p:sldId id="359" r:id="rId18"/>
    <p:sldId id="360" r:id="rId19"/>
    <p:sldId id="361" r:id="rId20"/>
    <p:sldId id="362" r:id="rId21"/>
    <p:sldId id="363" r:id="rId22"/>
    <p:sldId id="369" r:id="rId23"/>
    <p:sldId id="370" r:id="rId24"/>
    <p:sldId id="371" r:id="rId25"/>
    <p:sldId id="372" r:id="rId26"/>
    <p:sldId id="373" r:id="rId27"/>
    <p:sldId id="375" r:id="rId28"/>
    <p:sldId id="374" r:id="rId29"/>
    <p:sldId id="295"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1" d="100"/>
          <a:sy n="111" d="100"/>
        </p:scale>
        <p:origin x="660" y="10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2026/5/18</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2026/5/18</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5" Type="http://schemas.openxmlformats.org/officeDocument/2006/relationships/image" Target="../media/image19.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5" Type="http://schemas.openxmlformats.org/officeDocument/2006/relationships/image" Target="../media/image20.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28.jpeg"/><Relationship Id="rId5" Type="http://schemas.openxmlformats.org/officeDocument/2006/relationships/slideLayout" Target="../slideLayouts/slideLayout1.xml"/><Relationship Id="rId4" Type="http://schemas.openxmlformats.org/officeDocument/2006/relationships/video" Target="https://www.youtube.com/embed/u_y1S8C0Hmc" TargetMode="External"/></Relationships>
</file>

<file path=ppt/slides/_rels/slide21.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image" Target="../media/image29.jpeg"/><Relationship Id="rId5" Type="http://schemas.openxmlformats.org/officeDocument/2006/relationships/slideLayout" Target="../slideLayouts/slideLayout1.xml"/><Relationship Id="rId4" Type="http://schemas.openxmlformats.org/officeDocument/2006/relationships/video" Target="https://www.youtube.com/embed/F96cN6rqaE4" TargetMode="External"/></Relationships>
</file>

<file path=ppt/slides/_rels/slide22.xml.rels><?xml version="1.0" encoding="UTF-8" standalone="yes"?>
<Relationships xmlns="http://schemas.openxmlformats.org/package/2006/relationships"><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tags" Target="../tags/tag219.xml"/><Relationship Id="rId5" Type="http://schemas.openxmlformats.org/officeDocument/2006/relationships/image" Target="../media/image30.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 Id="rId5" Type="http://schemas.openxmlformats.org/officeDocument/2006/relationships/image" Target="../media/image32.png"/><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 Id="rId5" Type="http://schemas.openxmlformats.org/officeDocument/2006/relationships/image" Target="../media/image33.png"/><Relationship Id="rId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 Id="rId5" Type="http://schemas.openxmlformats.org/officeDocument/2006/relationships/image" Target="../media/image34.png"/><Relationship Id="rId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5" Type="http://schemas.openxmlformats.org/officeDocument/2006/relationships/image" Target="../media/image35.png"/><Relationship Id="rId4"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image" Target="../media/image28.jpeg"/><Relationship Id="rId5" Type="http://schemas.openxmlformats.org/officeDocument/2006/relationships/slideLayout" Target="../slideLayouts/slideLayout1.xml"/><Relationship Id="rId4" Type="http://schemas.openxmlformats.org/officeDocument/2006/relationships/video" Target="https://www.youtube.com/embed/u_y1S8C0Hmc" TargetMode="Externa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1.xml"/><Relationship Id="rId1" Type="http://schemas.openxmlformats.org/officeDocument/2006/relationships/tags" Target="../tags/tag2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206233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51084" y="772241"/>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87845" y="423374"/>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57784" y="1142612"/>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Times New Roman" panose="02020603050405020304" pitchFamily="18" charset="0"/>
                <a:cs typeface="Arial" panose="020B0604020202020204" pitchFamily="34" charset="0"/>
              </a:rPr>
              <a:t>Introduction</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851084" y="1458789"/>
            <a:ext cx="10915346" cy="923330"/>
          </a:xfrm>
          <a:prstGeom prst="rect">
            <a:avLst/>
          </a:prstGeom>
        </p:spPr>
        <p:txBody>
          <a:bodyPr wrap="square">
            <a:spAutoFit/>
          </a:bodyPr>
          <a:lstStyle/>
          <a:p>
            <a:r>
              <a:rPr lang="en-US" dirty="0"/>
              <a:t>An automatic transmission (AT) is a vehicle gearbox that automatically changes gear ratios as the vehicle moves, without requiring the driver to manually operate a clutch or shift gears. This results in a simpler and more comfortable driving experience, especially in heavy traffic</a:t>
            </a:r>
          </a:p>
        </p:txBody>
      </p:sp>
      <p:pic>
        <p:nvPicPr>
          <p:cNvPr id="7" name="Picture 6"/>
          <p:cNvPicPr>
            <a:picLocks noChangeAspect="1"/>
          </p:cNvPicPr>
          <p:nvPr/>
        </p:nvPicPr>
        <p:blipFill>
          <a:blip r:embed="rId5"/>
          <a:stretch>
            <a:fillRect/>
          </a:stretch>
        </p:blipFill>
        <p:spPr>
          <a:xfrm>
            <a:off x="3065971" y="2621351"/>
            <a:ext cx="5715000" cy="2857500"/>
          </a:xfrm>
          <a:prstGeom prst="rect">
            <a:avLst/>
          </a:prstGeom>
        </p:spPr>
      </p:pic>
    </p:spTree>
    <p:custDataLst>
      <p:tags r:id="rId1"/>
    </p:custDataLst>
    <p:extLst>
      <p:ext uri="{BB962C8B-B14F-4D97-AF65-F5344CB8AC3E}">
        <p14:creationId xmlns:p14="http://schemas.microsoft.com/office/powerpoint/2010/main" val="3550507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856890" y="2807890"/>
            <a:ext cx="6160725" cy="1200329"/>
          </a:xfrm>
          <a:prstGeom prst="rect">
            <a:avLst/>
          </a:prstGeom>
        </p:spPr>
        <p:txBody>
          <a:bodyPr wrap="none">
            <a:spAutoFit/>
          </a:bodyPr>
          <a:lstStyle/>
          <a:p>
            <a:r>
              <a:rPr lang="en-US" dirty="0" smtClean="0"/>
              <a:t>1 Torque Converter</a:t>
            </a:r>
          </a:p>
          <a:p>
            <a:r>
              <a:rPr lang="en-US" dirty="0" smtClean="0"/>
              <a:t>2 Planetary Gear sets</a:t>
            </a:r>
          </a:p>
          <a:p>
            <a:r>
              <a:rPr lang="en-US" dirty="0" smtClean="0"/>
              <a:t>3 Hydraulic System and Valve Body</a:t>
            </a:r>
          </a:p>
          <a:p>
            <a:r>
              <a:rPr lang="en-US" dirty="0" smtClean="0"/>
              <a:t>4 Electronic Unit (ECU) / Transmission Control Unit  (TCU)</a:t>
            </a:r>
            <a:endParaRPr lang="en-US" dirty="0"/>
          </a:p>
        </p:txBody>
      </p:sp>
      <p:pic>
        <p:nvPicPr>
          <p:cNvPr id="7" name="Picture 6"/>
          <p:cNvPicPr>
            <a:picLocks noChangeAspect="1"/>
          </p:cNvPicPr>
          <p:nvPr/>
        </p:nvPicPr>
        <p:blipFill>
          <a:blip r:embed="rId5"/>
          <a:stretch>
            <a:fillRect/>
          </a:stretch>
        </p:blipFill>
        <p:spPr>
          <a:xfrm>
            <a:off x="7248952" y="4008219"/>
            <a:ext cx="4715853" cy="2651373"/>
          </a:xfrm>
          <a:prstGeom prst="rect">
            <a:avLst/>
          </a:prstGeom>
        </p:spPr>
      </p:pic>
      <p:sp>
        <p:nvSpPr>
          <p:cNvPr id="6" name="Rectangle 5"/>
          <p:cNvSpPr/>
          <p:nvPr/>
        </p:nvSpPr>
        <p:spPr>
          <a:xfrm>
            <a:off x="1037283" y="1799078"/>
            <a:ext cx="10927521" cy="923330"/>
          </a:xfrm>
          <a:prstGeom prst="rect">
            <a:avLst/>
          </a:prstGeom>
        </p:spPr>
        <p:txBody>
          <a:bodyPr wrap="square">
            <a:spAutoFit/>
          </a:bodyPr>
          <a:lstStyle/>
          <a:p>
            <a:r>
              <a:rPr lang="en-US" dirty="0">
                <a:latin typeface="Google Sans"/>
              </a:rPr>
              <a:t>An automatic transmission works by </a:t>
            </a:r>
            <a:r>
              <a:rPr lang="en-US" b="1" dirty="0">
                <a:latin typeface="Google Sans"/>
              </a:rPr>
              <a:t>automatically changing gear ratios based on vehicle speed, engine load, and throttle position</a:t>
            </a:r>
            <a:r>
              <a:rPr lang="en-US" dirty="0"/>
              <a:t>, eliminating the need for a manual clutch pedal or gear shifter. It achieves this through a combination of fluid dynamics, mechanical gear sets, and hydraulic controls</a:t>
            </a:r>
          </a:p>
        </p:txBody>
      </p:sp>
    </p:spTree>
    <p:custDataLst>
      <p:tags r:id="rId1"/>
    </p:custDataLst>
    <p:extLst>
      <p:ext uri="{BB962C8B-B14F-4D97-AF65-F5344CB8AC3E}">
        <p14:creationId xmlns:p14="http://schemas.microsoft.com/office/powerpoint/2010/main" val="426261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021236" y="1804770"/>
            <a:ext cx="2155462" cy="369332"/>
          </a:xfrm>
          <a:prstGeom prst="rect">
            <a:avLst/>
          </a:prstGeom>
        </p:spPr>
        <p:txBody>
          <a:bodyPr wrap="none">
            <a:spAutoFit/>
          </a:bodyPr>
          <a:lstStyle/>
          <a:p>
            <a:r>
              <a:rPr lang="en-US" dirty="0" smtClean="0"/>
              <a:t>1 Torque Converter</a:t>
            </a:r>
          </a:p>
        </p:txBody>
      </p:sp>
      <p:sp>
        <p:nvSpPr>
          <p:cNvPr id="6" name="Rectangle 5"/>
          <p:cNvSpPr/>
          <p:nvPr/>
        </p:nvSpPr>
        <p:spPr>
          <a:xfrm>
            <a:off x="1107056" y="2190068"/>
            <a:ext cx="10581736" cy="923330"/>
          </a:xfrm>
          <a:prstGeom prst="rect">
            <a:avLst/>
          </a:prstGeom>
        </p:spPr>
        <p:txBody>
          <a:bodyPr wrap="square">
            <a:spAutoFit/>
          </a:bodyPr>
          <a:lstStyle/>
          <a:p>
            <a:r>
              <a:rPr lang="en-US" dirty="0"/>
              <a:t>A fluid-filled coupling component that replaces the manual clutch. It relies on an impeller, turbine, and stator to hydraulically transfer power from the engine to the transmission, allowing the vehicle to idle without stalling</a:t>
            </a:r>
          </a:p>
        </p:txBody>
      </p:sp>
      <p:pic>
        <p:nvPicPr>
          <p:cNvPr id="7" name="Picture 6"/>
          <p:cNvPicPr>
            <a:picLocks noChangeAspect="1"/>
          </p:cNvPicPr>
          <p:nvPr/>
        </p:nvPicPr>
        <p:blipFill>
          <a:blip r:embed="rId5"/>
          <a:stretch>
            <a:fillRect/>
          </a:stretch>
        </p:blipFill>
        <p:spPr>
          <a:xfrm>
            <a:off x="5417389" y="3260339"/>
            <a:ext cx="4313208" cy="2560967"/>
          </a:xfrm>
          <a:prstGeom prst="rect">
            <a:avLst/>
          </a:prstGeom>
        </p:spPr>
      </p:pic>
    </p:spTree>
    <p:custDataLst>
      <p:tags r:id="rId1"/>
    </p:custDataLst>
    <p:extLst>
      <p:ext uri="{BB962C8B-B14F-4D97-AF65-F5344CB8AC3E}">
        <p14:creationId xmlns:p14="http://schemas.microsoft.com/office/powerpoint/2010/main" val="2197291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021236" y="1804770"/>
            <a:ext cx="2219582" cy="369332"/>
          </a:xfrm>
          <a:prstGeom prst="rect">
            <a:avLst/>
          </a:prstGeom>
        </p:spPr>
        <p:txBody>
          <a:bodyPr wrap="none">
            <a:spAutoFit/>
          </a:bodyPr>
          <a:lstStyle/>
          <a:p>
            <a:r>
              <a:rPr lang="en-US" dirty="0" smtClean="0"/>
              <a:t>1 Torque Converter </a:t>
            </a:r>
          </a:p>
        </p:txBody>
      </p:sp>
      <p:pic>
        <p:nvPicPr>
          <p:cNvPr id="7" name="Picture 6"/>
          <p:cNvPicPr>
            <a:picLocks noChangeAspect="1"/>
          </p:cNvPicPr>
          <p:nvPr/>
        </p:nvPicPr>
        <p:blipFill>
          <a:blip r:embed="rId5"/>
          <a:stretch>
            <a:fillRect/>
          </a:stretch>
        </p:blipFill>
        <p:spPr>
          <a:xfrm>
            <a:off x="8169214" y="1869222"/>
            <a:ext cx="3579963" cy="2560967"/>
          </a:xfrm>
          <a:prstGeom prst="rect">
            <a:avLst/>
          </a:prstGeom>
        </p:spPr>
      </p:pic>
      <p:sp>
        <p:nvSpPr>
          <p:cNvPr id="4" name="Rectangle 3"/>
          <p:cNvSpPr/>
          <p:nvPr/>
        </p:nvSpPr>
        <p:spPr>
          <a:xfrm>
            <a:off x="1221733" y="2152707"/>
            <a:ext cx="3395225" cy="369332"/>
          </a:xfrm>
          <a:prstGeom prst="rect">
            <a:avLst/>
          </a:prstGeom>
        </p:spPr>
        <p:txBody>
          <a:bodyPr wrap="none">
            <a:spAutoFit/>
          </a:bodyPr>
          <a:lstStyle/>
          <a:p>
            <a:r>
              <a:rPr lang="en-US" dirty="0"/>
              <a:t>How a Torque Converter Works</a:t>
            </a:r>
          </a:p>
        </p:txBody>
      </p:sp>
      <p:sp>
        <p:nvSpPr>
          <p:cNvPr id="8" name="Rectangle 7"/>
          <p:cNvSpPr/>
          <p:nvPr/>
        </p:nvSpPr>
        <p:spPr>
          <a:xfrm>
            <a:off x="1221733" y="2602194"/>
            <a:ext cx="6096000" cy="2585323"/>
          </a:xfrm>
          <a:prstGeom prst="rect">
            <a:avLst/>
          </a:prstGeom>
        </p:spPr>
        <p:txBody>
          <a:bodyPr>
            <a:spAutoFit/>
          </a:bodyPr>
          <a:lstStyle/>
          <a:p>
            <a:r>
              <a:rPr lang="en-US" dirty="0"/>
              <a:t>Impeller (Pump): Spun directly by the engine, it throws transmission fluid outwards via centrifugal force</a:t>
            </a:r>
            <a:r>
              <a:rPr lang="en-US" dirty="0" smtClean="0"/>
              <a:t>.</a:t>
            </a:r>
          </a:p>
          <a:p>
            <a:endParaRPr lang="en-US" dirty="0"/>
          </a:p>
          <a:p>
            <a:r>
              <a:rPr lang="en-US" dirty="0" smtClean="0"/>
              <a:t>Turbine</a:t>
            </a:r>
            <a:r>
              <a:rPr lang="en-US" dirty="0"/>
              <a:t>: Receives the fluid from the impeller, causing it to spin and transfer power to the transmission input shaft</a:t>
            </a:r>
            <a:r>
              <a:rPr lang="en-US" dirty="0" smtClean="0"/>
              <a:t>.</a:t>
            </a:r>
          </a:p>
          <a:p>
            <a:endParaRPr lang="en-US" dirty="0"/>
          </a:p>
          <a:p>
            <a:r>
              <a:rPr lang="en-US" dirty="0" smtClean="0"/>
              <a:t>Stator</a:t>
            </a:r>
            <a:r>
              <a:rPr lang="en-US" dirty="0"/>
              <a:t>: Located between the impeller and turbine, it redirects fluid returning from the turbine, reducing energy loss and multiplying torque.</a:t>
            </a:r>
          </a:p>
        </p:txBody>
      </p:sp>
    </p:spTree>
    <p:custDataLst>
      <p:tags r:id="rId1"/>
    </p:custDataLst>
    <p:extLst>
      <p:ext uri="{BB962C8B-B14F-4D97-AF65-F5344CB8AC3E}">
        <p14:creationId xmlns:p14="http://schemas.microsoft.com/office/powerpoint/2010/main" val="2873232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021236" y="1804770"/>
            <a:ext cx="2219582" cy="369332"/>
          </a:xfrm>
          <a:prstGeom prst="rect">
            <a:avLst/>
          </a:prstGeom>
        </p:spPr>
        <p:txBody>
          <a:bodyPr wrap="none">
            <a:spAutoFit/>
          </a:bodyPr>
          <a:lstStyle/>
          <a:p>
            <a:r>
              <a:rPr lang="en-US" dirty="0" smtClean="0"/>
              <a:t>1 Torque Converter </a:t>
            </a:r>
          </a:p>
        </p:txBody>
      </p:sp>
      <p:pic>
        <p:nvPicPr>
          <p:cNvPr id="7" name="Picture 6"/>
          <p:cNvPicPr>
            <a:picLocks noChangeAspect="1"/>
          </p:cNvPicPr>
          <p:nvPr/>
        </p:nvPicPr>
        <p:blipFill>
          <a:blip r:embed="rId5"/>
          <a:stretch>
            <a:fillRect/>
          </a:stretch>
        </p:blipFill>
        <p:spPr>
          <a:xfrm>
            <a:off x="8169214" y="1869222"/>
            <a:ext cx="3579963" cy="2560967"/>
          </a:xfrm>
          <a:prstGeom prst="rect">
            <a:avLst/>
          </a:prstGeom>
        </p:spPr>
      </p:pic>
      <p:sp>
        <p:nvSpPr>
          <p:cNvPr id="6" name="Rectangle 5"/>
          <p:cNvSpPr/>
          <p:nvPr/>
        </p:nvSpPr>
        <p:spPr>
          <a:xfrm>
            <a:off x="1098046" y="2195133"/>
            <a:ext cx="3518912" cy="369332"/>
          </a:xfrm>
          <a:prstGeom prst="rect">
            <a:avLst/>
          </a:prstGeom>
        </p:spPr>
        <p:txBody>
          <a:bodyPr wrap="none">
            <a:spAutoFit/>
          </a:bodyPr>
          <a:lstStyle/>
          <a:p>
            <a:r>
              <a:rPr lang="en-US" dirty="0"/>
              <a:t>Key Characteristics and Benefits</a:t>
            </a:r>
          </a:p>
        </p:txBody>
      </p:sp>
      <p:sp>
        <p:nvSpPr>
          <p:cNvPr id="9" name="Rectangle 8"/>
          <p:cNvSpPr/>
          <p:nvPr/>
        </p:nvSpPr>
        <p:spPr>
          <a:xfrm>
            <a:off x="1098046" y="2585496"/>
            <a:ext cx="6096000" cy="3293209"/>
          </a:xfrm>
          <a:prstGeom prst="rect">
            <a:avLst/>
          </a:prstGeom>
        </p:spPr>
        <p:txBody>
          <a:bodyPr>
            <a:spAutoFit/>
          </a:bodyPr>
          <a:lstStyle/>
          <a:p>
            <a:r>
              <a:rPr lang="en-US" sz="1600" dirty="0"/>
              <a:t>Smooth Operation: By using fluid to transmit power rather than a direct mechanical connection, it offers extremely smooth take-offs and gear shifts</a:t>
            </a:r>
            <a:r>
              <a:rPr lang="en-US" sz="1600" dirty="0" smtClean="0"/>
              <a:t>.</a:t>
            </a:r>
          </a:p>
          <a:p>
            <a:endParaRPr lang="en-US" sz="1600" dirty="0" smtClean="0"/>
          </a:p>
          <a:p>
            <a:r>
              <a:rPr lang="en-US" sz="1600" dirty="0" smtClean="0"/>
              <a:t>Torque </a:t>
            </a:r>
            <a:r>
              <a:rPr lang="en-US" sz="1600" dirty="0"/>
              <a:t>Multiplication: It multiplies engine torque during acceleration, enhancing starting power</a:t>
            </a:r>
            <a:r>
              <a:rPr lang="en-US" sz="1600" dirty="0" smtClean="0"/>
              <a:t>.</a:t>
            </a:r>
          </a:p>
          <a:p>
            <a:endParaRPr lang="en-US" sz="1600" dirty="0" smtClean="0"/>
          </a:p>
          <a:p>
            <a:r>
              <a:rPr lang="en-US" sz="1600" dirty="0" smtClean="0"/>
              <a:t>Reliability</a:t>
            </a:r>
            <a:r>
              <a:rPr lang="en-US" sz="1600" dirty="0"/>
              <a:t>: Known for being durable and dependable compared to other automated manual systems</a:t>
            </a:r>
            <a:r>
              <a:rPr lang="en-US" sz="1600" dirty="0" smtClean="0"/>
              <a:t>.</a:t>
            </a:r>
          </a:p>
          <a:p>
            <a:endParaRPr lang="en-US" sz="1600" dirty="0" smtClean="0"/>
          </a:p>
          <a:p>
            <a:r>
              <a:rPr lang="en-US" sz="1600" dirty="0" smtClean="0"/>
              <a:t>Lockup </a:t>
            </a:r>
            <a:r>
              <a:rPr lang="en-US" sz="1600" dirty="0"/>
              <a:t>Clutch: Modern torque converters include a lockup clutch that creates a direct mechanical connection at higher speeds to improve fuel efficiency</a:t>
            </a:r>
          </a:p>
        </p:txBody>
      </p:sp>
    </p:spTree>
    <p:custDataLst>
      <p:tags r:id="rId1"/>
    </p:custDataLst>
    <p:extLst>
      <p:ext uri="{BB962C8B-B14F-4D97-AF65-F5344CB8AC3E}">
        <p14:creationId xmlns:p14="http://schemas.microsoft.com/office/powerpoint/2010/main" val="3574996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1021236" y="1804770"/>
            <a:ext cx="2377639" cy="369332"/>
          </a:xfrm>
          <a:prstGeom prst="rect">
            <a:avLst/>
          </a:prstGeom>
        </p:spPr>
        <p:txBody>
          <a:bodyPr wrap="none">
            <a:spAutoFit/>
          </a:bodyPr>
          <a:lstStyle/>
          <a:p>
            <a:r>
              <a:rPr lang="en-US" b="1" dirty="0" smtClean="0"/>
              <a:t>Transmission Pump</a:t>
            </a:r>
          </a:p>
        </p:txBody>
      </p:sp>
      <p:sp>
        <p:nvSpPr>
          <p:cNvPr id="4" name="Rectangle 3"/>
          <p:cNvSpPr/>
          <p:nvPr/>
        </p:nvSpPr>
        <p:spPr>
          <a:xfrm>
            <a:off x="934495" y="2199487"/>
            <a:ext cx="10296621" cy="1323439"/>
          </a:xfrm>
          <a:prstGeom prst="rect">
            <a:avLst/>
          </a:prstGeom>
        </p:spPr>
        <p:txBody>
          <a:bodyPr wrap="square">
            <a:spAutoFit/>
          </a:bodyPr>
          <a:lstStyle/>
          <a:p>
            <a:r>
              <a:rPr lang="en-US" sz="1600" dirty="0"/>
              <a:t>Transmission pumps are essential components of automatic transmissions that generate hydraulic pressure to circulate transmission fluid, lubricate moving parts, cool the system, and operate clutch packs. A "clutch pump," in the context of hydraulics, is typically a small, belt-driven gear pump used on trucks to provide auxiliary hydraulic power, whereas the hydraulic pressure within a transmission for engaging clutches is usually provided by the main internal oil pump.</a:t>
            </a:r>
          </a:p>
        </p:txBody>
      </p:sp>
      <p:pic>
        <p:nvPicPr>
          <p:cNvPr id="8" name="Picture 7"/>
          <p:cNvPicPr>
            <a:picLocks noChangeAspect="1"/>
          </p:cNvPicPr>
          <p:nvPr/>
        </p:nvPicPr>
        <p:blipFill>
          <a:blip r:embed="rId5"/>
          <a:stretch>
            <a:fillRect/>
          </a:stretch>
        </p:blipFill>
        <p:spPr>
          <a:xfrm>
            <a:off x="9342408" y="3917703"/>
            <a:ext cx="2754671" cy="2293966"/>
          </a:xfrm>
          <a:prstGeom prst="rect">
            <a:avLst/>
          </a:prstGeom>
        </p:spPr>
      </p:pic>
      <p:sp>
        <p:nvSpPr>
          <p:cNvPr id="10" name="Rectangle 9"/>
          <p:cNvSpPr/>
          <p:nvPr/>
        </p:nvSpPr>
        <p:spPr>
          <a:xfrm>
            <a:off x="934496" y="3507194"/>
            <a:ext cx="4553426" cy="369332"/>
          </a:xfrm>
          <a:prstGeom prst="rect">
            <a:avLst/>
          </a:prstGeom>
        </p:spPr>
        <p:txBody>
          <a:bodyPr wrap="none">
            <a:spAutoFit/>
          </a:bodyPr>
          <a:lstStyle/>
          <a:p>
            <a:r>
              <a:rPr lang="en-US" b="1" dirty="0"/>
              <a:t>Types of Transmission Pumps (Internal)</a:t>
            </a:r>
          </a:p>
        </p:txBody>
      </p:sp>
      <p:sp>
        <p:nvSpPr>
          <p:cNvPr id="11" name="Rectangle 10"/>
          <p:cNvSpPr/>
          <p:nvPr/>
        </p:nvSpPr>
        <p:spPr>
          <a:xfrm>
            <a:off x="934495" y="3934216"/>
            <a:ext cx="8502803" cy="1754326"/>
          </a:xfrm>
          <a:prstGeom prst="rect">
            <a:avLst/>
          </a:prstGeom>
        </p:spPr>
        <p:txBody>
          <a:bodyPr wrap="square">
            <a:spAutoFit/>
          </a:bodyPr>
          <a:lstStyle/>
          <a:p>
            <a:r>
              <a:rPr lang="en-US" dirty="0"/>
              <a:t>Gear Pumps (Crescent Type): A common type consisting of a smaller, inner drive gear and a larger, outer driven gear with a crescent-shaped separator</a:t>
            </a:r>
            <a:r>
              <a:rPr lang="en-US" dirty="0" smtClean="0"/>
              <a:t>.</a:t>
            </a:r>
          </a:p>
          <a:p>
            <a:r>
              <a:rPr lang="en-US" dirty="0" smtClean="0"/>
              <a:t>Vane </a:t>
            </a:r>
            <a:r>
              <a:rPr lang="en-US" dirty="0"/>
              <a:t>Pumps: Utilize a rotor and vanes that create chambers which expand and contract to draw in and pressurize the Automatic Transmission Fluid (ATF</a:t>
            </a:r>
            <a:r>
              <a:rPr lang="en-US" dirty="0" smtClean="0"/>
              <a:t>).</a:t>
            </a:r>
          </a:p>
          <a:p>
            <a:r>
              <a:rPr lang="en-US" dirty="0" err="1" smtClean="0"/>
              <a:t>Gerotor</a:t>
            </a:r>
            <a:r>
              <a:rPr lang="en-US" dirty="0" smtClean="0"/>
              <a:t> </a:t>
            </a:r>
            <a:r>
              <a:rPr lang="en-US" dirty="0"/>
              <a:t>Pumps: Use inner and outer rotors to create pressure, often used for their compact design.</a:t>
            </a:r>
          </a:p>
        </p:txBody>
      </p:sp>
    </p:spTree>
    <p:custDataLst>
      <p:tags r:id="rId1"/>
    </p:custDataLst>
    <p:extLst>
      <p:ext uri="{BB962C8B-B14F-4D97-AF65-F5344CB8AC3E}">
        <p14:creationId xmlns:p14="http://schemas.microsoft.com/office/powerpoint/2010/main" val="1265656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8" name="Picture 7"/>
          <p:cNvPicPr>
            <a:picLocks noChangeAspect="1"/>
          </p:cNvPicPr>
          <p:nvPr/>
        </p:nvPicPr>
        <p:blipFill>
          <a:blip r:embed="rId5"/>
          <a:stretch>
            <a:fillRect/>
          </a:stretch>
        </p:blipFill>
        <p:spPr>
          <a:xfrm>
            <a:off x="9013187" y="2425333"/>
            <a:ext cx="2754671" cy="2293966"/>
          </a:xfrm>
          <a:prstGeom prst="rect">
            <a:avLst/>
          </a:prstGeom>
        </p:spPr>
      </p:pic>
      <p:sp>
        <p:nvSpPr>
          <p:cNvPr id="6" name="Rectangle 5"/>
          <p:cNvSpPr/>
          <p:nvPr/>
        </p:nvSpPr>
        <p:spPr>
          <a:xfrm>
            <a:off x="1021236" y="1804770"/>
            <a:ext cx="3801105" cy="369332"/>
          </a:xfrm>
          <a:prstGeom prst="rect">
            <a:avLst/>
          </a:prstGeom>
        </p:spPr>
        <p:txBody>
          <a:bodyPr wrap="none">
            <a:spAutoFit/>
          </a:bodyPr>
          <a:lstStyle/>
          <a:p>
            <a:r>
              <a:rPr lang="en-US" dirty="0"/>
              <a:t>Function of the Transmission Pump</a:t>
            </a:r>
          </a:p>
        </p:txBody>
      </p:sp>
      <p:sp>
        <p:nvSpPr>
          <p:cNvPr id="7" name="Rectangle 6"/>
          <p:cNvSpPr/>
          <p:nvPr/>
        </p:nvSpPr>
        <p:spPr>
          <a:xfrm>
            <a:off x="1021235" y="2195133"/>
            <a:ext cx="7363639" cy="3416320"/>
          </a:xfrm>
          <a:prstGeom prst="rect">
            <a:avLst/>
          </a:prstGeom>
        </p:spPr>
        <p:txBody>
          <a:bodyPr wrap="square">
            <a:spAutoFit/>
          </a:bodyPr>
          <a:lstStyle/>
          <a:p>
            <a:r>
              <a:rPr lang="en-US" dirty="0"/>
              <a:t>Main Pressure Generation: Creates the hydraulic pressure required for shifting gears smoothly and keeping bands and clutches engaged, preventing slippage</a:t>
            </a:r>
            <a:r>
              <a:rPr lang="en-US" dirty="0" smtClean="0"/>
              <a:t>.</a:t>
            </a:r>
          </a:p>
          <a:p>
            <a:endParaRPr lang="en-US" dirty="0"/>
          </a:p>
          <a:p>
            <a:r>
              <a:rPr lang="en-US" dirty="0" smtClean="0"/>
              <a:t>Torque </a:t>
            </a:r>
            <a:r>
              <a:rPr lang="en-US" dirty="0"/>
              <a:t>Converter Filling: Ensures the torque converter remains full of fluid to transfer power</a:t>
            </a:r>
            <a:r>
              <a:rPr lang="en-US" dirty="0" smtClean="0"/>
              <a:t>.</a:t>
            </a:r>
          </a:p>
          <a:p>
            <a:endParaRPr lang="en-US" dirty="0"/>
          </a:p>
          <a:p>
            <a:r>
              <a:rPr lang="en-US" dirty="0" smtClean="0"/>
              <a:t>Cooling </a:t>
            </a:r>
            <a:r>
              <a:rPr lang="en-US" dirty="0"/>
              <a:t>and Lubrication: Circulates ATF through the cooler to prevent overheating and oils the gears and moving parts</a:t>
            </a:r>
            <a:r>
              <a:rPr lang="en-US" dirty="0" smtClean="0"/>
              <a:t>.</a:t>
            </a:r>
          </a:p>
          <a:p>
            <a:endParaRPr lang="en-US" dirty="0"/>
          </a:p>
          <a:p>
            <a:r>
              <a:rPr lang="en-US" dirty="0" smtClean="0"/>
              <a:t>Shift </a:t>
            </a:r>
            <a:r>
              <a:rPr lang="en-US" dirty="0"/>
              <a:t>Timing: Supplies the necessary pressure to the valve body, which acts as the control center for changing gears.</a:t>
            </a:r>
          </a:p>
        </p:txBody>
      </p:sp>
    </p:spTree>
    <p:custDataLst>
      <p:tags r:id="rId1"/>
    </p:custDataLst>
    <p:extLst>
      <p:ext uri="{BB962C8B-B14F-4D97-AF65-F5344CB8AC3E}">
        <p14:creationId xmlns:p14="http://schemas.microsoft.com/office/powerpoint/2010/main" val="2958126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1021235" y="1869222"/>
            <a:ext cx="10727941" cy="646331"/>
          </a:xfrm>
          <a:prstGeom prst="rect">
            <a:avLst/>
          </a:prstGeom>
        </p:spPr>
        <p:txBody>
          <a:bodyPr wrap="square">
            <a:spAutoFit/>
          </a:bodyPr>
          <a:lstStyle/>
          <a:p>
            <a:r>
              <a:rPr lang="en-US" b="1" dirty="0">
                <a:solidFill>
                  <a:srgbClr val="0A0A0A"/>
                </a:solidFill>
                <a:latin typeface="Google Sans"/>
              </a:rPr>
              <a:t>Planetary </a:t>
            </a:r>
            <a:r>
              <a:rPr lang="en-US" b="1" dirty="0" err="1">
                <a:solidFill>
                  <a:srgbClr val="0A0A0A"/>
                </a:solidFill>
                <a:latin typeface="Google Sans"/>
              </a:rPr>
              <a:t>Gearsets</a:t>
            </a:r>
            <a:r>
              <a:rPr lang="en-US" dirty="0">
                <a:solidFill>
                  <a:srgbClr val="0A0A0A"/>
                </a:solidFill>
                <a:latin typeface="Google Sans"/>
              </a:rPr>
              <a:t>: These are a complex arrangement of gears that provide various gear ratios. They are responsible for changing the speed and torque output from the engine to the wheels</a:t>
            </a:r>
            <a:endParaRPr lang="en-US" dirty="0"/>
          </a:p>
        </p:txBody>
      </p:sp>
      <p:sp>
        <p:nvSpPr>
          <p:cNvPr id="7" name="Rectangle 6"/>
          <p:cNvSpPr/>
          <p:nvPr/>
        </p:nvSpPr>
        <p:spPr>
          <a:xfrm>
            <a:off x="1021234" y="2580005"/>
            <a:ext cx="10460523" cy="923330"/>
          </a:xfrm>
          <a:prstGeom prst="rect">
            <a:avLst/>
          </a:prstGeom>
        </p:spPr>
        <p:txBody>
          <a:bodyPr wrap="square">
            <a:spAutoFit/>
          </a:bodyPr>
          <a:lstStyle/>
          <a:p>
            <a:r>
              <a:rPr lang="en-US" dirty="0"/>
              <a:t>compact, efficient mechanical systems that use a central sun gear, orbiting planet gears within an outer ring gear, and a carrier to transmit high torque and control speed in applications like automatic transmissions, robotics, and industrial machinery.</a:t>
            </a:r>
          </a:p>
        </p:txBody>
      </p:sp>
      <p:pic>
        <p:nvPicPr>
          <p:cNvPr id="8" name="Picture 7"/>
          <p:cNvPicPr>
            <a:picLocks noChangeAspect="1"/>
          </p:cNvPicPr>
          <p:nvPr/>
        </p:nvPicPr>
        <p:blipFill>
          <a:blip r:embed="rId5"/>
          <a:stretch>
            <a:fillRect/>
          </a:stretch>
        </p:blipFill>
        <p:spPr>
          <a:xfrm>
            <a:off x="5087068" y="3677334"/>
            <a:ext cx="3608357" cy="2857500"/>
          </a:xfrm>
          <a:prstGeom prst="rect">
            <a:avLst/>
          </a:prstGeom>
        </p:spPr>
      </p:pic>
    </p:spTree>
    <p:custDataLst>
      <p:tags r:id="rId1"/>
    </p:custDataLst>
    <p:extLst>
      <p:ext uri="{BB962C8B-B14F-4D97-AF65-F5344CB8AC3E}">
        <p14:creationId xmlns:p14="http://schemas.microsoft.com/office/powerpoint/2010/main" val="2675492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979584"/>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747565" y="141440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How Automatic Transmission Works</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865516" y="2403280"/>
            <a:ext cx="10478219" cy="2031325"/>
          </a:xfrm>
          <a:prstGeom prst="rect">
            <a:avLst/>
          </a:prstGeom>
        </p:spPr>
        <p:txBody>
          <a:bodyPr wrap="square">
            <a:spAutoFit/>
          </a:bodyPr>
          <a:lstStyle/>
          <a:p>
            <a:r>
              <a:rPr lang="en-US" b="1" dirty="0"/>
              <a:t>Sun Gear</a:t>
            </a:r>
            <a:r>
              <a:rPr lang="en-US" dirty="0"/>
              <a:t>: Located at the center, this gear receives the input power and transmits torque to the planet gears.</a:t>
            </a:r>
          </a:p>
          <a:p>
            <a:r>
              <a:rPr lang="en-US" b="1" dirty="0"/>
              <a:t>Planet Gears</a:t>
            </a:r>
            <a:r>
              <a:rPr lang="en-US" dirty="0"/>
              <a:t>: Typically three or more gears that mesh with the sun gear and the outer ring gear. They are mounted on a carrier and orbit around the sun gear while rotating on their own axes.</a:t>
            </a:r>
          </a:p>
          <a:p>
            <a:r>
              <a:rPr lang="en-US" b="1" dirty="0"/>
              <a:t>Ring Gear</a:t>
            </a:r>
            <a:r>
              <a:rPr lang="en-US" dirty="0"/>
              <a:t>: An outer gear with internal teeth that meshes with the planet gears.</a:t>
            </a:r>
          </a:p>
          <a:p>
            <a:r>
              <a:rPr lang="en-US" b="1" dirty="0"/>
              <a:t>Carrier</a:t>
            </a:r>
            <a:r>
              <a:rPr lang="en-US" dirty="0"/>
              <a:t>: This component holds the planet gears in place and their spacing, often serving as the output shaft</a:t>
            </a:r>
          </a:p>
        </p:txBody>
      </p:sp>
      <p:sp>
        <p:nvSpPr>
          <p:cNvPr id="5" name="Rectangle 4"/>
          <p:cNvSpPr/>
          <p:nvPr/>
        </p:nvSpPr>
        <p:spPr>
          <a:xfrm>
            <a:off x="865516" y="1919359"/>
            <a:ext cx="2274982" cy="369332"/>
          </a:xfrm>
          <a:prstGeom prst="rect">
            <a:avLst/>
          </a:prstGeom>
        </p:spPr>
        <p:txBody>
          <a:bodyPr wrap="none">
            <a:spAutoFit/>
          </a:bodyPr>
          <a:lstStyle/>
          <a:p>
            <a:r>
              <a:rPr lang="en-US" b="1" dirty="0"/>
              <a:t>Planetary </a:t>
            </a:r>
            <a:r>
              <a:rPr lang="en-US" b="1" dirty="0" err="1"/>
              <a:t>Gearsets</a:t>
            </a:r>
            <a:endParaRPr lang="en-US" b="1" dirty="0"/>
          </a:p>
        </p:txBody>
      </p:sp>
      <p:pic>
        <p:nvPicPr>
          <p:cNvPr id="9" name="Picture 8"/>
          <p:cNvPicPr>
            <a:picLocks noChangeAspect="1"/>
          </p:cNvPicPr>
          <p:nvPr/>
        </p:nvPicPr>
        <p:blipFill>
          <a:blip r:embed="rId5"/>
          <a:stretch>
            <a:fillRect/>
          </a:stretch>
        </p:blipFill>
        <p:spPr>
          <a:xfrm>
            <a:off x="5119058" y="4175365"/>
            <a:ext cx="3277319" cy="2496225"/>
          </a:xfrm>
          <a:prstGeom prst="rect">
            <a:avLst/>
          </a:prstGeom>
        </p:spPr>
      </p:pic>
    </p:spTree>
    <p:custDataLst>
      <p:tags r:id="rId1"/>
    </p:custDataLst>
    <p:extLst>
      <p:ext uri="{BB962C8B-B14F-4D97-AF65-F5344CB8AC3E}">
        <p14:creationId xmlns:p14="http://schemas.microsoft.com/office/powerpoint/2010/main" val="484467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1236" y="1044036"/>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687181" y="1425594"/>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Planetary Gear sets</a:t>
            </a:r>
          </a:p>
        </p:txBody>
      </p:sp>
      <p:sp>
        <p:nvSpPr>
          <p:cNvPr id="4" name="Rectangle 3"/>
          <p:cNvSpPr/>
          <p:nvPr/>
        </p:nvSpPr>
        <p:spPr>
          <a:xfrm>
            <a:off x="1021235" y="1853062"/>
            <a:ext cx="10641677" cy="646331"/>
          </a:xfrm>
          <a:prstGeom prst="rect">
            <a:avLst/>
          </a:prstGeom>
        </p:spPr>
        <p:txBody>
          <a:bodyPr wrap="square">
            <a:spAutoFit/>
          </a:bodyPr>
          <a:lstStyle/>
          <a:p>
            <a:r>
              <a:rPr lang="en-US" dirty="0"/>
              <a:t>A planetary gear set, also known as an </a:t>
            </a:r>
            <a:r>
              <a:rPr lang="en-US" dirty="0" err="1"/>
              <a:t>epicyclic</a:t>
            </a:r>
            <a:r>
              <a:rPr lang="en-US" dirty="0"/>
              <a:t> gear train, is a gear arrangement that resembles the solar system, providing high torque and speed reduction within a compact design</a:t>
            </a:r>
          </a:p>
        </p:txBody>
      </p:sp>
      <p:sp>
        <p:nvSpPr>
          <p:cNvPr id="5" name="Rectangle 4"/>
          <p:cNvSpPr/>
          <p:nvPr/>
        </p:nvSpPr>
        <p:spPr>
          <a:xfrm>
            <a:off x="900022" y="3009514"/>
            <a:ext cx="10521351" cy="923330"/>
          </a:xfrm>
          <a:prstGeom prst="rect">
            <a:avLst/>
          </a:prstGeom>
        </p:spPr>
        <p:txBody>
          <a:bodyPr wrap="square">
            <a:spAutoFit/>
          </a:bodyPr>
          <a:lstStyle/>
          <a:p>
            <a:r>
              <a:rPr lang="en-US" dirty="0"/>
              <a:t>The versatility of a planetary gear set comes from the ability to hold one of its three main components (sun gear, ring gear, or carrier) stationary while using the other two for power input and output, thereby achieving different gear ratios and directions. </a:t>
            </a:r>
          </a:p>
        </p:txBody>
      </p:sp>
      <p:sp>
        <p:nvSpPr>
          <p:cNvPr id="6" name="Rectangle 5"/>
          <p:cNvSpPr/>
          <p:nvPr/>
        </p:nvSpPr>
        <p:spPr>
          <a:xfrm>
            <a:off x="1021235" y="2524388"/>
            <a:ext cx="1642437" cy="369332"/>
          </a:xfrm>
          <a:prstGeom prst="rect">
            <a:avLst/>
          </a:prstGeom>
        </p:spPr>
        <p:txBody>
          <a:bodyPr wrap="none">
            <a:spAutoFit/>
          </a:bodyPr>
          <a:lstStyle/>
          <a:p>
            <a:r>
              <a:rPr lang="en-US" b="1" dirty="0"/>
              <a:t>How It Works</a:t>
            </a:r>
          </a:p>
        </p:txBody>
      </p:sp>
      <p:sp>
        <p:nvSpPr>
          <p:cNvPr id="7" name="Rectangle 6"/>
          <p:cNvSpPr/>
          <p:nvPr/>
        </p:nvSpPr>
        <p:spPr>
          <a:xfrm>
            <a:off x="955512" y="4048638"/>
            <a:ext cx="3724096" cy="369332"/>
          </a:xfrm>
          <a:prstGeom prst="rect">
            <a:avLst/>
          </a:prstGeom>
        </p:spPr>
        <p:txBody>
          <a:bodyPr wrap="none">
            <a:spAutoFit/>
          </a:bodyPr>
          <a:lstStyle/>
          <a:p>
            <a:r>
              <a:rPr lang="en-US" b="1" dirty="0"/>
              <a:t>Common configurations include</a:t>
            </a:r>
          </a:p>
        </p:txBody>
      </p:sp>
      <p:sp>
        <p:nvSpPr>
          <p:cNvPr id="8" name="Rectangle 7"/>
          <p:cNvSpPr/>
          <p:nvPr/>
        </p:nvSpPr>
        <p:spPr>
          <a:xfrm>
            <a:off x="900022" y="4417970"/>
            <a:ext cx="10581736" cy="646331"/>
          </a:xfrm>
          <a:prstGeom prst="rect">
            <a:avLst/>
          </a:prstGeom>
        </p:spPr>
        <p:txBody>
          <a:bodyPr wrap="square">
            <a:spAutoFit/>
          </a:bodyPr>
          <a:lstStyle/>
          <a:p>
            <a:r>
              <a:rPr lang="en-US" dirty="0"/>
              <a:t>Speed Reduction (Forward): If the ring gear is held stationary and the sun gear is the input, the planet carrier becomes the output, resulting in a large torque increase and speed reduction</a:t>
            </a:r>
          </a:p>
        </p:txBody>
      </p:sp>
      <p:sp>
        <p:nvSpPr>
          <p:cNvPr id="9" name="Rectangle 8"/>
          <p:cNvSpPr/>
          <p:nvPr/>
        </p:nvSpPr>
        <p:spPr>
          <a:xfrm>
            <a:off x="900022" y="5087762"/>
            <a:ext cx="10866408" cy="646331"/>
          </a:xfrm>
          <a:prstGeom prst="rect">
            <a:avLst/>
          </a:prstGeom>
        </p:spPr>
        <p:txBody>
          <a:bodyPr wrap="square">
            <a:spAutoFit/>
          </a:bodyPr>
          <a:lstStyle/>
          <a:p>
            <a:r>
              <a:rPr lang="en-US" dirty="0"/>
              <a:t>Overdrive (Forward): If the sun gear is held stationary and the carrier is the input, the ring gear becomes the output, resulting in the output turning faster than the input</a:t>
            </a:r>
          </a:p>
        </p:txBody>
      </p:sp>
      <p:sp>
        <p:nvSpPr>
          <p:cNvPr id="10" name="Rectangle 9"/>
          <p:cNvSpPr/>
          <p:nvPr/>
        </p:nvSpPr>
        <p:spPr>
          <a:xfrm>
            <a:off x="831010" y="5734093"/>
            <a:ext cx="10935419" cy="646331"/>
          </a:xfrm>
          <a:prstGeom prst="rect">
            <a:avLst/>
          </a:prstGeom>
        </p:spPr>
        <p:txBody>
          <a:bodyPr wrap="square">
            <a:spAutoFit/>
          </a:bodyPr>
          <a:lstStyle/>
          <a:p>
            <a:r>
              <a:rPr lang="en-US" dirty="0"/>
              <a:t>Reverse: If the carrier is held stationary, input is applied to the sun gear, and output is taken from the ring gear (or vice versa), the direction of rotation is reversed.</a:t>
            </a:r>
          </a:p>
        </p:txBody>
      </p:sp>
    </p:spTree>
    <p:custDataLst>
      <p:tags r:id="rId1"/>
    </p:custDataLst>
    <p:extLst>
      <p:ext uri="{BB962C8B-B14F-4D97-AF65-F5344CB8AC3E}">
        <p14:creationId xmlns:p14="http://schemas.microsoft.com/office/powerpoint/2010/main" val="1609936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95808" y="97958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19819" y="1369543"/>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Hydraulic System and Valve Body</a:t>
            </a:r>
          </a:p>
        </p:txBody>
      </p:sp>
      <p:sp>
        <p:nvSpPr>
          <p:cNvPr id="4" name="Rectangle 3"/>
          <p:cNvSpPr/>
          <p:nvPr/>
        </p:nvSpPr>
        <p:spPr>
          <a:xfrm>
            <a:off x="654559" y="1696907"/>
            <a:ext cx="11370663" cy="1200329"/>
          </a:xfrm>
          <a:prstGeom prst="rect">
            <a:avLst/>
          </a:prstGeom>
        </p:spPr>
        <p:txBody>
          <a:bodyPr wrap="square">
            <a:spAutoFit/>
          </a:bodyPr>
          <a:lstStyle/>
          <a:p>
            <a:r>
              <a:rPr lang="en-US" dirty="0"/>
              <a:t>The hydraulic system and valve body in an automotive gearbox work together to control gear shifts by using pressurized automatic transmission fluid (ATF) to engage and disengage internal clutches and bands. The valve body acts as the "brain" of the transmission, directing this fluid through a maze of channels based on driving conditions</a:t>
            </a:r>
          </a:p>
        </p:txBody>
      </p:sp>
      <p:sp>
        <p:nvSpPr>
          <p:cNvPr id="5" name="Rectangle 4"/>
          <p:cNvSpPr/>
          <p:nvPr/>
        </p:nvSpPr>
        <p:spPr>
          <a:xfrm>
            <a:off x="654559" y="2965204"/>
            <a:ext cx="2595582" cy="369332"/>
          </a:xfrm>
          <a:prstGeom prst="rect">
            <a:avLst/>
          </a:prstGeom>
        </p:spPr>
        <p:txBody>
          <a:bodyPr wrap="none">
            <a:spAutoFit/>
          </a:bodyPr>
          <a:lstStyle/>
          <a:p>
            <a:r>
              <a:rPr lang="en-US" b="1" dirty="0"/>
              <a:t>The Hydraulic System</a:t>
            </a:r>
          </a:p>
        </p:txBody>
      </p:sp>
      <p:sp>
        <p:nvSpPr>
          <p:cNvPr id="6" name="Rectangle 5"/>
          <p:cNvSpPr/>
          <p:nvPr/>
        </p:nvSpPr>
        <p:spPr>
          <a:xfrm>
            <a:off x="695808" y="3334536"/>
            <a:ext cx="11214339" cy="2893100"/>
          </a:xfrm>
          <a:prstGeom prst="rect">
            <a:avLst/>
          </a:prstGeom>
        </p:spPr>
        <p:txBody>
          <a:bodyPr wrap="square">
            <a:spAutoFit/>
          </a:bodyPr>
          <a:lstStyle/>
          <a:p>
            <a:r>
              <a:rPr lang="en-US" sz="1600" b="1" dirty="0"/>
              <a:t>Transmission Fluid (ATF): </a:t>
            </a:r>
            <a:r>
              <a:rPr lang="en-US" sz="1600" dirty="0"/>
              <a:t>A specialized fluid that is not compressible, allowing it to transfer pressure effectively throughout the system, as well as providing lubrication and heat </a:t>
            </a:r>
            <a:r>
              <a:rPr lang="en-US" sz="1600" dirty="0" smtClean="0"/>
              <a:t>dissipation.</a:t>
            </a:r>
          </a:p>
          <a:p>
            <a:endParaRPr lang="en-US" sz="1600" dirty="0"/>
          </a:p>
          <a:p>
            <a:r>
              <a:rPr lang="en-US" sz="1600" b="1" dirty="0"/>
              <a:t>Oil Pump</a:t>
            </a:r>
            <a:r>
              <a:rPr lang="en-US" sz="1600" dirty="0"/>
              <a:t>: Driven by the engine via the torque converter, the pump generates the necessary high-pressure fluid whenever the engine is running</a:t>
            </a:r>
            <a:r>
              <a:rPr lang="en-US" sz="1600" dirty="0" smtClean="0"/>
              <a:t>.</a:t>
            </a:r>
          </a:p>
          <a:p>
            <a:endParaRPr lang="en-US" sz="1600" dirty="0"/>
          </a:p>
          <a:p>
            <a:r>
              <a:rPr lang="en-US" sz="1600" b="1" dirty="0"/>
              <a:t>Actuators</a:t>
            </a:r>
            <a:r>
              <a:rPr lang="en-US" sz="1600" dirty="0"/>
              <a:t>: These include pistons and servos that convert the hydraulic pressure into mechanical force to apply clutches and bands, which in turn lock or unlock different parts of the planetary gear sets to achieve various gear ratios</a:t>
            </a:r>
            <a:r>
              <a:rPr lang="en-US" sz="1600" dirty="0" smtClean="0"/>
              <a:t>.</a:t>
            </a:r>
          </a:p>
          <a:p>
            <a:endParaRPr lang="en-US" sz="1600" dirty="0"/>
          </a:p>
          <a:p>
            <a:r>
              <a:rPr lang="en-US" sz="1600" b="1" dirty="0"/>
              <a:t>Reservoir/Pan</a:t>
            </a:r>
            <a:r>
              <a:rPr lang="en-US" sz="1600" dirty="0"/>
              <a:t>: The transmission oil pan acts as a sump to store the ATF, allowing air bubbles to dissipate and contaminants to settle, with a filter to clean the fluid before it goes to the pump</a:t>
            </a:r>
          </a:p>
        </p:txBody>
      </p:sp>
    </p:spTree>
    <p:custDataLst>
      <p:tags r:id="rId1"/>
    </p:custDataLst>
    <p:extLst>
      <p:ext uri="{BB962C8B-B14F-4D97-AF65-F5344CB8AC3E}">
        <p14:creationId xmlns:p14="http://schemas.microsoft.com/office/powerpoint/2010/main" val="1967124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7" y="880353"/>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281739" y="1261911"/>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smtClean="0">
                <a:latin typeface="Times New Roman" panose="02020603050405020304" pitchFamily="18" charset="0"/>
                <a:ea typeface="Calibri" panose="020F0502020204030204" pitchFamily="34" charset="0"/>
                <a:cs typeface="Arial" panose="020B0604020202020204" pitchFamily="34" charset="0"/>
              </a:rPr>
              <a:t>The Valve Body</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546340" y="1578088"/>
            <a:ext cx="10762890" cy="646331"/>
          </a:xfrm>
          <a:prstGeom prst="rect">
            <a:avLst/>
          </a:prstGeom>
        </p:spPr>
        <p:txBody>
          <a:bodyPr wrap="square">
            <a:spAutoFit/>
          </a:bodyPr>
          <a:lstStyle/>
          <a:p>
            <a:r>
              <a:rPr lang="en-US" dirty="0"/>
              <a:t>The valve body is an intricate control center made of a complex network of passages, valves, springs, and, in modern systems, solenoids.</a:t>
            </a:r>
          </a:p>
        </p:txBody>
      </p:sp>
      <p:sp>
        <p:nvSpPr>
          <p:cNvPr id="5" name="Rectangle 4"/>
          <p:cNvSpPr/>
          <p:nvPr/>
        </p:nvSpPr>
        <p:spPr>
          <a:xfrm>
            <a:off x="546340" y="2224419"/>
            <a:ext cx="11171207" cy="3539430"/>
          </a:xfrm>
          <a:prstGeom prst="rect">
            <a:avLst/>
          </a:prstGeom>
        </p:spPr>
        <p:txBody>
          <a:bodyPr wrap="square">
            <a:spAutoFit/>
          </a:bodyPr>
          <a:lstStyle/>
          <a:p>
            <a:r>
              <a:rPr lang="en-US" sz="1600" b="1" dirty="0"/>
              <a:t>Manual Valve</a:t>
            </a:r>
            <a:r>
              <a:rPr lang="en-US" sz="1600" dirty="0"/>
              <a:t>: Directly connected to the driver's gear selector, this valve directs fluid to the specific hydraulic circuits required for the chosen gear range (e.g., Park, Reverse, Neutral, Drive</a:t>
            </a:r>
            <a:r>
              <a:rPr lang="en-US" sz="1600" dirty="0" smtClean="0"/>
              <a:t>).</a:t>
            </a:r>
          </a:p>
          <a:p>
            <a:endParaRPr lang="en-US" sz="1600" dirty="0"/>
          </a:p>
          <a:p>
            <a:r>
              <a:rPr lang="en-US" sz="1600" b="1" dirty="0"/>
              <a:t>Shift Valves</a:t>
            </a:r>
            <a:r>
              <a:rPr lang="en-US" sz="1600" dirty="0"/>
              <a:t>: These spool valves are balanced by various pressures (e.g., governor pressure, modulator pressure/throttle position) and spring tension. They move within their bores to open and close passages, directing fluid to the appropriate clutch packs or bands to execute automatic upshifts and downshifts based on vehicle speed and engine load</a:t>
            </a:r>
            <a:r>
              <a:rPr lang="en-US" sz="1600" dirty="0" smtClean="0"/>
              <a:t>.</a:t>
            </a:r>
          </a:p>
          <a:p>
            <a:endParaRPr lang="en-US" sz="1600" dirty="0"/>
          </a:p>
          <a:p>
            <a:r>
              <a:rPr lang="en-US" sz="1600" b="1" dirty="0"/>
              <a:t>Solenoids</a:t>
            </a:r>
            <a:r>
              <a:rPr lang="en-US" sz="1600" dirty="0"/>
              <a:t>: In modern, electronically controlled transmissions, solenoids are mounted in the valve body and controlled by a Transmission Control Unit (TCU) or Engine Control Unit (ECU). They receive electronic signals and precisely regulate the fluid pressure and direction to the appropriate components, allowing for more refined control over shift points and quality</a:t>
            </a:r>
            <a:r>
              <a:rPr lang="en-US" sz="1600" dirty="0" smtClean="0"/>
              <a:t>.</a:t>
            </a:r>
          </a:p>
          <a:p>
            <a:endParaRPr lang="en-US" sz="1600" dirty="0"/>
          </a:p>
          <a:p>
            <a:r>
              <a:rPr lang="en-US" sz="1600" b="1" dirty="0"/>
              <a:t>Pressure Regulating Valves</a:t>
            </a:r>
            <a:r>
              <a:rPr lang="en-US" sz="1600" dirty="0"/>
              <a:t>: These components, along with a pressure relief valve, ensure that the hydraulic pressure in the system is maintained within the optimal range and is sufficient for all operations without causing damage</a:t>
            </a:r>
          </a:p>
        </p:txBody>
      </p:sp>
    </p:spTree>
    <p:custDataLst>
      <p:tags r:id="rId1"/>
    </p:custDataLst>
    <p:extLst>
      <p:ext uri="{BB962C8B-B14F-4D97-AF65-F5344CB8AC3E}">
        <p14:creationId xmlns:p14="http://schemas.microsoft.com/office/powerpoint/2010/main" val="419862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The Valve Body</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4" name="Picture 3"/>
          <p:cNvPicPr>
            <a:picLocks noChangeAspect="1"/>
          </p:cNvPicPr>
          <p:nvPr/>
        </p:nvPicPr>
        <p:blipFill>
          <a:blip r:embed="rId5"/>
          <a:stretch>
            <a:fillRect/>
          </a:stretch>
        </p:blipFill>
        <p:spPr>
          <a:xfrm>
            <a:off x="6357669" y="2161140"/>
            <a:ext cx="5115464" cy="3529642"/>
          </a:xfrm>
          <a:prstGeom prst="rect">
            <a:avLst/>
          </a:prstGeom>
        </p:spPr>
      </p:pic>
      <p:pic>
        <p:nvPicPr>
          <p:cNvPr id="5" name="Picture 4"/>
          <p:cNvPicPr>
            <a:picLocks noChangeAspect="1"/>
          </p:cNvPicPr>
          <p:nvPr/>
        </p:nvPicPr>
        <p:blipFill>
          <a:blip r:embed="rId6"/>
          <a:stretch>
            <a:fillRect/>
          </a:stretch>
        </p:blipFill>
        <p:spPr>
          <a:xfrm>
            <a:off x="807952" y="2161140"/>
            <a:ext cx="4330460" cy="3323376"/>
          </a:xfrm>
          <a:prstGeom prst="rect">
            <a:avLst/>
          </a:prstGeom>
        </p:spPr>
      </p:pic>
    </p:spTree>
    <p:custDataLst>
      <p:tags r:id="rId1"/>
    </p:custDataLst>
    <p:extLst>
      <p:ext uri="{BB962C8B-B14F-4D97-AF65-F5344CB8AC3E}">
        <p14:creationId xmlns:p14="http://schemas.microsoft.com/office/powerpoint/2010/main" val="4277595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16177"/>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350" b="1" kern="0" dirty="0">
                <a:latin typeface="Times New Roman" panose="02020603050405020304" pitchFamily="18" charset="0"/>
                <a:ea typeface="Calibri" panose="020F0502020204030204" pitchFamily="34" charset="0"/>
                <a:cs typeface="Arial" panose="020B0604020202020204" pitchFamily="34" charset="0"/>
              </a:rPr>
              <a:t>The Valve Body</a:t>
            </a:r>
            <a:endParaRPr lang="en-US" sz="1200" kern="100" dirty="0">
              <a:latin typeface="Calibri" panose="020F0502020204030204" pitchFamily="34" charset="0"/>
              <a:ea typeface="Calibri" panose="020F0502020204030204" pitchFamily="34" charset="0"/>
              <a:cs typeface="Arial" panose="020B0604020202020204" pitchFamily="34" charset="0"/>
            </a:endParaRPr>
          </a:p>
        </p:txBody>
      </p:sp>
      <p:pic>
        <p:nvPicPr>
          <p:cNvPr id="6" name="Picture 5"/>
          <p:cNvPicPr>
            <a:picLocks noChangeAspect="1"/>
          </p:cNvPicPr>
          <p:nvPr/>
        </p:nvPicPr>
        <p:blipFill>
          <a:blip r:embed="rId5"/>
          <a:stretch>
            <a:fillRect/>
          </a:stretch>
        </p:blipFill>
        <p:spPr>
          <a:xfrm>
            <a:off x="807952" y="1694447"/>
            <a:ext cx="5281278" cy="3921349"/>
          </a:xfrm>
          <a:prstGeom prst="rect">
            <a:avLst/>
          </a:prstGeom>
        </p:spPr>
      </p:pic>
      <p:pic>
        <p:nvPicPr>
          <p:cNvPr id="7" name="Picture 6"/>
          <p:cNvPicPr>
            <a:picLocks noChangeAspect="1"/>
          </p:cNvPicPr>
          <p:nvPr/>
        </p:nvPicPr>
        <p:blipFill>
          <a:blip r:embed="rId6"/>
          <a:stretch>
            <a:fillRect/>
          </a:stretch>
        </p:blipFill>
        <p:spPr>
          <a:xfrm>
            <a:off x="6665432" y="1482164"/>
            <a:ext cx="5126877" cy="4297534"/>
          </a:xfrm>
          <a:prstGeom prst="rect">
            <a:avLst/>
          </a:prstGeom>
        </p:spPr>
      </p:pic>
    </p:spTree>
    <p:custDataLst>
      <p:tags r:id="rId1"/>
    </p:custDataLst>
    <p:extLst>
      <p:ext uri="{BB962C8B-B14F-4D97-AF65-F5344CB8AC3E}">
        <p14:creationId xmlns:p14="http://schemas.microsoft.com/office/powerpoint/2010/main" val="4132593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Electronic Unit (ECU) / Transmission Control Unit  (TCU)</a:t>
            </a:r>
          </a:p>
        </p:txBody>
      </p:sp>
      <p:sp>
        <p:nvSpPr>
          <p:cNvPr id="4" name="Rectangle 3"/>
          <p:cNvSpPr/>
          <p:nvPr/>
        </p:nvSpPr>
        <p:spPr>
          <a:xfrm>
            <a:off x="807951" y="1651440"/>
            <a:ext cx="10898093" cy="1200329"/>
          </a:xfrm>
          <a:prstGeom prst="rect">
            <a:avLst/>
          </a:prstGeom>
        </p:spPr>
        <p:txBody>
          <a:bodyPr wrap="square">
            <a:spAutoFit/>
          </a:bodyPr>
          <a:lstStyle/>
          <a:p>
            <a:r>
              <a:rPr lang="en-US" dirty="0"/>
              <a:t>In automotive engineering, ECU stands for Electronic Control Unit, a generic term for any embedded system that manages one or more of the vehicle's electrical systems or subsystems. A TCU stands for Transmission Control Unit, which is a specific type of ECU dedicated to managing the automatic transmission. </a:t>
            </a:r>
          </a:p>
        </p:txBody>
      </p:sp>
      <p:sp>
        <p:nvSpPr>
          <p:cNvPr id="5" name="Rectangle 4"/>
          <p:cNvSpPr/>
          <p:nvPr/>
        </p:nvSpPr>
        <p:spPr>
          <a:xfrm>
            <a:off x="763645" y="2942471"/>
            <a:ext cx="5480988" cy="369332"/>
          </a:xfrm>
          <a:prstGeom prst="rect">
            <a:avLst/>
          </a:prstGeom>
        </p:spPr>
        <p:txBody>
          <a:bodyPr wrap="none">
            <a:spAutoFit/>
          </a:bodyPr>
          <a:lstStyle/>
          <a:p>
            <a:r>
              <a:rPr lang="en-US" b="1" dirty="0"/>
              <a:t>Key functions of different types of ECUs include</a:t>
            </a:r>
          </a:p>
        </p:txBody>
      </p:sp>
      <p:sp>
        <p:nvSpPr>
          <p:cNvPr id="8" name="Rectangle 7"/>
          <p:cNvSpPr/>
          <p:nvPr/>
        </p:nvSpPr>
        <p:spPr>
          <a:xfrm>
            <a:off x="807950" y="3269393"/>
            <a:ext cx="10665181" cy="646331"/>
          </a:xfrm>
          <a:prstGeom prst="rect">
            <a:avLst/>
          </a:prstGeom>
        </p:spPr>
        <p:txBody>
          <a:bodyPr wrap="square">
            <a:spAutoFit/>
          </a:bodyPr>
          <a:lstStyle/>
          <a:p>
            <a:r>
              <a:rPr lang="en-US" b="1" dirty="0"/>
              <a:t>Engine Control Unit (ECU or ECM): </a:t>
            </a:r>
            <a:r>
              <a:rPr lang="en-US" dirty="0"/>
              <a:t>Monitors and adjusts engine parameters like fuel injection, ignition timing, and emissions control</a:t>
            </a:r>
          </a:p>
        </p:txBody>
      </p:sp>
      <p:sp>
        <p:nvSpPr>
          <p:cNvPr id="9" name="Rectangle 8"/>
          <p:cNvSpPr/>
          <p:nvPr/>
        </p:nvSpPr>
        <p:spPr>
          <a:xfrm>
            <a:off x="763645" y="3927798"/>
            <a:ext cx="10709486" cy="646331"/>
          </a:xfrm>
          <a:prstGeom prst="rect">
            <a:avLst/>
          </a:prstGeom>
        </p:spPr>
        <p:txBody>
          <a:bodyPr wrap="square">
            <a:spAutoFit/>
          </a:bodyPr>
          <a:lstStyle/>
          <a:p>
            <a:r>
              <a:rPr lang="en-US" b="1" dirty="0"/>
              <a:t>Transmission Control Unit (TCU or TCM): </a:t>
            </a:r>
            <a:r>
              <a:rPr lang="en-US" dirty="0"/>
              <a:t>Manages gear shifting in automatic or semi-automatic transmissions</a:t>
            </a:r>
          </a:p>
        </p:txBody>
      </p:sp>
      <p:sp>
        <p:nvSpPr>
          <p:cNvPr id="10" name="Rectangle 9"/>
          <p:cNvSpPr/>
          <p:nvPr/>
        </p:nvSpPr>
        <p:spPr>
          <a:xfrm>
            <a:off x="807949" y="4622421"/>
            <a:ext cx="10777325" cy="1200329"/>
          </a:xfrm>
          <a:prstGeom prst="rect">
            <a:avLst/>
          </a:prstGeom>
        </p:spPr>
        <p:txBody>
          <a:bodyPr wrap="square">
            <a:spAutoFit/>
          </a:bodyPr>
          <a:lstStyle/>
          <a:p>
            <a:r>
              <a:rPr lang="en-US" b="1" dirty="0"/>
              <a:t>Brake Control Module (BCM): </a:t>
            </a:r>
            <a:r>
              <a:rPr lang="en-US" dirty="0"/>
              <a:t>Governs the anti-lock braking system (ABS) and electronic stability control (ESC).</a:t>
            </a:r>
          </a:p>
          <a:p>
            <a:r>
              <a:rPr lang="en-US" b="1" dirty="0"/>
              <a:t>Body Control Module (BBM): </a:t>
            </a:r>
            <a:r>
              <a:rPr lang="en-US" dirty="0"/>
              <a:t>Controls convenience functions such as power windows, central locking, and interior lighting.</a:t>
            </a:r>
          </a:p>
        </p:txBody>
      </p:sp>
    </p:spTree>
    <p:custDataLst>
      <p:tags r:id="rId1"/>
    </p:custDataLst>
    <p:extLst>
      <p:ext uri="{BB962C8B-B14F-4D97-AF65-F5344CB8AC3E}">
        <p14:creationId xmlns:p14="http://schemas.microsoft.com/office/powerpoint/2010/main" val="2299401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Electronic Unit (ECU) / Transmission Control Unit  (TCU)</a:t>
            </a:r>
          </a:p>
        </p:txBody>
      </p:sp>
      <p:sp>
        <p:nvSpPr>
          <p:cNvPr id="6" name="Rectangle 5"/>
          <p:cNvSpPr/>
          <p:nvPr/>
        </p:nvSpPr>
        <p:spPr>
          <a:xfrm>
            <a:off x="807952" y="1651440"/>
            <a:ext cx="11079248" cy="923330"/>
          </a:xfrm>
          <a:prstGeom prst="rect">
            <a:avLst/>
          </a:prstGeom>
        </p:spPr>
        <p:txBody>
          <a:bodyPr wrap="square">
            <a:spAutoFit/>
          </a:bodyPr>
          <a:lstStyle/>
          <a:p>
            <a:r>
              <a:rPr lang="en-US" b="1" dirty="0"/>
              <a:t>Transmission Control Unit (TCU) </a:t>
            </a:r>
          </a:p>
          <a:p>
            <a:r>
              <a:rPr lang="en-US" dirty="0"/>
              <a:t>The TCU is a specialized computer for automatic and semi-automatic transmissions. It ensures smooth and efficient gear shifts based on real-time data from various sensors</a:t>
            </a:r>
          </a:p>
        </p:txBody>
      </p:sp>
      <p:sp>
        <p:nvSpPr>
          <p:cNvPr id="7" name="Rectangle 6"/>
          <p:cNvSpPr/>
          <p:nvPr/>
        </p:nvSpPr>
        <p:spPr>
          <a:xfrm>
            <a:off x="807952" y="3115947"/>
            <a:ext cx="10809342" cy="2554545"/>
          </a:xfrm>
          <a:prstGeom prst="rect">
            <a:avLst/>
          </a:prstGeom>
        </p:spPr>
        <p:txBody>
          <a:bodyPr wrap="square">
            <a:spAutoFit/>
          </a:bodyPr>
          <a:lstStyle/>
          <a:p>
            <a:r>
              <a:rPr lang="en-US" sz="1600" b="1" dirty="0"/>
              <a:t>Inputs</a:t>
            </a:r>
            <a:r>
              <a:rPr lang="en-US" sz="1600" dirty="0"/>
              <a:t>: The TCU receives information from sensors measuring vehicle speed, engine speed (RPM), throttle position, transmission fluid temperature and pressure, and requested gear mode</a:t>
            </a:r>
            <a:r>
              <a:rPr lang="en-US" sz="1600" dirty="0" smtClean="0"/>
              <a:t>.</a:t>
            </a:r>
          </a:p>
          <a:p>
            <a:endParaRPr lang="en-US" sz="1600" b="1" dirty="0"/>
          </a:p>
          <a:p>
            <a:r>
              <a:rPr lang="en-US" sz="1600" b="1" dirty="0"/>
              <a:t>Processing</a:t>
            </a:r>
            <a:r>
              <a:rPr lang="en-US" sz="1600" dirty="0"/>
              <a:t>: It processes this data using internal software and algorithms to determine when and how to change gears for the best balance of performance, fuel economy, and shift quality. Modern TCUs can even adapt to a driver's style through adaptive learning</a:t>
            </a:r>
            <a:r>
              <a:rPr lang="en-US" sz="1600" dirty="0" smtClean="0"/>
              <a:t>.</a:t>
            </a:r>
          </a:p>
          <a:p>
            <a:endParaRPr lang="en-US" sz="1600" dirty="0"/>
          </a:p>
          <a:p>
            <a:r>
              <a:rPr lang="en-US" sz="1600" b="1" dirty="0"/>
              <a:t>Outputs</a:t>
            </a:r>
            <a:r>
              <a:rPr lang="en-US" sz="1600" dirty="0"/>
              <a:t>: The TCU sends commands to actuators like shift solenoids and pressure control solenoids, which manage the hydraulic pressure to engage or disengage clutches and bands to select the correct gear. It also communicates with the engine ECU to momentarily reduce engine torque during shifts for smoothness.</a:t>
            </a:r>
          </a:p>
        </p:txBody>
      </p:sp>
      <p:sp>
        <p:nvSpPr>
          <p:cNvPr id="11" name="Rectangle 10"/>
          <p:cNvSpPr/>
          <p:nvPr/>
        </p:nvSpPr>
        <p:spPr>
          <a:xfrm>
            <a:off x="807952" y="2588081"/>
            <a:ext cx="1896673" cy="369332"/>
          </a:xfrm>
          <a:prstGeom prst="rect">
            <a:avLst/>
          </a:prstGeom>
        </p:spPr>
        <p:txBody>
          <a:bodyPr wrap="none">
            <a:spAutoFit/>
          </a:bodyPr>
          <a:lstStyle/>
          <a:p>
            <a:pPr marL="285750" indent="-285750">
              <a:buFont typeface="Wingdings" panose="05000000000000000000" pitchFamily="2" charset="2"/>
              <a:buChar char="Ø"/>
            </a:pPr>
            <a:r>
              <a:rPr lang="en-US" b="1" dirty="0"/>
              <a:t>How it works</a:t>
            </a:r>
          </a:p>
        </p:txBody>
      </p:sp>
    </p:spTree>
    <p:custDataLst>
      <p:tags r:id="rId1"/>
    </p:custDataLst>
    <p:extLst>
      <p:ext uri="{BB962C8B-B14F-4D97-AF65-F5344CB8AC3E}">
        <p14:creationId xmlns:p14="http://schemas.microsoft.com/office/powerpoint/2010/main" val="322132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Electronic Unit (ECU) / Transmission Control Unit  (TCU)</a:t>
            </a:r>
          </a:p>
        </p:txBody>
      </p:sp>
      <p:pic>
        <p:nvPicPr>
          <p:cNvPr id="4" name="Picture 3"/>
          <p:cNvPicPr>
            <a:picLocks noChangeAspect="1"/>
          </p:cNvPicPr>
          <p:nvPr/>
        </p:nvPicPr>
        <p:blipFill>
          <a:blip r:embed="rId5"/>
          <a:stretch>
            <a:fillRect/>
          </a:stretch>
        </p:blipFill>
        <p:spPr>
          <a:xfrm>
            <a:off x="807952" y="1856464"/>
            <a:ext cx="4166665" cy="3120977"/>
          </a:xfrm>
          <a:prstGeom prst="rect">
            <a:avLst/>
          </a:prstGeom>
        </p:spPr>
      </p:pic>
      <p:pic>
        <p:nvPicPr>
          <p:cNvPr id="8" name="Picture 7"/>
          <p:cNvPicPr>
            <a:picLocks noChangeAspect="1"/>
          </p:cNvPicPr>
          <p:nvPr/>
        </p:nvPicPr>
        <p:blipFill>
          <a:blip r:embed="rId6"/>
          <a:stretch>
            <a:fillRect/>
          </a:stretch>
        </p:blipFill>
        <p:spPr>
          <a:xfrm>
            <a:off x="5304526" y="1856464"/>
            <a:ext cx="6172200" cy="3467100"/>
          </a:xfrm>
          <a:prstGeom prst="rect">
            <a:avLst/>
          </a:prstGeom>
        </p:spPr>
      </p:pic>
    </p:spTree>
    <p:custDataLst>
      <p:tags r:id="rId1"/>
    </p:custDataLst>
    <p:extLst>
      <p:ext uri="{BB962C8B-B14F-4D97-AF65-F5344CB8AC3E}">
        <p14:creationId xmlns:p14="http://schemas.microsoft.com/office/powerpoint/2010/main" val="4048303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Electronic Unit (ECU) / Transmission Control Unit  (TCU)</a:t>
            </a:r>
          </a:p>
        </p:txBody>
      </p:sp>
      <p:pic>
        <p:nvPicPr>
          <p:cNvPr id="5" name="Picture 4"/>
          <p:cNvPicPr>
            <a:picLocks noChangeAspect="1"/>
          </p:cNvPicPr>
          <p:nvPr/>
        </p:nvPicPr>
        <p:blipFill>
          <a:blip r:embed="rId5"/>
          <a:stretch>
            <a:fillRect/>
          </a:stretch>
        </p:blipFill>
        <p:spPr>
          <a:xfrm>
            <a:off x="546953" y="1689636"/>
            <a:ext cx="10796783" cy="4464249"/>
          </a:xfrm>
          <a:prstGeom prst="rect">
            <a:avLst/>
          </a:prstGeom>
        </p:spPr>
      </p:pic>
    </p:spTree>
    <p:custDataLst>
      <p:tags r:id="rId1"/>
    </p:custDataLst>
    <p:extLst>
      <p:ext uri="{BB962C8B-B14F-4D97-AF65-F5344CB8AC3E}">
        <p14:creationId xmlns:p14="http://schemas.microsoft.com/office/powerpoint/2010/main" val="78761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Electronic Unit (ECU) / Transmission Control Unit  (TCU)</a:t>
            </a:r>
          </a:p>
        </p:txBody>
      </p:sp>
      <p:pic>
        <p:nvPicPr>
          <p:cNvPr id="4" name="u_y1S8C0Hmc"/>
          <p:cNvPicPr>
            <a:picLocks noRot="1" noChangeAspect="1"/>
          </p:cNvPicPr>
          <p:nvPr>
            <a:videoFile r:link="rId4"/>
          </p:nvPr>
        </p:nvPicPr>
        <p:blipFill>
          <a:blip r:embed="rId6"/>
          <a:stretch>
            <a:fillRect/>
          </a:stretch>
        </p:blipFill>
        <p:spPr>
          <a:xfrm>
            <a:off x="920151" y="2002224"/>
            <a:ext cx="7307409" cy="4110418"/>
          </a:xfrm>
          <a:prstGeom prst="rect">
            <a:avLst/>
          </a:prstGeom>
        </p:spPr>
      </p:pic>
    </p:spTree>
    <p:custDataLst>
      <p:tags r:id="rId1"/>
    </p:custDataLst>
    <p:extLst>
      <p:ext uri="{BB962C8B-B14F-4D97-AF65-F5344CB8AC3E}">
        <p14:creationId xmlns:p14="http://schemas.microsoft.com/office/powerpoint/2010/main" val="4170505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488773" y="1324076"/>
            <a:ext cx="7738787" cy="307777"/>
          </a:xfrm>
          <a:prstGeom prst="rect">
            <a:avLst/>
          </a:prstGeom>
        </p:spPr>
        <p:txBody>
          <a:bodyPr wrap="square">
            <a:spAutoFit/>
          </a:bodyPr>
          <a:lstStyle/>
          <a:p>
            <a:pPr marL="285750" indent="-285750">
              <a:buFont typeface="Wingdings" panose="05000000000000000000" pitchFamily="2" charset="2"/>
              <a:buChar char="Ø"/>
            </a:pPr>
            <a:r>
              <a:rPr lang="en-US" sz="1400" b="1" dirty="0"/>
              <a:t>Electronic Unit (ECU) / Transmission Control Unit  (TCU)</a:t>
            </a:r>
          </a:p>
        </p:txBody>
      </p:sp>
      <p:pic>
        <p:nvPicPr>
          <p:cNvPr id="4" name="F96cN6rqaE4"/>
          <p:cNvPicPr>
            <a:picLocks noRot="1" noChangeAspect="1"/>
          </p:cNvPicPr>
          <p:nvPr>
            <a:videoFile r:link="rId4"/>
          </p:nvPr>
        </p:nvPicPr>
        <p:blipFill>
          <a:blip r:embed="rId6"/>
          <a:stretch>
            <a:fillRect/>
          </a:stretch>
        </p:blipFill>
        <p:spPr>
          <a:xfrm>
            <a:off x="1181819" y="2082741"/>
            <a:ext cx="6745856" cy="3794544"/>
          </a:xfrm>
          <a:prstGeom prst="rect">
            <a:avLst/>
          </a:prstGeom>
        </p:spPr>
      </p:pic>
    </p:spTree>
    <p:custDataLst>
      <p:tags r:id="rId1"/>
    </p:custDataLst>
    <p:extLst>
      <p:ext uri="{BB962C8B-B14F-4D97-AF65-F5344CB8AC3E}">
        <p14:creationId xmlns:p14="http://schemas.microsoft.com/office/powerpoint/2010/main" val="429083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807952" y="1414407"/>
            <a:ext cx="4502130" cy="369332"/>
          </a:xfrm>
          <a:prstGeom prst="rect">
            <a:avLst/>
          </a:prstGeom>
        </p:spPr>
        <p:txBody>
          <a:bodyPr wrap="none">
            <a:spAutoFit/>
          </a:bodyPr>
          <a:lstStyle/>
          <a:p>
            <a:r>
              <a:rPr lang="en-US" dirty="0"/>
              <a:t>Automatic Transmission Fluid (ATF</a:t>
            </a:r>
            <a:r>
              <a:rPr lang="en-US" dirty="0" smtClean="0"/>
              <a:t>) works</a:t>
            </a:r>
            <a:endParaRPr lang="en-US" dirty="0"/>
          </a:p>
        </p:txBody>
      </p:sp>
      <p:sp>
        <p:nvSpPr>
          <p:cNvPr id="6" name="Rectangle 5"/>
          <p:cNvSpPr/>
          <p:nvPr/>
        </p:nvSpPr>
        <p:spPr>
          <a:xfrm>
            <a:off x="807951" y="2007419"/>
            <a:ext cx="10311497" cy="1200329"/>
          </a:xfrm>
          <a:prstGeom prst="rect">
            <a:avLst/>
          </a:prstGeom>
        </p:spPr>
        <p:txBody>
          <a:bodyPr wrap="square">
            <a:spAutoFit/>
          </a:bodyPr>
          <a:lstStyle/>
          <a:p>
            <a:r>
              <a:rPr lang="en-US" dirty="0"/>
              <a:t>Automatic Transmission Fluid (ATF) works as the literal lifeblood of an automatic transmission, functioning simultaneously as a hydraulic fluid to shift gears, a hydrodynamic fluid to transfer engine power, a coolant, and a specialized lubricant. Unlike standard motor oil which only lubricates, ATF is highly pressurized and physically drives the mechanical actions inside the gearbox.</a:t>
            </a:r>
          </a:p>
        </p:txBody>
      </p:sp>
      <p:pic>
        <p:nvPicPr>
          <p:cNvPr id="7" name="Picture 6"/>
          <p:cNvPicPr>
            <a:picLocks noChangeAspect="1"/>
          </p:cNvPicPr>
          <p:nvPr/>
        </p:nvPicPr>
        <p:blipFill>
          <a:blip r:embed="rId5"/>
          <a:stretch>
            <a:fillRect/>
          </a:stretch>
        </p:blipFill>
        <p:spPr>
          <a:xfrm>
            <a:off x="5627665" y="3891091"/>
            <a:ext cx="4762858" cy="2134190"/>
          </a:xfrm>
          <a:prstGeom prst="rect">
            <a:avLst/>
          </a:prstGeom>
        </p:spPr>
      </p:pic>
    </p:spTree>
    <p:custDataLst>
      <p:tags r:id="rId1"/>
    </p:custDataLst>
    <p:extLst>
      <p:ext uri="{BB962C8B-B14F-4D97-AF65-F5344CB8AC3E}">
        <p14:creationId xmlns:p14="http://schemas.microsoft.com/office/powerpoint/2010/main" val="3476932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70593" y="7166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807952" y="1414407"/>
            <a:ext cx="4502130" cy="369332"/>
          </a:xfrm>
          <a:prstGeom prst="rect">
            <a:avLst/>
          </a:prstGeom>
        </p:spPr>
        <p:txBody>
          <a:bodyPr wrap="none">
            <a:spAutoFit/>
          </a:bodyPr>
          <a:lstStyle/>
          <a:p>
            <a:r>
              <a:rPr lang="en-US" dirty="0"/>
              <a:t>Automatic Transmission Fluid (ATF</a:t>
            </a:r>
            <a:r>
              <a:rPr lang="en-US" dirty="0" smtClean="0"/>
              <a:t>) works</a:t>
            </a:r>
            <a:endParaRPr lang="en-US" dirty="0"/>
          </a:p>
        </p:txBody>
      </p:sp>
      <p:sp>
        <p:nvSpPr>
          <p:cNvPr id="2" name="Rectangle 1"/>
          <p:cNvSpPr/>
          <p:nvPr/>
        </p:nvSpPr>
        <p:spPr>
          <a:xfrm>
            <a:off x="662806" y="1689404"/>
            <a:ext cx="5853013" cy="369332"/>
          </a:xfrm>
          <a:prstGeom prst="rect">
            <a:avLst/>
          </a:prstGeom>
        </p:spPr>
        <p:txBody>
          <a:bodyPr wrap="none">
            <a:spAutoFit/>
          </a:bodyPr>
          <a:lstStyle/>
          <a:p>
            <a:r>
              <a:rPr lang="en-US" dirty="0"/>
              <a:t>1. Actively Transmitting Engine Power (Hydrodynamics)</a:t>
            </a:r>
          </a:p>
        </p:txBody>
      </p:sp>
      <p:sp>
        <p:nvSpPr>
          <p:cNvPr id="5" name="Rectangle 4"/>
          <p:cNvSpPr/>
          <p:nvPr/>
        </p:nvSpPr>
        <p:spPr>
          <a:xfrm>
            <a:off x="807952" y="2058736"/>
            <a:ext cx="11200018" cy="369332"/>
          </a:xfrm>
          <a:prstGeom prst="rect">
            <a:avLst/>
          </a:prstGeom>
        </p:spPr>
        <p:txBody>
          <a:bodyPr wrap="square">
            <a:spAutoFit/>
          </a:bodyPr>
          <a:lstStyle/>
          <a:p>
            <a:r>
              <a:rPr lang="en-US" dirty="0"/>
              <a:t>ATF acts as the physical medium that connects the engine to the transmission inside the torque converter</a:t>
            </a:r>
          </a:p>
        </p:txBody>
      </p:sp>
      <p:sp>
        <p:nvSpPr>
          <p:cNvPr id="8" name="Rectangle 7"/>
          <p:cNvSpPr/>
          <p:nvPr/>
        </p:nvSpPr>
        <p:spPr>
          <a:xfrm>
            <a:off x="807952" y="2424064"/>
            <a:ext cx="6096000" cy="2585323"/>
          </a:xfrm>
          <a:prstGeom prst="rect">
            <a:avLst/>
          </a:prstGeom>
        </p:spPr>
        <p:txBody>
          <a:bodyPr>
            <a:spAutoFit/>
          </a:bodyPr>
          <a:lstStyle/>
          <a:p>
            <a:r>
              <a:rPr lang="en-US" dirty="0"/>
              <a:t>The Process: The engine spins an internal pump (impeller), which flings ATF outward using centrifugal force</a:t>
            </a:r>
            <a:r>
              <a:rPr lang="en-US" dirty="0" smtClean="0"/>
              <a:t>.</a:t>
            </a:r>
          </a:p>
          <a:p>
            <a:r>
              <a:rPr lang="en-US" dirty="0" smtClean="0"/>
              <a:t>The </a:t>
            </a:r>
            <a:r>
              <a:rPr lang="en-US" dirty="0"/>
              <a:t>Action: This high-velocity fluid slams into the blades of the turbine, forcing the turbine to rotate and transfer mechanical energy down into the gearbox</a:t>
            </a:r>
            <a:r>
              <a:rPr lang="en-US" dirty="0" smtClean="0"/>
              <a:t>.</a:t>
            </a:r>
          </a:p>
          <a:p>
            <a:r>
              <a:rPr lang="en-US" dirty="0" smtClean="0"/>
              <a:t>The </a:t>
            </a:r>
            <a:r>
              <a:rPr lang="en-US" dirty="0"/>
              <a:t>Analogy: It works like one household fan blowing air to force another unplugged fan to spin, but uses dense fluid instead of air to handle immense engine torque.</a:t>
            </a:r>
          </a:p>
        </p:txBody>
      </p:sp>
      <p:pic>
        <p:nvPicPr>
          <p:cNvPr id="9" name="Picture 8"/>
          <p:cNvPicPr>
            <a:picLocks noChangeAspect="1"/>
          </p:cNvPicPr>
          <p:nvPr/>
        </p:nvPicPr>
        <p:blipFill>
          <a:blip r:embed="rId5"/>
          <a:stretch>
            <a:fillRect/>
          </a:stretch>
        </p:blipFill>
        <p:spPr>
          <a:xfrm>
            <a:off x="7306573" y="2499110"/>
            <a:ext cx="3977741" cy="3712559"/>
          </a:xfrm>
          <a:prstGeom prst="rect">
            <a:avLst/>
          </a:prstGeom>
        </p:spPr>
      </p:pic>
    </p:spTree>
    <p:custDataLst>
      <p:tags r:id="rId1"/>
    </p:custDataLst>
    <p:extLst>
      <p:ext uri="{BB962C8B-B14F-4D97-AF65-F5344CB8AC3E}">
        <p14:creationId xmlns:p14="http://schemas.microsoft.com/office/powerpoint/2010/main" val="35942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18834" y="53400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807952" y="1322074"/>
            <a:ext cx="4502130" cy="369332"/>
          </a:xfrm>
          <a:prstGeom prst="rect">
            <a:avLst/>
          </a:prstGeom>
        </p:spPr>
        <p:txBody>
          <a:bodyPr wrap="none">
            <a:spAutoFit/>
          </a:bodyPr>
          <a:lstStyle/>
          <a:p>
            <a:r>
              <a:rPr lang="en-US" dirty="0"/>
              <a:t>Automatic Transmission Fluid (ATF</a:t>
            </a:r>
            <a:r>
              <a:rPr lang="en-US" dirty="0" smtClean="0"/>
              <a:t>) works</a:t>
            </a:r>
            <a:endParaRPr lang="en-US" dirty="0"/>
          </a:p>
        </p:txBody>
      </p:sp>
      <p:sp>
        <p:nvSpPr>
          <p:cNvPr id="2" name="Rectangle 1"/>
          <p:cNvSpPr/>
          <p:nvPr/>
        </p:nvSpPr>
        <p:spPr>
          <a:xfrm>
            <a:off x="662806" y="1689404"/>
            <a:ext cx="4544834" cy="369332"/>
          </a:xfrm>
          <a:prstGeom prst="rect">
            <a:avLst/>
          </a:prstGeom>
        </p:spPr>
        <p:txBody>
          <a:bodyPr wrap="none">
            <a:spAutoFit/>
          </a:bodyPr>
          <a:lstStyle/>
          <a:p>
            <a:r>
              <a:rPr lang="en-US" dirty="0"/>
              <a:t>2. Operating the Gear Shifting (Hydraulics)</a:t>
            </a:r>
          </a:p>
        </p:txBody>
      </p:sp>
      <p:sp>
        <p:nvSpPr>
          <p:cNvPr id="6" name="Rectangle 5"/>
          <p:cNvSpPr/>
          <p:nvPr/>
        </p:nvSpPr>
        <p:spPr>
          <a:xfrm>
            <a:off x="874143" y="2056734"/>
            <a:ext cx="11194211" cy="369332"/>
          </a:xfrm>
          <a:prstGeom prst="rect">
            <a:avLst/>
          </a:prstGeom>
        </p:spPr>
        <p:txBody>
          <a:bodyPr wrap="square">
            <a:spAutoFit/>
          </a:bodyPr>
          <a:lstStyle/>
          <a:p>
            <a:r>
              <a:rPr lang="en-US" dirty="0"/>
              <a:t>ATF serves as a high-pressure hydraulic fluid that executes the actual gear changes</a:t>
            </a:r>
          </a:p>
        </p:txBody>
      </p:sp>
      <p:sp>
        <p:nvSpPr>
          <p:cNvPr id="7" name="Rectangle 6"/>
          <p:cNvSpPr/>
          <p:nvPr/>
        </p:nvSpPr>
        <p:spPr>
          <a:xfrm>
            <a:off x="1003540" y="2467618"/>
            <a:ext cx="6096000" cy="2585323"/>
          </a:xfrm>
          <a:prstGeom prst="rect">
            <a:avLst/>
          </a:prstGeom>
        </p:spPr>
        <p:txBody>
          <a:bodyPr>
            <a:spAutoFit/>
          </a:bodyPr>
          <a:lstStyle/>
          <a:p>
            <a:r>
              <a:rPr lang="en-US" dirty="0"/>
              <a:t>The Process: A mechanical oil pump draws ATF from the bottom pan and pressurizes it</a:t>
            </a:r>
            <a:r>
              <a:rPr lang="en-US" dirty="0" smtClean="0"/>
              <a:t>.</a:t>
            </a:r>
          </a:p>
          <a:p>
            <a:r>
              <a:rPr lang="en-US" dirty="0" smtClean="0"/>
              <a:t>The </a:t>
            </a:r>
            <a:r>
              <a:rPr lang="en-US" dirty="0"/>
              <a:t>Action: Driven by computer commands, electronic solenoids open specific channels in the valve body maze. Pressurized ATF rushes down these channels and pushes against heavy-duty hydraulic pistons</a:t>
            </a:r>
            <a:r>
              <a:rPr lang="en-US" dirty="0" smtClean="0"/>
              <a:t>.</a:t>
            </a:r>
          </a:p>
          <a:p>
            <a:r>
              <a:rPr lang="en-US" dirty="0" smtClean="0"/>
              <a:t>The </a:t>
            </a:r>
            <a:r>
              <a:rPr lang="en-US" dirty="0"/>
              <a:t>Result: These pistons squeeze multi-plate clutch packs or tighten friction bands to lock specific planetary gear sets into place, shifting the vehicle's gears</a:t>
            </a:r>
          </a:p>
        </p:txBody>
      </p:sp>
      <p:pic>
        <p:nvPicPr>
          <p:cNvPr id="10" name="Picture 9"/>
          <p:cNvPicPr>
            <a:picLocks noChangeAspect="1"/>
          </p:cNvPicPr>
          <p:nvPr/>
        </p:nvPicPr>
        <p:blipFill>
          <a:blip r:embed="rId5"/>
          <a:stretch>
            <a:fillRect/>
          </a:stretch>
        </p:blipFill>
        <p:spPr>
          <a:xfrm>
            <a:off x="7635049" y="2467618"/>
            <a:ext cx="4129184" cy="4129184"/>
          </a:xfrm>
          <a:prstGeom prst="rect">
            <a:avLst/>
          </a:prstGeom>
        </p:spPr>
      </p:pic>
    </p:spTree>
    <p:custDataLst>
      <p:tags r:id="rId1"/>
    </p:custDataLst>
    <p:extLst>
      <p:ext uri="{BB962C8B-B14F-4D97-AF65-F5344CB8AC3E}">
        <p14:creationId xmlns:p14="http://schemas.microsoft.com/office/powerpoint/2010/main" val="397349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18834" y="53400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807952" y="1322074"/>
            <a:ext cx="4502130" cy="369332"/>
          </a:xfrm>
          <a:prstGeom prst="rect">
            <a:avLst/>
          </a:prstGeom>
        </p:spPr>
        <p:txBody>
          <a:bodyPr wrap="none">
            <a:spAutoFit/>
          </a:bodyPr>
          <a:lstStyle/>
          <a:p>
            <a:r>
              <a:rPr lang="en-US" dirty="0"/>
              <a:t>Automatic Transmission Fluid (ATF</a:t>
            </a:r>
            <a:r>
              <a:rPr lang="en-US" dirty="0" smtClean="0"/>
              <a:t>) works</a:t>
            </a:r>
            <a:endParaRPr lang="en-US" dirty="0"/>
          </a:p>
        </p:txBody>
      </p:sp>
      <p:sp>
        <p:nvSpPr>
          <p:cNvPr id="2" name="Rectangle 1"/>
          <p:cNvSpPr/>
          <p:nvPr/>
        </p:nvSpPr>
        <p:spPr>
          <a:xfrm>
            <a:off x="662806" y="1689404"/>
            <a:ext cx="5686172" cy="369332"/>
          </a:xfrm>
          <a:prstGeom prst="rect">
            <a:avLst/>
          </a:prstGeom>
        </p:spPr>
        <p:txBody>
          <a:bodyPr wrap="none">
            <a:spAutoFit/>
          </a:bodyPr>
          <a:lstStyle/>
          <a:p>
            <a:r>
              <a:rPr lang="en-US" dirty="0" smtClean="0"/>
              <a:t>3</a:t>
            </a:r>
            <a:r>
              <a:rPr lang="en-US" dirty="0"/>
              <a:t>. Generating Managed Friction (Clutch Performance)</a:t>
            </a:r>
          </a:p>
        </p:txBody>
      </p:sp>
      <p:sp>
        <p:nvSpPr>
          <p:cNvPr id="5" name="Rectangle 4"/>
          <p:cNvSpPr/>
          <p:nvPr/>
        </p:nvSpPr>
        <p:spPr>
          <a:xfrm>
            <a:off x="807952" y="2203190"/>
            <a:ext cx="10725565" cy="646331"/>
          </a:xfrm>
          <a:prstGeom prst="rect">
            <a:avLst/>
          </a:prstGeom>
        </p:spPr>
        <p:txBody>
          <a:bodyPr wrap="square">
            <a:spAutoFit/>
          </a:bodyPr>
          <a:lstStyle/>
          <a:p>
            <a:r>
              <a:rPr lang="en-US" dirty="0"/>
              <a:t>While standard lubricants try to eliminate all friction, ATF contains highly specialized friction modifiers designed to optimize it.</a:t>
            </a:r>
          </a:p>
        </p:txBody>
      </p:sp>
      <p:sp>
        <p:nvSpPr>
          <p:cNvPr id="8" name="Rectangle 7"/>
          <p:cNvSpPr/>
          <p:nvPr/>
        </p:nvSpPr>
        <p:spPr>
          <a:xfrm>
            <a:off x="807953" y="3094556"/>
            <a:ext cx="7430274" cy="2308324"/>
          </a:xfrm>
          <a:prstGeom prst="rect">
            <a:avLst/>
          </a:prstGeom>
        </p:spPr>
        <p:txBody>
          <a:bodyPr wrap="square">
            <a:spAutoFit/>
          </a:bodyPr>
          <a:lstStyle/>
          <a:p>
            <a:r>
              <a:rPr lang="en-US" dirty="0"/>
              <a:t>The Process: When clutch packs are compressed by hydraulic fluid to change gears, they must not slip, but they also must not lock up too aggressively, which would cause a violent car jolt</a:t>
            </a:r>
            <a:r>
              <a:rPr lang="en-US" dirty="0" smtClean="0"/>
              <a:t>.</a:t>
            </a:r>
          </a:p>
          <a:p>
            <a:endParaRPr lang="en-US" dirty="0"/>
          </a:p>
          <a:p>
            <a:r>
              <a:rPr lang="en-US" dirty="0" smtClean="0"/>
              <a:t>The </a:t>
            </a:r>
            <a:r>
              <a:rPr lang="en-US" dirty="0"/>
              <a:t>Action: ATF is chemically engineered to act as a temporary "glue" under heavy pressure. It provides the exact amount of friction required for the wet clutch plates to grip each other tightly without slipping, ensuring smooth, seamless gear transitions.</a:t>
            </a:r>
          </a:p>
        </p:txBody>
      </p:sp>
      <p:pic>
        <p:nvPicPr>
          <p:cNvPr id="6" name="Picture 5"/>
          <p:cNvPicPr>
            <a:picLocks noChangeAspect="1"/>
          </p:cNvPicPr>
          <p:nvPr/>
        </p:nvPicPr>
        <p:blipFill>
          <a:blip r:embed="rId5"/>
          <a:stretch>
            <a:fillRect/>
          </a:stretch>
        </p:blipFill>
        <p:spPr>
          <a:xfrm>
            <a:off x="8622102" y="3728635"/>
            <a:ext cx="3446844" cy="2344361"/>
          </a:xfrm>
          <a:prstGeom prst="rect">
            <a:avLst/>
          </a:prstGeom>
        </p:spPr>
      </p:pic>
    </p:spTree>
    <p:custDataLst>
      <p:tags r:id="rId1"/>
    </p:custDataLst>
    <p:extLst>
      <p:ext uri="{BB962C8B-B14F-4D97-AF65-F5344CB8AC3E}">
        <p14:creationId xmlns:p14="http://schemas.microsoft.com/office/powerpoint/2010/main" val="1978514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18834" y="53400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807952" y="1322074"/>
            <a:ext cx="4502130" cy="369332"/>
          </a:xfrm>
          <a:prstGeom prst="rect">
            <a:avLst/>
          </a:prstGeom>
        </p:spPr>
        <p:txBody>
          <a:bodyPr wrap="none">
            <a:spAutoFit/>
          </a:bodyPr>
          <a:lstStyle/>
          <a:p>
            <a:r>
              <a:rPr lang="en-US" dirty="0"/>
              <a:t>Automatic Transmission Fluid (ATF</a:t>
            </a:r>
            <a:r>
              <a:rPr lang="en-US" dirty="0" smtClean="0"/>
              <a:t>) works</a:t>
            </a:r>
            <a:endParaRPr lang="en-US" dirty="0"/>
          </a:p>
        </p:txBody>
      </p:sp>
      <p:sp>
        <p:nvSpPr>
          <p:cNvPr id="2" name="Rectangle 1"/>
          <p:cNvSpPr/>
          <p:nvPr/>
        </p:nvSpPr>
        <p:spPr>
          <a:xfrm>
            <a:off x="662806" y="1689404"/>
            <a:ext cx="4955203" cy="369332"/>
          </a:xfrm>
          <a:prstGeom prst="rect">
            <a:avLst/>
          </a:prstGeom>
        </p:spPr>
        <p:txBody>
          <a:bodyPr wrap="none">
            <a:spAutoFit/>
          </a:bodyPr>
          <a:lstStyle/>
          <a:p>
            <a:r>
              <a:rPr lang="en-US" dirty="0"/>
              <a:t>4. Cooling and Lubricating (System Protection)</a:t>
            </a:r>
          </a:p>
        </p:txBody>
      </p:sp>
      <p:sp>
        <p:nvSpPr>
          <p:cNvPr id="6" name="Rectangle 5"/>
          <p:cNvSpPr/>
          <p:nvPr/>
        </p:nvSpPr>
        <p:spPr>
          <a:xfrm>
            <a:off x="908648" y="2056734"/>
            <a:ext cx="10564483" cy="646331"/>
          </a:xfrm>
          <a:prstGeom prst="rect">
            <a:avLst/>
          </a:prstGeom>
        </p:spPr>
        <p:txBody>
          <a:bodyPr wrap="square">
            <a:spAutoFit/>
          </a:bodyPr>
          <a:lstStyle/>
          <a:p>
            <a:r>
              <a:rPr lang="en-US" dirty="0"/>
              <a:t>An automatic transmission creates massive amounts of heat through continuous fluid shearing and clutch friction.</a:t>
            </a:r>
          </a:p>
        </p:txBody>
      </p:sp>
      <p:sp>
        <p:nvSpPr>
          <p:cNvPr id="7" name="Rectangle 6"/>
          <p:cNvSpPr/>
          <p:nvPr/>
        </p:nvSpPr>
        <p:spPr>
          <a:xfrm>
            <a:off x="708151" y="2829547"/>
            <a:ext cx="7392053" cy="3416320"/>
          </a:xfrm>
          <a:prstGeom prst="rect">
            <a:avLst/>
          </a:prstGeom>
        </p:spPr>
        <p:txBody>
          <a:bodyPr wrap="square">
            <a:spAutoFit/>
          </a:bodyPr>
          <a:lstStyle/>
          <a:p>
            <a:r>
              <a:rPr lang="en-US" dirty="0"/>
              <a:t>Cooling: ATF continuously flows away from hot gears and the torque converter, moving through external cooling lines to an air or liquid transmission cooler at the front of the vehicle before returning to the pan</a:t>
            </a:r>
            <a:r>
              <a:rPr lang="en-US" dirty="0" smtClean="0"/>
              <a:t>.</a:t>
            </a:r>
          </a:p>
          <a:p>
            <a:endParaRPr lang="en-US" dirty="0"/>
          </a:p>
          <a:p>
            <a:r>
              <a:rPr lang="en-US" dirty="0" smtClean="0"/>
              <a:t>Lubricating</a:t>
            </a:r>
            <a:r>
              <a:rPr lang="en-US" dirty="0"/>
              <a:t>: It coats every needle bearing, planetary gear tooth, and spinning shaft with a thin, high-shear film to eliminate metal-to-metal friction and prevent premature wear</a:t>
            </a:r>
            <a:r>
              <a:rPr lang="en-US" dirty="0" smtClean="0"/>
              <a:t>.</a:t>
            </a:r>
          </a:p>
          <a:p>
            <a:endParaRPr lang="en-US" dirty="0"/>
          </a:p>
          <a:p>
            <a:r>
              <a:rPr lang="en-US" dirty="0" smtClean="0"/>
              <a:t>Cleaning</a:t>
            </a:r>
            <a:r>
              <a:rPr lang="en-US" dirty="0"/>
              <a:t>: The fluid contains active detergents that trap micro-debris, metal shaving dust, and carbon, carrying them directly to the transmission filter to prevent internal clogs</a:t>
            </a:r>
          </a:p>
        </p:txBody>
      </p:sp>
      <p:pic>
        <p:nvPicPr>
          <p:cNvPr id="9" name="Picture 8"/>
          <p:cNvPicPr>
            <a:picLocks noChangeAspect="1"/>
          </p:cNvPicPr>
          <p:nvPr/>
        </p:nvPicPr>
        <p:blipFill>
          <a:blip r:embed="rId5"/>
          <a:stretch>
            <a:fillRect/>
          </a:stretch>
        </p:blipFill>
        <p:spPr>
          <a:xfrm>
            <a:off x="7919049" y="3068393"/>
            <a:ext cx="3946005" cy="3186163"/>
          </a:xfrm>
          <a:prstGeom prst="rect">
            <a:avLst/>
          </a:prstGeom>
        </p:spPr>
      </p:pic>
    </p:spTree>
    <p:custDataLst>
      <p:tags r:id="rId1"/>
    </p:custDataLst>
    <p:extLst>
      <p:ext uri="{BB962C8B-B14F-4D97-AF65-F5344CB8AC3E}">
        <p14:creationId xmlns:p14="http://schemas.microsoft.com/office/powerpoint/2010/main" val="3810667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18834" y="53400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807952" y="1322074"/>
            <a:ext cx="4502130" cy="369332"/>
          </a:xfrm>
          <a:prstGeom prst="rect">
            <a:avLst/>
          </a:prstGeom>
        </p:spPr>
        <p:txBody>
          <a:bodyPr wrap="none">
            <a:spAutoFit/>
          </a:bodyPr>
          <a:lstStyle/>
          <a:p>
            <a:r>
              <a:rPr lang="en-US" dirty="0"/>
              <a:t>Automatic Transmission Fluid (ATF</a:t>
            </a:r>
            <a:r>
              <a:rPr lang="en-US" dirty="0" smtClean="0"/>
              <a:t>) works</a:t>
            </a:r>
            <a:endParaRPr lang="en-US" dirty="0"/>
          </a:p>
        </p:txBody>
      </p:sp>
      <p:sp>
        <p:nvSpPr>
          <p:cNvPr id="2" name="Rectangle 1"/>
          <p:cNvSpPr/>
          <p:nvPr/>
        </p:nvSpPr>
        <p:spPr>
          <a:xfrm>
            <a:off x="662806" y="1689404"/>
            <a:ext cx="4955203" cy="369332"/>
          </a:xfrm>
          <a:prstGeom prst="rect">
            <a:avLst/>
          </a:prstGeom>
        </p:spPr>
        <p:txBody>
          <a:bodyPr wrap="none">
            <a:spAutoFit/>
          </a:bodyPr>
          <a:lstStyle/>
          <a:p>
            <a:r>
              <a:rPr lang="en-US" dirty="0"/>
              <a:t>4. Cooling and Lubricating (System Protection)</a:t>
            </a:r>
          </a:p>
        </p:txBody>
      </p:sp>
      <p:sp>
        <p:nvSpPr>
          <p:cNvPr id="6" name="Rectangle 5"/>
          <p:cNvSpPr/>
          <p:nvPr/>
        </p:nvSpPr>
        <p:spPr>
          <a:xfrm>
            <a:off x="908648" y="2056734"/>
            <a:ext cx="10564483" cy="646331"/>
          </a:xfrm>
          <a:prstGeom prst="rect">
            <a:avLst/>
          </a:prstGeom>
        </p:spPr>
        <p:txBody>
          <a:bodyPr wrap="square">
            <a:spAutoFit/>
          </a:bodyPr>
          <a:lstStyle/>
          <a:p>
            <a:r>
              <a:rPr lang="en-US" dirty="0"/>
              <a:t>An automatic transmission creates massive amounts of heat through continuous fluid shearing and clutch friction.</a:t>
            </a:r>
          </a:p>
        </p:txBody>
      </p:sp>
      <p:pic>
        <p:nvPicPr>
          <p:cNvPr id="5" name="Picture 4"/>
          <p:cNvPicPr>
            <a:picLocks noChangeAspect="1"/>
          </p:cNvPicPr>
          <p:nvPr/>
        </p:nvPicPr>
        <p:blipFill>
          <a:blip r:embed="rId5"/>
          <a:stretch>
            <a:fillRect/>
          </a:stretch>
        </p:blipFill>
        <p:spPr>
          <a:xfrm>
            <a:off x="3534733" y="2703064"/>
            <a:ext cx="6592678" cy="3878181"/>
          </a:xfrm>
          <a:prstGeom prst="rect">
            <a:avLst/>
          </a:prstGeom>
        </p:spPr>
      </p:pic>
    </p:spTree>
    <p:custDataLst>
      <p:tags r:id="rId1"/>
    </p:custDataLst>
    <p:extLst>
      <p:ext uri="{BB962C8B-B14F-4D97-AF65-F5344CB8AC3E}">
        <p14:creationId xmlns:p14="http://schemas.microsoft.com/office/powerpoint/2010/main" val="238874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807952" y="953705"/>
            <a:ext cx="10018643" cy="370371"/>
          </a:xfrm>
          <a:prstGeom prst="rect">
            <a:avLst/>
          </a:prstGeom>
          <a:noFill/>
        </p:spPr>
        <p:txBody>
          <a:bodyPr wrap="square" rtlCol="0">
            <a:noAutofit/>
          </a:bodyPr>
          <a:lstStyle/>
          <a:p>
            <a:r>
              <a:rPr lang="en-US" b="1" dirty="0"/>
              <a:t>Chapter </a:t>
            </a:r>
            <a:r>
              <a:rPr lang="en-US" b="1" dirty="0" smtClean="0"/>
              <a:t>11 Inspection and Service Automatize Transmission</a:t>
            </a:r>
            <a:endParaRPr lang="en-US" b="1" dirty="0"/>
          </a:p>
        </p:txBody>
      </p:sp>
      <p:sp>
        <p:nvSpPr>
          <p:cNvPr id="22" name="文本框 21"/>
          <p:cNvSpPr txBox="1"/>
          <p:nvPr>
            <p:custDataLst>
              <p:tags r:id="rId3"/>
            </p:custDataLst>
          </p:nvPr>
        </p:nvSpPr>
        <p:spPr>
          <a:xfrm>
            <a:off x="1618834" y="534008"/>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19819"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807952" y="1322074"/>
            <a:ext cx="4502130" cy="369332"/>
          </a:xfrm>
          <a:prstGeom prst="rect">
            <a:avLst/>
          </a:prstGeom>
        </p:spPr>
        <p:txBody>
          <a:bodyPr wrap="none">
            <a:spAutoFit/>
          </a:bodyPr>
          <a:lstStyle/>
          <a:p>
            <a:r>
              <a:rPr lang="en-US" dirty="0"/>
              <a:t>Automatic Transmission Fluid (ATF</a:t>
            </a:r>
            <a:r>
              <a:rPr lang="en-US" dirty="0" smtClean="0"/>
              <a:t>) works</a:t>
            </a:r>
            <a:endParaRPr lang="en-US" dirty="0"/>
          </a:p>
        </p:txBody>
      </p:sp>
      <p:pic>
        <p:nvPicPr>
          <p:cNvPr id="5" name="u_y1S8C0Hmc"/>
          <p:cNvPicPr>
            <a:picLocks noRot="1" noChangeAspect="1"/>
          </p:cNvPicPr>
          <p:nvPr>
            <a:videoFile r:link="rId4"/>
          </p:nvPr>
        </p:nvPicPr>
        <p:blipFill>
          <a:blip r:embed="rId6"/>
          <a:stretch>
            <a:fillRect/>
          </a:stretch>
        </p:blipFill>
        <p:spPr>
          <a:xfrm>
            <a:off x="2533291" y="2059775"/>
            <a:ext cx="6904007" cy="4059561"/>
          </a:xfrm>
          <a:prstGeom prst="rect">
            <a:avLst/>
          </a:prstGeom>
        </p:spPr>
      </p:pic>
    </p:spTree>
    <p:custDataLst>
      <p:tags r:id="rId1"/>
    </p:custDataLst>
    <p:extLst>
      <p:ext uri="{BB962C8B-B14F-4D97-AF65-F5344CB8AC3E}">
        <p14:creationId xmlns:p14="http://schemas.microsoft.com/office/powerpoint/2010/main" val="2624437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4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990</TotalTime>
  <Words>2814</Words>
  <Application>Microsoft Office PowerPoint</Application>
  <PresentationFormat>Widescreen</PresentationFormat>
  <Paragraphs>248</Paragraphs>
  <Slides>29</Slides>
  <Notes>0</Notes>
  <HiddenSlides>0</HiddenSlides>
  <MMClips>3</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微软雅黑</vt:lpstr>
      <vt:lpstr>宋体</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239</cp:revision>
  <dcterms:created xsi:type="dcterms:W3CDTF">2019-06-19T02:08:00Z</dcterms:created>
  <dcterms:modified xsi:type="dcterms:W3CDTF">2026-05-18T12:38:09Z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