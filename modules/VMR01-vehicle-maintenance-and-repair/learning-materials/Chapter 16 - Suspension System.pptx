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7"/>
  </p:notesMasterIdLst>
  <p:sldIdLst>
    <p:sldId id="348" r:id="rId2"/>
    <p:sldId id="349" r:id="rId3"/>
    <p:sldId id="350" r:id="rId4"/>
    <p:sldId id="351" r:id="rId5"/>
    <p:sldId id="358" r:id="rId6"/>
    <p:sldId id="359" r:id="rId7"/>
    <p:sldId id="360" r:id="rId8"/>
    <p:sldId id="353" r:id="rId9"/>
    <p:sldId id="354" r:id="rId10"/>
    <p:sldId id="355" r:id="rId11"/>
    <p:sldId id="369" r:id="rId12"/>
    <p:sldId id="370" r:id="rId13"/>
    <p:sldId id="371" r:id="rId14"/>
    <p:sldId id="356" r:id="rId15"/>
    <p:sldId id="357" r:id="rId16"/>
    <p:sldId id="352" r:id="rId17"/>
    <p:sldId id="361" r:id="rId18"/>
    <p:sldId id="362" r:id="rId19"/>
    <p:sldId id="363" r:id="rId20"/>
    <p:sldId id="364" r:id="rId21"/>
    <p:sldId id="365" r:id="rId22"/>
    <p:sldId id="366" r:id="rId23"/>
    <p:sldId id="367" r:id="rId24"/>
    <p:sldId id="368" r:id="rId25"/>
    <p:sldId id="295"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1" d="100"/>
          <a:sy n="111" d="100"/>
        </p:scale>
        <p:origin x="660"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2025/11/26</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s>
</file>

<file path=ppt/slides/_rels/slide3.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image" Target="../media/image18.jpe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image" Target="../media/image29.png"/><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image" Target="../media/image30.jpeg"/><Relationship Id="rId5" Type="http://schemas.openxmlformats.org/officeDocument/2006/relationships/slideLayout" Target="../slideLayouts/slideLayout1.xml"/><Relationship Id="rId4" Type="http://schemas.openxmlformats.org/officeDocument/2006/relationships/video" Target="https://www.youtube.com/embed/nJqt14tmrRw?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1.xml"/><Relationship Id="rId7" Type="http://schemas.openxmlformats.org/officeDocument/2006/relationships/image" Target="../media/image33.jpe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32.png"/><Relationship Id="rId5" Type="http://schemas.openxmlformats.org/officeDocument/2006/relationships/slideLayout" Target="../slideLayouts/slideLayout1.xml"/><Relationship Id="rId4" Type="http://schemas.openxmlformats.org/officeDocument/2006/relationships/video" Target="https://www.youtube.com/embed/UhlPqqDUmUM?feature=oembed" TargetMode="External"/></Relationships>
</file>

<file path=ppt/slides/_rels/slide20.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34.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5" Type="http://schemas.openxmlformats.org/officeDocument/2006/relationships/image" Target="../media/image35.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8.xml"/><Relationship Id="rId1" Type="http://schemas.openxmlformats.org/officeDocument/2006/relationships/tags" Target="../tags/tag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471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smtClean="0"/>
              <a:t>16 Inspect and Service Suspension System</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6652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Key function</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910793D5-B54F-E96B-8664-76BF3D61D10C}"/>
              </a:ext>
            </a:extLst>
          </p:cNvPr>
          <p:cNvSpPr txBox="1"/>
          <p:nvPr/>
        </p:nvSpPr>
        <p:spPr>
          <a:xfrm>
            <a:off x="945465" y="2154336"/>
            <a:ext cx="10301069" cy="2134559"/>
          </a:xfrm>
          <a:prstGeom prst="rect">
            <a:avLst/>
          </a:prstGeom>
          <a:noFill/>
        </p:spPr>
        <p:txBody>
          <a:bodyPr wrap="square">
            <a:spAutoFit/>
          </a:bodyPr>
          <a:lstStyle/>
          <a:p>
            <a:pPr algn="l">
              <a:lnSpc>
                <a:spcPts val="1800"/>
              </a:lnSpc>
              <a:spcBef>
                <a:spcPts val="750"/>
              </a:spcBef>
              <a:spcAft>
                <a:spcPts val="900"/>
              </a:spcAft>
              <a:buFont typeface="Arial" panose="020B0604020202020204" pitchFamily="34" charset="0"/>
              <a:buChar char="•"/>
            </a:pPr>
            <a:r>
              <a:rPr lang="en-US" b="1" i="0" dirty="0">
                <a:solidFill>
                  <a:srgbClr val="0A0A0A"/>
                </a:solidFill>
                <a:effectLst/>
                <a:latin typeface="Google Sans"/>
              </a:rPr>
              <a:t>Ride comfort:</a:t>
            </a:r>
            <a:r>
              <a:rPr lang="en-US" b="0" i="0" dirty="0">
                <a:solidFill>
                  <a:srgbClr val="0A0A0A"/>
                </a:solidFill>
                <a:effectLst/>
                <a:latin typeface="Google Sans"/>
              </a:rPr>
              <a:t> It absorbs and dampens the vibrations and impacts from uneven road surfaces, preventing the entire vehicle from bouncing uncontrollably.</a:t>
            </a:r>
          </a:p>
          <a:p>
            <a:pPr algn="l">
              <a:lnSpc>
                <a:spcPts val="1800"/>
              </a:lnSpc>
              <a:spcBef>
                <a:spcPts val="750"/>
              </a:spcBef>
              <a:spcAft>
                <a:spcPts val="900"/>
              </a:spcAft>
              <a:buFont typeface="Arial" panose="020B0604020202020204" pitchFamily="34" charset="0"/>
              <a:buChar char="•"/>
            </a:pPr>
            <a:r>
              <a:rPr lang="en-US" b="1" i="0" dirty="0">
                <a:solidFill>
                  <a:srgbClr val="0A0A0A"/>
                </a:solidFill>
                <a:effectLst/>
                <a:latin typeface="Google Sans"/>
              </a:rPr>
              <a:t>Tire contact:</a:t>
            </a:r>
            <a:r>
              <a:rPr lang="en-US" b="0" i="0" dirty="0">
                <a:solidFill>
                  <a:srgbClr val="0A0A0A"/>
                </a:solidFill>
                <a:effectLst/>
                <a:latin typeface="Google Sans"/>
              </a:rPr>
              <a:t> It keeps the tires firmly on the road, which is essential for a stable and safe driving experience.</a:t>
            </a:r>
          </a:p>
          <a:p>
            <a:pPr algn="l">
              <a:lnSpc>
                <a:spcPts val="1800"/>
              </a:lnSpc>
              <a:spcBef>
                <a:spcPts val="750"/>
              </a:spcBef>
              <a:spcAft>
                <a:spcPts val="900"/>
              </a:spcAft>
              <a:buFont typeface="Arial" panose="020B0604020202020204" pitchFamily="34" charset="0"/>
              <a:buChar char="•"/>
            </a:pPr>
            <a:r>
              <a:rPr lang="en-US" b="1" i="0" dirty="0">
                <a:solidFill>
                  <a:srgbClr val="0A0A0A"/>
                </a:solidFill>
                <a:effectLst/>
                <a:latin typeface="Google Sans"/>
              </a:rPr>
              <a:t>Handling and control:</a:t>
            </a:r>
            <a:r>
              <a:rPr lang="en-US" b="0" i="0" dirty="0">
                <a:solidFill>
                  <a:srgbClr val="0A0A0A"/>
                </a:solidFill>
                <a:effectLst/>
                <a:latin typeface="Google Sans"/>
              </a:rPr>
              <a:t> By controlling the vehicle's body movements, it allows for better steering, cornering, and overall handling.</a:t>
            </a:r>
          </a:p>
          <a:p>
            <a:pPr algn="l">
              <a:lnSpc>
                <a:spcPts val="1800"/>
              </a:lnSpc>
              <a:spcBef>
                <a:spcPts val="750"/>
              </a:spcBef>
              <a:spcAft>
                <a:spcPts val="900"/>
              </a:spcAft>
              <a:buFont typeface="Arial" panose="020B0604020202020204" pitchFamily="34" charset="0"/>
              <a:buChar char="•"/>
            </a:pPr>
            <a:r>
              <a:rPr lang="en-US" b="1" i="0" dirty="0">
                <a:solidFill>
                  <a:srgbClr val="0A0A0A"/>
                </a:solidFill>
                <a:effectLst/>
                <a:latin typeface="Google Sans"/>
              </a:rPr>
              <a:t>Vehicle support:</a:t>
            </a:r>
            <a:r>
              <a:rPr lang="en-US" b="0" i="0" dirty="0">
                <a:solidFill>
                  <a:srgbClr val="0A0A0A"/>
                </a:solidFill>
                <a:effectLst/>
                <a:latin typeface="Google Sans"/>
              </a:rPr>
              <a:t> It supports the weight of the car and helps maintain a consistent ride heigh</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Tree>
    <p:custDataLst>
      <p:tags r:id="rId1"/>
    </p:custDataLst>
    <p:extLst>
      <p:ext uri="{BB962C8B-B14F-4D97-AF65-F5344CB8AC3E}">
        <p14:creationId xmlns:p14="http://schemas.microsoft.com/office/powerpoint/2010/main" val="165172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5ACF-0CE0-4C4F-CE02-01A8B563936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3B856E5-99A6-3614-9091-1CB90618F62E}"/>
              </a:ext>
            </a:extLst>
          </p:cNvPr>
          <p:cNvSpPr txBox="1"/>
          <p:nvPr>
            <p:custDataLst>
              <p:tags r:id="rId2"/>
            </p:custDataLst>
          </p:nvPr>
        </p:nvSpPr>
        <p:spPr>
          <a:xfrm>
            <a:off x="1392424" y="1044036"/>
            <a:ext cx="10018643" cy="370371"/>
          </a:xfrm>
          <a:prstGeom prst="rect">
            <a:avLst/>
          </a:prstGeom>
          <a:noFill/>
        </p:spPr>
        <p:txBody>
          <a:bodyPr wrap="square" rtlCol="0">
            <a:noAutofit/>
          </a:bodyPr>
          <a:lstStyle/>
          <a:p>
            <a:r>
              <a:rPr lang="en-US" b="1" dirty="0" smtClean="0"/>
              <a:t>Chapter 16 </a:t>
            </a:r>
            <a:r>
              <a:rPr lang="en-US" b="1" dirty="0"/>
              <a:t>Suspension system</a:t>
            </a:r>
          </a:p>
        </p:txBody>
      </p:sp>
      <p:sp>
        <p:nvSpPr>
          <p:cNvPr id="22" name="文本框 21">
            <a:extLst>
              <a:ext uri="{FF2B5EF4-FFF2-40B4-BE49-F238E27FC236}">
                <a16:creationId xmlns:a16="http://schemas.microsoft.com/office/drawing/2014/main" id="{5F411396-71D3-8E08-112C-ADE59DA5B636}"/>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B1F9F20-4B27-2309-9051-E2010B138FFA}"/>
              </a:ext>
            </a:extLst>
          </p:cNvPr>
          <p:cNvSpPr txBox="1"/>
          <p:nvPr/>
        </p:nvSpPr>
        <p:spPr>
          <a:xfrm>
            <a:off x="640256" y="590205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D40D95FF-AE88-274B-D392-80D0267017A6}"/>
              </a:ext>
            </a:extLst>
          </p:cNvPr>
          <p:cNvSpPr/>
          <p:nvPr/>
        </p:nvSpPr>
        <p:spPr>
          <a:xfrm>
            <a:off x="1524001" y="1583682"/>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73F9CAE6-3560-9E85-9424-659F7D4C6BCC}"/>
              </a:ext>
            </a:extLst>
          </p:cNvPr>
          <p:cNvSpPr txBox="1"/>
          <p:nvPr/>
        </p:nvSpPr>
        <p:spPr>
          <a:xfrm>
            <a:off x="457377" y="1910093"/>
            <a:ext cx="4311572" cy="3019416"/>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1 Springs:</a:t>
            </a:r>
          </a:p>
          <a:p>
            <a:pPr algn="l">
              <a:lnSpc>
                <a:spcPts val="1800"/>
              </a:lnSpc>
              <a:spcBef>
                <a:spcPts val="1200"/>
              </a:spcBef>
              <a:spcAft>
                <a:spcPts val="1200"/>
              </a:spcAft>
            </a:pPr>
            <a:r>
              <a:rPr lang="en-US" b="1" dirty="0">
                <a:solidFill>
                  <a:srgbClr val="0A0A0A"/>
                </a:solidFill>
                <a:latin typeface="Google Sans"/>
              </a:rPr>
              <a:t>2 </a:t>
            </a:r>
            <a:r>
              <a:rPr lang="en-US" b="0" i="0" dirty="0">
                <a:solidFill>
                  <a:srgbClr val="0A0A0A"/>
                </a:solidFill>
                <a:effectLst/>
                <a:latin typeface="Google Sans"/>
              </a:rPr>
              <a:t> </a:t>
            </a:r>
            <a:r>
              <a:rPr lang="en-US" b="1" i="0" dirty="0">
                <a:solidFill>
                  <a:srgbClr val="0A0A0A"/>
                </a:solidFill>
                <a:effectLst/>
                <a:latin typeface="Google Sans"/>
              </a:rPr>
              <a:t>Shock Absorbers (Dampers)</a:t>
            </a:r>
          </a:p>
          <a:p>
            <a:pPr algn="l">
              <a:lnSpc>
                <a:spcPts val="1800"/>
              </a:lnSpc>
              <a:spcBef>
                <a:spcPts val="1200"/>
              </a:spcBef>
              <a:spcAft>
                <a:spcPts val="1200"/>
              </a:spcAft>
            </a:pPr>
            <a:r>
              <a:rPr lang="en-US" b="1" dirty="0">
                <a:solidFill>
                  <a:srgbClr val="0A0A0A"/>
                </a:solidFill>
                <a:latin typeface="Google Sans"/>
              </a:rPr>
              <a:t>3 </a:t>
            </a:r>
            <a:r>
              <a:rPr lang="en-US" b="1" i="0" dirty="0">
                <a:solidFill>
                  <a:srgbClr val="0A0A0A"/>
                </a:solidFill>
                <a:effectLst/>
                <a:latin typeface="Google Sans"/>
              </a:rPr>
              <a:t> Struts</a:t>
            </a:r>
          </a:p>
          <a:p>
            <a:pPr algn="l">
              <a:lnSpc>
                <a:spcPts val="1800"/>
              </a:lnSpc>
              <a:spcBef>
                <a:spcPts val="1200"/>
              </a:spcBef>
              <a:spcAft>
                <a:spcPts val="1200"/>
              </a:spcAft>
            </a:pPr>
            <a:r>
              <a:rPr lang="en-US" b="1" i="0" dirty="0">
                <a:solidFill>
                  <a:srgbClr val="0A0A0A"/>
                </a:solidFill>
                <a:effectLst/>
                <a:latin typeface="Google Sans"/>
              </a:rPr>
              <a:t>4 Control Arms (Wishbones)</a:t>
            </a:r>
          </a:p>
          <a:p>
            <a:pPr algn="l">
              <a:lnSpc>
                <a:spcPts val="1800"/>
              </a:lnSpc>
              <a:spcBef>
                <a:spcPts val="1200"/>
              </a:spcBef>
              <a:spcAft>
                <a:spcPts val="1200"/>
              </a:spcAft>
            </a:pPr>
            <a:r>
              <a:rPr lang="en-US" b="1" i="0" dirty="0">
                <a:solidFill>
                  <a:srgbClr val="0A0A0A"/>
                </a:solidFill>
                <a:effectLst/>
                <a:latin typeface="Google Sans"/>
              </a:rPr>
              <a:t>5 Sway Bars (Anti-roll bars)</a:t>
            </a:r>
            <a:endParaRPr lang="en-US" b="0" i="0" dirty="0">
              <a:solidFill>
                <a:srgbClr val="0A0A0A"/>
              </a:solidFill>
              <a:effectLst/>
              <a:latin typeface="Google Sans"/>
            </a:endParaRPr>
          </a:p>
          <a:p>
            <a:pPr algn="l">
              <a:lnSpc>
                <a:spcPts val="1800"/>
              </a:lnSpc>
              <a:spcBef>
                <a:spcPts val="1200"/>
              </a:spcBef>
              <a:spcAft>
                <a:spcPts val="1200"/>
              </a:spcAft>
            </a:pPr>
            <a:r>
              <a:rPr lang="en-US" b="1" i="0" dirty="0">
                <a:solidFill>
                  <a:srgbClr val="0A0A0A"/>
                </a:solidFill>
                <a:effectLst/>
                <a:latin typeface="Google Sans"/>
              </a:rPr>
              <a:t>6 Ball Joints and Bushings</a:t>
            </a:r>
            <a:endParaRPr lang="en-US" b="0" i="0" dirty="0">
              <a:solidFill>
                <a:srgbClr val="0A0A0A"/>
              </a:solidFill>
              <a:effectLst/>
              <a:latin typeface="Google Sans"/>
            </a:endParaRPr>
          </a:p>
        </p:txBody>
      </p:sp>
      <p:pic>
        <p:nvPicPr>
          <p:cNvPr id="6" name="Picture 5">
            <a:extLst>
              <a:ext uri="{FF2B5EF4-FFF2-40B4-BE49-F238E27FC236}">
                <a16:creationId xmlns:a16="http://schemas.microsoft.com/office/drawing/2014/main" id="{C0DD84B1-DCE6-D296-DBB7-163CF2D6FA3F}"/>
              </a:ext>
            </a:extLst>
          </p:cNvPr>
          <p:cNvPicPr>
            <a:picLocks noChangeAspect="1"/>
          </p:cNvPicPr>
          <p:nvPr/>
        </p:nvPicPr>
        <p:blipFill>
          <a:blip r:embed="rId5"/>
          <a:stretch>
            <a:fillRect/>
          </a:stretch>
        </p:blipFill>
        <p:spPr>
          <a:xfrm>
            <a:off x="5726302" y="1414407"/>
            <a:ext cx="5174493" cy="5336759"/>
          </a:xfrm>
          <a:prstGeom prst="rect">
            <a:avLst/>
          </a:prstGeom>
        </p:spPr>
      </p:pic>
    </p:spTree>
    <p:custDataLst>
      <p:tags r:id="rId1"/>
    </p:custDataLst>
    <p:extLst>
      <p:ext uri="{BB962C8B-B14F-4D97-AF65-F5344CB8AC3E}">
        <p14:creationId xmlns:p14="http://schemas.microsoft.com/office/powerpoint/2010/main" val="1535571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E314-9331-77EC-CFED-5B686D2A192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EF8E669-A6AE-C03F-EDA8-496A1E5F9848}"/>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AD8ED65F-6D60-B83D-F3B8-9FFB8D3F5353}"/>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9FD361E-E14C-D669-09C8-E0D003631D6D}"/>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D514A51D-3D2C-B099-CBD3-F40B186228F9}"/>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075C1F08-99B8-AC90-06BF-86DA2EDCC149}"/>
              </a:ext>
            </a:extLst>
          </p:cNvPr>
          <p:cNvSpPr txBox="1"/>
          <p:nvPr/>
        </p:nvSpPr>
        <p:spPr>
          <a:xfrm>
            <a:off x="457376" y="1910093"/>
            <a:ext cx="10712371" cy="864980"/>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1 Springs:</a:t>
            </a:r>
            <a:r>
              <a:rPr lang="en-US" b="0" i="0" dirty="0">
                <a:solidFill>
                  <a:srgbClr val="0A0A0A"/>
                </a:solidFill>
                <a:effectLst/>
                <a:latin typeface="Google Sans"/>
              </a:rPr>
              <a:t> These support the vehicle's weight and absorb initial impacts.</a:t>
            </a:r>
          </a:p>
          <a:p>
            <a:pPr algn="l">
              <a:lnSpc>
                <a:spcPts val="1800"/>
              </a:lnSpc>
              <a:spcBef>
                <a:spcPts val="1200"/>
              </a:spcBef>
              <a:spcAft>
                <a:spcPts val="1200"/>
              </a:spcAft>
            </a:pPr>
            <a:r>
              <a:rPr lang="en-US" b="0" i="0" dirty="0">
                <a:solidFill>
                  <a:srgbClr val="0A0A0A"/>
                </a:solidFill>
                <a:effectLst/>
                <a:latin typeface="Google Sans"/>
              </a:rPr>
              <a:t> Common types include coil, leaf, and torsion bar springs.</a:t>
            </a:r>
          </a:p>
        </p:txBody>
      </p:sp>
      <p:pic>
        <p:nvPicPr>
          <p:cNvPr id="10" name="Picture 9">
            <a:extLst>
              <a:ext uri="{FF2B5EF4-FFF2-40B4-BE49-F238E27FC236}">
                <a16:creationId xmlns:a16="http://schemas.microsoft.com/office/drawing/2014/main" id="{750692A8-A188-53B2-242D-B559DF8D7F89}"/>
              </a:ext>
            </a:extLst>
          </p:cNvPr>
          <p:cNvPicPr>
            <a:picLocks noChangeAspect="1"/>
          </p:cNvPicPr>
          <p:nvPr/>
        </p:nvPicPr>
        <p:blipFill>
          <a:blip r:embed="rId5"/>
          <a:stretch>
            <a:fillRect/>
          </a:stretch>
        </p:blipFill>
        <p:spPr>
          <a:xfrm>
            <a:off x="6709724" y="2775073"/>
            <a:ext cx="5095708" cy="3920435"/>
          </a:xfrm>
          <a:prstGeom prst="rect">
            <a:avLst/>
          </a:prstGeom>
        </p:spPr>
      </p:pic>
    </p:spTree>
    <p:custDataLst>
      <p:tags r:id="rId1"/>
    </p:custDataLst>
    <p:extLst>
      <p:ext uri="{BB962C8B-B14F-4D97-AF65-F5344CB8AC3E}">
        <p14:creationId xmlns:p14="http://schemas.microsoft.com/office/powerpoint/2010/main" val="83126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C636-5E8B-BC8A-F94A-CA3813ED7D7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6947ABB-0310-399C-498D-C702B3BD3A31}"/>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1D3A6A09-EDE9-F626-7C1D-5A8A826A985A}"/>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942C5DF-1449-DA8E-45AD-5CE425C2AC4D}"/>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A24F1A3A-9512-25BB-F193-1010287CF320}"/>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5B109AD1-76C0-A97A-66D0-24CC8F8CE1CB}"/>
              </a:ext>
            </a:extLst>
          </p:cNvPr>
          <p:cNvSpPr txBox="1"/>
          <p:nvPr/>
        </p:nvSpPr>
        <p:spPr>
          <a:xfrm>
            <a:off x="457376" y="1910093"/>
            <a:ext cx="10712371" cy="326371"/>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1 Springs:</a:t>
            </a:r>
            <a:r>
              <a:rPr lang="en-US" b="0" i="0" dirty="0">
                <a:solidFill>
                  <a:srgbClr val="0A0A0A"/>
                </a:solidFill>
                <a:effectLst/>
                <a:latin typeface="Google Sans"/>
              </a:rPr>
              <a:t> These support the vehicle's weight and absorb initial impacts.</a:t>
            </a:r>
          </a:p>
        </p:txBody>
      </p:sp>
      <p:sp>
        <p:nvSpPr>
          <p:cNvPr id="2" name="Rectangle 1">
            <a:extLst>
              <a:ext uri="{FF2B5EF4-FFF2-40B4-BE49-F238E27FC236}">
                <a16:creationId xmlns:a16="http://schemas.microsoft.com/office/drawing/2014/main" id="{F1B1ADBF-1BBE-F1F2-53B2-34551AF28BA5}"/>
              </a:ext>
            </a:extLst>
          </p:cNvPr>
          <p:cNvSpPr/>
          <p:nvPr/>
        </p:nvSpPr>
        <p:spPr>
          <a:xfrm>
            <a:off x="702607" y="2456089"/>
            <a:ext cx="7738787" cy="352789"/>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Leaf spring</a:t>
            </a:r>
          </a:p>
        </p:txBody>
      </p:sp>
      <p:sp>
        <p:nvSpPr>
          <p:cNvPr id="5" name="TextBox 4">
            <a:extLst>
              <a:ext uri="{FF2B5EF4-FFF2-40B4-BE49-F238E27FC236}">
                <a16:creationId xmlns:a16="http://schemas.microsoft.com/office/drawing/2014/main" id="{F1270E91-4390-851B-5034-7610B0271C9C}"/>
              </a:ext>
            </a:extLst>
          </p:cNvPr>
          <p:cNvSpPr txBox="1"/>
          <p:nvPr/>
        </p:nvSpPr>
        <p:spPr>
          <a:xfrm>
            <a:off x="2343049" y="2456089"/>
            <a:ext cx="8826697" cy="369332"/>
          </a:xfrm>
          <a:prstGeom prst="rect">
            <a:avLst/>
          </a:prstGeom>
          <a:noFill/>
        </p:spPr>
        <p:txBody>
          <a:bodyPr wrap="square">
            <a:spAutoFit/>
          </a:bodyPr>
          <a:lstStyle/>
          <a:p>
            <a:r>
              <a:rPr lang="en-US" b="0" i="0" dirty="0">
                <a:solidFill>
                  <a:srgbClr val="56595E"/>
                </a:solidFill>
                <a:effectLst/>
                <a:latin typeface="Google Sans"/>
              </a:rPr>
              <a:t>Multiple layers of steel strips (leaves) stacked in an arc shape that bend to absorb impacts</a:t>
            </a:r>
            <a:endParaRPr lang="en-US" dirty="0"/>
          </a:p>
        </p:txBody>
      </p:sp>
      <p:sp>
        <p:nvSpPr>
          <p:cNvPr id="9" name="TextBox 8">
            <a:extLst>
              <a:ext uri="{FF2B5EF4-FFF2-40B4-BE49-F238E27FC236}">
                <a16:creationId xmlns:a16="http://schemas.microsoft.com/office/drawing/2014/main" id="{E0A8D226-623A-D6B9-C390-0399D67FBEBA}"/>
              </a:ext>
            </a:extLst>
          </p:cNvPr>
          <p:cNvSpPr txBox="1"/>
          <p:nvPr/>
        </p:nvSpPr>
        <p:spPr>
          <a:xfrm>
            <a:off x="2343050" y="2937943"/>
            <a:ext cx="8559412" cy="646331"/>
          </a:xfrm>
          <a:prstGeom prst="rect">
            <a:avLst/>
          </a:prstGeom>
          <a:noFill/>
        </p:spPr>
        <p:txBody>
          <a:bodyPr wrap="square">
            <a:spAutoFit/>
          </a:bodyPr>
          <a:lstStyle/>
          <a:p>
            <a:r>
              <a:rPr lang="en-US" b="0" i="0" dirty="0">
                <a:solidFill>
                  <a:srgbClr val="56595E"/>
                </a:solidFill>
                <a:effectLst/>
                <a:latin typeface="Google Sans"/>
              </a:rPr>
              <a:t>Heavy-duty trucks, commercial vehicles, buses, and older vehicles due to their high load capacity and durability.</a:t>
            </a:r>
            <a:endParaRPr lang="en-US" dirty="0"/>
          </a:p>
        </p:txBody>
      </p:sp>
      <p:pic>
        <p:nvPicPr>
          <p:cNvPr id="11" name="Picture 10">
            <a:extLst>
              <a:ext uri="{FF2B5EF4-FFF2-40B4-BE49-F238E27FC236}">
                <a16:creationId xmlns:a16="http://schemas.microsoft.com/office/drawing/2014/main" id="{76537C8F-9937-D2FB-D675-95220AE526B4}"/>
              </a:ext>
            </a:extLst>
          </p:cNvPr>
          <p:cNvPicPr>
            <a:picLocks noChangeAspect="1"/>
          </p:cNvPicPr>
          <p:nvPr/>
        </p:nvPicPr>
        <p:blipFill>
          <a:blip r:embed="rId5"/>
          <a:stretch>
            <a:fillRect/>
          </a:stretch>
        </p:blipFill>
        <p:spPr>
          <a:xfrm>
            <a:off x="6282290" y="3696796"/>
            <a:ext cx="3916787" cy="1800225"/>
          </a:xfrm>
          <a:prstGeom prst="rect">
            <a:avLst/>
          </a:prstGeom>
        </p:spPr>
      </p:pic>
    </p:spTree>
    <p:custDataLst>
      <p:tags r:id="rId1"/>
    </p:custDataLst>
    <p:extLst>
      <p:ext uri="{BB962C8B-B14F-4D97-AF65-F5344CB8AC3E}">
        <p14:creationId xmlns:p14="http://schemas.microsoft.com/office/powerpoint/2010/main" val="1749820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FDC1-307C-D33F-AA4A-301FB01BFA81}"/>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4EA75910-9309-A339-C7D7-16C2EF5614DE}"/>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EC4F39F3-83A5-5E59-9363-E76060B0306A}"/>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0B538CF-789C-A5D5-2E55-76E672CA7EEF}"/>
              </a:ext>
            </a:extLst>
          </p:cNvPr>
          <p:cNvSpPr txBox="1"/>
          <p:nvPr/>
        </p:nvSpPr>
        <p:spPr>
          <a:xfrm>
            <a:off x="45737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8C28E82F-3C30-8BCE-E13E-16B998C4EDDD}"/>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9C7D8F34-7638-7698-6DC7-5E57940C35A4}"/>
              </a:ext>
            </a:extLst>
          </p:cNvPr>
          <p:cNvSpPr/>
          <p:nvPr/>
        </p:nvSpPr>
        <p:spPr>
          <a:xfrm>
            <a:off x="1086678" y="1782591"/>
            <a:ext cx="7738787" cy="352789"/>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Torsion Bar</a:t>
            </a:r>
          </a:p>
        </p:txBody>
      </p:sp>
      <p:sp>
        <p:nvSpPr>
          <p:cNvPr id="7" name="TextBox 6">
            <a:extLst>
              <a:ext uri="{FF2B5EF4-FFF2-40B4-BE49-F238E27FC236}">
                <a16:creationId xmlns:a16="http://schemas.microsoft.com/office/drawing/2014/main" id="{EC23DDE9-A998-D4DB-3B98-B07E13D3C907}"/>
              </a:ext>
            </a:extLst>
          </p:cNvPr>
          <p:cNvSpPr txBox="1"/>
          <p:nvPr/>
        </p:nvSpPr>
        <p:spPr>
          <a:xfrm>
            <a:off x="2866291" y="1796855"/>
            <a:ext cx="8988861" cy="646331"/>
          </a:xfrm>
          <a:prstGeom prst="rect">
            <a:avLst/>
          </a:prstGeom>
          <a:noFill/>
        </p:spPr>
        <p:txBody>
          <a:bodyPr wrap="square">
            <a:spAutoFit/>
          </a:bodyPr>
          <a:lstStyle/>
          <a:p>
            <a:r>
              <a:rPr lang="en-US" b="0" i="0" dirty="0">
                <a:solidFill>
                  <a:srgbClr val="56595E"/>
                </a:solidFill>
                <a:effectLst/>
                <a:latin typeface="Google Sans"/>
              </a:rPr>
              <a:t>Straight rods of spring steel that twist along their axis to provide spring action. Their height is often adjustable.</a:t>
            </a:r>
            <a:endParaRPr lang="en-US" dirty="0"/>
          </a:p>
        </p:txBody>
      </p:sp>
      <p:sp>
        <p:nvSpPr>
          <p:cNvPr id="12" name="TextBox 11">
            <a:extLst>
              <a:ext uri="{FF2B5EF4-FFF2-40B4-BE49-F238E27FC236}">
                <a16:creationId xmlns:a16="http://schemas.microsoft.com/office/drawing/2014/main" id="{86B16452-4890-90AD-8BC5-634C63333B33}"/>
              </a:ext>
            </a:extLst>
          </p:cNvPr>
          <p:cNvSpPr txBox="1"/>
          <p:nvPr/>
        </p:nvSpPr>
        <p:spPr>
          <a:xfrm>
            <a:off x="2866292" y="2685886"/>
            <a:ext cx="8988860" cy="646331"/>
          </a:xfrm>
          <a:prstGeom prst="rect">
            <a:avLst/>
          </a:prstGeom>
          <a:noFill/>
        </p:spPr>
        <p:txBody>
          <a:bodyPr wrap="square">
            <a:spAutoFit/>
          </a:bodyPr>
          <a:lstStyle/>
          <a:p>
            <a:r>
              <a:rPr lang="en-US" b="0" i="0" dirty="0">
                <a:solidFill>
                  <a:srgbClr val="56595E"/>
                </a:solidFill>
                <a:effectLst/>
                <a:latin typeface="Google Sans"/>
              </a:rPr>
              <a:t>Some SUVs, off-road vehicles, and military vehicles; can also be found in older European and American cars</a:t>
            </a:r>
            <a:endParaRPr lang="en-US" dirty="0"/>
          </a:p>
        </p:txBody>
      </p:sp>
      <p:pic>
        <p:nvPicPr>
          <p:cNvPr id="1026" name="Picture 2" descr="Torsion Bar">
            <a:extLst>
              <a:ext uri="{FF2B5EF4-FFF2-40B4-BE49-F238E27FC236}">
                <a16:creationId xmlns:a16="http://schemas.microsoft.com/office/drawing/2014/main" id="{05E19BF6-5C20-4F7F-48A9-3C0D699A0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7967" y="3640023"/>
            <a:ext cx="6234156" cy="253202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93453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7F2CD-3534-A1B6-DB3B-5229ED1A8C3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EBC96732-824B-8227-253C-6642492AF5A9}"/>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D5C101C6-4151-1989-7FC6-FEE34A372B2F}"/>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DC15B0E-9FAE-7D18-6598-DCCDF9314AF2}"/>
              </a:ext>
            </a:extLst>
          </p:cNvPr>
          <p:cNvSpPr txBox="1"/>
          <p:nvPr/>
        </p:nvSpPr>
        <p:spPr>
          <a:xfrm>
            <a:off x="45737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7089885D-A877-1240-E5A6-39B55B16F455}"/>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35F66C9-4DA0-8CF9-A19F-C1BCAE2F7203}"/>
              </a:ext>
            </a:extLst>
          </p:cNvPr>
          <p:cNvSpPr/>
          <p:nvPr/>
        </p:nvSpPr>
        <p:spPr>
          <a:xfrm>
            <a:off x="1086678" y="1782591"/>
            <a:ext cx="7738787" cy="352789"/>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Air Spring</a:t>
            </a:r>
          </a:p>
        </p:txBody>
      </p:sp>
      <p:sp>
        <p:nvSpPr>
          <p:cNvPr id="5" name="TextBox 4">
            <a:extLst>
              <a:ext uri="{FF2B5EF4-FFF2-40B4-BE49-F238E27FC236}">
                <a16:creationId xmlns:a16="http://schemas.microsoft.com/office/drawing/2014/main" id="{38037C8E-742C-3DBE-F280-216C2D8B11A9}"/>
              </a:ext>
            </a:extLst>
          </p:cNvPr>
          <p:cNvSpPr txBox="1"/>
          <p:nvPr/>
        </p:nvSpPr>
        <p:spPr>
          <a:xfrm>
            <a:off x="2727121" y="1782591"/>
            <a:ext cx="8934996" cy="646331"/>
          </a:xfrm>
          <a:prstGeom prst="rect">
            <a:avLst/>
          </a:prstGeom>
          <a:noFill/>
        </p:spPr>
        <p:txBody>
          <a:bodyPr wrap="square">
            <a:spAutoFit/>
          </a:bodyPr>
          <a:lstStyle/>
          <a:p>
            <a:r>
              <a:rPr lang="en-US" b="0" i="0" dirty="0">
                <a:solidFill>
                  <a:srgbClr val="56595E"/>
                </a:solidFill>
                <a:effectLst/>
                <a:latin typeface="Google Sans"/>
              </a:rPr>
              <a:t>Tough rubber or plastic bladders filled with compressed air that can be inflated or deflated to adjust vehicle height and load capacity</a:t>
            </a:r>
            <a:endParaRPr lang="en-US" dirty="0"/>
          </a:p>
        </p:txBody>
      </p:sp>
      <p:sp>
        <p:nvSpPr>
          <p:cNvPr id="9" name="TextBox 8">
            <a:extLst>
              <a:ext uri="{FF2B5EF4-FFF2-40B4-BE49-F238E27FC236}">
                <a16:creationId xmlns:a16="http://schemas.microsoft.com/office/drawing/2014/main" id="{E3FC39C1-91C4-A4C9-776F-1C3FE5B7F270}"/>
              </a:ext>
            </a:extLst>
          </p:cNvPr>
          <p:cNvSpPr txBox="1"/>
          <p:nvPr/>
        </p:nvSpPr>
        <p:spPr>
          <a:xfrm>
            <a:off x="2727121" y="2473940"/>
            <a:ext cx="8752116" cy="646331"/>
          </a:xfrm>
          <a:prstGeom prst="rect">
            <a:avLst/>
          </a:prstGeom>
          <a:noFill/>
        </p:spPr>
        <p:txBody>
          <a:bodyPr wrap="square">
            <a:spAutoFit/>
          </a:bodyPr>
          <a:lstStyle/>
          <a:p>
            <a:r>
              <a:rPr lang="en-US" b="0" i="0" dirty="0">
                <a:solidFill>
                  <a:srgbClr val="56595E"/>
                </a:solidFill>
                <a:effectLst/>
                <a:latin typeface="Google Sans"/>
              </a:rPr>
              <a:t>Luxury vehicles, buses, and commercial trucks that require self-leveling and enhanced ride comfort</a:t>
            </a:r>
            <a:endParaRPr lang="en-US" dirty="0"/>
          </a:p>
        </p:txBody>
      </p:sp>
      <p:pic>
        <p:nvPicPr>
          <p:cNvPr id="10" name="Picture 9">
            <a:extLst>
              <a:ext uri="{FF2B5EF4-FFF2-40B4-BE49-F238E27FC236}">
                <a16:creationId xmlns:a16="http://schemas.microsoft.com/office/drawing/2014/main" id="{5C4FF043-64EF-0EDD-615E-9DD9FAE6474A}"/>
              </a:ext>
            </a:extLst>
          </p:cNvPr>
          <p:cNvPicPr>
            <a:picLocks noChangeAspect="1"/>
          </p:cNvPicPr>
          <p:nvPr/>
        </p:nvPicPr>
        <p:blipFill>
          <a:blip r:embed="rId5"/>
          <a:stretch>
            <a:fillRect/>
          </a:stretch>
        </p:blipFill>
        <p:spPr>
          <a:xfrm>
            <a:off x="2710375" y="3482032"/>
            <a:ext cx="3385624" cy="2539218"/>
          </a:xfrm>
          <a:prstGeom prst="rect">
            <a:avLst/>
          </a:prstGeom>
        </p:spPr>
      </p:pic>
      <p:pic>
        <p:nvPicPr>
          <p:cNvPr id="11" name="Picture 10">
            <a:extLst>
              <a:ext uri="{FF2B5EF4-FFF2-40B4-BE49-F238E27FC236}">
                <a16:creationId xmlns:a16="http://schemas.microsoft.com/office/drawing/2014/main" id="{61B83B4E-4F93-1D56-6751-1CD2021138E2}"/>
              </a:ext>
            </a:extLst>
          </p:cNvPr>
          <p:cNvPicPr>
            <a:picLocks noChangeAspect="1"/>
          </p:cNvPicPr>
          <p:nvPr/>
        </p:nvPicPr>
        <p:blipFill>
          <a:blip r:embed="rId6"/>
          <a:stretch>
            <a:fillRect/>
          </a:stretch>
        </p:blipFill>
        <p:spPr>
          <a:xfrm>
            <a:off x="6409984" y="3049930"/>
            <a:ext cx="5069253" cy="3737729"/>
          </a:xfrm>
          <a:prstGeom prst="rect">
            <a:avLst/>
          </a:prstGeom>
        </p:spPr>
      </p:pic>
    </p:spTree>
    <p:custDataLst>
      <p:tags r:id="rId1"/>
    </p:custDataLst>
    <p:extLst>
      <p:ext uri="{BB962C8B-B14F-4D97-AF65-F5344CB8AC3E}">
        <p14:creationId xmlns:p14="http://schemas.microsoft.com/office/powerpoint/2010/main" val="243082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D8FA7-9BD0-CE98-09D3-3217CD7BB4D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54FBBD2-9FDA-FEDA-C8F6-B6DAD90C49D3}"/>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8887CAF1-8527-F35C-4CF5-251D3B7A8F91}"/>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B1BA495-6D69-1374-E6A4-97BBC994F5D1}"/>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02CE07B7-992C-D800-0268-8219B9A8D88C}"/>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6F2DDB43-BA03-DBAF-E739-32336F9C1C44}"/>
              </a:ext>
            </a:extLst>
          </p:cNvPr>
          <p:cNvSpPr txBox="1"/>
          <p:nvPr/>
        </p:nvSpPr>
        <p:spPr>
          <a:xfrm>
            <a:off x="457376" y="1910093"/>
            <a:ext cx="10712371"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Shock Absorbers (Dampers):</a:t>
            </a:r>
            <a:r>
              <a:rPr lang="en-US" b="0" i="0" dirty="0">
                <a:solidFill>
                  <a:srgbClr val="0A0A0A"/>
                </a:solidFill>
                <a:effectLst/>
                <a:latin typeface="Google Sans"/>
              </a:rPr>
              <a:t> These hydraulic devices convert the kinetic energy of spring movement into heat, dissipating it and preventing the car from bouncing uncontrollably.</a:t>
            </a:r>
          </a:p>
        </p:txBody>
      </p:sp>
      <p:pic>
        <p:nvPicPr>
          <p:cNvPr id="2" name="Picture 1">
            <a:extLst>
              <a:ext uri="{FF2B5EF4-FFF2-40B4-BE49-F238E27FC236}">
                <a16:creationId xmlns:a16="http://schemas.microsoft.com/office/drawing/2014/main" id="{C5BCFD6E-3C46-C825-A0EA-4FF5721F0C79}"/>
              </a:ext>
            </a:extLst>
          </p:cNvPr>
          <p:cNvPicPr>
            <a:picLocks noChangeAspect="1"/>
          </p:cNvPicPr>
          <p:nvPr/>
        </p:nvPicPr>
        <p:blipFill>
          <a:blip r:embed="rId5"/>
          <a:stretch>
            <a:fillRect/>
          </a:stretch>
        </p:blipFill>
        <p:spPr>
          <a:xfrm>
            <a:off x="4724400" y="2595562"/>
            <a:ext cx="5530948" cy="3087786"/>
          </a:xfrm>
          <a:prstGeom prst="rect">
            <a:avLst/>
          </a:prstGeom>
        </p:spPr>
      </p:pic>
    </p:spTree>
    <p:custDataLst>
      <p:tags r:id="rId1"/>
    </p:custDataLst>
    <p:extLst>
      <p:ext uri="{BB962C8B-B14F-4D97-AF65-F5344CB8AC3E}">
        <p14:creationId xmlns:p14="http://schemas.microsoft.com/office/powerpoint/2010/main" val="363761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EF444-DB2D-A452-6D7B-8C72AACA15B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C360466-3EF3-6951-10BA-27E592084125}"/>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FE3B5E9C-3F33-52CA-D754-7D6D2C2DF3EB}"/>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4F4AD83-A0F5-AE99-21D2-04DE79DA2C1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8C6042DA-9BB5-1D63-C8C9-828B6D3083C7}"/>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9FCBFF95-093C-F211-84BB-28C8CC6DF177}"/>
              </a:ext>
            </a:extLst>
          </p:cNvPr>
          <p:cNvSpPr txBox="1"/>
          <p:nvPr/>
        </p:nvSpPr>
        <p:spPr>
          <a:xfrm>
            <a:off x="457376" y="1910093"/>
            <a:ext cx="10712371"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Struts:</a:t>
            </a:r>
            <a:r>
              <a:rPr lang="en-US" b="0" i="0" dirty="0">
                <a:solidFill>
                  <a:srgbClr val="0A0A0A"/>
                </a:solidFill>
                <a:effectLst/>
                <a:latin typeface="Google Sans"/>
              </a:rPr>
              <a:t> A strut is an assembly that combines a coil spring and a shock absorber into a single structural unit, commonly used in modern passenger vehicles.</a:t>
            </a:r>
          </a:p>
        </p:txBody>
      </p:sp>
      <p:pic>
        <p:nvPicPr>
          <p:cNvPr id="2" name="Picture 1">
            <a:extLst>
              <a:ext uri="{FF2B5EF4-FFF2-40B4-BE49-F238E27FC236}">
                <a16:creationId xmlns:a16="http://schemas.microsoft.com/office/drawing/2014/main" id="{AC692D08-DD6B-B228-9B8F-DDE954DDF969}"/>
              </a:ext>
            </a:extLst>
          </p:cNvPr>
          <p:cNvPicPr>
            <a:picLocks noChangeAspect="1"/>
          </p:cNvPicPr>
          <p:nvPr/>
        </p:nvPicPr>
        <p:blipFill>
          <a:blip r:embed="rId5"/>
          <a:stretch>
            <a:fillRect/>
          </a:stretch>
        </p:blipFill>
        <p:spPr>
          <a:xfrm>
            <a:off x="5356200" y="2696175"/>
            <a:ext cx="4041018" cy="3504451"/>
          </a:xfrm>
          <a:prstGeom prst="rect">
            <a:avLst/>
          </a:prstGeom>
        </p:spPr>
      </p:pic>
    </p:spTree>
    <p:custDataLst>
      <p:tags r:id="rId1"/>
    </p:custDataLst>
    <p:extLst>
      <p:ext uri="{BB962C8B-B14F-4D97-AF65-F5344CB8AC3E}">
        <p14:creationId xmlns:p14="http://schemas.microsoft.com/office/powerpoint/2010/main" val="2274992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1AF5-B542-DE92-DB6A-3EF4B6798CDE}"/>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86B7242-9844-103C-C575-E56358A0AF77}"/>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355A330D-66BA-04B6-6A27-8BCB0DEC3250}"/>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5181494-0C97-298E-35DA-1311CCCAC599}"/>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630429D0-C369-1003-AF8E-0861FC12DD66}"/>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118B04CD-0AB0-4C72-2597-48FB36ACCFE5}"/>
              </a:ext>
            </a:extLst>
          </p:cNvPr>
          <p:cNvSpPr txBox="1"/>
          <p:nvPr/>
        </p:nvSpPr>
        <p:spPr>
          <a:xfrm>
            <a:off x="457376" y="1910093"/>
            <a:ext cx="10712371"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Control Arms (Wishbones):</a:t>
            </a:r>
            <a:r>
              <a:rPr lang="en-US" b="0" i="0" dirty="0">
                <a:solidFill>
                  <a:srgbClr val="0A0A0A"/>
                </a:solidFill>
                <a:effectLst/>
                <a:latin typeface="Google Sans"/>
              </a:rPr>
              <a:t> These movable links connect the steering knuckle/wheel hub to the vehicle's frame, guiding the wheels' up-and-down motion and maintaining proper alignment.</a:t>
            </a:r>
          </a:p>
        </p:txBody>
      </p:sp>
      <p:pic>
        <p:nvPicPr>
          <p:cNvPr id="2" name="Picture 1">
            <a:extLst>
              <a:ext uri="{FF2B5EF4-FFF2-40B4-BE49-F238E27FC236}">
                <a16:creationId xmlns:a16="http://schemas.microsoft.com/office/drawing/2014/main" id="{D0CCC06A-BE63-7CB9-E294-98FBF44B22DA}"/>
              </a:ext>
            </a:extLst>
          </p:cNvPr>
          <p:cNvPicPr>
            <a:picLocks noChangeAspect="1"/>
          </p:cNvPicPr>
          <p:nvPr/>
        </p:nvPicPr>
        <p:blipFill>
          <a:blip r:embed="rId5"/>
          <a:stretch>
            <a:fillRect/>
          </a:stretch>
        </p:blipFill>
        <p:spPr>
          <a:xfrm>
            <a:off x="3665660" y="2646806"/>
            <a:ext cx="5745627" cy="3000815"/>
          </a:xfrm>
          <a:prstGeom prst="rect">
            <a:avLst/>
          </a:prstGeom>
        </p:spPr>
      </p:pic>
    </p:spTree>
    <p:custDataLst>
      <p:tags r:id="rId1"/>
    </p:custDataLst>
    <p:extLst>
      <p:ext uri="{BB962C8B-B14F-4D97-AF65-F5344CB8AC3E}">
        <p14:creationId xmlns:p14="http://schemas.microsoft.com/office/powerpoint/2010/main" val="277047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474CD-B693-0842-1AC5-B3A99EAB0F49}"/>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D5FB58F-EA1A-6CE6-3FF5-4AA3F644FC0C}"/>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908597EF-25C3-0DF0-52AD-8DB1382A3E8F}"/>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8421B41-4102-1C53-A93E-BEDDDE08B58A}"/>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2A15B684-7EE2-E251-E6FC-F095016DF0C7}"/>
              </a:ext>
            </a:extLst>
          </p:cNvPr>
          <p:cNvSpPr/>
          <p:nvPr/>
        </p:nvSpPr>
        <p:spPr>
          <a:xfrm>
            <a:off x="1086678" y="1414407"/>
            <a:ext cx="7738787" cy="813300"/>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Single Wishbone (MacPherson Strut) Suspension</a:t>
            </a:r>
          </a:p>
          <a:p>
            <a:pPr marL="285750" indent="-285750">
              <a:lnSpc>
                <a:spcPct val="115000"/>
              </a:lnSpc>
              <a:spcAft>
                <a:spcPts val="800"/>
              </a:spcAft>
              <a:buFont typeface="Wingdings" panose="05000000000000000000" pitchFamily="2" charset="2"/>
              <a:buChar char="Ø"/>
            </a:pPr>
            <a:r>
              <a:rPr lang="en-US" b="1" dirty="0"/>
              <a:t>Double Wishbone Suspension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1ED1BE80-950F-0E19-A0FE-8EFEE52B7BBA}"/>
              </a:ext>
            </a:extLst>
          </p:cNvPr>
          <p:cNvSpPr txBox="1"/>
          <p:nvPr/>
        </p:nvSpPr>
        <p:spPr>
          <a:xfrm>
            <a:off x="1086678" y="2460910"/>
            <a:ext cx="10265950" cy="646331"/>
          </a:xfrm>
          <a:prstGeom prst="rect">
            <a:avLst/>
          </a:prstGeom>
          <a:noFill/>
        </p:spPr>
        <p:txBody>
          <a:bodyPr wrap="square">
            <a:spAutoFit/>
          </a:bodyPr>
          <a:lstStyle/>
          <a:p>
            <a:r>
              <a:rPr lang="en-US" b="0" i="0" dirty="0">
                <a:solidFill>
                  <a:srgbClr val="0A0A0A"/>
                </a:solidFill>
                <a:effectLst/>
                <a:latin typeface="Google Sans"/>
              </a:rPr>
              <a:t>The most common single wishbone implementation is the MacPherson strut, which uses a single lower control arm (wishbone) and a combined shock absorber/spring assembly that also serves as a steering pivot.</a:t>
            </a:r>
            <a:endParaRPr lang="en-US" dirty="0"/>
          </a:p>
        </p:txBody>
      </p:sp>
      <p:pic>
        <p:nvPicPr>
          <p:cNvPr id="10" name="Picture 9">
            <a:extLst>
              <a:ext uri="{FF2B5EF4-FFF2-40B4-BE49-F238E27FC236}">
                <a16:creationId xmlns:a16="http://schemas.microsoft.com/office/drawing/2014/main" id="{546C0EA2-A0C8-59DB-086C-CFDCD583E48A}"/>
              </a:ext>
            </a:extLst>
          </p:cNvPr>
          <p:cNvPicPr>
            <a:picLocks noChangeAspect="1"/>
          </p:cNvPicPr>
          <p:nvPr/>
        </p:nvPicPr>
        <p:blipFill>
          <a:blip r:embed="rId5"/>
          <a:stretch>
            <a:fillRect/>
          </a:stretch>
        </p:blipFill>
        <p:spPr>
          <a:xfrm>
            <a:off x="6505136" y="3750760"/>
            <a:ext cx="4298852" cy="2749266"/>
          </a:xfrm>
          <a:prstGeom prst="rect">
            <a:avLst/>
          </a:prstGeom>
        </p:spPr>
      </p:pic>
    </p:spTree>
    <p:custDataLst>
      <p:tags r:id="rId1"/>
    </p:custDataLst>
    <p:extLst>
      <p:ext uri="{BB962C8B-B14F-4D97-AF65-F5344CB8AC3E}">
        <p14:creationId xmlns:p14="http://schemas.microsoft.com/office/powerpoint/2010/main" val="807712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5A49B-8011-BE7E-B08D-B5B8BF4DB2C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3F8CC530-F93B-B9D0-AAB0-C69116AD43DE}"/>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BE44BDD2-36CA-2083-D897-E36A862496D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E366EC2B-4193-B73B-F043-F5735D45DC4F}"/>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F9838F63-5333-E030-779F-CB673928E83E}"/>
              </a:ext>
            </a:extLst>
          </p:cNvPr>
          <p:cNvSpPr/>
          <p:nvPr/>
        </p:nvSpPr>
        <p:spPr>
          <a:xfrm>
            <a:off x="1086678" y="1414407"/>
            <a:ext cx="7738787" cy="813300"/>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Single Wishbone (MacPherson Strut) Suspension</a:t>
            </a:r>
          </a:p>
          <a:p>
            <a:pPr marL="285750" indent="-285750">
              <a:lnSpc>
                <a:spcPct val="115000"/>
              </a:lnSpc>
              <a:spcAft>
                <a:spcPts val="800"/>
              </a:spcAft>
              <a:buFont typeface="Wingdings" panose="05000000000000000000" pitchFamily="2" charset="2"/>
              <a:buChar char="Ø"/>
            </a:pPr>
            <a:r>
              <a:rPr lang="en-US" b="1" dirty="0"/>
              <a:t>Double Wishbone Suspension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31BF0990-79CD-8FCE-D20F-18413EB19D94}"/>
              </a:ext>
            </a:extLst>
          </p:cNvPr>
          <p:cNvSpPr txBox="1"/>
          <p:nvPr/>
        </p:nvSpPr>
        <p:spPr>
          <a:xfrm>
            <a:off x="1086677" y="2460910"/>
            <a:ext cx="10462897" cy="646331"/>
          </a:xfrm>
          <a:prstGeom prst="rect">
            <a:avLst/>
          </a:prstGeom>
          <a:noFill/>
        </p:spPr>
        <p:txBody>
          <a:bodyPr wrap="square">
            <a:spAutoFit/>
          </a:bodyPr>
          <a:lstStyle/>
          <a:p>
            <a:r>
              <a:rPr lang="en-US" b="0" i="0" dirty="0">
                <a:solidFill>
                  <a:srgbClr val="0A0A0A"/>
                </a:solidFill>
                <a:effectLst/>
                <a:latin typeface="Google Sans"/>
              </a:rPr>
              <a:t>The double wishbone suspension system uses two control arms (also known as A-arms) to connect the wheel hub to the vehicle's chassis, providing precise control over wheel movement and superior handling.</a:t>
            </a:r>
            <a:endParaRPr lang="en-US" dirty="0"/>
          </a:p>
        </p:txBody>
      </p:sp>
      <p:pic>
        <p:nvPicPr>
          <p:cNvPr id="7" name="Picture 6">
            <a:extLst>
              <a:ext uri="{FF2B5EF4-FFF2-40B4-BE49-F238E27FC236}">
                <a16:creationId xmlns:a16="http://schemas.microsoft.com/office/drawing/2014/main" id="{F0981DFA-822F-AA16-1405-978D0F73597B}"/>
              </a:ext>
            </a:extLst>
          </p:cNvPr>
          <p:cNvPicPr>
            <a:picLocks noChangeAspect="1"/>
          </p:cNvPicPr>
          <p:nvPr/>
        </p:nvPicPr>
        <p:blipFill>
          <a:blip r:embed="rId5"/>
          <a:stretch>
            <a:fillRect/>
          </a:stretch>
        </p:blipFill>
        <p:spPr>
          <a:xfrm>
            <a:off x="6808763" y="3854754"/>
            <a:ext cx="3487763" cy="2517911"/>
          </a:xfrm>
          <a:prstGeom prst="rect">
            <a:avLst/>
          </a:prstGeom>
        </p:spPr>
      </p:pic>
    </p:spTree>
    <p:custDataLst>
      <p:tags r:id="rId1"/>
    </p:custDataLst>
    <p:extLst>
      <p:ext uri="{BB962C8B-B14F-4D97-AF65-F5344CB8AC3E}">
        <p14:creationId xmlns:p14="http://schemas.microsoft.com/office/powerpoint/2010/main" val="605800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3CB5-F5E2-1AA1-CD5D-AA98C421DDF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57BA713-6F73-1618-1BE3-1DA08FB97CF1}"/>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smtClean="0"/>
              <a:t>Chapter 16 </a:t>
            </a:r>
            <a:r>
              <a:rPr lang="en-US" b="1" dirty="0"/>
              <a:t>Suspension system</a:t>
            </a:r>
          </a:p>
        </p:txBody>
      </p:sp>
      <p:sp>
        <p:nvSpPr>
          <p:cNvPr id="22" name="文本框 21">
            <a:extLst>
              <a:ext uri="{FF2B5EF4-FFF2-40B4-BE49-F238E27FC236}">
                <a16:creationId xmlns:a16="http://schemas.microsoft.com/office/drawing/2014/main" id="{912C7EA6-D41B-2C93-FC18-95B5B466A889}"/>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4A0825AC-CC3E-2E7A-C36D-8402A569FB4E}"/>
              </a:ext>
            </a:extLst>
          </p:cNvPr>
          <p:cNvSpPr txBox="1"/>
          <p:nvPr/>
        </p:nvSpPr>
        <p:spPr>
          <a:xfrm>
            <a:off x="792481" y="595714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2726F62E-A5C8-885B-BEAB-44422AF334E6}"/>
              </a:ext>
            </a:extLst>
          </p:cNvPr>
          <p:cNvSpPr/>
          <p:nvPr/>
        </p:nvSpPr>
        <p:spPr>
          <a:xfrm>
            <a:off x="1086678" y="1414407"/>
            <a:ext cx="7738787" cy="813300"/>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Single Wishbone (MacPherson Strut) Suspension</a:t>
            </a:r>
          </a:p>
          <a:p>
            <a:pPr marL="285750" indent="-285750">
              <a:lnSpc>
                <a:spcPct val="115000"/>
              </a:lnSpc>
              <a:spcAft>
                <a:spcPts val="800"/>
              </a:spcAft>
              <a:buFont typeface="Wingdings" panose="05000000000000000000" pitchFamily="2" charset="2"/>
              <a:buChar char="Ø"/>
            </a:pPr>
            <a:r>
              <a:rPr lang="en-US" b="1" dirty="0"/>
              <a:t>Double Wishbone Suspension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2FE01F85-83E9-BCAD-2301-C3FE116917A6}"/>
              </a:ext>
            </a:extLst>
          </p:cNvPr>
          <p:cNvSpPr txBox="1"/>
          <p:nvPr/>
        </p:nvSpPr>
        <p:spPr>
          <a:xfrm>
            <a:off x="1086678" y="2228746"/>
            <a:ext cx="6098344" cy="369332"/>
          </a:xfrm>
          <a:prstGeom prst="rect">
            <a:avLst/>
          </a:prstGeom>
          <a:noFill/>
        </p:spPr>
        <p:txBody>
          <a:bodyPr wrap="square">
            <a:spAutoFit/>
          </a:bodyPr>
          <a:lstStyle/>
          <a:p>
            <a:r>
              <a:rPr lang="en-US" b="1" i="0" dirty="0">
                <a:solidFill>
                  <a:srgbClr val="0A0A0A"/>
                </a:solidFill>
                <a:effectLst/>
                <a:latin typeface="Google Sans"/>
              </a:rPr>
              <a:t>Double Wishbone Suspension Advantages</a:t>
            </a:r>
            <a:endParaRPr lang="en-US" dirty="0"/>
          </a:p>
        </p:txBody>
      </p:sp>
      <p:sp>
        <p:nvSpPr>
          <p:cNvPr id="11" name="TextBox 10">
            <a:extLst>
              <a:ext uri="{FF2B5EF4-FFF2-40B4-BE49-F238E27FC236}">
                <a16:creationId xmlns:a16="http://schemas.microsoft.com/office/drawing/2014/main" id="{21EB2AEE-736A-82B9-CE97-1B2A6FE6C942}"/>
              </a:ext>
            </a:extLst>
          </p:cNvPr>
          <p:cNvSpPr txBox="1"/>
          <p:nvPr/>
        </p:nvSpPr>
        <p:spPr>
          <a:xfrm>
            <a:off x="946002" y="2678214"/>
            <a:ext cx="10505100" cy="788036"/>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Superior Handling and Stability</a:t>
            </a:r>
            <a:r>
              <a:rPr lang="en-US" b="0" i="0" dirty="0">
                <a:solidFill>
                  <a:srgbClr val="0A0A0A"/>
                </a:solidFill>
                <a:effectLst/>
                <a:latin typeface="Google Sans"/>
              </a:rPr>
              <a:t>: The design allows engineers to optimize the wheel's geometry (camber, caster, etc.) throughout its travel, ensuring a consistent and optimal tire contact patch with the road. This results in better grip, enhanced handling, and improved stability, especially during cornering.</a:t>
            </a:r>
          </a:p>
        </p:txBody>
      </p:sp>
      <p:sp>
        <p:nvSpPr>
          <p:cNvPr id="13" name="TextBox 12">
            <a:extLst>
              <a:ext uri="{FF2B5EF4-FFF2-40B4-BE49-F238E27FC236}">
                <a16:creationId xmlns:a16="http://schemas.microsoft.com/office/drawing/2014/main" id="{9069F654-7036-4AE0-C48D-A34037A71CF1}"/>
              </a:ext>
            </a:extLst>
          </p:cNvPr>
          <p:cNvSpPr txBox="1"/>
          <p:nvPr/>
        </p:nvSpPr>
        <p:spPr>
          <a:xfrm>
            <a:off x="946001" y="3546386"/>
            <a:ext cx="10716115"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Improved Ride Comfort</a:t>
            </a:r>
            <a:r>
              <a:rPr lang="en-US" b="0" i="0" dirty="0">
                <a:solidFill>
                  <a:srgbClr val="0A0A0A"/>
                </a:solidFill>
                <a:effectLst/>
                <a:latin typeface="Google Sans"/>
              </a:rPr>
              <a:t>: By effectively absorbing shocks and vibrations and controlling individual wheel movement, the system provides a smoother, more comfortable ride on various road surfaces.</a:t>
            </a:r>
          </a:p>
        </p:txBody>
      </p:sp>
      <p:sp>
        <p:nvSpPr>
          <p:cNvPr id="15" name="TextBox 14">
            <a:extLst>
              <a:ext uri="{FF2B5EF4-FFF2-40B4-BE49-F238E27FC236}">
                <a16:creationId xmlns:a16="http://schemas.microsoft.com/office/drawing/2014/main" id="{C9B3D7F0-42D2-3167-C5E7-891A7661E423}"/>
              </a:ext>
            </a:extLst>
          </p:cNvPr>
          <p:cNvSpPr txBox="1"/>
          <p:nvPr/>
        </p:nvSpPr>
        <p:spPr>
          <a:xfrm>
            <a:off x="946000" y="4129892"/>
            <a:ext cx="10716115" cy="646331"/>
          </a:xfrm>
          <a:prstGeom prst="rect">
            <a:avLst/>
          </a:prstGeom>
          <a:noFill/>
        </p:spPr>
        <p:txBody>
          <a:bodyPr wrap="square">
            <a:spAutoFit/>
          </a:bodyPr>
          <a:lstStyle/>
          <a:p>
            <a:r>
              <a:rPr lang="en-US" b="1" i="0" dirty="0">
                <a:solidFill>
                  <a:srgbClr val="0A0A0A"/>
                </a:solidFill>
                <a:effectLst/>
                <a:latin typeface="Google Sans"/>
              </a:rPr>
              <a:t>Design Flexibility and Tunability</a:t>
            </a:r>
            <a:r>
              <a:rPr lang="en-US" b="0" i="0" dirty="0">
                <a:solidFill>
                  <a:srgbClr val="0A0A0A"/>
                </a:solidFill>
                <a:effectLst/>
                <a:latin typeface="Google Sans"/>
              </a:rPr>
              <a:t>: Engineers have more design choices and can easily tune parameters for specific applications (e.g., racing, luxury comfort), as the effect of moving each joint is predictable</a:t>
            </a:r>
            <a:endParaRPr lang="en-US" dirty="0"/>
          </a:p>
        </p:txBody>
      </p:sp>
      <p:sp>
        <p:nvSpPr>
          <p:cNvPr id="17" name="TextBox 16">
            <a:extLst>
              <a:ext uri="{FF2B5EF4-FFF2-40B4-BE49-F238E27FC236}">
                <a16:creationId xmlns:a16="http://schemas.microsoft.com/office/drawing/2014/main" id="{7946DAC0-D279-1A08-D003-E60BFA9DE713}"/>
              </a:ext>
            </a:extLst>
          </p:cNvPr>
          <p:cNvSpPr txBox="1"/>
          <p:nvPr/>
        </p:nvSpPr>
        <p:spPr>
          <a:xfrm>
            <a:off x="946000" y="4905017"/>
            <a:ext cx="10378492" cy="646331"/>
          </a:xfrm>
          <a:prstGeom prst="rect">
            <a:avLst/>
          </a:prstGeom>
          <a:noFill/>
        </p:spPr>
        <p:txBody>
          <a:bodyPr wrap="square">
            <a:spAutoFit/>
          </a:bodyPr>
          <a:lstStyle/>
          <a:p>
            <a:r>
              <a:rPr lang="en-US" b="1" i="0" dirty="0">
                <a:solidFill>
                  <a:srgbClr val="0A0A0A"/>
                </a:solidFill>
                <a:effectLst/>
                <a:latin typeface="Google Sans"/>
              </a:rPr>
              <a:t>Durability</a:t>
            </a:r>
            <a:r>
              <a:rPr lang="en-US" b="0" i="0" dirty="0">
                <a:solidFill>
                  <a:srgbClr val="0A0A0A"/>
                </a:solidFill>
                <a:effectLst/>
                <a:latin typeface="Google Sans"/>
              </a:rPr>
              <a:t>: The even distribution of load throughout the components contributes to the system's overall durability and strength</a:t>
            </a:r>
            <a:endParaRPr lang="en-US" dirty="0"/>
          </a:p>
        </p:txBody>
      </p:sp>
      <p:sp>
        <p:nvSpPr>
          <p:cNvPr id="19" name="TextBox 18">
            <a:extLst>
              <a:ext uri="{FF2B5EF4-FFF2-40B4-BE49-F238E27FC236}">
                <a16:creationId xmlns:a16="http://schemas.microsoft.com/office/drawing/2014/main" id="{4067588D-EE87-0362-36F8-05D696B8F5F7}"/>
              </a:ext>
            </a:extLst>
          </p:cNvPr>
          <p:cNvSpPr txBox="1"/>
          <p:nvPr/>
        </p:nvSpPr>
        <p:spPr>
          <a:xfrm>
            <a:off x="945999" y="5551348"/>
            <a:ext cx="10814591" cy="369332"/>
          </a:xfrm>
          <a:prstGeom prst="rect">
            <a:avLst/>
          </a:prstGeom>
          <a:noFill/>
        </p:spPr>
        <p:txBody>
          <a:bodyPr wrap="square">
            <a:spAutoFit/>
          </a:bodyPr>
          <a:lstStyle/>
          <a:p>
            <a:r>
              <a:rPr lang="en-US" b="1" i="0" dirty="0">
                <a:solidFill>
                  <a:srgbClr val="0A0A0A"/>
                </a:solidFill>
                <a:effectLst/>
                <a:latin typeface="Google Sans"/>
              </a:rPr>
              <a:t>Reduced Tire Wear</a:t>
            </a:r>
            <a:r>
              <a:rPr lang="en-US" b="0" i="0" dirty="0">
                <a:solidFill>
                  <a:srgbClr val="0A0A0A"/>
                </a:solidFill>
                <a:effectLst/>
                <a:latin typeface="Google Sans"/>
              </a:rPr>
              <a:t>: By maintaining optimal tire contact, the system helps minimize uneven tire wear over time</a:t>
            </a:r>
            <a:endParaRPr lang="en-US" dirty="0"/>
          </a:p>
        </p:txBody>
      </p:sp>
    </p:spTree>
    <p:custDataLst>
      <p:tags r:id="rId1"/>
    </p:custDataLst>
    <p:extLst>
      <p:ext uri="{BB962C8B-B14F-4D97-AF65-F5344CB8AC3E}">
        <p14:creationId xmlns:p14="http://schemas.microsoft.com/office/powerpoint/2010/main" val="890765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FCF8F-2CB2-A2E0-D07E-81D7A8C1C2AF}"/>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49347BE-0F2B-6FF2-5DEC-D28285528F18}"/>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EC497895-8A7C-D456-DF71-F4AF537628B2}"/>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A0B2EF1-EFCE-B3E4-3114-60705D6FDBC8}"/>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2F0D0F4A-532E-8785-9E07-A1C885622DC6}"/>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2173D181-F8A3-FF90-9862-DA4053842C83}"/>
              </a:ext>
            </a:extLst>
          </p:cNvPr>
          <p:cNvSpPr txBox="1"/>
          <p:nvPr/>
        </p:nvSpPr>
        <p:spPr>
          <a:xfrm>
            <a:off x="457376" y="1910093"/>
            <a:ext cx="10712371"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Sway Bars (Anti-roll bars):</a:t>
            </a:r>
            <a:r>
              <a:rPr lang="en-US" b="0" i="0" dirty="0">
                <a:solidFill>
                  <a:srgbClr val="0A0A0A"/>
                </a:solidFill>
                <a:effectLst/>
                <a:latin typeface="Google Sans"/>
              </a:rPr>
              <a:t> These metal rods connect the left and right suspension components to reduce body roll and keep the car level during turns.</a:t>
            </a:r>
          </a:p>
        </p:txBody>
      </p:sp>
      <p:pic>
        <p:nvPicPr>
          <p:cNvPr id="2" name="Picture 1">
            <a:extLst>
              <a:ext uri="{FF2B5EF4-FFF2-40B4-BE49-F238E27FC236}">
                <a16:creationId xmlns:a16="http://schemas.microsoft.com/office/drawing/2014/main" id="{C7DDF4A2-E56D-049E-AE2F-503E625B4FE6}"/>
              </a:ext>
            </a:extLst>
          </p:cNvPr>
          <p:cNvPicPr>
            <a:picLocks noChangeAspect="1"/>
          </p:cNvPicPr>
          <p:nvPr/>
        </p:nvPicPr>
        <p:blipFill>
          <a:blip r:embed="rId5"/>
          <a:stretch>
            <a:fillRect/>
          </a:stretch>
        </p:blipFill>
        <p:spPr>
          <a:xfrm>
            <a:off x="4743450" y="2586037"/>
            <a:ext cx="5132070" cy="3198508"/>
          </a:xfrm>
          <a:prstGeom prst="rect">
            <a:avLst/>
          </a:prstGeom>
        </p:spPr>
      </p:pic>
    </p:spTree>
    <p:custDataLst>
      <p:tags r:id="rId1"/>
    </p:custDataLst>
    <p:extLst>
      <p:ext uri="{BB962C8B-B14F-4D97-AF65-F5344CB8AC3E}">
        <p14:creationId xmlns:p14="http://schemas.microsoft.com/office/powerpoint/2010/main" val="4086442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03EE-4D33-5A11-5CF4-85E79B6BC837}"/>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CE8493EF-A797-BE44-F3CF-215AFEF34051}"/>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5561C5BC-E093-11FF-0214-631FC61E25CB}"/>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0478CC7-8902-646F-7272-50645ED4431E}"/>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6E1134AC-2D40-FC20-47C6-E0600FF585E6}"/>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Main components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FCB59671-A8B8-D84B-B4DF-2276A39E1BFB}"/>
              </a:ext>
            </a:extLst>
          </p:cNvPr>
          <p:cNvSpPr txBox="1"/>
          <p:nvPr/>
        </p:nvSpPr>
        <p:spPr>
          <a:xfrm>
            <a:off x="457376" y="1910093"/>
            <a:ext cx="10712371" cy="557204"/>
          </a:xfrm>
          <a:prstGeom prst="rect">
            <a:avLst/>
          </a:prstGeom>
          <a:noFill/>
        </p:spPr>
        <p:txBody>
          <a:bodyPr wrap="square">
            <a:spAutoFit/>
          </a:bodyPr>
          <a:lstStyle/>
          <a:p>
            <a:pPr algn="l">
              <a:lnSpc>
                <a:spcPts val="1800"/>
              </a:lnSpc>
              <a:spcBef>
                <a:spcPts val="1200"/>
              </a:spcBef>
              <a:spcAft>
                <a:spcPts val="1200"/>
              </a:spcAft>
            </a:pPr>
            <a:r>
              <a:rPr lang="en-US" b="1" i="0" dirty="0">
                <a:solidFill>
                  <a:srgbClr val="0A0A0A"/>
                </a:solidFill>
                <a:effectLst/>
                <a:latin typeface="Google Sans"/>
              </a:rPr>
              <a:t>Ball Joints and Bushings:</a:t>
            </a:r>
            <a:r>
              <a:rPr lang="en-US" b="0" i="0" dirty="0">
                <a:solidFill>
                  <a:srgbClr val="0A0A0A"/>
                </a:solidFill>
                <a:effectLst/>
                <a:latin typeface="Google Sans"/>
              </a:rPr>
              <a:t> These flexible connection points allow components to move smoothly, reduce noise, and absorb minor vibrations</a:t>
            </a:r>
          </a:p>
        </p:txBody>
      </p:sp>
      <p:pic>
        <p:nvPicPr>
          <p:cNvPr id="2" name="Picture 1">
            <a:extLst>
              <a:ext uri="{FF2B5EF4-FFF2-40B4-BE49-F238E27FC236}">
                <a16:creationId xmlns:a16="http://schemas.microsoft.com/office/drawing/2014/main" id="{8BC864F9-7003-5BBF-2E1A-9718EB2ABCDD}"/>
              </a:ext>
            </a:extLst>
          </p:cNvPr>
          <p:cNvPicPr>
            <a:picLocks noChangeAspect="1"/>
          </p:cNvPicPr>
          <p:nvPr/>
        </p:nvPicPr>
        <p:blipFill>
          <a:blip r:embed="rId5"/>
          <a:stretch>
            <a:fillRect/>
          </a:stretch>
        </p:blipFill>
        <p:spPr>
          <a:xfrm>
            <a:off x="5141031" y="2312588"/>
            <a:ext cx="4957940" cy="4156231"/>
          </a:xfrm>
          <a:prstGeom prst="rect">
            <a:avLst/>
          </a:prstGeom>
        </p:spPr>
      </p:pic>
      <p:pic>
        <p:nvPicPr>
          <p:cNvPr id="4" name="Picture 3">
            <a:extLst>
              <a:ext uri="{FF2B5EF4-FFF2-40B4-BE49-F238E27FC236}">
                <a16:creationId xmlns:a16="http://schemas.microsoft.com/office/drawing/2014/main" id="{E3332C79-A42E-7981-9682-6172663E6826}"/>
              </a:ext>
            </a:extLst>
          </p:cNvPr>
          <p:cNvPicPr>
            <a:picLocks noChangeAspect="1"/>
          </p:cNvPicPr>
          <p:nvPr/>
        </p:nvPicPr>
        <p:blipFill>
          <a:blip r:embed="rId6"/>
          <a:stretch>
            <a:fillRect/>
          </a:stretch>
        </p:blipFill>
        <p:spPr>
          <a:xfrm>
            <a:off x="755406" y="3273694"/>
            <a:ext cx="2381250" cy="1924050"/>
          </a:xfrm>
          <a:prstGeom prst="rect">
            <a:avLst/>
          </a:prstGeom>
        </p:spPr>
      </p:pic>
      <p:pic>
        <p:nvPicPr>
          <p:cNvPr id="5" name="Picture 4">
            <a:extLst>
              <a:ext uri="{FF2B5EF4-FFF2-40B4-BE49-F238E27FC236}">
                <a16:creationId xmlns:a16="http://schemas.microsoft.com/office/drawing/2014/main" id="{B01C0FE4-A272-7487-5471-68B1E5C3C119}"/>
              </a:ext>
            </a:extLst>
          </p:cNvPr>
          <p:cNvPicPr>
            <a:picLocks noChangeAspect="1"/>
          </p:cNvPicPr>
          <p:nvPr/>
        </p:nvPicPr>
        <p:blipFill>
          <a:blip r:embed="rId7"/>
          <a:stretch>
            <a:fillRect/>
          </a:stretch>
        </p:blipFill>
        <p:spPr>
          <a:xfrm>
            <a:off x="3364449" y="2808816"/>
            <a:ext cx="2143125" cy="2143125"/>
          </a:xfrm>
          <a:prstGeom prst="rect">
            <a:avLst/>
          </a:prstGeom>
        </p:spPr>
      </p:pic>
    </p:spTree>
    <p:custDataLst>
      <p:tags r:id="rId1"/>
    </p:custDataLst>
    <p:extLst>
      <p:ext uri="{BB962C8B-B14F-4D97-AF65-F5344CB8AC3E}">
        <p14:creationId xmlns:p14="http://schemas.microsoft.com/office/powerpoint/2010/main" val="2072579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666B-C1F6-DC0F-241E-48E2C694988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24A0C61-12A4-41CD-7BA2-4ABD446FB6D1}"/>
              </a:ext>
            </a:extLst>
          </p:cNvPr>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A63F610D-28BE-E61C-F887-0CD85BCF6FCB}"/>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8CF1C3C-A76B-0AD2-746C-F7471D9A676A}"/>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B1B499F5-95FC-0849-B6A0-C92D569141A2}"/>
              </a:ext>
            </a:extLst>
          </p:cNvPr>
          <p:cNvSpPr/>
          <p:nvPr/>
        </p:nvSpPr>
        <p:spPr>
          <a:xfrm>
            <a:off x="1687845" y="194517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9BD28535-96ED-48E2-1B05-556212459EFC}"/>
              </a:ext>
            </a:extLst>
          </p:cNvPr>
          <p:cNvSpPr txBox="1"/>
          <p:nvPr/>
        </p:nvSpPr>
        <p:spPr>
          <a:xfrm>
            <a:off x="1797146" y="2261354"/>
            <a:ext cx="9724293" cy="646331"/>
          </a:xfrm>
          <a:prstGeom prst="rect">
            <a:avLst/>
          </a:prstGeom>
          <a:noFill/>
        </p:spPr>
        <p:txBody>
          <a:bodyPr wrap="square">
            <a:spAutoFit/>
          </a:bodyPr>
          <a:lstStyle/>
          <a:p>
            <a:r>
              <a:rPr lang="en-US" dirty="0"/>
              <a:t>a complex network of parts like springs, shock absorbers, and linkages that connects the vehicle to its wheels</a:t>
            </a:r>
            <a:r>
              <a:rPr lang="en-US" b="0" i="0" dirty="0">
                <a:solidFill>
                  <a:srgbClr val="0A0A0A"/>
                </a:solidFill>
                <a:effectLst/>
                <a:latin typeface="Google Sans"/>
              </a:rPr>
              <a:t>.</a:t>
            </a:r>
            <a:endParaRPr lang="en-US" dirty="0"/>
          </a:p>
        </p:txBody>
      </p:sp>
      <p:pic>
        <p:nvPicPr>
          <p:cNvPr id="4" name="Online Media 3" title="How a car suspension system works?">
            <a:hlinkClick r:id="" action="ppaction://media"/>
            <a:extLst>
              <a:ext uri="{FF2B5EF4-FFF2-40B4-BE49-F238E27FC236}">
                <a16:creationId xmlns:a16="http://schemas.microsoft.com/office/drawing/2014/main" id="{98715149-4177-8582-B366-3E9991D85756}"/>
              </a:ext>
            </a:extLst>
          </p:cNvPr>
          <p:cNvPicPr>
            <a:picLocks noRot="1" noChangeAspect="1"/>
          </p:cNvPicPr>
          <p:nvPr>
            <a:videoFile r:link="rId4"/>
          </p:nvPr>
        </p:nvPicPr>
        <p:blipFill>
          <a:blip r:embed="rId6"/>
          <a:stretch>
            <a:fillRect/>
          </a:stretch>
        </p:blipFill>
        <p:spPr>
          <a:xfrm>
            <a:off x="4711529" y="2792124"/>
            <a:ext cx="6556692" cy="3704540"/>
          </a:xfrm>
          <a:prstGeom prst="rect">
            <a:avLst/>
          </a:prstGeom>
        </p:spPr>
      </p:pic>
    </p:spTree>
    <p:custDataLst>
      <p:tags r:id="rId1"/>
    </p:custDataLst>
    <p:extLst>
      <p:ext uri="{BB962C8B-B14F-4D97-AF65-F5344CB8AC3E}">
        <p14:creationId xmlns:p14="http://schemas.microsoft.com/office/powerpoint/2010/main" val="81116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F8CDF-3BE2-E7BC-30DA-5B3A5216A879}"/>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6E8E972C-3980-7CE9-C90E-262F040631AC}"/>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ECF21276-636F-54AF-7691-36520FB36DCF}"/>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4CEC459-37DC-3661-87DC-29AAA08B764A}"/>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5C9DAD73-FD05-31D6-13C7-3B9A33604C8F}"/>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6F5F83F-2664-8968-64AB-087C1C7F243B}"/>
              </a:ext>
            </a:extLst>
          </p:cNvPr>
          <p:cNvSpPr txBox="1"/>
          <p:nvPr/>
        </p:nvSpPr>
        <p:spPr>
          <a:xfrm>
            <a:off x="1192237" y="1784778"/>
            <a:ext cx="9913084" cy="280076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1" dirty="0"/>
              <a:t>dependent</a:t>
            </a:r>
            <a:r>
              <a:rPr lang="en-US" sz="2000" dirty="0"/>
              <a:t>, semi-independent</a:t>
            </a:r>
          </a:p>
          <a:p>
            <a:pPr marL="285750" indent="-285750">
              <a:buFont typeface="Wingdings" panose="05000000000000000000" pitchFamily="2" charset="2"/>
              <a:buChar char="q"/>
            </a:pPr>
            <a:r>
              <a:rPr lang="en-US" sz="2000" b="1" dirty="0"/>
              <a:t>Independent</a:t>
            </a:r>
            <a:r>
              <a:rPr lang="en-US" sz="2000" b="1" i="0" dirty="0">
                <a:solidFill>
                  <a:srgbClr val="0A0A0A"/>
                </a:solidFill>
                <a:effectLst/>
                <a:latin typeface="Google Sans"/>
              </a:rPr>
              <a:t>, </a:t>
            </a:r>
          </a:p>
          <a:p>
            <a:pPr marL="285750" indent="-285750">
              <a:buFont typeface="Wingdings" panose="05000000000000000000" pitchFamily="2" charset="2"/>
              <a:buChar char="q"/>
            </a:pPr>
            <a:r>
              <a:rPr lang="en-US" sz="2000" b="1" i="0" dirty="0">
                <a:solidFill>
                  <a:srgbClr val="0A0A0A"/>
                </a:solidFill>
                <a:effectLst/>
                <a:latin typeface="Google Sans"/>
              </a:rPr>
              <a:t>MacPherson strut</a:t>
            </a:r>
            <a:r>
              <a:rPr lang="en-US" sz="2000" b="0" i="0" dirty="0">
                <a:solidFill>
                  <a:srgbClr val="0A0A0A"/>
                </a:solidFill>
                <a:effectLst/>
                <a:latin typeface="Google Sans"/>
              </a:rPr>
              <a:t> (a type of independent suspension),</a:t>
            </a:r>
          </a:p>
          <a:p>
            <a:pPr marL="285750" indent="-285750">
              <a:buFont typeface="Wingdings" panose="05000000000000000000" pitchFamily="2" charset="2"/>
              <a:buChar char="q"/>
            </a:pPr>
            <a:r>
              <a:rPr lang="en-US" sz="2000" b="1" dirty="0">
                <a:solidFill>
                  <a:srgbClr val="0A0A0A"/>
                </a:solidFill>
                <a:latin typeface="Google Sans"/>
              </a:rPr>
              <a:t>D</a:t>
            </a:r>
            <a:r>
              <a:rPr lang="en-US" sz="2000" b="1" i="0" dirty="0">
                <a:solidFill>
                  <a:srgbClr val="0A0A0A"/>
                </a:solidFill>
                <a:effectLst/>
                <a:latin typeface="Google Sans"/>
              </a:rPr>
              <a:t>ouble-wishbone</a:t>
            </a:r>
            <a:r>
              <a:rPr lang="en-US" sz="2000" b="0" i="0" dirty="0">
                <a:solidFill>
                  <a:srgbClr val="0A0A0A"/>
                </a:solidFill>
                <a:effectLst/>
                <a:latin typeface="Google Sans"/>
              </a:rPr>
              <a:t> (independent),</a:t>
            </a: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M</a:t>
            </a:r>
            <a:r>
              <a:rPr lang="en-US" sz="2000" b="1" i="0" dirty="0">
                <a:solidFill>
                  <a:srgbClr val="0A0A0A"/>
                </a:solidFill>
                <a:effectLst/>
                <a:latin typeface="Google Sans"/>
              </a:rPr>
              <a:t>ulti-link</a:t>
            </a:r>
            <a:r>
              <a:rPr lang="en-US" sz="2000" b="0" i="0" dirty="0">
                <a:solidFill>
                  <a:srgbClr val="0A0A0A"/>
                </a:solidFill>
                <a:effectLst/>
                <a:latin typeface="Google Sans"/>
              </a:rPr>
              <a:t> (independent),</a:t>
            </a: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L</a:t>
            </a:r>
            <a:r>
              <a:rPr lang="en-US" sz="2000" b="1" i="0" dirty="0">
                <a:solidFill>
                  <a:srgbClr val="0A0A0A"/>
                </a:solidFill>
                <a:effectLst/>
                <a:latin typeface="Google Sans"/>
              </a:rPr>
              <a:t>eaf spring</a:t>
            </a:r>
            <a:r>
              <a:rPr lang="en-US" sz="2000" b="0" i="0" dirty="0">
                <a:solidFill>
                  <a:srgbClr val="0A0A0A"/>
                </a:solidFill>
                <a:effectLst/>
                <a:latin typeface="Google Sans"/>
              </a:rPr>
              <a:t> (dependent), and</a:t>
            </a: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A</a:t>
            </a:r>
            <a:r>
              <a:rPr lang="en-US" sz="2000" b="1" i="0" dirty="0">
                <a:solidFill>
                  <a:srgbClr val="0A0A0A"/>
                </a:solidFill>
                <a:effectLst/>
                <a:latin typeface="Google Sans"/>
              </a:rPr>
              <a:t>ir suspension</a:t>
            </a:r>
            <a:r>
              <a:rPr lang="en-US" sz="2000" b="0" i="0" dirty="0">
                <a:solidFill>
                  <a:srgbClr val="0A0A0A"/>
                </a:solidFill>
                <a:effectLst/>
                <a:latin typeface="Google Sans"/>
              </a:rPr>
              <a:t> (often independent). </a:t>
            </a:r>
            <a:endParaRPr lang="en-US" sz="2000" dirty="0"/>
          </a:p>
        </p:txBody>
      </p:sp>
    </p:spTree>
    <p:custDataLst>
      <p:tags r:id="rId1"/>
    </p:custDataLst>
    <p:extLst>
      <p:ext uri="{BB962C8B-B14F-4D97-AF65-F5344CB8AC3E}">
        <p14:creationId xmlns:p14="http://schemas.microsoft.com/office/powerpoint/2010/main" val="939285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4473F-2291-E020-43F5-F300526C155B}"/>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EF3AA7B-6376-CDAE-5F0D-B601BB20273A}"/>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3F821FDB-C98F-F0D1-803E-ABC5CED84C4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A60F438-9847-C064-D1C0-662B4DF58320}"/>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7A9A2C1A-DEEA-E496-820E-FE3E3A2BF1E4}"/>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0251243-8BC9-79AB-C9BC-C307272E450B}"/>
              </a:ext>
            </a:extLst>
          </p:cNvPr>
          <p:cNvSpPr txBox="1"/>
          <p:nvPr/>
        </p:nvSpPr>
        <p:spPr>
          <a:xfrm>
            <a:off x="1192237" y="1784778"/>
            <a:ext cx="9913084" cy="95410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1" dirty="0"/>
              <a:t>dependent</a:t>
            </a:r>
            <a:r>
              <a:rPr lang="en-US" sz="2000" dirty="0"/>
              <a:t>, semi-independent</a:t>
            </a:r>
          </a:p>
        </p:txBody>
      </p:sp>
      <p:sp>
        <p:nvSpPr>
          <p:cNvPr id="4" name="TextBox 3">
            <a:extLst>
              <a:ext uri="{FF2B5EF4-FFF2-40B4-BE49-F238E27FC236}">
                <a16:creationId xmlns:a16="http://schemas.microsoft.com/office/drawing/2014/main" id="{E0073063-9B83-EAE9-0A9D-C0435354579B}"/>
              </a:ext>
            </a:extLst>
          </p:cNvPr>
          <p:cNvSpPr txBox="1"/>
          <p:nvPr/>
        </p:nvSpPr>
        <p:spPr>
          <a:xfrm>
            <a:off x="1192237" y="2738885"/>
            <a:ext cx="9913084" cy="646331"/>
          </a:xfrm>
          <a:prstGeom prst="rect">
            <a:avLst/>
          </a:prstGeom>
          <a:noFill/>
        </p:spPr>
        <p:txBody>
          <a:bodyPr wrap="square">
            <a:spAutoFit/>
          </a:bodyPr>
          <a:lstStyle/>
          <a:p>
            <a:r>
              <a:rPr lang="en-US" b="1" i="0" dirty="0">
                <a:solidFill>
                  <a:srgbClr val="0A0A0A"/>
                </a:solidFill>
                <a:effectLst/>
                <a:latin typeface="Google Sans"/>
              </a:rPr>
              <a:t>Semi-Independent Suspension:</a:t>
            </a:r>
            <a:r>
              <a:rPr lang="en-US" b="0" i="0" dirty="0">
                <a:solidFill>
                  <a:srgbClr val="0A0A0A"/>
                </a:solidFill>
                <a:effectLst/>
                <a:latin typeface="Google Sans"/>
              </a:rPr>
              <a:t> This is a compromise between dependent and independent systems, where the wheels on one side are connected to the wheels on the other side, but with some flexibility.</a:t>
            </a:r>
            <a:endParaRPr lang="en-US" dirty="0"/>
          </a:p>
        </p:txBody>
      </p:sp>
      <p:pic>
        <p:nvPicPr>
          <p:cNvPr id="5" name="Picture 4">
            <a:extLst>
              <a:ext uri="{FF2B5EF4-FFF2-40B4-BE49-F238E27FC236}">
                <a16:creationId xmlns:a16="http://schemas.microsoft.com/office/drawing/2014/main" id="{47502E8A-248C-CB3F-F857-276D16B4E1A8}"/>
              </a:ext>
            </a:extLst>
          </p:cNvPr>
          <p:cNvPicPr>
            <a:picLocks noChangeAspect="1"/>
          </p:cNvPicPr>
          <p:nvPr/>
        </p:nvPicPr>
        <p:blipFill>
          <a:blip r:embed="rId5"/>
          <a:stretch>
            <a:fillRect/>
          </a:stretch>
        </p:blipFill>
        <p:spPr>
          <a:xfrm>
            <a:off x="3069395" y="3385216"/>
            <a:ext cx="7017140" cy="2628196"/>
          </a:xfrm>
          <a:prstGeom prst="rect">
            <a:avLst/>
          </a:prstGeom>
        </p:spPr>
      </p:pic>
    </p:spTree>
    <p:custDataLst>
      <p:tags r:id="rId1"/>
    </p:custDataLst>
    <p:extLst>
      <p:ext uri="{BB962C8B-B14F-4D97-AF65-F5344CB8AC3E}">
        <p14:creationId xmlns:p14="http://schemas.microsoft.com/office/powerpoint/2010/main" val="1380918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024C0-287E-0790-AB33-F34D8990411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BB3FD79-2F34-8173-6361-430D06455634}"/>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B308C8F5-F819-A83F-7453-9D54E6F5C757}"/>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904F88C-132F-CFE0-FC73-2F9D32A20E66}"/>
              </a:ext>
            </a:extLst>
          </p:cNvPr>
          <p:cNvSpPr txBox="1"/>
          <p:nvPr/>
        </p:nvSpPr>
        <p:spPr>
          <a:xfrm>
            <a:off x="457434" y="6313062"/>
            <a:ext cx="6096000"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44EF851D-B42B-F5BD-2404-22570C377077}"/>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667D90AD-07DB-A8D1-402F-26F63EA510BD}"/>
              </a:ext>
            </a:extLst>
          </p:cNvPr>
          <p:cNvSpPr txBox="1"/>
          <p:nvPr/>
        </p:nvSpPr>
        <p:spPr>
          <a:xfrm>
            <a:off x="1192237" y="1784778"/>
            <a:ext cx="9913084" cy="677108"/>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pPr marL="285750" indent="-285750">
              <a:buFont typeface="Wingdings" panose="05000000000000000000" pitchFamily="2" charset="2"/>
              <a:buChar char="q"/>
            </a:pPr>
            <a:r>
              <a:rPr lang="en-US" sz="2000" b="1" i="0" dirty="0">
                <a:solidFill>
                  <a:srgbClr val="0A0A0A"/>
                </a:solidFill>
                <a:effectLst/>
                <a:latin typeface="Google Sans"/>
              </a:rPr>
              <a:t>MacPherson strut</a:t>
            </a:r>
            <a:r>
              <a:rPr lang="en-US" sz="2000" b="0" i="0" dirty="0">
                <a:solidFill>
                  <a:srgbClr val="0A0A0A"/>
                </a:solidFill>
                <a:effectLst/>
                <a:latin typeface="Google Sans"/>
              </a:rPr>
              <a:t> (a type of independent suspension),</a:t>
            </a:r>
          </a:p>
        </p:txBody>
      </p:sp>
      <p:pic>
        <p:nvPicPr>
          <p:cNvPr id="2" name="Picture 1">
            <a:extLst>
              <a:ext uri="{FF2B5EF4-FFF2-40B4-BE49-F238E27FC236}">
                <a16:creationId xmlns:a16="http://schemas.microsoft.com/office/drawing/2014/main" id="{B86A7AAB-EFE0-3C18-1707-36D710D03FC4}"/>
              </a:ext>
            </a:extLst>
          </p:cNvPr>
          <p:cNvPicPr>
            <a:picLocks noChangeAspect="1"/>
          </p:cNvPicPr>
          <p:nvPr/>
        </p:nvPicPr>
        <p:blipFill>
          <a:blip r:embed="rId6"/>
          <a:stretch>
            <a:fillRect/>
          </a:stretch>
        </p:blipFill>
        <p:spPr>
          <a:xfrm>
            <a:off x="7303820" y="2790383"/>
            <a:ext cx="4518953" cy="2653210"/>
          </a:xfrm>
          <a:prstGeom prst="rect">
            <a:avLst/>
          </a:prstGeom>
        </p:spPr>
      </p:pic>
      <p:pic>
        <p:nvPicPr>
          <p:cNvPr id="4" name="Online Media 3" title="Car Suspension: Macpherson Strut Suspension (2021)">
            <a:hlinkClick r:id="" action="ppaction://media"/>
            <a:extLst>
              <a:ext uri="{FF2B5EF4-FFF2-40B4-BE49-F238E27FC236}">
                <a16:creationId xmlns:a16="http://schemas.microsoft.com/office/drawing/2014/main" id="{34D9D5B7-255C-725A-F790-70B2CDCFE245}"/>
              </a:ext>
            </a:extLst>
          </p:cNvPr>
          <p:cNvPicPr>
            <a:picLocks noRot="1" noChangeAspect="1"/>
          </p:cNvPicPr>
          <p:nvPr>
            <a:videoFile r:link="rId4"/>
          </p:nvPr>
        </p:nvPicPr>
        <p:blipFill>
          <a:blip r:embed="rId7"/>
          <a:stretch>
            <a:fillRect/>
          </a:stretch>
        </p:blipFill>
        <p:spPr>
          <a:xfrm>
            <a:off x="125462" y="2373744"/>
            <a:ext cx="6759945" cy="3819378"/>
          </a:xfrm>
          <a:prstGeom prst="rect">
            <a:avLst/>
          </a:prstGeom>
        </p:spPr>
      </p:pic>
    </p:spTree>
    <p:custDataLst>
      <p:tags r:id="rId1"/>
    </p:custDataLst>
    <p:extLst>
      <p:ext uri="{BB962C8B-B14F-4D97-AF65-F5344CB8AC3E}">
        <p14:creationId xmlns:p14="http://schemas.microsoft.com/office/powerpoint/2010/main" val="289134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EA896-327C-3F6D-40C7-48995B1D05A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A2AC1F8-33E0-7186-5F66-2603C22F028C}"/>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92C1C3E9-BB00-D578-BDBF-F6D3FA4B4606}"/>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B7736B51-9282-A0D3-8BA8-700D640ADD51}"/>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FB4826EB-1397-C33B-79EC-871845675963}"/>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BABBD5F-CDAD-D6BD-4BE3-F0D692BF73C3}"/>
              </a:ext>
            </a:extLst>
          </p:cNvPr>
          <p:cNvSpPr txBox="1"/>
          <p:nvPr/>
        </p:nvSpPr>
        <p:spPr>
          <a:xfrm>
            <a:off x="1192237" y="1784778"/>
            <a:ext cx="9913084" cy="677108"/>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a:t>
            </a:r>
          </a:p>
          <a:p>
            <a:pPr marL="285750" indent="-285750">
              <a:buFont typeface="Wingdings" panose="05000000000000000000" pitchFamily="2" charset="2"/>
              <a:buChar char="q"/>
            </a:pPr>
            <a:r>
              <a:rPr lang="en-US" sz="2000" b="1" dirty="0">
                <a:solidFill>
                  <a:srgbClr val="0A0A0A"/>
                </a:solidFill>
                <a:latin typeface="Google Sans"/>
              </a:rPr>
              <a:t>D</a:t>
            </a:r>
            <a:r>
              <a:rPr lang="en-US" sz="2000" b="1" i="0" dirty="0">
                <a:solidFill>
                  <a:srgbClr val="0A0A0A"/>
                </a:solidFill>
                <a:effectLst/>
                <a:latin typeface="Google Sans"/>
              </a:rPr>
              <a:t>ouble-wishbone</a:t>
            </a:r>
            <a:r>
              <a:rPr lang="en-US" sz="2000" b="0" i="0" dirty="0">
                <a:solidFill>
                  <a:srgbClr val="0A0A0A"/>
                </a:solidFill>
                <a:effectLst/>
                <a:latin typeface="Google Sans"/>
              </a:rPr>
              <a:t> (independent),</a:t>
            </a:r>
          </a:p>
        </p:txBody>
      </p:sp>
      <p:pic>
        <p:nvPicPr>
          <p:cNvPr id="2" name="Picture 1">
            <a:extLst>
              <a:ext uri="{FF2B5EF4-FFF2-40B4-BE49-F238E27FC236}">
                <a16:creationId xmlns:a16="http://schemas.microsoft.com/office/drawing/2014/main" id="{709286F6-4327-0AD3-3155-F96F0C2609C6}"/>
              </a:ext>
            </a:extLst>
          </p:cNvPr>
          <p:cNvPicPr>
            <a:picLocks noChangeAspect="1"/>
          </p:cNvPicPr>
          <p:nvPr/>
        </p:nvPicPr>
        <p:blipFill>
          <a:blip r:embed="rId5"/>
          <a:stretch>
            <a:fillRect/>
          </a:stretch>
        </p:blipFill>
        <p:spPr>
          <a:xfrm>
            <a:off x="6096000" y="3207433"/>
            <a:ext cx="4884161" cy="3122155"/>
          </a:xfrm>
          <a:prstGeom prst="rect">
            <a:avLst/>
          </a:prstGeom>
        </p:spPr>
      </p:pic>
      <p:sp>
        <p:nvSpPr>
          <p:cNvPr id="5" name="TextBox 4">
            <a:extLst>
              <a:ext uri="{FF2B5EF4-FFF2-40B4-BE49-F238E27FC236}">
                <a16:creationId xmlns:a16="http://schemas.microsoft.com/office/drawing/2014/main" id="{866C1CAF-506C-FC94-C699-A84A24A1FB97}"/>
              </a:ext>
            </a:extLst>
          </p:cNvPr>
          <p:cNvSpPr txBox="1"/>
          <p:nvPr/>
        </p:nvSpPr>
        <p:spPr>
          <a:xfrm>
            <a:off x="1192237" y="2516080"/>
            <a:ext cx="6098344" cy="923330"/>
          </a:xfrm>
          <a:prstGeom prst="rect">
            <a:avLst/>
          </a:prstGeom>
          <a:noFill/>
        </p:spPr>
        <p:txBody>
          <a:bodyPr wrap="square">
            <a:spAutoFit/>
          </a:bodyPr>
          <a:lstStyle/>
          <a:p>
            <a:r>
              <a:rPr lang="en-US" dirty="0"/>
              <a:t>an independent suspension system that uses two wishbone-shaped arms to hold each wheel, allowing it to move independently</a:t>
            </a:r>
          </a:p>
        </p:txBody>
      </p:sp>
    </p:spTree>
    <p:custDataLst>
      <p:tags r:id="rId1"/>
    </p:custDataLst>
    <p:extLst>
      <p:ext uri="{BB962C8B-B14F-4D97-AF65-F5344CB8AC3E}">
        <p14:creationId xmlns:p14="http://schemas.microsoft.com/office/powerpoint/2010/main" val="623237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67E0-E9F2-067F-D540-5908375F924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8B19113-6266-84B9-AD05-A2017C4902F4}"/>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640FC803-D7E4-A55F-1369-01FCF81FADB3}"/>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FFEC77F-A78A-D9BB-B16A-AE7677A75B6E}"/>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BF9AD919-9D26-3F85-B9C5-115EA701B023}"/>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69E181-120A-7F8F-F9CF-6B21BA4F002B}"/>
              </a:ext>
            </a:extLst>
          </p:cNvPr>
          <p:cNvSpPr txBox="1"/>
          <p:nvPr/>
        </p:nvSpPr>
        <p:spPr>
          <a:xfrm>
            <a:off x="1192237" y="1784778"/>
            <a:ext cx="9913084" cy="95410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M</a:t>
            </a:r>
            <a:r>
              <a:rPr lang="en-US" sz="2000" b="1" i="0" dirty="0">
                <a:solidFill>
                  <a:srgbClr val="0A0A0A"/>
                </a:solidFill>
                <a:effectLst/>
                <a:latin typeface="Google Sans"/>
              </a:rPr>
              <a:t>ulti-link</a:t>
            </a:r>
            <a:r>
              <a:rPr lang="en-US" sz="2000" b="0" i="0" dirty="0">
                <a:solidFill>
                  <a:srgbClr val="0A0A0A"/>
                </a:solidFill>
                <a:effectLst/>
                <a:latin typeface="Google Sans"/>
              </a:rPr>
              <a:t> (independent),</a:t>
            </a:r>
          </a:p>
        </p:txBody>
      </p:sp>
      <p:sp>
        <p:nvSpPr>
          <p:cNvPr id="4" name="TextBox 3">
            <a:extLst>
              <a:ext uri="{FF2B5EF4-FFF2-40B4-BE49-F238E27FC236}">
                <a16:creationId xmlns:a16="http://schemas.microsoft.com/office/drawing/2014/main" id="{3613AF64-932B-44D0-46BB-E1E36162F10B}"/>
              </a:ext>
            </a:extLst>
          </p:cNvPr>
          <p:cNvSpPr txBox="1"/>
          <p:nvPr/>
        </p:nvSpPr>
        <p:spPr>
          <a:xfrm>
            <a:off x="1192237" y="2836747"/>
            <a:ext cx="6098344" cy="1754326"/>
          </a:xfrm>
          <a:prstGeom prst="rect">
            <a:avLst/>
          </a:prstGeom>
          <a:noFill/>
        </p:spPr>
        <p:txBody>
          <a:bodyPr wrap="square">
            <a:spAutoFit/>
          </a:bodyPr>
          <a:lstStyle/>
          <a:p>
            <a:r>
              <a:rPr lang="en-US" dirty="0"/>
              <a:t>An independent vehicle suspension system that uses three or more control links to connect a wheel to the chassis, allowing for a balance between ride comfort and handling. It provides more flexibility for engineers to tune the suspension's characteristics, such as wheel alignment and stability, compared to simpler systems</a:t>
            </a:r>
          </a:p>
        </p:txBody>
      </p:sp>
      <p:pic>
        <p:nvPicPr>
          <p:cNvPr id="5" name="Picture 4">
            <a:extLst>
              <a:ext uri="{FF2B5EF4-FFF2-40B4-BE49-F238E27FC236}">
                <a16:creationId xmlns:a16="http://schemas.microsoft.com/office/drawing/2014/main" id="{3D191C10-E2B0-7347-0319-399BDAF13A35}"/>
              </a:ext>
            </a:extLst>
          </p:cNvPr>
          <p:cNvPicPr>
            <a:picLocks noChangeAspect="1"/>
          </p:cNvPicPr>
          <p:nvPr/>
        </p:nvPicPr>
        <p:blipFill>
          <a:blip r:embed="rId5"/>
          <a:stretch>
            <a:fillRect/>
          </a:stretch>
        </p:blipFill>
        <p:spPr>
          <a:xfrm>
            <a:off x="7652825" y="2261831"/>
            <a:ext cx="3723250" cy="3429000"/>
          </a:xfrm>
          <a:prstGeom prst="rect">
            <a:avLst/>
          </a:prstGeom>
        </p:spPr>
      </p:pic>
    </p:spTree>
    <p:custDataLst>
      <p:tags r:id="rId1"/>
    </p:custDataLst>
    <p:extLst>
      <p:ext uri="{BB962C8B-B14F-4D97-AF65-F5344CB8AC3E}">
        <p14:creationId xmlns:p14="http://schemas.microsoft.com/office/powerpoint/2010/main" val="2984922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63654-2050-EFEE-CDA6-846D83DCAB6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D86F64-887B-FE69-85BC-7A61645FDC45}"/>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A9A3D6CC-88A6-30B9-25A2-8939D40F8E89}"/>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4DE8A41-D8C2-A281-34AE-A1B7866C6A17}"/>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C0AD32CC-B73E-D5F7-9699-634A7321A314}"/>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874B35A-3215-B234-175D-7D77F67FB143}"/>
              </a:ext>
            </a:extLst>
          </p:cNvPr>
          <p:cNvSpPr txBox="1"/>
          <p:nvPr/>
        </p:nvSpPr>
        <p:spPr>
          <a:xfrm>
            <a:off x="1192237" y="1784778"/>
            <a:ext cx="9913084" cy="95410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L</a:t>
            </a:r>
            <a:r>
              <a:rPr lang="en-US" sz="2000" b="1" i="0" dirty="0">
                <a:solidFill>
                  <a:srgbClr val="0A0A0A"/>
                </a:solidFill>
                <a:effectLst/>
                <a:latin typeface="Google Sans"/>
              </a:rPr>
              <a:t>eaf spring</a:t>
            </a:r>
            <a:r>
              <a:rPr lang="en-US" sz="2000" b="0" i="0" dirty="0">
                <a:solidFill>
                  <a:srgbClr val="0A0A0A"/>
                </a:solidFill>
                <a:effectLst/>
                <a:latin typeface="Google Sans"/>
              </a:rPr>
              <a:t> (dependent), and</a:t>
            </a:r>
          </a:p>
        </p:txBody>
      </p:sp>
      <p:sp>
        <p:nvSpPr>
          <p:cNvPr id="4" name="TextBox 3">
            <a:extLst>
              <a:ext uri="{FF2B5EF4-FFF2-40B4-BE49-F238E27FC236}">
                <a16:creationId xmlns:a16="http://schemas.microsoft.com/office/drawing/2014/main" id="{86A6067F-547D-32EE-C472-CF3660ED4D0D}"/>
              </a:ext>
            </a:extLst>
          </p:cNvPr>
          <p:cNvSpPr txBox="1"/>
          <p:nvPr/>
        </p:nvSpPr>
        <p:spPr>
          <a:xfrm>
            <a:off x="1086678" y="2793079"/>
            <a:ext cx="6098344" cy="2308324"/>
          </a:xfrm>
          <a:prstGeom prst="rect">
            <a:avLst/>
          </a:prstGeom>
          <a:noFill/>
        </p:spPr>
        <p:txBody>
          <a:bodyPr wrap="square">
            <a:spAutoFit/>
          </a:bodyPr>
          <a:lstStyle/>
          <a:p>
            <a:r>
              <a:rPr lang="en-US" dirty="0"/>
              <a:t>a simple, durable vehicle suspension system that uses one or more curved, flexible steel strips ("leaves") to absorb shocks and support the vehicle's weight. This system is commonly found in trucks, trailers, and some SUVs, where its ability to handle heavy loads and withstand rough conditions is beneficial. Leaf springs can be designed for a stiffer ride by using more, thicker leaves or a softer ride with fewer, thinner leaves</a:t>
            </a:r>
          </a:p>
        </p:txBody>
      </p:sp>
      <p:pic>
        <p:nvPicPr>
          <p:cNvPr id="5" name="Picture 4">
            <a:extLst>
              <a:ext uri="{FF2B5EF4-FFF2-40B4-BE49-F238E27FC236}">
                <a16:creationId xmlns:a16="http://schemas.microsoft.com/office/drawing/2014/main" id="{F8E28321-15CC-A8CF-C043-104BBC17AC2F}"/>
              </a:ext>
            </a:extLst>
          </p:cNvPr>
          <p:cNvPicPr>
            <a:picLocks noChangeAspect="1"/>
          </p:cNvPicPr>
          <p:nvPr/>
        </p:nvPicPr>
        <p:blipFill>
          <a:blip r:embed="rId5"/>
          <a:stretch>
            <a:fillRect/>
          </a:stretch>
        </p:blipFill>
        <p:spPr>
          <a:xfrm>
            <a:off x="8398412" y="2391800"/>
            <a:ext cx="3404381" cy="3621611"/>
          </a:xfrm>
          <a:prstGeom prst="rect">
            <a:avLst/>
          </a:prstGeom>
        </p:spPr>
      </p:pic>
    </p:spTree>
    <p:custDataLst>
      <p:tags r:id="rId1"/>
    </p:custDataLst>
    <p:extLst>
      <p:ext uri="{BB962C8B-B14F-4D97-AF65-F5344CB8AC3E}">
        <p14:creationId xmlns:p14="http://schemas.microsoft.com/office/powerpoint/2010/main" val="2751266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6844-F91A-C785-DF49-70F85BC2A25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F5DFED6-ACB4-6E47-B9F0-6F1C7108A1F2}"/>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260DC399-657E-2DC0-2448-39B6DADB71CC}"/>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F3FB7F6-3221-9A54-68B6-89325C5C6FA2}"/>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2229713F-5B81-DFA2-A629-AC860A9E104E}"/>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63E302B-82F6-FD7A-CE5D-E7A682E9FA7F}"/>
              </a:ext>
            </a:extLst>
          </p:cNvPr>
          <p:cNvSpPr txBox="1"/>
          <p:nvPr/>
        </p:nvSpPr>
        <p:spPr>
          <a:xfrm>
            <a:off x="1192237" y="1784778"/>
            <a:ext cx="9913084" cy="95410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A</a:t>
            </a:r>
            <a:r>
              <a:rPr lang="en-US" sz="2000" b="1" i="0" dirty="0">
                <a:solidFill>
                  <a:srgbClr val="0A0A0A"/>
                </a:solidFill>
                <a:effectLst/>
                <a:latin typeface="Google Sans"/>
              </a:rPr>
              <a:t>ir suspension</a:t>
            </a:r>
            <a:r>
              <a:rPr lang="en-US" sz="2000" b="0" i="0" dirty="0">
                <a:solidFill>
                  <a:srgbClr val="0A0A0A"/>
                </a:solidFill>
                <a:effectLst/>
                <a:latin typeface="Google Sans"/>
              </a:rPr>
              <a:t> (often independent). </a:t>
            </a:r>
            <a:endParaRPr lang="en-US" sz="2000" dirty="0"/>
          </a:p>
        </p:txBody>
      </p:sp>
      <p:sp>
        <p:nvSpPr>
          <p:cNvPr id="4" name="TextBox 3">
            <a:extLst>
              <a:ext uri="{FF2B5EF4-FFF2-40B4-BE49-F238E27FC236}">
                <a16:creationId xmlns:a16="http://schemas.microsoft.com/office/drawing/2014/main" id="{8D38A3C4-A8D1-FA00-073B-53839B02257A}"/>
              </a:ext>
            </a:extLst>
          </p:cNvPr>
          <p:cNvSpPr txBox="1"/>
          <p:nvPr/>
        </p:nvSpPr>
        <p:spPr>
          <a:xfrm>
            <a:off x="1192237" y="2767683"/>
            <a:ext cx="10357338" cy="646331"/>
          </a:xfrm>
          <a:prstGeom prst="rect">
            <a:avLst/>
          </a:prstGeom>
          <a:noFill/>
        </p:spPr>
        <p:txBody>
          <a:bodyPr wrap="square">
            <a:spAutoFit/>
          </a:bodyPr>
          <a:lstStyle/>
          <a:p>
            <a:r>
              <a:rPr lang="en-US" dirty="0"/>
              <a:t>An air suspension system is a vehicle suspension that replaces traditional metal springs with air-filled rubber bellows (air springs) to provide a smoother ride and adjustable ride height.</a:t>
            </a:r>
          </a:p>
        </p:txBody>
      </p:sp>
      <p:pic>
        <p:nvPicPr>
          <p:cNvPr id="5" name="Picture 4">
            <a:extLst>
              <a:ext uri="{FF2B5EF4-FFF2-40B4-BE49-F238E27FC236}">
                <a16:creationId xmlns:a16="http://schemas.microsoft.com/office/drawing/2014/main" id="{12B31AEF-1622-74A3-E2FC-EF7CE637836A}"/>
              </a:ext>
            </a:extLst>
          </p:cNvPr>
          <p:cNvPicPr>
            <a:picLocks noChangeAspect="1"/>
          </p:cNvPicPr>
          <p:nvPr/>
        </p:nvPicPr>
        <p:blipFill>
          <a:blip r:embed="rId5"/>
          <a:stretch>
            <a:fillRect/>
          </a:stretch>
        </p:blipFill>
        <p:spPr>
          <a:xfrm>
            <a:off x="1422815" y="3948140"/>
            <a:ext cx="4063585" cy="1638300"/>
          </a:xfrm>
          <a:prstGeom prst="rect">
            <a:avLst/>
          </a:prstGeom>
        </p:spPr>
      </p:pic>
      <p:pic>
        <p:nvPicPr>
          <p:cNvPr id="7" name="Picture 6">
            <a:extLst>
              <a:ext uri="{FF2B5EF4-FFF2-40B4-BE49-F238E27FC236}">
                <a16:creationId xmlns:a16="http://schemas.microsoft.com/office/drawing/2014/main" id="{5FD178D5-F49F-DB20-FF5E-3C0E9D1F3D73}"/>
              </a:ext>
            </a:extLst>
          </p:cNvPr>
          <p:cNvPicPr>
            <a:picLocks noChangeAspect="1"/>
          </p:cNvPicPr>
          <p:nvPr/>
        </p:nvPicPr>
        <p:blipFill>
          <a:blip r:embed="rId6"/>
          <a:stretch>
            <a:fillRect/>
          </a:stretch>
        </p:blipFill>
        <p:spPr>
          <a:xfrm>
            <a:off x="6705601" y="4062440"/>
            <a:ext cx="3000375" cy="1524000"/>
          </a:xfrm>
          <a:prstGeom prst="rect">
            <a:avLst/>
          </a:prstGeom>
        </p:spPr>
      </p:pic>
    </p:spTree>
    <p:custDataLst>
      <p:tags r:id="rId1"/>
    </p:custDataLst>
    <p:extLst>
      <p:ext uri="{BB962C8B-B14F-4D97-AF65-F5344CB8AC3E}">
        <p14:creationId xmlns:p14="http://schemas.microsoft.com/office/powerpoint/2010/main" val="1305308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5A85-B0F0-9F4E-FC98-83F670B46CFF}"/>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6A9973E-9978-6228-1A7C-43DFDC56CDD0}"/>
              </a:ext>
            </a:extLst>
          </p:cNvPr>
          <p:cNvSpPr txBox="1"/>
          <p:nvPr>
            <p:custDataLst>
              <p:tags r:id="rId2"/>
            </p:custDataLst>
          </p:nvPr>
        </p:nvSpPr>
        <p:spPr>
          <a:xfrm>
            <a:off x="1086678" y="1044036"/>
            <a:ext cx="10018643" cy="370371"/>
          </a:xfrm>
          <a:prstGeom prst="rect">
            <a:avLst/>
          </a:prstGeom>
          <a:noFill/>
        </p:spPr>
        <p:txBody>
          <a:bodyPr wrap="square" rtlCol="0">
            <a:noAutofit/>
          </a:bodyPr>
          <a:lstStyle/>
          <a:p>
            <a:r>
              <a:rPr lang="en-US" b="1" dirty="0"/>
              <a:t>Chapter </a:t>
            </a:r>
            <a:r>
              <a:rPr lang="en-US" b="1" dirty="0" smtClean="0"/>
              <a:t>16 Suspension </a:t>
            </a:r>
            <a:r>
              <a:rPr lang="en-US" b="1" dirty="0"/>
              <a:t>system</a:t>
            </a:r>
          </a:p>
        </p:txBody>
      </p:sp>
      <p:sp>
        <p:nvSpPr>
          <p:cNvPr id="22" name="文本框 21">
            <a:extLst>
              <a:ext uri="{FF2B5EF4-FFF2-40B4-BE49-F238E27FC236}">
                <a16:creationId xmlns:a16="http://schemas.microsoft.com/office/drawing/2014/main" id="{BCF4E034-F2EC-960D-B0CD-756035866184}"/>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8C90F53-93F3-95E1-C32C-EA9EE5AFA885}"/>
              </a:ext>
            </a:extLst>
          </p:cNvPr>
          <p:cNvSpPr txBox="1"/>
          <p:nvPr/>
        </p:nvSpPr>
        <p:spPr>
          <a:xfrm>
            <a:off x="609601" y="60134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Rectangle 5">
            <a:extLst>
              <a:ext uri="{FF2B5EF4-FFF2-40B4-BE49-F238E27FC236}">
                <a16:creationId xmlns:a16="http://schemas.microsoft.com/office/drawing/2014/main" id="{1C3EDF3A-748F-1FB6-8099-B98D05859AAB}"/>
              </a:ext>
            </a:extLst>
          </p:cNvPr>
          <p:cNvSpPr/>
          <p:nvPr/>
        </p:nvSpPr>
        <p:spPr>
          <a:xfrm>
            <a:off x="1086678" y="1414407"/>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Different Types of suspension systems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6487175-B08C-6093-9D55-A273D6BFED97}"/>
              </a:ext>
            </a:extLst>
          </p:cNvPr>
          <p:cNvSpPr txBox="1"/>
          <p:nvPr/>
        </p:nvSpPr>
        <p:spPr>
          <a:xfrm>
            <a:off x="1192237" y="1680502"/>
            <a:ext cx="9913084" cy="954107"/>
          </a:xfrm>
          <a:prstGeom prst="rect">
            <a:avLst/>
          </a:prstGeom>
          <a:noFill/>
        </p:spPr>
        <p:txBody>
          <a:bodyPr wrap="square">
            <a:spAutoFit/>
          </a:bodyPr>
          <a:lstStyle/>
          <a:p>
            <a:r>
              <a:rPr lang="en-US" b="0" i="0" dirty="0">
                <a:solidFill>
                  <a:srgbClr val="0A0A0A"/>
                </a:solidFill>
                <a:effectLst/>
                <a:latin typeface="Google Sans"/>
              </a:rPr>
              <a:t>Suspension systems can be broadly categorized as </a:t>
            </a:r>
          </a:p>
          <a:p>
            <a:endParaRPr lang="en-US" b="0" i="0" dirty="0">
              <a:solidFill>
                <a:srgbClr val="0A0A0A"/>
              </a:solidFill>
              <a:effectLst/>
              <a:latin typeface="Google Sans"/>
            </a:endParaRPr>
          </a:p>
          <a:p>
            <a:pPr marL="285750" indent="-285750">
              <a:buFont typeface="Wingdings" panose="05000000000000000000" pitchFamily="2" charset="2"/>
              <a:buChar char="q"/>
            </a:pPr>
            <a:r>
              <a:rPr lang="en-US" sz="2000" b="0" i="0" dirty="0">
                <a:solidFill>
                  <a:srgbClr val="0A0A0A"/>
                </a:solidFill>
                <a:effectLst/>
                <a:latin typeface="Google Sans"/>
              </a:rPr>
              <a:t> </a:t>
            </a:r>
            <a:r>
              <a:rPr lang="en-US" sz="2000" b="1" dirty="0">
                <a:solidFill>
                  <a:srgbClr val="0A0A0A"/>
                </a:solidFill>
                <a:latin typeface="Google Sans"/>
              </a:rPr>
              <a:t>A</a:t>
            </a:r>
            <a:r>
              <a:rPr lang="en-US" sz="2000" b="1" i="0" dirty="0">
                <a:solidFill>
                  <a:srgbClr val="0A0A0A"/>
                </a:solidFill>
                <a:effectLst/>
                <a:latin typeface="Google Sans"/>
              </a:rPr>
              <a:t>ir suspension</a:t>
            </a:r>
            <a:r>
              <a:rPr lang="en-US" sz="2000" b="0" i="0" dirty="0">
                <a:solidFill>
                  <a:srgbClr val="0A0A0A"/>
                </a:solidFill>
                <a:effectLst/>
                <a:latin typeface="Google Sans"/>
              </a:rPr>
              <a:t> (often independent). </a:t>
            </a:r>
            <a:endParaRPr lang="en-US" sz="2000" dirty="0"/>
          </a:p>
        </p:txBody>
      </p:sp>
      <p:sp>
        <p:nvSpPr>
          <p:cNvPr id="4" name="TextBox 3">
            <a:extLst>
              <a:ext uri="{FF2B5EF4-FFF2-40B4-BE49-F238E27FC236}">
                <a16:creationId xmlns:a16="http://schemas.microsoft.com/office/drawing/2014/main" id="{785B9C07-650F-E145-6C0F-74510478A63C}"/>
              </a:ext>
            </a:extLst>
          </p:cNvPr>
          <p:cNvSpPr txBox="1"/>
          <p:nvPr/>
        </p:nvSpPr>
        <p:spPr>
          <a:xfrm>
            <a:off x="1086678" y="2702193"/>
            <a:ext cx="10357338" cy="646331"/>
          </a:xfrm>
          <a:prstGeom prst="rect">
            <a:avLst/>
          </a:prstGeom>
          <a:noFill/>
        </p:spPr>
        <p:txBody>
          <a:bodyPr wrap="square">
            <a:spAutoFit/>
          </a:bodyPr>
          <a:lstStyle/>
          <a:p>
            <a:r>
              <a:rPr lang="en-US" dirty="0"/>
              <a:t>An air suspension system is a vehicle suspension that replaces traditional metal springs with air-filled rubber bellows (air springs) to provide a smoother ride and adjustable ride height.</a:t>
            </a:r>
          </a:p>
        </p:txBody>
      </p:sp>
    </p:spTree>
    <p:custDataLst>
      <p:tags r:id="rId1"/>
    </p:custDataLst>
    <p:extLst>
      <p:ext uri="{BB962C8B-B14F-4D97-AF65-F5344CB8AC3E}">
        <p14:creationId xmlns:p14="http://schemas.microsoft.com/office/powerpoint/2010/main" val="2929020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1027</TotalTime>
  <Words>1062</Words>
  <Application>Microsoft Office PowerPoint</Application>
  <PresentationFormat>Widescreen</PresentationFormat>
  <Paragraphs>193</Paragraphs>
  <Slides>25</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Microsoft YaHei</vt:lpstr>
      <vt:lpstr>SimSun</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231</cp:revision>
  <dcterms:created xsi:type="dcterms:W3CDTF">2019-06-19T02:08:00Z</dcterms:created>
  <dcterms:modified xsi:type="dcterms:W3CDTF">2025-11-26T13:18:32Z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