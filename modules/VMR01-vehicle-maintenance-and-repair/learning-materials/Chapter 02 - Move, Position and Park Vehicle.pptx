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heme/theme2.xml" ContentType="application/vnd.openxmlformats-officedocument.them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8" r:id="rId1"/>
  </p:sldMasterIdLst>
  <p:notesMasterIdLst>
    <p:notesMasterId r:id="rId29"/>
  </p:notesMasterIdLst>
  <p:sldIdLst>
    <p:sldId id="348" r:id="rId2"/>
    <p:sldId id="366" r:id="rId3"/>
    <p:sldId id="367" r:id="rId4"/>
    <p:sldId id="368" r:id="rId5"/>
    <p:sldId id="349" r:id="rId6"/>
    <p:sldId id="350" r:id="rId7"/>
    <p:sldId id="351" r:id="rId8"/>
    <p:sldId id="352" r:id="rId9"/>
    <p:sldId id="353" r:id="rId10"/>
    <p:sldId id="354" r:id="rId11"/>
    <p:sldId id="355" r:id="rId12"/>
    <p:sldId id="356" r:id="rId13"/>
    <p:sldId id="357" r:id="rId14"/>
    <p:sldId id="358" r:id="rId15"/>
    <p:sldId id="359" r:id="rId16"/>
    <p:sldId id="360" r:id="rId17"/>
    <p:sldId id="362" r:id="rId18"/>
    <p:sldId id="373" r:id="rId19"/>
    <p:sldId id="374" r:id="rId20"/>
    <p:sldId id="372" r:id="rId21"/>
    <p:sldId id="370" r:id="rId22"/>
    <p:sldId id="371" r:id="rId23"/>
    <p:sldId id="369" r:id="rId24"/>
    <p:sldId id="363" r:id="rId25"/>
    <p:sldId id="364" r:id="rId26"/>
    <p:sldId id="365" r:id="rId27"/>
    <p:sldId id="295" r:id="rId28"/>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115" d="100"/>
          <a:sy n="115" d="100"/>
        </p:scale>
        <p:origin x="498" y="186"/>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2.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1.png"/><Relationship Id="rId2" Type="http://schemas.openxmlformats.org/officeDocument/2006/relationships/tags" Target="../tags/tag9.xml"/><Relationship Id="rId16" Type="http://schemas.openxmlformats.org/officeDocument/2006/relationships/image" Target="../media/image5.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Master" Target="../slideMasters/slideMaster1.xml"/><Relationship Id="rId5" Type="http://schemas.openxmlformats.org/officeDocument/2006/relationships/tags" Target="../tags/tag12.xml"/><Relationship Id="rId15" Type="http://schemas.openxmlformats.org/officeDocument/2006/relationships/image" Target="../media/image4.png"/><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6.png"/><Relationship Id="rId5" Type="http://schemas.openxmlformats.org/officeDocument/2006/relationships/tags" Target="../tags/tag22.xml"/><Relationship Id="rId10" Type="http://schemas.openxmlformats.org/officeDocument/2006/relationships/image" Target="../media/image1.png"/><Relationship Id="rId4" Type="http://schemas.openxmlformats.org/officeDocument/2006/relationships/tags" Target="../tags/tag21.xml"/><Relationship Id="rId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9.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0" Type="http://schemas.openxmlformats.org/officeDocument/2006/relationships/image" Target="../media/image1.png"/><Relationship Id="rId4" Type="http://schemas.openxmlformats.org/officeDocument/2006/relationships/tags" Target="../tags/tag29.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media/image7.pn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1.png"/><Relationship Id="rId5" Type="http://schemas.openxmlformats.org/officeDocument/2006/relationships/tags" Target="../tags/tag38.xml"/><Relationship Id="rId10"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tags" Target="../tags/tag4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1.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image" Target="../media/image7.png"/><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11.png"/><Relationship Id="rId5" Type="http://schemas.openxmlformats.org/officeDocument/2006/relationships/tags" Target="../tags/tag58.xml"/><Relationship Id="rId10" Type="http://schemas.openxmlformats.org/officeDocument/2006/relationships/image" Target="../media/image10.png"/><Relationship Id="rId4" Type="http://schemas.openxmlformats.org/officeDocument/2006/relationships/tags" Target="../tags/tag57.xml"/><Relationship Id="rId9"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7.png"/><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media/image6.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1.png"/><Relationship Id="rId5" Type="http://schemas.openxmlformats.org/officeDocument/2006/relationships/tags" Target="../tags/tag68.xml"/><Relationship Id="rId10" Type="http://schemas.openxmlformats.org/officeDocument/2006/relationships/slideMaster" Target="../slideMasters/slideMaster1.xml"/><Relationship Id="rId4" Type="http://schemas.openxmlformats.org/officeDocument/2006/relationships/tags" Target="../tags/tag67.xml"/><Relationship Id="rId9"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7.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6.png"/><Relationship Id="rId5" Type="http://schemas.openxmlformats.org/officeDocument/2006/relationships/tags" Target="../tags/tag77.xml"/><Relationship Id="rId10" Type="http://schemas.openxmlformats.org/officeDocument/2006/relationships/image" Target="../media/image1.png"/><Relationship Id="rId4" Type="http://schemas.openxmlformats.org/officeDocument/2006/relationships/tags" Target="../tags/tag76.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image" Target="../media/image7.png"/><Relationship Id="rId5" Type="http://schemas.openxmlformats.org/officeDocument/2006/relationships/tags" Target="../tags/tag85.xml"/><Relationship Id="rId10" Type="http://schemas.openxmlformats.org/officeDocument/2006/relationships/image" Target="../media/image6.png"/><Relationship Id="rId4" Type="http://schemas.openxmlformats.org/officeDocument/2006/relationships/tags" Target="../tags/tag84.xml"/><Relationship Id="rId9"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media/image13.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12.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1.png"/><Relationship Id="rId5" Type="http://schemas.openxmlformats.org/officeDocument/2006/relationships/tags" Target="../tags/tag92.xml"/><Relationship Id="rId10" Type="http://schemas.openxmlformats.org/officeDocument/2006/relationships/slideMaster" Target="../slideMasters/slideMaster1.xml"/><Relationship Id="rId4" Type="http://schemas.openxmlformats.org/officeDocument/2006/relationships/tags" Target="../tags/tag91.xml"/><Relationship Id="rId9" Type="http://schemas.openxmlformats.org/officeDocument/2006/relationships/tags" Target="../tags/tag96.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media/image7.png"/><Relationship Id="rId5" Type="http://schemas.openxmlformats.org/officeDocument/2006/relationships/tags" Target="../tags/tag101.xml"/><Relationship Id="rId10" Type="http://schemas.openxmlformats.org/officeDocument/2006/relationships/image" Target="../media/image6.png"/><Relationship Id="rId4" Type="http://schemas.openxmlformats.org/officeDocument/2006/relationships/tags" Target="../tags/tag100.xml"/><Relationship Id="rId9"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7.png"/><Relationship Id="rId5" Type="http://schemas.openxmlformats.org/officeDocument/2006/relationships/tags" Target="../tags/tag108.xml"/><Relationship Id="rId10" Type="http://schemas.openxmlformats.org/officeDocument/2006/relationships/image" Target="../media/image1.png"/><Relationship Id="rId4" Type="http://schemas.openxmlformats.org/officeDocument/2006/relationships/tags" Target="../tags/tag107.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1.png"/><Relationship Id="rId4" Type="http://schemas.openxmlformats.org/officeDocument/2006/relationships/tags" Target="../tags/tag115.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7.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image" Target="../media/image1.png"/><Relationship Id="rId5" Type="http://schemas.openxmlformats.org/officeDocument/2006/relationships/tags" Target="../tags/tag124.xml"/><Relationship Id="rId10" Type="http://schemas.openxmlformats.org/officeDocument/2006/relationships/slideMaster" Target="../slideMasters/slideMaster1.xml"/><Relationship Id="rId4" Type="http://schemas.openxmlformats.org/officeDocument/2006/relationships/tags" Target="../tags/tag123.xml"/><Relationship Id="rId9" Type="http://schemas.openxmlformats.org/officeDocument/2006/relationships/tags" Target="../tags/tag12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1.png"/><Relationship Id="rId4" Type="http://schemas.openxmlformats.org/officeDocument/2006/relationships/tags" Target="../tags/tag132.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image" Target="../media/image1.png"/><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slideMaster" Target="../slideMasters/slideMaster1.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image" Target="../media/image7.png"/><Relationship Id="rId5" Type="http://schemas.openxmlformats.org/officeDocument/2006/relationships/tags" Target="../tags/tag152.xml"/><Relationship Id="rId10" Type="http://schemas.openxmlformats.org/officeDocument/2006/relationships/image" Target="../media/image1.png"/><Relationship Id="rId4" Type="http://schemas.openxmlformats.org/officeDocument/2006/relationships/tags" Target="../tags/tag151.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JY01_画板 1 副本"/>
          <p:cNvPicPr>
            <a:picLocks noChangeAspect="1"/>
          </p:cNvPicPr>
          <p:nvPr>
            <p:custDataLst>
              <p:tags r:id="rId1"/>
            </p:custDataLst>
          </p:nvPr>
        </p:nvPicPr>
        <p:blipFill>
          <a:blip r:embed="rId12"/>
          <a:stretch>
            <a:fillRect/>
          </a:stretch>
        </p:blipFill>
        <p:spPr>
          <a:xfrm>
            <a:off x="0" y="-5556"/>
            <a:ext cx="12192000" cy="6856730"/>
          </a:xfrm>
          <a:prstGeom prst="rect">
            <a:avLst/>
          </a:prstGeom>
        </p:spPr>
      </p:pic>
      <p:pic>
        <p:nvPicPr>
          <p:cNvPr id="21" name="图片 20" descr="JY01-13"/>
          <p:cNvPicPr>
            <a:picLocks noChangeAspect="1"/>
          </p:cNvPicPr>
          <p:nvPr>
            <p:custDataLst>
              <p:tags r:id="rId2"/>
            </p:custDataLst>
          </p:nvPr>
        </p:nvPicPr>
        <p:blipFill>
          <a:blip r:embed="rId13"/>
          <a:stretch>
            <a:fillRect/>
          </a:stretch>
        </p:blipFill>
        <p:spPr>
          <a:xfrm>
            <a:off x="0" y="0"/>
            <a:ext cx="2032000" cy="1009020"/>
          </a:xfrm>
          <a:prstGeom prst="rect">
            <a:avLst/>
          </a:prstGeom>
        </p:spPr>
      </p:pic>
      <p:pic>
        <p:nvPicPr>
          <p:cNvPr id="23" name="图片 22" descr="JY01-15"/>
          <p:cNvPicPr>
            <a:picLocks noChangeAspect="1"/>
          </p:cNvPicPr>
          <p:nvPr>
            <p:custDataLst>
              <p:tags r:id="rId3"/>
            </p:custDataLst>
          </p:nvPr>
        </p:nvPicPr>
        <p:blipFill>
          <a:blip r:embed="rId14"/>
          <a:stretch>
            <a:fillRect/>
          </a:stretch>
        </p:blipFill>
        <p:spPr>
          <a:xfrm>
            <a:off x="0" y="5611495"/>
            <a:ext cx="1257294" cy="1252220"/>
          </a:xfrm>
          <a:prstGeom prst="rect">
            <a:avLst/>
          </a:prstGeom>
        </p:spPr>
      </p:pic>
      <p:pic>
        <p:nvPicPr>
          <p:cNvPr id="22" name="图片 21" descr="JY01-16"/>
          <p:cNvPicPr>
            <a:picLocks noChangeAspect="1"/>
          </p:cNvPicPr>
          <p:nvPr>
            <p:custDataLst>
              <p:tags r:id="rId4"/>
            </p:custDataLst>
          </p:nvPr>
        </p:nvPicPr>
        <p:blipFill>
          <a:blip r:embed="rId15"/>
          <a:stretch>
            <a:fillRect/>
          </a:stretch>
        </p:blipFill>
        <p:spPr>
          <a:xfrm>
            <a:off x="4790440" y="2028565"/>
            <a:ext cx="7401560" cy="4829423"/>
          </a:xfrm>
          <a:prstGeom prst="rect">
            <a:avLst/>
          </a:prstGeom>
        </p:spPr>
      </p:pic>
      <p:pic>
        <p:nvPicPr>
          <p:cNvPr id="19" name="图片 18" descr="JY01-14"/>
          <p:cNvPicPr>
            <a:picLocks noChangeAspect="1"/>
          </p:cNvPicPr>
          <p:nvPr>
            <p:custDataLst>
              <p:tags r:id="rId5"/>
            </p:custDataLst>
          </p:nvPr>
        </p:nvPicPr>
        <p:blipFill>
          <a:blip r:embed="rId16"/>
          <a:stretch>
            <a:fillRect/>
          </a:stretch>
        </p:blipFill>
        <p:spPr>
          <a:xfrm>
            <a:off x="10250805" y="-24765"/>
            <a:ext cx="1941195" cy="3671639"/>
          </a:xfrm>
          <a:prstGeom prst="rect">
            <a:avLst/>
          </a:prstGeom>
        </p:spPr>
      </p:pic>
      <p:sp>
        <p:nvSpPr>
          <p:cNvPr id="16" name="日期占位符 15"/>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2026/4/21</a:t>
            </a:fld>
            <a:endParaRPr lang="zh-CN" altLang="en-US"/>
          </a:p>
        </p:txBody>
      </p:sp>
      <p:sp>
        <p:nvSpPr>
          <p:cNvPr id="17" name="页脚占位符 16"/>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6" name="标题 5"/>
          <p:cNvSpPr txBox="1">
            <a:spLocks noGrp="1"/>
          </p:cNvSpPr>
          <p:nvPr>
            <p:ph type="title" idx="1" hasCustomPrompt="1"/>
            <p:custDataLst>
              <p:tags r:id="rId9"/>
            </p:custDataLst>
          </p:nvPr>
        </p:nvSpPr>
        <p:spPr>
          <a:xfrm>
            <a:off x="1137137" y="1044416"/>
            <a:ext cx="8927126" cy="3333296"/>
          </a:xfrm>
          <a:noFill/>
        </p:spPr>
        <p:txBody>
          <a:bodyPr wrap="square" rtlCol="0" anchor="ctr" anchorCtr="0">
            <a:normAutofit/>
          </a:bodyPr>
          <a:lstStyle>
            <a:lvl1pPr marL="0" marR="0" algn="l" defTabSz="914400" rtl="0" eaLnBrk="1" fontAlgn="auto" latinLnBrk="0" hangingPunct="1">
              <a:lnSpc>
                <a:spcPct val="110000"/>
              </a:lnSpc>
              <a:buClrTx/>
              <a:buSzTx/>
              <a:buFontTx/>
              <a:buNone/>
              <a:defRPr kumimoji="0" lang="zh-CN" altLang="en-US" sz="6000" b="1" i="0" u="none" strike="noStrike" kern="1200" cap="none" spc="0" normalizeH="0" baseline="0" noProof="1" dirty="0">
                <a:solidFill>
                  <a:schemeClr val="accent1"/>
                </a:solidFill>
                <a:latin typeface="微软雅黑" panose="020B0503020204020204" charset="-122"/>
                <a:ea typeface="微软雅黑" panose="020B0503020204020204" charset="-122"/>
                <a:cs typeface="+mn-cs"/>
              </a:defRPr>
            </a:lvl1pPr>
          </a:lstStyle>
          <a:p>
            <a:pPr lvl="0"/>
            <a:r>
              <a:rPr>
                <a:sym typeface="+mn-ea"/>
              </a:rPr>
              <a:t>单击此处添加</a:t>
            </a:r>
          </a:p>
          <a:p>
            <a:pPr lvl="0"/>
            <a:r>
              <a:rPr>
                <a:sym typeface="+mn-ea"/>
              </a:rPr>
              <a:t>标题</a:t>
            </a:r>
          </a:p>
        </p:txBody>
      </p:sp>
      <p:sp>
        <p:nvSpPr>
          <p:cNvPr id="7" name="副标题 6"/>
          <p:cNvSpPr txBox="1">
            <a:spLocks noGrp="1"/>
          </p:cNvSpPr>
          <p:nvPr>
            <p:ph type="subTitle" idx="2" hasCustomPrompt="1"/>
            <p:custDataLst>
              <p:tags r:id="rId10"/>
            </p:custDataLst>
          </p:nvPr>
        </p:nvSpPr>
        <p:spPr>
          <a:xfrm>
            <a:off x="1137137" y="4429560"/>
            <a:ext cx="7629063" cy="1183999"/>
          </a:xfrm>
          <a:noFill/>
        </p:spPr>
        <p:txBody>
          <a:bodyPr wrap="square" rtlCol="0">
            <a:normAutofit/>
          </a:bodyPr>
          <a:lstStyle>
            <a:lvl1pPr marL="0" marR="0" algn="l" defTabSz="914400" rtl="0" eaLnBrk="1" fontAlgn="auto" latinLnBrk="0" hangingPunct="1">
              <a:lnSpc>
                <a:spcPct val="120000"/>
              </a:lnSpc>
              <a:buClrTx/>
              <a:buSzTx/>
              <a:buFontTx/>
              <a:buNone/>
              <a:defRPr kumimoji="0" lang="zh-CN" altLang="en-US" sz="2800" b="1" i="0" u="none" strike="noStrike" kern="1200" cap="all" spc="400" normalizeH="0" baseline="0" noProof="1" dirty="0">
                <a:solidFill>
                  <a:schemeClr val="accent1"/>
                </a:solidFill>
                <a:uFillTx/>
                <a:latin typeface="微软雅黑" panose="020B0503020204020204" charset="-122"/>
                <a:ea typeface="微软雅黑" panose="020B0503020204020204" charset="-122"/>
                <a:cs typeface="+mn-cs"/>
              </a:defRPr>
            </a:lvl1pPr>
          </a:lstStyle>
          <a:p>
            <a:pPr lvl="0"/>
            <a:r>
              <a:rPr>
                <a:sym typeface="+mn-ea"/>
              </a:rPr>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5"/>
            </p:custDataLst>
          </p:nvPr>
        </p:nvSpPr>
        <p:spPr>
          <a:xfrm>
            <a:off x="669882" y="952508"/>
            <a:ext cx="10852237"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2026/4/21</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0"/>
          <a:stretch>
            <a:fillRect/>
          </a:stretch>
        </p:blipFill>
        <p:spPr>
          <a:xfrm>
            <a:off x="794" y="-318"/>
            <a:ext cx="12192000" cy="6858318"/>
          </a:xfrm>
          <a:prstGeom prst="rect">
            <a:avLst/>
          </a:prstGeom>
        </p:spPr>
      </p:pic>
      <p:pic>
        <p:nvPicPr>
          <p:cNvPr id="3" name="图片 2" descr="JY01_章节页装饰2"/>
          <p:cNvPicPr>
            <a:picLocks noChangeAspect="1"/>
          </p:cNvPicPr>
          <p:nvPr>
            <p:custDataLst>
              <p:tags r:id="rId2"/>
            </p:custDataLst>
          </p:nvPr>
        </p:nvPicPr>
        <p:blipFill>
          <a:blip r:embed="rId11"/>
          <a:stretch>
            <a:fillRect/>
          </a:stretch>
        </p:blipFill>
        <p:spPr>
          <a:xfrm>
            <a:off x="7479507" y="5458144"/>
            <a:ext cx="4703272" cy="1398270"/>
          </a:xfrm>
          <a:prstGeom prst="rect">
            <a:avLst/>
          </a:prstGeom>
        </p:spPr>
      </p:pic>
      <p:pic>
        <p:nvPicPr>
          <p:cNvPr id="2" name="图片 1" descr="JY01_章节页装饰1"/>
          <p:cNvPicPr>
            <a:picLocks noChangeAspect="1"/>
          </p:cNvPicPr>
          <p:nvPr>
            <p:custDataLst>
              <p:tags r:id="rId3"/>
            </p:custDataLst>
          </p:nvPr>
        </p:nvPicPr>
        <p:blipFill>
          <a:blip r:embed="rId12"/>
          <a:stretch>
            <a:fillRect/>
          </a:stretch>
        </p:blipFill>
        <p:spPr>
          <a:xfrm>
            <a:off x="635" y="0"/>
            <a:ext cx="1954530" cy="6858000"/>
          </a:xfrm>
          <a:prstGeom prst="rect">
            <a:avLst/>
          </a:prstGeom>
        </p:spPr>
      </p:pic>
      <p:sp>
        <p:nvSpPr>
          <p:cNvPr id="4" name="日期占位符 3"/>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2026/4/21</a:t>
            </a:fld>
            <a:endParaRPr lang="zh-CN" altLang="en-US"/>
          </a:p>
        </p:txBody>
      </p:sp>
      <p:sp>
        <p:nvSpPr>
          <p:cNvPr id="5" name="页脚占位符 4"/>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ctrTitle" idx="1" hasCustomPrompt="1"/>
            <p:custDataLst>
              <p:tags r:id="rId7"/>
            </p:custDataLst>
          </p:nvPr>
        </p:nvSpPr>
        <p:spPr>
          <a:xfrm>
            <a:off x="2112431" y="2833012"/>
            <a:ext cx="7967137" cy="1200150"/>
          </a:xfrm>
          <a:noFill/>
        </p:spPr>
        <p:txBody>
          <a:bodyPr vert="horz" wrap="square" lIns="101600" tIns="38100" rIns="76200" bIns="38100" rtlCol="0" anchor="ctr" anchorCtr="0">
            <a:normAutofit/>
          </a:bodyPr>
          <a:lstStyle>
            <a:lvl1pPr marL="0" marR="0" algn="ctr" defTabSz="914400" rtl="0" eaLnBrk="1" fontAlgn="auto" latinLnBrk="0" hangingPunct="1">
              <a:lnSpc>
                <a:spcPct val="100000"/>
              </a:lnSpc>
              <a:spcBef>
                <a:spcPct val="0"/>
              </a:spcBef>
              <a:buClrTx/>
              <a:buSzTx/>
              <a:buFontTx/>
              <a:buNone/>
              <a:defRPr kumimoji="0" lang="zh-CN" altLang="en-US" sz="6600" b="0" i="0" u="none" strike="noStrike" kern="1200" cap="none" spc="100" normalizeH="0" baseline="0" noProof="1" dirty="0">
                <a:solidFill>
                  <a:schemeClr val="dk1">
                    <a:lumMod val="85000"/>
                    <a:lumOff val="15000"/>
                  </a:schemeClr>
                </a:solidFill>
                <a:uFillTx/>
                <a:latin typeface="Arial" panose="020B0604020202020204" pitchFamily="34" charset="0"/>
                <a:ea typeface="汉仪文黑-85简" panose="00020600040101010101" charset="-122"/>
                <a:cs typeface="+mn-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a:off x="2680121" y="4295417"/>
            <a:ext cx="6831757" cy="827115"/>
          </a:xfrm>
        </p:spPr>
        <p:txBody>
          <a:bodyPr vert="horz" wrap="square" lIns="101600" tIns="0" rIns="82550" bIns="0" rtlCol="0">
            <a:normAutofit/>
          </a:bodyPr>
          <a:lstStyle>
            <a:lvl1pPr marL="0" marR="0" indent="-228600" algn="ctr" defTabSz="914400" rtl="0" eaLnBrk="1" fontAlgn="auto" latinLnBrk="0" hangingPunct="1">
              <a:lnSpc>
                <a:spcPct val="150000"/>
              </a:lnSpc>
              <a:spcBef>
                <a:spcPts val="0"/>
              </a:spcBef>
              <a:spcAft>
                <a:spcPts val="1000"/>
              </a:spcAft>
              <a:buClrTx/>
              <a:buSzTx/>
              <a:buFontTx/>
              <a:buNone/>
              <a:defRPr kumimoji="0" lang="zh-CN" altLang="en-US" sz="1400" b="0" i="0" u="none" strike="noStrike" kern="1200" cap="none" spc="0" normalizeH="0" baseline="0" noProof="1" dirty="0">
                <a:solidFill>
                  <a:schemeClr val="dk1">
                    <a:lumMod val="50000"/>
                    <a:lumOff val="50000"/>
                  </a:schemeClr>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5"/>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6"/>
            </p:custDataLst>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汉仪文黑-55简" panose="00020600040101010101" charset="-122"/>
              </a:defRPr>
            </a:lvl1pPr>
            <a:lvl2pPr eaLnBrk="1" fontAlgn="auto" latinLnBrk="0" hangingPunct="1">
              <a:defRPr sz="1600">
                <a:solidFill>
                  <a:schemeClr val="tx1"/>
                </a:solidFill>
                <a:latin typeface="Arial" panose="020B0604020202020204" pitchFamily="34" charset="0"/>
                <a:ea typeface="汉仪文黑-55简" panose="00020600040101010101" charset="-122"/>
              </a:defRPr>
            </a:lvl2pPr>
            <a:lvl3pPr eaLnBrk="1" fontAlgn="auto" latinLnBrk="0" hangingPunct="1">
              <a:defRPr sz="1600">
                <a:solidFill>
                  <a:schemeClr val="tx1"/>
                </a:solidFill>
                <a:latin typeface="Arial" panose="020B0604020202020204" pitchFamily="34" charset="0"/>
                <a:ea typeface="汉仪文黑-55简" panose="00020600040101010101" charset="-122"/>
              </a:defRPr>
            </a:lvl3pPr>
            <a:lvl4pPr eaLnBrk="1" fontAlgn="auto" latinLnBrk="0" hangingPunct="1">
              <a:defRPr sz="1600">
                <a:solidFill>
                  <a:schemeClr val="tx1"/>
                </a:solidFill>
                <a:latin typeface="Arial" panose="020B0604020202020204" pitchFamily="34" charset="0"/>
                <a:ea typeface="汉仪文黑-55简" panose="00020600040101010101" charset="-122"/>
              </a:defRPr>
            </a:lvl4pPr>
            <a:lvl5pPr eaLnBrk="1" fontAlgn="auto" latinLnBrk="0" hangingPunct="1">
              <a:defRPr sz="160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2026/4/21</a:t>
            </a:fld>
            <a:endParaRPr lang="zh-CN" altLang="en-US"/>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2" name="图片 11" descr="JY01_画板 1 副本"/>
          <p:cNvPicPr>
            <a:picLocks noChangeAspect="1"/>
          </p:cNvPicPr>
          <p:nvPr>
            <p:custDataLst>
              <p:tags r:id="rId1"/>
            </p:custDataLst>
          </p:nvPr>
        </p:nvPicPr>
        <p:blipFill>
          <a:blip r:embed="rId13"/>
          <a:stretch>
            <a:fillRect/>
          </a:stretch>
        </p:blipFill>
        <p:spPr>
          <a:xfrm>
            <a:off x="0" y="317"/>
            <a:ext cx="12193257" cy="6858635"/>
          </a:xfrm>
          <a:prstGeom prst="rect">
            <a:avLst/>
          </a:prstGeom>
        </p:spPr>
      </p:pic>
      <p:pic>
        <p:nvPicPr>
          <p:cNvPr id="11" name="图片 10" descr="JY01_正文页装饰2"/>
          <p:cNvPicPr>
            <a:picLocks noChangeAspect="1"/>
          </p:cNvPicPr>
          <p:nvPr>
            <p:custDataLst>
              <p:tags r:id="rId2"/>
            </p:custDataLst>
          </p:nvPr>
        </p:nvPicPr>
        <p:blipFill>
          <a:blip r:embed="rId14"/>
          <a:stretch>
            <a:fillRect/>
          </a:stretch>
        </p:blipFill>
        <p:spPr>
          <a:xfrm>
            <a:off x="822289" y="524194"/>
            <a:ext cx="11370346" cy="5810247"/>
          </a:xfrm>
          <a:prstGeom prst="rect">
            <a:avLst/>
          </a:prstGeom>
        </p:spPr>
      </p:pic>
      <p:pic>
        <p:nvPicPr>
          <p:cNvPr id="10" name="图片 9" descr="JY01_正文页装饰1"/>
          <p:cNvPicPr>
            <a:picLocks noChangeAspect="1"/>
          </p:cNvPicPr>
          <p:nvPr>
            <p:custDataLst>
              <p:tags r:id="rId3"/>
            </p:custDataLst>
          </p:nvPr>
        </p:nvPicPr>
        <p:blipFill>
          <a:blip r:embed="rId15"/>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汉仪文黑-55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6"/>
            </p:custDataLst>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8"/>
            </p:custDataLst>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2026/4/21</a:t>
            </a:fld>
            <a:endParaRPr lang="zh-CN" altLang="en-US"/>
          </a:p>
        </p:txBody>
      </p:sp>
      <p:sp>
        <p:nvSpPr>
          <p:cNvPr id="8" name="页脚占位符 7"/>
          <p:cNvSpPr>
            <a:spLocks noGrp="1"/>
          </p:cNvSpPr>
          <p:nvPr>
            <p:ph type="ftr" sz="quarter" idx="11"/>
            <p:custDataLst>
              <p:tags r:id="rId10"/>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9" name="灯片编号占位符 8"/>
          <p:cNvSpPr>
            <a:spLocks noGrp="1"/>
          </p:cNvSpPr>
          <p:nvPr>
            <p:ph type="sldNum" sz="quarter" idx="12"/>
            <p:custDataLst>
              <p:tags r:id="rId1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8"/>
            <a:ext cx="12192000" cy="6858635"/>
          </a:xfrm>
          <a:prstGeom prst="rect">
            <a:avLst/>
          </a:prstGeom>
        </p:spPr>
      </p:pic>
      <p:pic>
        <p:nvPicPr>
          <p:cNvPr id="7" name="图片 6" descr="JY01_目录页装饰1"/>
          <p:cNvPicPr>
            <a:picLocks noChangeAspect="1"/>
          </p:cNvPicPr>
          <p:nvPr>
            <p:custDataLst>
              <p:tags r:id="rId2"/>
            </p:custDataLst>
          </p:nvPr>
        </p:nvPicPr>
        <p:blipFill>
          <a:blip r:embed="rId10"/>
          <a:stretch>
            <a:fillRect/>
          </a:stretch>
        </p:blipFill>
        <p:spPr>
          <a:xfrm>
            <a:off x="0" y="5388868"/>
            <a:ext cx="2132952" cy="1469132"/>
          </a:xfrm>
          <a:prstGeom prst="rect">
            <a:avLst/>
          </a:prstGeom>
        </p:spPr>
      </p:pic>
      <p:pic>
        <p:nvPicPr>
          <p:cNvPr id="6" name="图片 5" descr="JY01_目录页装饰2"/>
          <p:cNvPicPr>
            <a:picLocks noChangeAspect="1"/>
          </p:cNvPicPr>
          <p:nvPr>
            <p:custDataLst>
              <p:tags r:id="rId3"/>
            </p:custDataLst>
          </p:nvPr>
        </p:nvPicPr>
        <p:blipFill>
          <a:blip r:embed="rId11"/>
          <a:stretch>
            <a:fillRect/>
          </a:stretch>
        </p:blipFill>
        <p:spPr>
          <a:xfrm>
            <a:off x="7445375" y="0"/>
            <a:ext cx="4746625" cy="4411480"/>
          </a:xfrm>
          <a:prstGeom prst="rect">
            <a:avLst/>
          </a:prstGeom>
        </p:spPr>
      </p:pic>
      <p:sp>
        <p:nvSpPr>
          <p:cNvPr id="2" name="标题 1"/>
          <p:cNvSpPr>
            <a:spLocks noGrp="1"/>
          </p:cNvSpPr>
          <p:nvPr>
            <p:ph type="title"/>
            <p:custDataLst>
              <p:tags r:id="rId4"/>
            </p:custDataLst>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2026/4/21</a:t>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2026/4/21</a:t>
            </a:fld>
            <a:endParaRPr lang="zh-CN" altLang="en-US"/>
          </a:p>
        </p:txBody>
      </p:sp>
      <p:sp>
        <p:nvSpPr>
          <p:cNvPr id="3" name="页脚占位符 2"/>
          <p:cNvSpPr>
            <a:spLocks noGrp="1"/>
          </p:cNvSpPr>
          <p:nvPr>
            <p:ph type="ftr" sz="quarter" idx="11"/>
            <p:custDataLst>
              <p:tags r:id="rId2"/>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5"/>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6"/>
            </p:custDataLst>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9EFD9D74-47D9-4702-A33C-335B63B48DBF}" type="datetimeFigureOut">
              <a:rPr lang="zh-CN" altLang="en-US" smtClean="0"/>
              <a:t>2026/4/21</a:t>
            </a:fld>
            <a:endParaRPr lang="zh-CN" altLang="en-US" dirty="0"/>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竖排标题 1"/>
          <p:cNvSpPr>
            <a:spLocks noGrp="1"/>
          </p:cNvSpPr>
          <p:nvPr>
            <p:ph type="title" orient="vert"/>
            <p:custDataLst>
              <p:tags r:id="rId4"/>
            </p:custDataLst>
          </p:nvPr>
        </p:nvSpPr>
        <p:spPr>
          <a:xfrm>
            <a:off x="10571135" y="952508"/>
            <a:ext cx="950984" cy="5388907"/>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5"/>
            </p:custDataLst>
          </p:nvPr>
        </p:nvSpPr>
        <p:spPr>
          <a:xfrm>
            <a:off x="669925" y="952500"/>
            <a:ext cx="9828101" cy="5388907"/>
          </a:xfrm>
        </p:spPr>
        <p:txBody>
          <a:bodyPr vert="eaVert"/>
          <a:lstStyle>
            <a:lvl1pPr indent="0" eaLnBrk="1" fontAlgn="auto" latinLnBrk="0" hangingPunct="1">
              <a:defRPr>
                <a:solidFill>
                  <a:schemeClr val="tx1"/>
                </a:solidFill>
                <a:latin typeface="Arial" panose="020B0604020202020204" pitchFamily="34" charset="0"/>
                <a:ea typeface="汉仪文黑-55简" panose="00020600040101010101" charset="-122"/>
              </a:defRPr>
            </a:lvl1pPr>
            <a:lvl2pPr indent="0" eaLnBrk="1" fontAlgn="auto" latinLnBrk="0" hangingPunct="1">
              <a:defRPr>
                <a:solidFill>
                  <a:schemeClr val="tx1"/>
                </a:solidFill>
                <a:latin typeface="Arial" panose="020B0604020202020204" pitchFamily="34" charset="0"/>
                <a:ea typeface="汉仪文黑-55简" panose="00020600040101010101" charset="-122"/>
              </a:defRPr>
            </a:lvl2pPr>
            <a:lvl3pPr indent="0" eaLnBrk="1" fontAlgn="auto" latinLnBrk="0" hangingPunct="1">
              <a:defRPr>
                <a:solidFill>
                  <a:schemeClr val="tx1"/>
                </a:solidFill>
                <a:latin typeface="Arial" panose="020B0604020202020204" pitchFamily="34" charset="0"/>
                <a:ea typeface="汉仪文黑-55简" panose="00020600040101010101" charset="-122"/>
              </a:defRPr>
            </a:lvl3pPr>
            <a:lvl4pPr indent="0" eaLnBrk="1" fontAlgn="auto" latinLnBrk="0" hangingPunct="1">
              <a:defRPr>
                <a:solidFill>
                  <a:schemeClr val="tx1"/>
                </a:solidFill>
                <a:latin typeface="Arial" panose="020B0604020202020204" pitchFamily="34" charset="0"/>
                <a:ea typeface="汉仪文黑-55简" panose="00020600040101010101" charset="-122"/>
              </a:defRPr>
            </a:lvl4pPr>
            <a:lvl5pPr indent="0" eaLnBrk="1" fontAlgn="auto" latinLnBrk="0" hangingPunct="1">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2026/4/21</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2" name="图片 1"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2026/4/21</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7"/>
            </p:custDataLst>
          </p:nvPr>
        </p:nvSpPr>
        <p:spPr>
          <a:xfrm>
            <a:off x="669930" y="952508"/>
            <a:ext cx="10852237" cy="5388907"/>
          </a:xfrm>
        </p:spPr>
        <p:txBody>
          <a:bodyPr/>
          <a:lstStyle>
            <a:lvl1pPr>
              <a:defRPr>
                <a:solidFill>
                  <a:schemeClr val="tx1"/>
                </a:solidFill>
                <a:latin typeface="Arial" panose="020B0604020202020204" pitchFamily="34" charset="0"/>
                <a:ea typeface="汉仪文黑-55简" panose="00020600040101010101" charset="-122"/>
              </a:defRPr>
            </a:lvl1pPr>
            <a:lvl2pPr>
              <a:defRPr>
                <a:solidFill>
                  <a:schemeClr val="tx1"/>
                </a:solidFill>
                <a:latin typeface="Arial" panose="020B0604020202020204" pitchFamily="34" charset="0"/>
                <a:ea typeface="汉仪文黑-55简" panose="00020600040101010101" charset="-122"/>
              </a:defRPr>
            </a:lvl2pPr>
            <a:lvl3pPr>
              <a:defRPr>
                <a:solidFill>
                  <a:schemeClr val="tx1"/>
                </a:solidFill>
                <a:latin typeface="Arial" panose="020B0604020202020204" pitchFamily="34" charset="0"/>
                <a:ea typeface="汉仪文黑-55简" panose="00020600040101010101" charset="-122"/>
              </a:defRPr>
            </a:lvl3pPr>
            <a:lvl4pPr>
              <a:defRPr>
                <a:solidFill>
                  <a:schemeClr val="tx1"/>
                </a:solidFill>
                <a:latin typeface="Arial" panose="020B0604020202020204" pitchFamily="34" charset="0"/>
                <a:ea typeface="汉仪文黑-55简" panose="00020600040101010101" charset="-122"/>
              </a:defRPr>
            </a:lvl4pPr>
            <a:lvl5pPr>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1"/>
          <a:stretch>
            <a:fillRect/>
          </a:stretch>
        </p:blipFill>
        <p:spPr>
          <a:xfrm>
            <a:off x="794" y="-318"/>
            <a:ext cx="12192000" cy="6858318"/>
          </a:xfrm>
          <a:prstGeom prst="rect">
            <a:avLst/>
          </a:prstGeom>
        </p:spPr>
      </p:pic>
      <p:pic>
        <p:nvPicPr>
          <p:cNvPr id="6" name="图片 5" descr="JY01_结束页装饰2"/>
          <p:cNvPicPr>
            <a:picLocks noChangeAspect="1"/>
          </p:cNvPicPr>
          <p:nvPr>
            <p:custDataLst>
              <p:tags r:id="rId2"/>
            </p:custDataLst>
          </p:nvPr>
        </p:nvPicPr>
        <p:blipFill>
          <a:blip r:embed="rId12"/>
          <a:stretch>
            <a:fillRect/>
          </a:stretch>
        </p:blipFill>
        <p:spPr>
          <a:xfrm>
            <a:off x="7479507" y="5458144"/>
            <a:ext cx="4703272" cy="1398270"/>
          </a:xfrm>
          <a:prstGeom prst="rect">
            <a:avLst/>
          </a:prstGeom>
        </p:spPr>
      </p:pic>
      <p:pic>
        <p:nvPicPr>
          <p:cNvPr id="2" name="图片 1" descr="JY01_结束页装饰1"/>
          <p:cNvPicPr>
            <a:picLocks noChangeAspect="1"/>
          </p:cNvPicPr>
          <p:nvPr>
            <p:custDataLst>
              <p:tags r:id="rId3"/>
            </p:custDataLst>
          </p:nvPr>
        </p:nvPicPr>
        <p:blipFill>
          <a:blip r:embed="rId13"/>
          <a:stretch>
            <a:fillRect/>
          </a:stretch>
        </p:blipFill>
        <p:spPr>
          <a:xfrm>
            <a:off x="635" y="0"/>
            <a:ext cx="1954530" cy="6858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2026/4/21</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title" idx="1" hasCustomPrompt="1"/>
            <p:custDataLst>
              <p:tags r:id="rId7"/>
            </p:custDataLst>
          </p:nvPr>
        </p:nvSpPr>
        <p:spPr>
          <a:xfrm>
            <a:off x="2153288" y="2533739"/>
            <a:ext cx="7885427" cy="1353881"/>
          </a:xfrm>
          <a:noFill/>
        </p:spPr>
        <p:txBody>
          <a:bodyPr vert="horz" wrap="square" lIns="90000" tIns="46800" rIns="90000" bIns="46800" rtlCol="0" anchor="ctr" anchorCtr="0">
            <a:normAutofit/>
          </a:bodyPr>
          <a:lstStyle>
            <a:lvl1pPr marL="0" marR="0" algn="l" defTabSz="914400" rtl="0" eaLnBrk="1" fontAlgn="auto" latinLnBrk="0" hangingPunct="0">
              <a:lnSpc>
                <a:spcPct val="100000"/>
              </a:lnSpc>
              <a:spcBef>
                <a:spcPts val="0"/>
              </a:spcBef>
              <a:spcAft>
                <a:spcPts val="0"/>
              </a:spcAft>
              <a:buClrTx/>
              <a:buSzTx/>
              <a:buFontTx/>
              <a:buNone/>
              <a:defRPr kumimoji="0" lang="zh-CN" altLang="en-US" sz="7200" b="1" i="0" u="none" strike="noStrike" kern="0" cap="none" spc="300" normalizeH="0" baseline="0" noProof="1" dirty="0">
                <a:ln>
                  <a:noFill/>
                </a:ln>
                <a:solidFill>
                  <a:schemeClr val="dk1">
                    <a:lumMod val="85000"/>
                    <a:lumOff val="15000"/>
                  </a:schemeClr>
                </a:solidFill>
                <a:effectLst/>
                <a:uFillTx/>
                <a:latin typeface="Arial" panose="020B0604020202020204" pitchFamily="34" charset="0"/>
                <a:ea typeface="汉仪文黑-85简" panose="00020600040101010101" charset="-122"/>
                <a:cs typeface="+mj-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flipH="1">
            <a:off x="2153285" y="3996025"/>
            <a:ext cx="7885428" cy="928995"/>
          </a:xfrm>
          <a:noFill/>
        </p:spPr>
        <p:txBody>
          <a:bodyPr vert="horz" wrap="square" lIns="0" tIns="0" rIns="0" bIns="0" rtlCol="0">
            <a:normAutofit/>
          </a:bodyPr>
          <a:lstStyle>
            <a:lvl1pPr marL="0" marR="0" indent="-228600" algn="l" defTabSz="914400" rtl="0" eaLnBrk="1" fontAlgn="auto" latinLnBrk="0" hangingPunct="0">
              <a:lnSpc>
                <a:spcPct val="125000"/>
              </a:lnSpc>
              <a:spcBef>
                <a:spcPts val="0"/>
              </a:spcBef>
              <a:spcAft>
                <a:spcPts val="0"/>
              </a:spcAft>
              <a:buClrTx/>
              <a:buSzTx/>
              <a:buFontTx/>
              <a:buNone/>
              <a:defRPr kumimoji="0" lang="zh-CN" altLang="en-US" sz="1800" b="0" i="0" u="none" strike="noStrike" kern="0" cap="none" spc="1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
        <p:nvSpPr>
          <p:cNvPr id="10" name="副标题 3"/>
          <p:cNvSpPr>
            <a:spLocks noGrp="1"/>
          </p:cNvSpPr>
          <p:nvPr>
            <p:ph type="subTitle" idx="3" hasCustomPrompt="1"/>
            <p:custDataLst>
              <p:tags r:id="rId9"/>
            </p:custDataLst>
          </p:nvPr>
        </p:nvSpPr>
        <p:spPr>
          <a:xfrm>
            <a:off x="2153288" y="1932968"/>
            <a:ext cx="7885427" cy="492366"/>
          </a:xfrm>
          <a:noFill/>
        </p:spPr>
        <p:txBody>
          <a:bodyPr vert="horz" wrap="square" lIns="90000" tIns="46800" rIns="90000" bIns="46800" rtlCol="0">
            <a:normAutofit/>
          </a:bodyPr>
          <a:lstStyle>
            <a:lvl1pPr marL="0" marR="0" indent="-228600" algn="l" defTabSz="914400" rtl="0" eaLnBrk="1" fontAlgn="auto" latinLnBrk="0" hangingPunct="0">
              <a:lnSpc>
                <a:spcPct val="100000"/>
              </a:lnSpc>
              <a:spcBef>
                <a:spcPts val="0"/>
              </a:spcBef>
              <a:spcAft>
                <a:spcPts val="0"/>
              </a:spcAft>
              <a:buClrTx/>
              <a:buSzTx/>
              <a:buFontTx/>
              <a:buNone/>
              <a:defRPr kumimoji="0" lang="zh-CN" altLang="en-US" sz="2400" b="1" i="0" u="none" strike="noStrike" kern="0" cap="none" spc="6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单击此处编辑副标题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7" name="图片 6"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2026/4/21</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293594" y="304200"/>
            <a:ext cx="11606400" cy="6249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635" y="5589270"/>
            <a:ext cx="1314622" cy="1268730"/>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2026/4/21</a:t>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635" y="-318"/>
            <a:ext cx="12192622" cy="6858635"/>
          </a:xfrm>
          <a:prstGeom prst="rect">
            <a:avLst/>
          </a:prstGeom>
        </p:spPr>
      </p:pic>
      <p:sp>
        <p:nvSpPr>
          <p:cNvPr id="6" name="矩形 5"/>
          <p:cNvSpPr/>
          <p:nvPr>
            <p:custDataLst>
              <p:tags r:id="rId2"/>
            </p:custDataLst>
          </p:nvPr>
        </p:nvSpPr>
        <p:spPr>
          <a:xfrm>
            <a:off x="794" y="1"/>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lt1"/>
              </a:solidFill>
              <a:sym typeface="+mn-ea"/>
            </a:endParaRPr>
          </a:p>
        </p:txBody>
      </p:sp>
      <p:sp>
        <p:nvSpPr>
          <p:cNvPr id="2" name="标题 1"/>
          <p:cNvSpPr>
            <a:spLocks noGrp="1"/>
          </p:cNvSpPr>
          <p:nvPr>
            <p:ph type="title" hasCustomPrompt="1"/>
            <p:custDataLst>
              <p:tags r:id="rId3"/>
            </p:custDataLst>
          </p:nvPr>
        </p:nvSpPr>
        <p:spPr>
          <a:xfrm>
            <a:off x="583200" y="770400"/>
            <a:ext cx="3960000" cy="882000"/>
          </a:xfrm>
        </p:spPr>
        <p:txBody>
          <a:bodyPr anchor="ctr" anchorCtr="0"/>
          <a:lstStyle>
            <a:lvl1pP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2026/4/21</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794" y="0"/>
            <a:ext cx="12192000" cy="6858318"/>
          </a:xfrm>
          <a:prstGeom prst="rect">
            <a:avLst/>
          </a:prstGeom>
        </p:spPr>
      </p:pic>
      <p:sp>
        <p:nvSpPr>
          <p:cNvPr id="8" name="矩形 7"/>
          <p:cNvSpPr/>
          <p:nvPr>
            <p:custDataLst>
              <p:tags r:id="rId2"/>
            </p:custDataLst>
          </p:nvPr>
        </p:nvSpPr>
        <p:spPr>
          <a:xfrm>
            <a:off x="159"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2026/4/21</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6" name="矩形 5"/>
          <p:cNvSpPr/>
          <p:nvPr>
            <p:custDataLst>
              <p:tags r:id="rId2"/>
            </p:custDataLst>
          </p:nvPr>
        </p:nvSpPr>
        <p:spPr>
          <a:xfrm>
            <a:off x="159" y="5029202"/>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nchorCtr="0"/>
          <a:lstStyle>
            <a:lvl1pPr algn="ct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2026/4/21</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3"/>
          <a:stretch>
            <a:fillRect/>
          </a:stretch>
        </p:blipFill>
        <p:spPr>
          <a:xfrm>
            <a:off x="635" y="317"/>
            <a:ext cx="12192000" cy="6858635"/>
          </a:xfrm>
          <a:prstGeom prst="rect">
            <a:avLst/>
          </a:prstGeom>
        </p:spPr>
      </p:pic>
      <p:sp>
        <p:nvSpPr>
          <p:cNvPr id="8" name="矩形 7"/>
          <p:cNvSpPr/>
          <p:nvPr>
            <p:custDataLst>
              <p:tags r:id="rId2"/>
            </p:custDataLst>
          </p:nvPr>
        </p:nvSpPr>
        <p:spPr>
          <a:xfrm>
            <a:off x="159" y="3175"/>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4"/>
          <a:stretch>
            <a:fillRect/>
          </a:stretch>
        </p:blipFill>
        <p:spPr>
          <a:xfrm>
            <a:off x="0" y="5636260"/>
            <a:ext cx="1266591" cy="1222375"/>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2026/4/21</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1429" y="958590"/>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0" y="5635625"/>
            <a:ext cx="1266591" cy="122237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2026/4/21</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2026/4/21</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8"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汉仪文黑-55简" panose="00020600040101010101"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image" Target="../media/image14.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0.xml"/><Relationship Id="rId1" Type="http://schemas.openxmlformats.org/officeDocument/2006/relationships/tags" Target="../tags/tag159.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2.xml"/><Relationship Id="rId1" Type="http://schemas.openxmlformats.org/officeDocument/2006/relationships/tags" Target="../tags/tag161.xml"/><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4.xml"/><Relationship Id="rId1" Type="http://schemas.openxmlformats.org/officeDocument/2006/relationships/tags" Target="../tags/tag163.xml"/><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6.xml"/><Relationship Id="rId1" Type="http://schemas.openxmlformats.org/officeDocument/2006/relationships/tags" Target="../tags/tag16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8.xml"/><Relationship Id="rId1" Type="http://schemas.openxmlformats.org/officeDocument/2006/relationships/tags" Target="../tags/tag167.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0.xml"/><Relationship Id="rId1" Type="http://schemas.openxmlformats.org/officeDocument/2006/relationships/tags" Target="../tags/tag169.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2.xml"/><Relationship Id="rId1" Type="http://schemas.openxmlformats.org/officeDocument/2006/relationships/tags" Target="../tags/tag17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4.xml"/><Relationship Id="rId1" Type="http://schemas.openxmlformats.org/officeDocument/2006/relationships/tags" Target="../tags/tag173.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6.xml"/><Relationship Id="rId1" Type="http://schemas.openxmlformats.org/officeDocument/2006/relationships/tags" Target="../tags/tag17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8.xml"/><Relationship Id="rId1" Type="http://schemas.openxmlformats.org/officeDocument/2006/relationships/tags" Target="../tags/tag17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0.xml"/><Relationship Id="rId1" Type="http://schemas.openxmlformats.org/officeDocument/2006/relationships/tags" Target="../tags/tag179.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2.xml"/><Relationship Id="rId1" Type="http://schemas.openxmlformats.org/officeDocument/2006/relationships/tags" Target="../tags/tag18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4.xml"/><Relationship Id="rId1" Type="http://schemas.openxmlformats.org/officeDocument/2006/relationships/tags" Target="../tags/tag183.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6.xml"/><Relationship Id="rId1" Type="http://schemas.openxmlformats.org/officeDocument/2006/relationships/tags" Target="../tags/tag185.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8.xml"/><Relationship Id="rId1" Type="http://schemas.openxmlformats.org/officeDocument/2006/relationships/tags" Target="../tags/tag187.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90.xml"/><Relationship Id="rId1" Type="http://schemas.openxmlformats.org/officeDocument/2006/relationships/tags" Target="../tags/tag189.xml"/><Relationship Id="rId4" Type="http://schemas.openxmlformats.org/officeDocument/2006/relationships/hyperlink" Target="https://www.google.com/search?q=mazda+demio&amp;kgmid=/m/03fpbr&amp;sa=X&amp;ved=2ahUKEwj1__G0vv6TAxWZWHADHSuYCOYQ3egRegYIAQgHEAI" TargetMode="Externa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92.xml"/><Relationship Id="rId1" Type="http://schemas.openxmlformats.org/officeDocument/2006/relationships/tags" Target="../tags/tag191.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94.xml"/><Relationship Id="rId1" Type="http://schemas.openxmlformats.org/officeDocument/2006/relationships/tags" Target="../tags/tag193.xml"/><Relationship Id="rId5" Type="http://schemas.openxmlformats.org/officeDocument/2006/relationships/hyperlink" Target="https://safetyculture.com/library/transport-and-logistics/job-card-form-remit-DzF6F" TargetMode="External"/><Relationship Id="rId4" Type="http://schemas.openxmlformats.org/officeDocument/2006/relationships/hyperlink" Target="https://www.jotform.com/form-templates/vehicle-maintenance-intake-form" TargetMode="Externa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96.xml"/><Relationship Id="rId1" Type="http://schemas.openxmlformats.org/officeDocument/2006/relationships/tags" Target="../tags/tag195.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98.xml"/><Relationship Id="rId1" Type="http://schemas.openxmlformats.org/officeDocument/2006/relationships/tags" Target="../tags/tag197.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00.xml"/><Relationship Id="rId1" Type="http://schemas.openxmlformats.org/officeDocument/2006/relationships/tags" Target="../tags/tag199.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02.xml"/><Relationship Id="rId1" Type="http://schemas.openxmlformats.org/officeDocument/2006/relationships/tags" Target="../tags/tag201.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04.xml"/><Relationship Id="rId1" Type="http://schemas.openxmlformats.org/officeDocument/2006/relationships/tags" Target="../tags/tag203.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06.xml"/><Relationship Id="rId1" Type="http://schemas.openxmlformats.org/officeDocument/2006/relationships/tags" Target="../tags/tag20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hyperlink" Target="https://frsc.gov.ng/wp-content/uploads/2021/04/VEHICLE-MAINTENANCE-AND-FIRE-PREVENTION-AND-PROTECTION.pptx" TargetMode="External"/><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hyperlink" Target="https://www.slideteam.net/top-10-car-repair-powerpoint-presentation-templates" TargetMode="External"/><Relationship Id="rId5" Type="http://schemas.openxmlformats.org/officeDocument/2006/relationships/hyperlink" Target="https://www.slideteam.net/top-10-vehicle-maintenance-powerpoint-presentation-templates" TargetMode="External"/><Relationship Id="rId4" Type="http://schemas.openxmlformats.org/officeDocument/2006/relationships/hyperlink" Target="https://www.youtube.com/watch?v=SyRNGWsBBqA" TargetMode="Externa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10.xml"/><Relationship Id="rId1" Type="http://schemas.openxmlformats.org/officeDocument/2006/relationships/tags" Target="../tags/tag20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84128" y="5658615"/>
            <a:ext cx="7629063" cy="1183999"/>
          </a:xfrm>
          <a:prstGeom prst="rect">
            <a:avLst/>
          </a:prstGeom>
          <a:noFill/>
        </p:spPr>
        <p:txBody>
          <a:bodyPr wrap="square" rtlCol="0">
            <a:norm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4" name="Picture 3">
            <a:extLst>
              <a:ext uri="{FF2B5EF4-FFF2-40B4-BE49-F238E27FC236}">
                <a16:creationId xmlns:a16="http://schemas.microsoft.com/office/drawing/2014/main" id="{55D17C5F-D582-80A6-4DE3-CCB3F46FECDE}"/>
              </a:ext>
            </a:extLst>
          </p:cNvPr>
          <p:cNvPicPr>
            <a:picLocks noChangeAspect="1"/>
          </p:cNvPicPr>
          <p:nvPr/>
        </p:nvPicPr>
        <p:blipFill>
          <a:blip r:embed="rId5"/>
          <a:stretch>
            <a:fillRect/>
          </a:stretch>
        </p:blipFill>
        <p:spPr>
          <a:xfrm>
            <a:off x="5191125" y="466312"/>
            <a:ext cx="904875" cy="1428750"/>
          </a:xfrm>
          <a:prstGeom prst="rect">
            <a:avLst/>
          </a:prstGeom>
        </p:spPr>
      </p:pic>
      <p:sp>
        <p:nvSpPr>
          <p:cNvPr id="5" name="文本框 21">
            <a:extLst>
              <a:ext uri="{FF2B5EF4-FFF2-40B4-BE49-F238E27FC236}">
                <a16:creationId xmlns:a16="http://schemas.microsoft.com/office/drawing/2014/main" id="{8291BEAF-DC80-7114-D7E5-4D33D4D73EFF}"/>
              </a:ext>
            </a:extLst>
          </p:cNvPr>
          <p:cNvSpPr txBox="1"/>
          <p:nvPr>
            <p:custDataLst>
              <p:tags r:id="rId3"/>
            </p:custDataLst>
          </p:nvPr>
        </p:nvSpPr>
        <p:spPr>
          <a:xfrm>
            <a:off x="1517374" y="2036310"/>
            <a:ext cx="8719930" cy="1740528"/>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effectLst/>
                <a:latin typeface="Times New Roman" panose="02020603050405020304" pitchFamily="18" charset="0"/>
                <a:ea typeface="Calibri" panose="020F0502020204030204" pitchFamily="34" charset="0"/>
                <a:cs typeface="Arial" panose="020B0604020202020204" pitchFamily="34" charset="0"/>
              </a:rPr>
              <a:t>CERTIFICATE III IN AUTOMOTIVE REPAIR &amp; MAINTE</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NANCE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5B8B25F2-350A-E959-A436-C1320A9A1827}"/>
              </a:ext>
            </a:extLst>
          </p:cNvPr>
          <p:cNvSpPr txBox="1"/>
          <p:nvPr/>
        </p:nvSpPr>
        <p:spPr>
          <a:xfrm>
            <a:off x="821635" y="4015155"/>
            <a:ext cx="9415669" cy="530594"/>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2800" b="1" i="0" u="none" strike="noStrike" kern="100" cap="none" spc="0" normalizeH="0" baseline="0" noProof="0" dirty="0">
                <a:ln>
                  <a:noFill/>
                </a:ln>
                <a:solidFill>
                  <a:srgbClr val="FFAD63">
                    <a:lumMod val="50000"/>
                  </a:srgbClr>
                </a:solidFill>
                <a:effectLst/>
                <a:uLnTx/>
                <a:uFillTx/>
                <a:latin typeface="Times New Roman" panose="02020603050405020304" pitchFamily="18" charset="0"/>
                <a:ea typeface="Calibri" panose="020F0502020204030204" pitchFamily="34" charset="0"/>
                <a:cs typeface="Arial" panose="020B0604020202020204" pitchFamily="34" charset="0"/>
              </a:rPr>
              <a:t>SUBJECT:  </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kumimoji="0" lang="en-US" sz="2800" b="1" i="0" u="none" strike="noStrike" kern="100" cap="none" spc="0" normalizeH="0" baseline="0" noProof="0" dirty="0">
              <a:ln>
                <a:noFill/>
              </a:ln>
              <a:solidFill>
                <a:schemeClr val="accent3">
                  <a:lumMod val="50000"/>
                </a:schemeClr>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974468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E8AC673B-2405-0FFC-B419-18C92F030B09}"/>
              </a:ext>
            </a:extLst>
          </p:cNvPr>
          <p:cNvSpPr txBox="1"/>
          <p:nvPr/>
        </p:nvSpPr>
        <p:spPr>
          <a:xfrm>
            <a:off x="868394" y="5822967"/>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522D935-475A-A0E7-895C-BCFF4F36D881}"/>
              </a:ext>
            </a:extLst>
          </p:cNvPr>
          <p:cNvSpPr/>
          <p:nvPr/>
        </p:nvSpPr>
        <p:spPr>
          <a:xfrm>
            <a:off x="967152" y="1394118"/>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smtClean="0">
                <a:latin typeface="Times New Roman" panose="02020603050405020304" pitchFamily="18" charset="0"/>
                <a:ea typeface="Calibri" panose="020F0502020204030204" pitchFamily="34" charset="0"/>
                <a:cs typeface="Arial" panose="020B0604020202020204" pitchFamily="34" charset="0"/>
              </a:rPr>
              <a:t>Common types of car on road</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pic>
        <p:nvPicPr>
          <p:cNvPr id="9" name="Picture 8"/>
          <p:cNvPicPr>
            <a:picLocks noChangeAspect="1"/>
          </p:cNvPicPr>
          <p:nvPr/>
        </p:nvPicPr>
        <p:blipFill>
          <a:blip r:embed="rId4"/>
          <a:stretch>
            <a:fillRect/>
          </a:stretch>
        </p:blipFill>
        <p:spPr>
          <a:xfrm>
            <a:off x="1154083" y="1751652"/>
            <a:ext cx="9561022" cy="3992444"/>
          </a:xfrm>
          <a:prstGeom prst="rect">
            <a:avLst/>
          </a:prstGeom>
        </p:spPr>
      </p:pic>
    </p:spTree>
    <p:custDataLst>
      <p:tags r:id="rId1"/>
    </p:custDataLst>
    <p:extLst>
      <p:ext uri="{BB962C8B-B14F-4D97-AF65-F5344CB8AC3E}">
        <p14:creationId xmlns:p14="http://schemas.microsoft.com/office/powerpoint/2010/main" val="4145445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E8AC673B-2405-0FFC-B419-18C92F030B09}"/>
              </a:ext>
            </a:extLst>
          </p:cNvPr>
          <p:cNvSpPr txBox="1"/>
          <p:nvPr/>
        </p:nvSpPr>
        <p:spPr>
          <a:xfrm>
            <a:off x="702140" y="6179398"/>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522D935-475A-A0E7-895C-BCFF4F36D881}"/>
              </a:ext>
            </a:extLst>
          </p:cNvPr>
          <p:cNvSpPr/>
          <p:nvPr/>
        </p:nvSpPr>
        <p:spPr>
          <a:xfrm>
            <a:off x="967152" y="1394118"/>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smtClean="0">
                <a:latin typeface="Times New Roman" panose="02020603050405020304" pitchFamily="18" charset="0"/>
                <a:ea typeface="Calibri" panose="020F0502020204030204" pitchFamily="34" charset="0"/>
                <a:cs typeface="Arial" panose="020B0604020202020204" pitchFamily="34" charset="0"/>
              </a:rPr>
              <a:t>Parts of car</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pic>
        <p:nvPicPr>
          <p:cNvPr id="4" name="Picture 3"/>
          <p:cNvPicPr>
            <a:picLocks noChangeAspect="1"/>
          </p:cNvPicPr>
          <p:nvPr/>
        </p:nvPicPr>
        <p:blipFill>
          <a:blip r:embed="rId4"/>
          <a:stretch>
            <a:fillRect/>
          </a:stretch>
        </p:blipFill>
        <p:spPr>
          <a:xfrm>
            <a:off x="1791015" y="1829420"/>
            <a:ext cx="8370916" cy="4438376"/>
          </a:xfrm>
          <a:prstGeom prst="rect">
            <a:avLst/>
          </a:prstGeom>
        </p:spPr>
      </p:pic>
    </p:spTree>
    <p:custDataLst>
      <p:tags r:id="rId1"/>
    </p:custDataLst>
    <p:extLst>
      <p:ext uri="{BB962C8B-B14F-4D97-AF65-F5344CB8AC3E}">
        <p14:creationId xmlns:p14="http://schemas.microsoft.com/office/powerpoint/2010/main" val="2812073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E8AC673B-2405-0FFC-B419-18C92F030B09}"/>
              </a:ext>
            </a:extLst>
          </p:cNvPr>
          <p:cNvSpPr txBox="1"/>
          <p:nvPr/>
        </p:nvSpPr>
        <p:spPr>
          <a:xfrm>
            <a:off x="702140" y="6179398"/>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522D935-475A-A0E7-895C-BCFF4F36D881}"/>
              </a:ext>
            </a:extLst>
          </p:cNvPr>
          <p:cNvSpPr/>
          <p:nvPr/>
        </p:nvSpPr>
        <p:spPr>
          <a:xfrm>
            <a:off x="967152" y="1394118"/>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smtClean="0">
                <a:latin typeface="Times New Roman" panose="02020603050405020304" pitchFamily="18" charset="0"/>
                <a:ea typeface="Calibri" panose="020F0502020204030204" pitchFamily="34" charset="0"/>
                <a:cs typeface="Arial" panose="020B0604020202020204" pitchFamily="34" charset="0"/>
              </a:rPr>
              <a:t>Common Car brands</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pic>
        <p:nvPicPr>
          <p:cNvPr id="5" name="Picture 4"/>
          <p:cNvPicPr>
            <a:picLocks noChangeAspect="1"/>
          </p:cNvPicPr>
          <p:nvPr/>
        </p:nvPicPr>
        <p:blipFill>
          <a:blip r:embed="rId4"/>
          <a:stretch>
            <a:fillRect/>
          </a:stretch>
        </p:blipFill>
        <p:spPr>
          <a:xfrm>
            <a:off x="5137196" y="1717406"/>
            <a:ext cx="3321887" cy="4692824"/>
          </a:xfrm>
          <a:prstGeom prst="rect">
            <a:avLst/>
          </a:prstGeom>
        </p:spPr>
      </p:pic>
    </p:spTree>
    <p:custDataLst>
      <p:tags r:id="rId1"/>
    </p:custDataLst>
    <p:extLst>
      <p:ext uri="{BB962C8B-B14F-4D97-AF65-F5344CB8AC3E}">
        <p14:creationId xmlns:p14="http://schemas.microsoft.com/office/powerpoint/2010/main" val="3108136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E8AC673B-2405-0FFC-B419-18C92F030B09}"/>
              </a:ext>
            </a:extLst>
          </p:cNvPr>
          <p:cNvSpPr txBox="1"/>
          <p:nvPr/>
        </p:nvSpPr>
        <p:spPr>
          <a:xfrm>
            <a:off x="868394" y="5822967"/>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522D935-475A-A0E7-895C-BCFF4F36D881}"/>
              </a:ext>
            </a:extLst>
          </p:cNvPr>
          <p:cNvSpPr/>
          <p:nvPr/>
        </p:nvSpPr>
        <p:spPr>
          <a:xfrm>
            <a:off x="967152" y="1394118"/>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Proper way to move vehicle</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5" name="Rectangle 4"/>
          <p:cNvSpPr/>
          <p:nvPr/>
        </p:nvSpPr>
        <p:spPr>
          <a:xfrm>
            <a:off x="1210886" y="1751652"/>
            <a:ext cx="10169237" cy="923330"/>
          </a:xfrm>
          <a:prstGeom prst="rect">
            <a:avLst/>
          </a:prstGeom>
        </p:spPr>
        <p:txBody>
          <a:bodyPr wrap="square">
            <a:spAutoFit/>
          </a:bodyPr>
          <a:lstStyle/>
          <a:p>
            <a:r>
              <a:rPr lang="en-US" dirty="0"/>
              <a:t>To move a vehicle, you can drive it yourself or have it transported by professionals. Driving involves operating the engine, clutch, gas, and brake pedals while steering, whereas professional transport uses services like auto transport companies or drivers who handle the move for you</a:t>
            </a:r>
          </a:p>
        </p:txBody>
      </p:sp>
      <p:sp>
        <p:nvSpPr>
          <p:cNvPr id="6" name="Rectangle 5"/>
          <p:cNvSpPr/>
          <p:nvPr/>
        </p:nvSpPr>
        <p:spPr>
          <a:xfrm>
            <a:off x="1199425" y="2821766"/>
            <a:ext cx="9554095" cy="2585323"/>
          </a:xfrm>
          <a:prstGeom prst="rect">
            <a:avLst/>
          </a:prstGeom>
        </p:spPr>
        <p:txBody>
          <a:bodyPr wrap="square">
            <a:spAutoFit/>
          </a:bodyPr>
          <a:lstStyle/>
          <a:p>
            <a:r>
              <a:rPr lang="en-US" b="1" dirty="0"/>
              <a:t>Manual transmission:</a:t>
            </a:r>
          </a:p>
          <a:p>
            <a:r>
              <a:rPr lang="en-US" b="1" dirty="0"/>
              <a:t> </a:t>
            </a:r>
            <a:r>
              <a:rPr lang="en-US" dirty="0"/>
              <a:t>Ensure</a:t>
            </a:r>
            <a:r>
              <a:rPr lang="en-US" b="1" dirty="0"/>
              <a:t> </a:t>
            </a:r>
            <a:r>
              <a:rPr lang="en-US" dirty="0"/>
              <a:t>the vehicle is in neutral with the handbrake on, then start the engine.</a:t>
            </a:r>
          </a:p>
          <a:p>
            <a:r>
              <a:rPr lang="en-US" dirty="0"/>
              <a:t> Press the clutch all the way down and select first gear. </a:t>
            </a:r>
          </a:p>
          <a:p>
            <a:endParaRPr lang="en-US" dirty="0"/>
          </a:p>
          <a:p>
            <a:r>
              <a:rPr lang="en-US" dirty="0"/>
              <a:t>Gently press the gas pedal to about \(1,500\) revs, then slowly lift the clutch to the "biting point" where you feel the engine sound change.</a:t>
            </a:r>
          </a:p>
          <a:p>
            <a:endParaRPr lang="en-US" dirty="0"/>
          </a:p>
          <a:p>
            <a:r>
              <a:rPr lang="en-US" dirty="0"/>
              <a:t> Release the handbrake, and as the car starts to move, slowly lift the clutch completely while applying a little more gas to accelerate.</a:t>
            </a:r>
          </a:p>
        </p:txBody>
      </p:sp>
    </p:spTree>
    <p:custDataLst>
      <p:tags r:id="rId1"/>
    </p:custDataLst>
    <p:extLst>
      <p:ext uri="{BB962C8B-B14F-4D97-AF65-F5344CB8AC3E}">
        <p14:creationId xmlns:p14="http://schemas.microsoft.com/office/powerpoint/2010/main" val="3886012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E8AC673B-2405-0FFC-B419-18C92F030B09}"/>
              </a:ext>
            </a:extLst>
          </p:cNvPr>
          <p:cNvSpPr txBox="1"/>
          <p:nvPr/>
        </p:nvSpPr>
        <p:spPr>
          <a:xfrm>
            <a:off x="868394" y="5822967"/>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522D935-475A-A0E7-895C-BCFF4F36D881}"/>
              </a:ext>
            </a:extLst>
          </p:cNvPr>
          <p:cNvSpPr/>
          <p:nvPr/>
        </p:nvSpPr>
        <p:spPr>
          <a:xfrm>
            <a:off x="967152" y="1394118"/>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Proper way to move vehicle</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5" name="Rectangle 4"/>
          <p:cNvSpPr/>
          <p:nvPr/>
        </p:nvSpPr>
        <p:spPr>
          <a:xfrm>
            <a:off x="1210886" y="1751652"/>
            <a:ext cx="10169237" cy="923330"/>
          </a:xfrm>
          <a:prstGeom prst="rect">
            <a:avLst/>
          </a:prstGeom>
        </p:spPr>
        <p:txBody>
          <a:bodyPr wrap="square">
            <a:spAutoFit/>
          </a:bodyPr>
          <a:lstStyle/>
          <a:p>
            <a:r>
              <a:rPr lang="en-US" dirty="0"/>
              <a:t>To move a vehicle, you can drive it yourself or have it transported by professionals. Driving involves operating the engine, clutch, gas, and brake pedals while steering, whereas professional transport uses services like auto transport companies or drivers who handle the move for you</a:t>
            </a:r>
          </a:p>
        </p:txBody>
      </p:sp>
      <p:sp>
        <p:nvSpPr>
          <p:cNvPr id="4" name="Rectangle 3"/>
          <p:cNvSpPr/>
          <p:nvPr/>
        </p:nvSpPr>
        <p:spPr>
          <a:xfrm>
            <a:off x="1210885" y="2830995"/>
            <a:ext cx="6885711" cy="2031325"/>
          </a:xfrm>
          <a:prstGeom prst="rect">
            <a:avLst/>
          </a:prstGeom>
        </p:spPr>
        <p:txBody>
          <a:bodyPr wrap="square">
            <a:spAutoFit/>
          </a:bodyPr>
          <a:lstStyle/>
          <a:p>
            <a:r>
              <a:rPr lang="en-US" b="1" dirty="0"/>
              <a:t>Automatic transmission:</a:t>
            </a:r>
          </a:p>
          <a:p>
            <a:r>
              <a:rPr lang="en-US" dirty="0"/>
              <a:t>Press the brake paddle and Start the engine. </a:t>
            </a:r>
          </a:p>
          <a:p>
            <a:endParaRPr lang="en-US" dirty="0"/>
          </a:p>
          <a:p>
            <a:r>
              <a:rPr lang="en-US" dirty="0"/>
              <a:t>Shift the gear selector into "Drive".</a:t>
            </a:r>
          </a:p>
          <a:p>
            <a:endParaRPr lang="en-US" dirty="0"/>
          </a:p>
          <a:p>
            <a:r>
              <a:rPr lang="en-US" dirty="0"/>
              <a:t>Release the parking brake and the foot brake, and gently press the gas pedal to move forward.</a:t>
            </a:r>
          </a:p>
        </p:txBody>
      </p:sp>
      <p:pic>
        <p:nvPicPr>
          <p:cNvPr id="7" name="Picture 6"/>
          <p:cNvPicPr>
            <a:picLocks noChangeAspect="1"/>
          </p:cNvPicPr>
          <p:nvPr/>
        </p:nvPicPr>
        <p:blipFill>
          <a:blip r:embed="rId4"/>
          <a:stretch>
            <a:fillRect/>
          </a:stretch>
        </p:blipFill>
        <p:spPr>
          <a:xfrm>
            <a:off x="8554921" y="3536720"/>
            <a:ext cx="2825202" cy="2714168"/>
          </a:xfrm>
          <a:prstGeom prst="rect">
            <a:avLst/>
          </a:prstGeom>
        </p:spPr>
      </p:pic>
      <p:sp>
        <p:nvSpPr>
          <p:cNvPr id="9" name="AutoShape 2" descr="Moving Off in an Automatic Car - Learn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custDataLst>
      <p:tags r:id="rId1"/>
    </p:custDataLst>
    <p:extLst>
      <p:ext uri="{BB962C8B-B14F-4D97-AF65-F5344CB8AC3E}">
        <p14:creationId xmlns:p14="http://schemas.microsoft.com/office/powerpoint/2010/main" val="2040746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E8AC673B-2405-0FFC-B419-18C92F030B09}"/>
              </a:ext>
            </a:extLst>
          </p:cNvPr>
          <p:cNvSpPr txBox="1"/>
          <p:nvPr/>
        </p:nvSpPr>
        <p:spPr>
          <a:xfrm>
            <a:off x="868394" y="5822967"/>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522D935-475A-A0E7-895C-BCFF4F36D881}"/>
              </a:ext>
            </a:extLst>
          </p:cNvPr>
          <p:cNvSpPr/>
          <p:nvPr/>
        </p:nvSpPr>
        <p:spPr>
          <a:xfrm>
            <a:off x="967152" y="1394118"/>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Proper way to move vehicle</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9" name="AutoShape 2" descr="Moving Off in an Automatic Car - Learn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Rectangle 5"/>
          <p:cNvSpPr/>
          <p:nvPr/>
        </p:nvSpPr>
        <p:spPr>
          <a:xfrm>
            <a:off x="967151" y="1774257"/>
            <a:ext cx="10795357" cy="3139321"/>
          </a:xfrm>
          <a:prstGeom prst="rect">
            <a:avLst/>
          </a:prstGeom>
        </p:spPr>
        <p:txBody>
          <a:bodyPr wrap="square">
            <a:spAutoFit/>
          </a:bodyPr>
          <a:lstStyle/>
          <a:p>
            <a:r>
              <a:rPr lang="en-US" b="1" dirty="0"/>
              <a:t>Transporting the vehicle with a professional service</a:t>
            </a:r>
          </a:p>
          <a:p>
            <a:r>
              <a:rPr lang="en-US" dirty="0"/>
              <a:t>This method is for moving a vehicle long distances without driving it. </a:t>
            </a:r>
          </a:p>
          <a:p>
            <a:endParaRPr lang="en-US" dirty="0"/>
          </a:p>
          <a:p>
            <a:r>
              <a:rPr lang="en-US" b="1" dirty="0"/>
              <a:t>Hiring a company: </a:t>
            </a:r>
            <a:r>
              <a:rPr lang="en-US" dirty="0"/>
              <a:t>Research and choose an auto transport company that offers open or enclosed carrier transport, or a company that can find a driver for you.</a:t>
            </a:r>
          </a:p>
          <a:p>
            <a:endParaRPr lang="en-US" dirty="0"/>
          </a:p>
          <a:p>
            <a:r>
              <a:rPr lang="en-US" b="1" dirty="0"/>
              <a:t>Preparing the vehicle: </a:t>
            </a:r>
            <a:r>
              <a:rPr lang="en-US" dirty="0"/>
              <a:t>Clean the car, remove personal items, document its condition, and check tire pressure and fluids before transport.</a:t>
            </a:r>
          </a:p>
          <a:p>
            <a:endParaRPr lang="en-US" dirty="0"/>
          </a:p>
          <a:p>
            <a:r>
              <a:rPr lang="en-US" b="1" dirty="0"/>
              <a:t>Logistics: </a:t>
            </a:r>
            <a:r>
              <a:rPr lang="en-US" dirty="0"/>
              <a:t>Schedule a pick-up and delivery date. The company will provide an estimate based on the vehicle's size and distance</a:t>
            </a:r>
          </a:p>
        </p:txBody>
      </p:sp>
    </p:spTree>
    <p:custDataLst>
      <p:tags r:id="rId1"/>
    </p:custDataLst>
    <p:extLst>
      <p:ext uri="{BB962C8B-B14F-4D97-AF65-F5344CB8AC3E}">
        <p14:creationId xmlns:p14="http://schemas.microsoft.com/office/powerpoint/2010/main" val="1733763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E8AC673B-2405-0FFC-B419-18C92F030B09}"/>
              </a:ext>
            </a:extLst>
          </p:cNvPr>
          <p:cNvSpPr txBox="1"/>
          <p:nvPr/>
        </p:nvSpPr>
        <p:spPr>
          <a:xfrm>
            <a:off x="868394" y="5822967"/>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522D935-475A-A0E7-895C-BCFF4F36D881}"/>
              </a:ext>
            </a:extLst>
          </p:cNvPr>
          <p:cNvSpPr/>
          <p:nvPr/>
        </p:nvSpPr>
        <p:spPr>
          <a:xfrm>
            <a:off x="967152" y="1394118"/>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Proper way to move vehicle</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9" name="AutoShape 2" descr="Moving Off in an Automatic Car - Learn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Rectangle 3"/>
          <p:cNvSpPr/>
          <p:nvPr/>
        </p:nvSpPr>
        <p:spPr>
          <a:xfrm>
            <a:off x="967151" y="1942328"/>
            <a:ext cx="9290753" cy="2308324"/>
          </a:xfrm>
          <a:prstGeom prst="rect">
            <a:avLst/>
          </a:prstGeom>
        </p:spPr>
        <p:txBody>
          <a:bodyPr wrap="square">
            <a:spAutoFit/>
          </a:bodyPr>
          <a:lstStyle/>
          <a:p>
            <a:r>
              <a:rPr lang="en-US" dirty="0"/>
              <a:t>Key considerations for both methods</a:t>
            </a:r>
          </a:p>
          <a:p>
            <a:endParaRPr lang="en-US" dirty="0"/>
          </a:p>
          <a:p>
            <a:r>
              <a:rPr lang="en-US" b="1" dirty="0"/>
              <a:t>Manual vs. automatic: </a:t>
            </a:r>
            <a:r>
              <a:rPr lang="en-US" dirty="0"/>
              <a:t>The steps for moving a manual car involve coordinating the clutch, gas, and brake pedals, while an automatic car is simpler.</a:t>
            </a:r>
          </a:p>
          <a:p>
            <a:endParaRPr lang="en-US" dirty="0"/>
          </a:p>
          <a:p>
            <a:r>
              <a:rPr lang="en-US" b="1" dirty="0"/>
              <a:t>Safety and preparation: </a:t>
            </a:r>
            <a:r>
              <a:rPr lang="en-US" dirty="0"/>
              <a:t>Before driving, ensure you are in a safe position, the car is properly prepared, and you have the necessary documents. For transport, thorough preparation minimizes risks</a:t>
            </a:r>
          </a:p>
        </p:txBody>
      </p:sp>
    </p:spTree>
    <p:custDataLst>
      <p:tags r:id="rId1"/>
    </p:custDataLst>
    <p:extLst>
      <p:ext uri="{BB962C8B-B14F-4D97-AF65-F5344CB8AC3E}">
        <p14:creationId xmlns:p14="http://schemas.microsoft.com/office/powerpoint/2010/main" val="2919565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E8AC673B-2405-0FFC-B419-18C92F030B09}"/>
              </a:ext>
            </a:extLst>
          </p:cNvPr>
          <p:cNvSpPr txBox="1"/>
          <p:nvPr/>
        </p:nvSpPr>
        <p:spPr>
          <a:xfrm>
            <a:off x="868394" y="5822967"/>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522D935-475A-A0E7-895C-BCFF4F36D881}"/>
              </a:ext>
            </a:extLst>
          </p:cNvPr>
          <p:cNvSpPr/>
          <p:nvPr/>
        </p:nvSpPr>
        <p:spPr>
          <a:xfrm>
            <a:off x="967152" y="1394118"/>
            <a:ext cx="7738787" cy="35753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600" b="1" kern="0" dirty="0">
                <a:latin typeface="Times New Roman" panose="02020603050405020304" pitchFamily="18" charset="0"/>
                <a:ea typeface="Calibri" panose="020F0502020204030204" pitchFamily="34" charset="0"/>
                <a:cs typeface="Arial" panose="020B0604020202020204" pitchFamily="34" charset="0"/>
              </a:rPr>
              <a:t>Position and Park Vehicle </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9" name="AutoShape 2" descr="Moving Off in an Automatic Car - Learn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Rectangle 4"/>
          <p:cNvSpPr/>
          <p:nvPr/>
        </p:nvSpPr>
        <p:spPr>
          <a:xfrm>
            <a:off x="1177636" y="1751652"/>
            <a:ext cx="10094422" cy="1477328"/>
          </a:xfrm>
          <a:prstGeom prst="rect">
            <a:avLst/>
          </a:prstGeom>
        </p:spPr>
        <p:txBody>
          <a:bodyPr wrap="square">
            <a:spAutoFit/>
          </a:bodyPr>
          <a:lstStyle/>
          <a:p>
            <a:r>
              <a:rPr lang="en-US" dirty="0"/>
              <a:t>To position and park a vehicle, slowly signal and approach the space, aligning your car appropriately (e.g., parallel to the curb with about two feet of space for parallel parking). Then, maneuver into the spot, using your mirrors and checking blind spots to stay centered within the lines. Finally, secure the vehicle by engaging the parking brake and shifting into "Park" or gear before turning off the engine</a:t>
            </a:r>
          </a:p>
        </p:txBody>
      </p:sp>
      <p:pic>
        <p:nvPicPr>
          <p:cNvPr id="6" name="Picture 5"/>
          <p:cNvPicPr>
            <a:picLocks noChangeAspect="1"/>
          </p:cNvPicPr>
          <p:nvPr/>
        </p:nvPicPr>
        <p:blipFill>
          <a:blip r:embed="rId4"/>
          <a:stretch>
            <a:fillRect/>
          </a:stretch>
        </p:blipFill>
        <p:spPr>
          <a:xfrm>
            <a:off x="6616065" y="3283431"/>
            <a:ext cx="4655993" cy="3103995"/>
          </a:xfrm>
          <a:prstGeom prst="rect">
            <a:avLst/>
          </a:prstGeom>
        </p:spPr>
      </p:pic>
    </p:spTree>
    <p:custDataLst>
      <p:tags r:id="rId1"/>
    </p:custDataLst>
    <p:extLst>
      <p:ext uri="{BB962C8B-B14F-4D97-AF65-F5344CB8AC3E}">
        <p14:creationId xmlns:p14="http://schemas.microsoft.com/office/powerpoint/2010/main" val="1166849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945979"/>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E8AC673B-2405-0FFC-B419-18C92F030B09}"/>
              </a:ext>
            </a:extLst>
          </p:cNvPr>
          <p:cNvSpPr txBox="1"/>
          <p:nvPr/>
        </p:nvSpPr>
        <p:spPr>
          <a:xfrm>
            <a:off x="868394" y="5822967"/>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522D935-475A-A0E7-895C-BCFF4F36D881}"/>
              </a:ext>
            </a:extLst>
          </p:cNvPr>
          <p:cNvSpPr/>
          <p:nvPr/>
        </p:nvSpPr>
        <p:spPr>
          <a:xfrm>
            <a:off x="967152" y="1394118"/>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General Parking Steps</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9" name="AutoShape 2" descr="Moving Off in an Automatic Car - Learn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Rectangle 3"/>
          <p:cNvSpPr/>
          <p:nvPr/>
        </p:nvSpPr>
        <p:spPr>
          <a:xfrm>
            <a:off x="606829" y="1784481"/>
            <a:ext cx="9900459" cy="3970318"/>
          </a:xfrm>
          <a:prstGeom prst="rect">
            <a:avLst/>
          </a:prstGeom>
        </p:spPr>
        <p:txBody>
          <a:bodyPr wrap="square">
            <a:spAutoFit/>
          </a:bodyPr>
          <a:lstStyle/>
          <a:p>
            <a:r>
              <a:rPr lang="en-US" b="1" dirty="0"/>
              <a:t>Find a suitable, legal spot</a:t>
            </a:r>
            <a:r>
              <a:rPr lang="en-US" dirty="0"/>
              <a:t>: Look for a space that provides enough room for your car to fit without hitting other vehicles or obstacles, and check for any parking restrictions or signs.</a:t>
            </a:r>
          </a:p>
          <a:p>
            <a:r>
              <a:rPr lang="en-US" b="1" dirty="0"/>
              <a:t>Signal your intention</a:t>
            </a:r>
            <a:r>
              <a:rPr lang="en-US" dirty="0"/>
              <a:t>: Alert other drivers and pedestrians that you plan to park by using your turn signal.</a:t>
            </a:r>
          </a:p>
          <a:p>
            <a:r>
              <a:rPr lang="en-US" b="1" dirty="0"/>
              <a:t>Position your vehicle</a:t>
            </a:r>
            <a:r>
              <a:rPr lang="en-US" dirty="0"/>
              <a:t>: Maneuver your car to the appropriate starting position for the specific type of parking you are performing.</a:t>
            </a:r>
          </a:p>
          <a:p>
            <a:r>
              <a:rPr lang="en-US" b="1" dirty="0"/>
              <a:t>Check mirrors and blind spots</a:t>
            </a:r>
            <a:r>
              <a:rPr lang="en-US" dirty="0"/>
              <a:t>: Continuously check for traffic, pedestrians, or other obstacles around your vehicle before and during the maneuver.</a:t>
            </a:r>
          </a:p>
          <a:p>
            <a:r>
              <a:rPr lang="en-US" b="1" dirty="0"/>
              <a:t>Maneuver slowly: </a:t>
            </a:r>
            <a:r>
              <a:rPr lang="en-US" dirty="0"/>
              <a:t>Turn the steering wheel as needed while moving at a very slow speed, making small corrections to enter the spot correctly.</a:t>
            </a:r>
          </a:p>
          <a:p>
            <a:r>
              <a:rPr lang="en-US" b="1" dirty="0"/>
              <a:t>Straighten out: </a:t>
            </a:r>
            <a:r>
              <a:rPr lang="en-US" dirty="0"/>
              <a:t>Once in the spot, align your tires so the car is centered and parallel to the lines or curb.</a:t>
            </a:r>
          </a:p>
          <a:p>
            <a:r>
              <a:rPr lang="en-US" b="1" dirty="0"/>
              <a:t>Secure the vehicle: </a:t>
            </a:r>
            <a:r>
              <a:rPr lang="en-US" dirty="0"/>
              <a:t>Engage the parking brake, shift into park (P) for automatic cars or neutral for manual, turn off the engine, and remove the key.</a:t>
            </a:r>
          </a:p>
        </p:txBody>
      </p:sp>
    </p:spTree>
    <p:custDataLst>
      <p:tags r:id="rId1"/>
    </p:custDataLst>
    <p:extLst>
      <p:ext uri="{BB962C8B-B14F-4D97-AF65-F5344CB8AC3E}">
        <p14:creationId xmlns:p14="http://schemas.microsoft.com/office/powerpoint/2010/main" val="2813906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612438"/>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E8AC673B-2405-0FFC-B419-18C92F030B09}"/>
              </a:ext>
            </a:extLst>
          </p:cNvPr>
          <p:cNvSpPr txBox="1"/>
          <p:nvPr/>
        </p:nvSpPr>
        <p:spPr>
          <a:xfrm>
            <a:off x="868394" y="5822967"/>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522D935-475A-A0E7-895C-BCFF4F36D881}"/>
              </a:ext>
            </a:extLst>
          </p:cNvPr>
          <p:cNvSpPr/>
          <p:nvPr/>
        </p:nvSpPr>
        <p:spPr>
          <a:xfrm>
            <a:off x="784272" y="1025240"/>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Perpendicular Parking (Head-In or Back-In) Steps</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9" name="AutoShape 2" descr="Moving Off in an Automatic Car - Learn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Rectangle 4"/>
          <p:cNvSpPr/>
          <p:nvPr/>
        </p:nvSpPr>
        <p:spPr>
          <a:xfrm>
            <a:off x="868393" y="1458034"/>
            <a:ext cx="10478479" cy="4308872"/>
          </a:xfrm>
          <a:prstGeom prst="rect">
            <a:avLst/>
          </a:prstGeom>
        </p:spPr>
        <p:txBody>
          <a:bodyPr wrap="square">
            <a:spAutoFit/>
          </a:bodyPr>
          <a:lstStyle/>
          <a:p>
            <a:r>
              <a:rPr lang="en-US" b="1" dirty="0"/>
              <a:t>Head-In:</a:t>
            </a:r>
          </a:p>
          <a:p>
            <a:r>
              <a:rPr lang="en-US" sz="1600" dirty="0"/>
              <a:t>Position your car so there is enough room to make a wide turn into the spot.</a:t>
            </a:r>
          </a:p>
          <a:p>
            <a:endParaRPr lang="en-US" sz="1600" dirty="0"/>
          </a:p>
          <a:p>
            <a:r>
              <a:rPr lang="en-US" sz="1600" dirty="0"/>
              <a:t>When your side mirror is in line with the first line of the bay you want to enter, turn your steering wheel to full lock in the direction of the spot.</a:t>
            </a:r>
          </a:p>
          <a:p>
            <a:endParaRPr lang="en-US" sz="1600" dirty="0"/>
          </a:p>
          <a:p>
            <a:r>
              <a:rPr lang="en-US" sz="1600" dirty="0"/>
              <a:t>Slowly pull in, straightening the wheel once your car is aligned within the lines.</a:t>
            </a:r>
          </a:p>
          <a:p>
            <a:endParaRPr lang="en-US" sz="1600" b="1" dirty="0"/>
          </a:p>
          <a:p>
            <a:r>
              <a:rPr lang="en-US" sz="1600" b="1" dirty="0"/>
              <a:t>Back-In (Safer when exiting):</a:t>
            </a:r>
          </a:p>
          <a:p>
            <a:endParaRPr lang="en-US" sz="1600" dirty="0"/>
          </a:p>
          <a:p>
            <a:r>
              <a:rPr lang="en-US" sz="1600" dirty="0"/>
              <a:t>Drive past the space and position your vehicle so it is adjacent to the one you want to reverse into, leaving about 3 feet of space.</a:t>
            </a:r>
          </a:p>
          <a:p>
            <a:endParaRPr lang="en-US" sz="1600" dirty="0"/>
          </a:p>
          <a:p>
            <a:r>
              <a:rPr lang="en-US" sz="1600" dirty="0"/>
              <a:t>Shift into reverse, check your surroundings, and turn the steering wheel to full lock toward the space.</a:t>
            </a:r>
          </a:p>
          <a:p>
            <a:endParaRPr lang="en-US" sz="1600" dirty="0"/>
          </a:p>
          <a:p>
            <a:r>
              <a:rPr lang="en-US" sz="1600" dirty="0"/>
              <a:t>Slowly back up, using both side mirrors to guide yourself between the lines. Straighten the wheel when your car is aligned with the two adjacent vehicles</a:t>
            </a:r>
          </a:p>
        </p:txBody>
      </p:sp>
    </p:spTree>
    <p:custDataLst>
      <p:tags r:id="rId1"/>
    </p:custDataLst>
    <p:extLst>
      <p:ext uri="{BB962C8B-B14F-4D97-AF65-F5344CB8AC3E}">
        <p14:creationId xmlns:p14="http://schemas.microsoft.com/office/powerpoint/2010/main" val="2069506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612438"/>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E8AC673B-2405-0FFC-B419-18C92F030B09}"/>
              </a:ext>
            </a:extLst>
          </p:cNvPr>
          <p:cNvSpPr txBox="1"/>
          <p:nvPr/>
        </p:nvSpPr>
        <p:spPr>
          <a:xfrm>
            <a:off x="868394" y="5822967"/>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522D935-475A-A0E7-895C-BCFF4F36D881}"/>
              </a:ext>
            </a:extLst>
          </p:cNvPr>
          <p:cNvSpPr/>
          <p:nvPr/>
        </p:nvSpPr>
        <p:spPr>
          <a:xfrm>
            <a:off x="784272" y="1025240"/>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Perpendicular Parking (Head-In or Back-In) Steps</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9" name="AutoShape 2" descr="Moving Off in an Automatic Car - Learn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Rectangle 3"/>
          <p:cNvSpPr/>
          <p:nvPr/>
        </p:nvSpPr>
        <p:spPr>
          <a:xfrm>
            <a:off x="1062656" y="1458034"/>
            <a:ext cx="1736373" cy="369332"/>
          </a:xfrm>
          <a:prstGeom prst="rect">
            <a:avLst/>
          </a:prstGeom>
        </p:spPr>
        <p:txBody>
          <a:bodyPr wrap="none">
            <a:spAutoFit/>
          </a:bodyPr>
          <a:lstStyle/>
          <a:p>
            <a:r>
              <a:rPr lang="en-US" b="1" dirty="0"/>
              <a:t>Angle Parking</a:t>
            </a:r>
          </a:p>
        </p:txBody>
      </p:sp>
      <p:sp>
        <p:nvSpPr>
          <p:cNvPr id="6" name="Rectangle 5"/>
          <p:cNvSpPr/>
          <p:nvPr/>
        </p:nvSpPr>
        <p:spPr>
          <a:xfrm>
            <a:off x="651268" y="1793841"/>
            <a:ext cx="5325583" cy="3139321"/>
          </a:xfrm>
          <a:prstGeom prst="rect">
            <a:avLst/>
          </a:prstGeom>
        </p:spPr>
        <p:txBody>
          <a:bodyPr wrap="square">
            <a:spAutoFit/>
          </a:bodyPr>
          <a:lstStyle/>
          <a:p>
            <a:r>
              <a:rPr lang="en-US" dirty="0"/>
              <a:t>Angle parking is simpler and often used in small lots with diagonal spaces. </a:t>
            </a:r>
          </a:p>
          <a:p>
            <a:endParaRPr lang="en-US" dirty="0"/>
          </a:p>
          <a:p>
            <a:r>
              <a:rPr lang="en-US" dirty="0"/>
              <a:t>Signal and approach the space at a slow speed, ensuring you angle your car towards the spot.</a:t>
            </a:r>
          </a:p>
          <a:p>
            <a:endParaRPr lang="en-US" dirty="0"/>
          </a:p>
          <a:p>
            <a:r>
              <a:rPr lang="en-US" dirty="0"/>
              <a:t>Slowly drive in, straightening the wheel once you are halfway into the spot.</a:t>
            </a:r>
          </a:p>
          <a:p>
            <a:endParaRPr lang="en-US" dirty="0"/>
          </a:p>
          <a:p>
            <a:r>
              <a:rPr lang="en-US" dirty="0"/>
              <a:t>Ensure your car is centered and not sticking out into the driving lane</a:t>
            </a:r>
          </a:p>
        </p:txBody>
      </p:sp>
      <p:pic>
        <p:nvPicPr>
          <p:cNvPr id="7" name="Picture 6"/>
          <p:cNvPicPr>
            <a:picLocks noChangeAspect="1"/>
          </p:cNvPicPr>
          <p:nvPr/>
        </p:nvPicPr>
        <p:blipFill>
          <a:blip r:embed="rId4"/>
          <a:stretch>
            <a:fillRect/>
          </a:stretch>
        </p:blipFill>
        <p:spPr>
          <a:xfrm>
            <a:off x="6964394" y="1793841"/>
            <a:ext cx="4748238" cy="4091570"/>
          </a:xfrm>
          <a:prstGeom prst="rect">
            <a:avLst/>
          </a:prstGeom>
        </p:spPr>
      </p:pic>
    </p:spTree>
    <p:custDataLst>
      <p:tags r:id="rId1"/>
    </p:custDataLst>
    <p:extLst>
      <p:ext uri="{BB962C8B-B14F-4D97-AF65-F5344CB8AC3E}">
        <p14:creationId xmlns:p14="http://schemas.microsoft.com/office/powerpoint/2010/main" val="2652811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612438"/>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E8AC673B-2405-0FFC-B419-18C92F030B09}"/>
              </a:ext>
            </a:extLst>
          </p:cNvPr>
          <p:cNvSpPr txBox="1"/>
          <p:nvPr/>
        </p:nvSpPr>
        <p:spPr>
          <a:xfrm>
            <a:off x="868394" y="5822967"/>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522D935-475A-A0E7-895C-BCFF4F36D881}"/>
              </a:ext>
            </a:extLst>
          </p:cNvPr>
          <p:cNvSpPr/>
          <p:nvPr/>
        </p:nvSpPr>
        <p:spPr>
          <a:xfrm>
            <a:off x="784272" y="1025240"/>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Perpendicular Parking (Head-In or Back-In) Steps</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9" name="AutoShape 2" descr="Moving Off in an Automatic Car - Learn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Rectangle 3"/>
          <p:cNvSpPr/>
          <p:nvPr/>
        </p:nvSpPr>
        <p:spPr>
          <a:xfrm>
            <a:off x="1062656" y="1458034"/>
            <a:ext cx="1915909" cy="369332"/>
          </a:xfrm>
          <a:prstGeom prst="rect">
            <a:avLst/>
          </a:prstGeom>
        </p:spPr>
        <p:txBody>
          <a:bodyPr wrap="none">
            <a:spAutoFit/>
          </a:bodyPr>
          <a:lstStyle/>
          <a:p>
            <a:r>
              <a:rPr lang="en-US" b="1" dirty="0"/>
              <a:t>Parallel Parking</a:t>
            </a:r>
          </a:p>
        </p:txBody>
      </p:sp>
      <p:sp>
        <p:nvSpPr>
          <p:cNvPr id="5" name="Rectangle 4"/>
          <p:cNvSpPr/>
          <p:nvPr/>
        </p:nvSpPr>
        <p:spPr>
          <a:xfrm>
            <a:off x="868393" y="1872572"/>
            <a:ext cx="10960617" cy="3785652"/>
          </a:xfrm>
          <a:prstGeom prst="rect">
            <a:avLst/>
          </a:prstGeom>
        </p:spPr>
        <p:txBody>
          <a:bodyPr wrap="square">
            <a:spAutoFit/>
          </a:bodyPr>
          <a:lstStyle/>
          <a:p>
            <a:r>
              <a:rPr lang="en-US" sz="1600" dirty="0"/>
              <a:t>Find a spot at least 1.5 times the length of your car.</a:t>
            </a:r>
          </a:p>
          <a:p>
            <a:endParaRPr lang="en-US" sz="1600" dirty="0"/>
          </a:p>
          <a:p>
            <a:r>
              <a:rPr lang="en-US" sz="1600" dirty="0"/>
              <a:t>Position your car parallel to the car in front of the empty space, about 2-3 feet away, with your rear bumpers aligned.</a:t>
            </a:r>
          </a:p>
          <a:p>
            <a:endParaRPr lang="en-US" sz="1600" dirty="0"/>
          </a:p>
          <a:p>
            <a:r>
              <a:rPr lang="en-US" sz="1600" dirty="0"/>
              <a:t>Shift into reverse, turn your steering wheel fully towards the curb, and reverse slowly.</a:t>
            </a:r>
          </a:p>
          <a:p>
            <a:r>
              <a:rPr lang="en-US" sz="1600" dirty="0"/>
              <a:t>Stop when your car is at about a 45-degree angle to the curb or when you see the car behind you in your left side mirror.</a:t>
            </a:r>
          </a:p>
          <a:p>
            <a:endParaRPr lang="en-US" sz="1600" dirty="0"/>
          </a:p>
          <a:p>
            <a:r>
              <a:rPr lang="en-US" sz="1600" dirty="0"/>
              <a:t>Straighten your wheels and continue reversing straight back until your front bumper clears the rear bumper of the car in front.</a:t>
            </a:r>
          </a:p>
          <a:p>
            <a:endParaRPr lang="en-US" sz="1600" dirty="0"/>
          </a:p>
          <a:p>
            <a:r>
              <a:rPr lang="en-US" sz="1600" dirty="0"/>
              <a:t>Turn the wheel fully away from the curb (e.g., to the left for a right-side park) and continue to reverse slowly until you are in the spot and parallel to the curb.</a:t>
            </a:r>
          </a:p>
          <a:p>
            <a:endParaRPr lang="en-US" sz="1600" dirty="0"/>
          </a:p>
          <a:p>
            <a:r>
              <a:rPr lang="en-US" sz="1600" dirty="0"/>
              <a:t>Adjust by moving forward or backward to center your vehicle in the space.</a:t>
            </a:r>
          </a:p>
        </p:txBody>
      </p:sp>
    </p:spTree>
    <p:custDataLst>
      <p:tags r:id="rId1"/>
    </p:custDataLst>
    <p:extLst>
      <p:ext uri="{BB962C8B-B14F-4D97-AF65-F5344CB8AC3E}">
        <p14:creationId xmlns:p14="http://schemas.microsoft.com/office/powerpoint/2010/main" val="4166494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612438"/>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E8AC673B-2405-0FFC-B419-18C92F030B09}"/>
              </a:ext>
            </a:extLst>
          </p:cNvPr>
          <p:cNvSpPr txBox="1"/>
          <p:nvPr/>
        </p:nvSpPr>
        <p:spPr>
          <a:xfrm>
            <a:off x="868394" y="5822967"/>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522D935-475A-A0E7-895C-BCFF4F36D881}"/>
              </a:ext>
            </a:extLst>
          </p:cNvPr>
          <p:cNvSpPr/>
          <p:nvPr/>
        </p:nvSpPr>
        <p:spPr>
          <a:xfrm>
            <a:off x="784272" y="1025240"/>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Perpendicular Parking (Head-In or Back-In) Steps</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9" name="AutoShape 2" descr="Moving Off in an Automatic Car - Learn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Rectangle 5"/>
          <p:cNvSpPr/>
          <p:nvPr/>
        </p:nvSpPr>
        <p:spPr>
          <a:xfrm>
            <a:off x="967152" y="1458034"/>
            <a:ext cx="6096000" cy="646331"/>
          </a:xfrm>
          <a:prstGeom prst="rect">
            <a:avLst/>
          </a:prstGeom>
        </p:spPr>
        <p:txBody>
          <a:bodyPr>
            <a:spAutoFit/>
          </a:bodyPr>
          <a:lstStyle/>
          <a:p>
            <a:r>
              <a:rPr lang="en-US" dirty="0"/>
              <a:t>Step-by-Step Lifting Procedure (using a floor jack and jack stands)</a:t>
            </a:r>
          </a:p>
        </p:txBody>
      </p:sp>
      <p:sp>
        <p:nvSpPr>
          <p:cNvPr id="7" name="Rectangle 6"/>
          <p:cNvSpPr/>
          <p:nvPr/>
        </p:nvSpPr>
        <p:spPr>
          <a:xfrm>
            <a:off x="784272" y="2149360"/>
            <a:ext cx="11343996" cy="3293209"/>
          </a:xfrm>
          <a:prstGeom prst="rect">
            <a:avLst/>
          </a:prstGeom>
        </p:spPr>
        <p:txBody>
          <a:bodyPr wrap="square">
            <a:spAutoFit/>
          </a:bodyPr>
          <a:lstStyle/>
          <a:p>
            <a:r>
              <a:rPr lang="en-US" sz="1600" dirty="0"/>
              <a:t>Prepare the Vehicle and Area: Park the vehicle on a level surface, engage the parking brake, and chock the uplifted wheels.</a:t>
            </a:r>
          </a:p>
          <a:p>
            <a:r>
              <a:rPr lang="en-US" sz="1600" dirty="0"/>
              <a:t>Position the Jack: Place the jack beneath the designated jacking point. Ensure the jack pad is centered and sitting flat on the ground.</a:t>
            </a:r>
          </a:p>
          <a:p>
            <a:r>
              <a:rPr lang="en-US" sz="1600" dirty="0"/>
              <a:t>Raise the Vehicle Slowly: Lift the vehicle gradually, watching for any signs of instability or shifting. Raise it just high enough to place the jack stands and perform your maintenance work.</a:t>
            </a:r>
          </a:p>
          <a:p>
            <a:r>
              <a:rPr lang="en-US" sz="1600" dirty="0"/>
              <a:t>Insert Jack Stands: Once the vehicle is at the desired height, place jack stands under the vehicle's designated support points (typically on the frame or axle, as specified in the manual).</a:t>
            </a:r>
          </a:p>
          <a:p>
            <a:r>
              <a:rPr lang="en-US" sz="1600" dirty="0"/>
              <a:t>Lower onto Stands: Slowly and carefully lower the vehicle so its weight rests securely on the jack stands, not the jack itself.</a:t>
            </a:r>
          </a:p>
          <a:p>
            <a:r>
              <a:rPr lang="en-US" sz="1600" dirty="0"/>
              <a:t>Perform Stability Check: Give the vehicle a gentle push or shake to confirm it is stable and secure on the jack stands before getting underneath it.</a:t>
            </a:r>
          </a:p>
          <a:p>
            <a:r>
              <a:rPr lang="en-US" sz="1600" dirty="0"/>
              <a:t>Conduct Maintenance: Once stability is confirmed, you can safely work under the vehicle.</a:t>
            </a:r>
          </a:p>
          <a:p>
            <a:r>
              <a:rPr lang="en-US" sz="1600" dirty="0"/>
              <a:t>Remove Stands and Lower: When finished, raise the vehicle slightly with the jack so the stands can be removed easily. Pull the stands out, and then slowly lower the vehicle completely to the ground</a:t>
            </a:r>
          </a:p>
        </p:txBody>
      </p:sp>
    </p:spTree>
    <p:custDataLst>
      <p:tags r:id="rId1"/>
    </p:custDataLst>
    <p:extLst>
      <p:ext uri="{BB962C8B-B14F-4D97-AF65-F5344CB8AC3E}">
        <p14:creationId xmlns:p14="http://schemas.microsoft.com/office/powerpoint/2010/main" val="2236227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612438"/>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E8AC673B-2405-0FFC-B419-18C92F030B09}"/>
              </a:ext>
            </a:extLst>
          </p:cNvPr>
          <p:cNvSpPr txBox="1"/>
          <p:nvPr/>
        </p:nvSpPr>
        <p:spPr>
          <a:xfrm>
            <a:off x="868394" y="5822967"/>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522D935-475A-A0E7-895C-BCFF4F36D881}"/>
              </a:ext>
            </a:extLst>
          </p:cNvPr>
          <p:cNvSpPr/>
          <p:nvPr/>
        </p:nvSpPr>
        <p:spPr>
          <a:xfrm>
            <a:off x="784272" y="1025240"/>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Perpendicular Parking (Head-In or Back-In) Steps</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9" name="AutoShape 2" descr="Moving Off in an Automatic Car - Learn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Rectangle 5"/>
          <p:cNvSpPr/>
          <p:nvPr/>
        </p:nvSpPr>
        <p:spPr>
          <a:xfrm>
            <a:off x="967152" y="1458034"/>
            <a:ext cx="6096000" cy="646331"/>
          </a:xfrm>
          <a:prstGeom prst="rect">
            <a:avLst/>
          </a:prstGeom>
        </p:spPr>
        <p:txBody>
          <a:bodyPr>
            <a:spAutoFit/>
          </a:bodyPr>
          <a:lstStyle/>
          <a:p>
            <a:r>
              <a:rPr lang="en-US" dirty="0"/>
              <a:t>Step-by-Step Lifting Procedure (using a floor jack and jack stands)</a:t>
            </a:r>
          </a:p>
        </p:txBody>
      </p:sp>
      <p:pic>
        <p:nvPicPr>
          <p:cNvPr id="5" name="Picture 4"/>
          <p:cNvPicPr>
            <a:picLocks noChangeAspect="1"/>
          </p:cNvPicPr>
          <p:nvPr/>
        </p:nvPicPr>
        <p:blipFill>
          <a:blip r:embed="rId4"/>
          <a:stretch>
            <a:fillRect/>
          </a:stretch>
        </p:blipFill>
        <p:spPr>
          <a:xfrm>
            <a:off x="2324761" y="2019993"/>
            <a:ext cx="7392817" cy="3594826"/>
          </a:xfrm>
          <a:prstGeom prst="rect">
            <a:avLst/>
          </a:prstGeom>
        </p:spPr>
      </p:pic>
    </p:spTree>
    <p:custDataLst>
      <p:tags r:id="rId1"/>
    </p:custDataLst>
    <p:extLst>
      <p:ext uri="{BB962C8B-B14F-4D97-AF65-F5344CB8AC3E}">
        <p14:creationId xmlns:p14="http://schemas.microsoft.com/office/powerpoint/2010/main" val="1615249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B664-5755-0DEC-6697-E6715770898A}"/>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0137394A-C662-17DF-2302-4969F0B9CBAA}"/>
              </a:ext>
            </a:extLst>
          </p:cNvPr>
          <p:cNvSpPr txBox="1"/>
          <p:nvPr>
            <p:custDataLst>
              <p:tags r:id="rId2"/>
            </p:custDataLst>
          </p:nvPr>
        </p:nvSpPr>
        <p:spPr>
          <a:xfrm>
            <a:off x="967152" y="612438"/>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E8AC673B-2405-0FFC-B419-18C92F030B09}"/>
              </a:ext>
            </a:extLst>
          </p:cNvPr>
          <p:cNvSpPr txBox="1"/>
          <p:nvPr/>
        </p:nvSpPr>
        <p:spPr>
          <a:xfrm>
            <a:off x="868394" y="5822967"/>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3522D935-475A-A0E7-895C-BCFF4F36D881}"/>
              </a:ext>
            </a:extLst>
          </p:cNvPr>
          <p:cNvSpPr/>
          <p:nvPr/>
        </p:nvSpPr>
        <p:spPr>
          <a:xfrm>
            <a:off x="784272" y="1025240"/>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Perpendicular Parking (Head-In or Back-In) Steps</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9" name="AutoShape 2" descr="Moving Off in an Automatic Car - Learn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Rectangle 5"/>
          <p:cNvSpPr/>
          <p:nvPr/>
        </p:nvSpPr>
        <p:spPr>
          <a:xfrm>
            <a:off x="967152" y="1458034"/>
            <a:ext cx="6096000" cy="646331"/>
          </a:xfrm>
          <a:prstGeom prst="rect">
            <a:avLst/>
          </a:prstGeom>
        </p:spPr>
        <p:txBody>
          <a:bodyPr>
            <a:spAutoFit/>
          </a:bodyPr>
          <a:lstStyle/>
          <a:p>
            <a:r>
              <a:rPr lang="en-US" dirty="0"/>
              <a:t>Step-by-Step Lifting Procedure (using a floor jack and jack stands)</a:t>
            </a:r>
          </a:p>
        </p:txBody>
      </p:sp>
      <p:pic>
        <p:nvPicPr>
          <p:cNvPr id="4" name="Picture 3"/>
          <p:cNvPicPr>
            <a:picLocks noChangeAspect="1"/>
          </p:cNvPicPr>
          <p:nvPr/>
        </p:nvPicPr>
        <p:blipFill>
          <a:blip r:embed="rId4"/>
          <a:stretch>
            <a:fillRect/>
          </a:stretch>
        </p:blipFill>
        <p:spPr>
          <a:xfrm>
            <a:off x="5262515" y="2235730"/>
            <a:ext cx="6059420" cy="3732808"/>
          </a:xfrm>
          <a:prstGeom prst="rect">
            <a:avLst/>
          </a:prstGeom>
        </p:spPr>
      </p:pic>
    </p:spTree>
    <p:custDataLst>
      <p:tags r:id="rId1"/>
    </p:custDataLst>
    <p:extLst>
      <p:ext uri="{BB962C8B-B14F-4D97-AF65-F5344CB8AC3E}">
        <p14:creationId xmlns:p14="http://schemas.microsoft.com/office/powerpoint/2010/main" val="3115254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07BEB-5209-63C5-19EE-67A43BD905C5}"/>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90573694-C652-AF9C-2D56-08C62BC4620B}"/>
              </a:ext>
            </a:extLst>
          </p:cNvPr>
          <p:cNvSpPr txBox="1"/>
          <p:nvPr>
            <p:custDataLst>
              <p:tags r:id="rId2"/>
            </p:custDataLst>
          </p:nvPr>
        </p:nvSpPr>
        <p:spPr>
          <a:xfrm>
            <a:off x="967152" y="612438"/>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4CC5F30F-95B0-CF46-5F07-11C5B6B888FA}"/>
              </a:ext>
            </a:extLst>
          </p:cNvPr>
          <p:cNvSpPr txBox="1"/>
          <p:nvPr/>
        </p:nvSpPr>
        <p:spPr>
          <a:xfrm>
            <a:off x="784272" y="6138850"/>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1641CCBB-AEB2-EF2E-25B0-0036E052F54C}"/>
              </a:ext>
            </a:extLst>
          </p:cNvPr>
          <p:cNvSpPr/>
          <p:nvPr/>
        </p:nvSpPr>
        <p:spPr>
          <a:xfrm>
            <a:off x="784272" y="1025240"/>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Vehicle Intake &amp; Safe Parking Protocol</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F8606812-8A45-B942-EC56-2045DAB99D3A}"/>
              </a:ext>
            </a:extLst>
          </p:cNvPr>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9" name="AutoShape 2" descr="Moving Off in an Automatic Car - Learn ...">
            <a:extLst>
              <a:ext uri="{FF2B5EF4-FFF2-40B4-BE49-F238E27FC236}">
                <a16:creationId xmlns:a16="http://schemas.microsoft.com/office/drawing/2014/main" id="{9B209E4C-EC66-AE33-6C7F-E1D62D14618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83B92ADC-6BDB-D9F3-702A-245DB762F91A}"/>
              </a:ext>
            </a:extLst>
          </p:cNvPr>
          <p:cNvSpPr txBox="1"/>
          <p:nvPr/>
        </p:nvSpPr>
        <p:spPr>
          <a:xfrm>
            <a:off x="1127653" y="1343176"/>
            <a:ext cx="6098344" cy="369332"/>
          </a:xfrm>
          <a:prstGeom prst="rect">
            <a:avLst/>
          </a:prstGeom>
          <a:noFill/>
        </p:spPr>
        <p:txBody>
          <a:bodyPr wrap="square">
            <a:spAutoFit/>
          </a:bodyPr>
          <a:lstStyle/>
          <a:p>
            <a:r>
              <a:rPr lang="en-US" b="1" i="0" dirty="0">
                <a:solidFill>
                  <a:srgbClr val="0A0A0A"/>
                </a:solidFill>
                <a:effectLst/>
                <a:latin typeface="Google Sans"/>
              </a:rPr>
              <a:t>Arrival &amp; Inspection</a:t>
            </a:r>
            <a:endParaRPr lang="en-US" dirty="0"/>
          </a:p>
        </p:txBody>
      </p:sp>
      <p:sp>
        <p:nvSpPr>
          <p:cNvPr id="6" name="Rectangle 5"/>
          <p:cNvSpPr/>
          <p:nvPr/>
        </p:nvSpPr>
        <p:spPr>
          <a:xfrm>
            <a:off x="1127653" y="1661112"/>
            <a:ext cx="3448380" cy="369332"/>
          </a:xfrm>
          <a:prstGeom prst="rect">
            <a:avLst/>
          </a:prstGeom>
        </p:spPr>
        <p:txBody>
          <a:bodyPr wrap="none">
            <a:spAutoFit/>
          </a:bodyPr>
          <a:lstStyle/>
          <a:p>
            <a:pPr marL="285750" indent="-285750">
              <a:buFont typeface="Wingdings" panose="05000000000000000000" pitchFamily="2" charset="2"/>
              <a:buChar char="Ø"/>
            </a:pPr>
            <a:r>
              <a:rPr lang="en-US" b="1" dirty="0">
                <a:solidFill>
                  <a:srgbClr val="0A0A0A"/>
                </a:solidFill>
                <a:latin typeface="Google Sans"/>
              </a:rPr>
              <a:t>Essential Customer Details</a:t>
            </a:r>
            <a:endParaRPr lang="en-US" dirty="0"/>
          </a:p>
        </p:txBody>
      </p:sp>
      <p:sp>
        <p:nvSpPr>
          <p:cNvPr id="10" name="Rectangle 9"/>
          <p:cNvSpPr/>
          <p:nvPr/>
        </p:nvSpPr>
        <p:spPr>
          <a:xfrm>
            <a:off x="1402079" y="2123334"/>
            <a:ext cx="10227425" cy="1200329"/>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rPr>
              <a:t>Contact Information</a:t>
            </a:r>
            <a:r>
              <a:rPr lang="en-US" dirty="0">
                <a:solidFill>
                  <a:srgbClr val="0A0A0A"/>
                </a:solidFill>
                <a:latin typeface="Google Sans"/>
              </a:rPr>
              <a:t>: Full name, mobile number (ask if they prefer </a:t>
            </a:r>
            <a:r>
              <a:rPr lang="en-US" b="1" dirty="0">
                <a:solidFill>
                  <a:srgbClr val="0A0A0A"/>
                </a:solidFill>
                <a:latin typeface="Google Sans"/>
              </a:rPr>
              <a:t>SMS/WhatsApp updates</a:t>
            </a:r>
            <a:r>
              <a:rPr lang="en-US" dirty="0">
                <a:solidFill>
                  <a:srgbClr val="0A0A0A"/>
                </a:solidFill>
                <a:latin typeface="Google Sans"/>
              </a:rPr>
              <a:t>), and email address.</a:t>
            </a:r>
          </a:p>
          <a:p>
            <a:pPr>
              <a:buFont typeface="Arial" panose="020B0604020202020204" pitchFamily="34" charset="0"/>
              <a:buChar char="•"/>
            </a:pPr>
            <a:r>
              <a:rPr lang="en-US" b="1" dirty="0">
                <a:solidFill>
                  <a:srgbClr val="0A0A0A"/>
                </a:solidFill>
                <a:latin typeface="Google Sans"/>
              </a:rPr>
              <a:t>Preferred Communication</a:t>
            </a:r>
            <a:r>
              <a:rPr lang="en-US" dirty="0">
                <a:solidFill>
                  <a:srgbClr val="0A0A0A"/>
                </a:solidFill>
                <a:latin typeface="Google Sans"/>
              </a:rPr>
              <a:t>: How they want to be reached for extra repair approvals.</a:t>
            </a:r>
          </a:p>
          <a:p>
            <a:pPr>
              <a:buFont typeface="Arial" panose="020B0604020202020204" pitchFamily="34" charset="0"/>
              <a:buChar char="•"/>
            </a:pPr>
            <a:r>
              <a:rPr lang="en-US" b="1" dirty="0">
                <a:solidFill>
                  <a:srgbClr val="0A0A0A"/>
                </a:solidFill>
                <a:latin typeface="Google Sans"/>
              </a:rPr>
              <a:t>Payment Method</a:t>
            </a:r>
            <a:r>
              <a:rPr lang="en-US" dirty="0">
                <a:solidFill>
                  <a:srgbClr val="0A0A0A"/>
                </a:solidFill>
                <a:latin typeface="Google Sans"/>
              </a:rPr>
              <a:t>: Confirm if it is a cash, card, or insurance-based </a:t>
            </a:r>
            <a:r>
              <a:rPr lang="en-US" dirty="0" smtClean="0">
                <a:solidFill>
                  <a:srgbClr val="0A0A0A"/>
                </a:solidFill>
                <a:latin typeface="Google Sans"/>
              </a:rPr>
              <a:t>repair</a:t>
            </a:r>
            <a:endParaRPr lang="en-US" b="0" i="0" dirty="0">
              <a:solidFill>
                <a:srgbClr val="0A0A0A"/>
              </a:solidFill>
              <a:effectLst/>
              <a:latin typeface="Google Sans"/>
            </a:endParaRPr>
          </a:p>
        </p:txBody>
      </p:sp>
      <p:sp>
        <p:nvSpPr>
          <p:cNvPr id="12" name="Rectangle 11"/>
          <p:cNvSpPr/>
          <p:nvPr/>
        </p:nvSpPr>
        <p:spPr>
          <a:xfrm>
            <a:off x="1377657" y="3416553"/>
            <a:ext cx="3486917" cy="369332"/>
          </a:xfrm>
          <a:prstGeom prst="rect">
            <a:avLst/>
          </a:prstGeom>
        </p:spPr>
        <p:txBody>
          <a:bodyPr wrap="none">
            <a:spAutoFit/>
          </a:bodyPr>
          <a:lstStyle/>
          <a:p>
            <a:pPr marL="285750" indent="-285750">
              <a:buFont typeface="Wingdings" panose="05000000000000000000" pitchFamily="2" charset="2"/>
              <a:buChar char="Ø"/>
            </a:pPr>
            <a:r>
              <a:rPr lang="en-US" b="1" dirty="0">
                <a:solidFill>
                  <a:srgbClr val="0A0A0A"/>
                </a:solidFill>
                <a:latin typeface="Google Sans"/>
              </a:rPr>
              <a:t>Precise Vehicle Information</a:t>
            </a:r>
            <a:endParaRPr lang="en-US" dirty="0"/>
          </a:p>
        </p:txBody>
      </p:sp>
      <p:sp>
        <p:nvSpPr>
          <p:cNvPr id="14" name="Rectangle 13"/>
          <p:cNvSpPr/>
          <p:nvPr/>
        </p:nvSpPr>
        <p:spPr>
          <a:xfrm>
            <a:off x="616451" y="3839491"/>
            <a:ext cx="11096182" cy="1569660"/>
          </a:xfrm>
          <a:prstGeom prst="rect">
            <a:avLst/>
          </a:prstGeom>
        </p:spPr>
        <p:txBody>
          <a:bodyPr wrap="square">
            <a:spAutoFit/>
          </a:bodyPr>
          <a:lstStyle/>
          <a:p>
            <a:pPr>
              <a:buFont typeface="Arial" panose="020B0604020202020204" pitchFamily="34" charset="0"/>
              <a:buChar char="•"/>
            </a:pPr>
            <a:r>
              <a:rPr lang="en-US" sz="1600" b="1" dirty="0">
                <a:solidFill>
                  <a:srgbClr val="0A0A0A"/>
                </a:solidFill>
                <a:latin typeface="Google Sans"/>
              </a:rPr>
              <a:t>Identification</a:t>
            </a:r>
            <a:r>
              <a:rPr lang="en-US" sz="1600" dirty="0">
                <a:solidFill>
                  <a:srgbClr val="0A0A0A"/>
                </a:solidFill>
                <a:latin typeface="Google Sans"/>
              </a:rPr>
              <a:t>: Record the </a:t>
            </a:r>
            <a:r>
              <a:rPr lang="en-US" sz="1600" b="1" dirty="0">
                <a:solidFill>
                  <a:srgbClr val="0A0A0A"/>
                </a:solidFill>
                <a:latin typeface="Google Sans"/>
              </a:rPr>
              <a:t>Make/Model</a:t>
            </a:r>
            <a:r>
              <a:rPr lang="en-US" sz="1600" dirty="0">
                <a:solidFill>
                  <a:srgbClr val="0A0A0A"/>
                </a:solidFill>
                <a:latin typeface="Google Sans"/>
              </a:rPr>
              <a:t>, </a:t>
            </a:r>
            <a:r>
              <a:rPr lang="en-US" sz="1600" b="1" dirty="0">
                <a:solidFill>
                  <a:srgbClr val="0A0A0A"/>
                </a:solidFill>
                <a:latin typeface="Google Sans"/>
              </a:rPr>
              <a:t>Year</a:t>
            </a:r>
            <a:r>
              <a:rPr lang="en-US" sz="1600" dirty="0">
                <a:solidFill>
                  <a:srgbClr val="0A0A0A"/>
                </a:solidFill>
                <a:latin typeface="Google Sans"/>
              </a:rPr>
              <a:t>, </a:t>
            </a:r>
            <a:r>
              <a:rPr lang="en-US" sz="1600" b="1" dirty="0">
                <a:solidFill>
                  <a:srgbClr val="0A0A0A"/>
                </a:solidFill>
                <a:latin typeface="Google Sans"/>
              </a:rPr>
              <a:t>License Plate</a:t>
            </a:r>
            <a:r>
              <a:rPr lang="en-US" sz="1600" dirty="0">
                <a:solidFill>
                  <a:srgbClr val="0A0A0A"/>
                </a:solidFill>
                <a:latin typeface="Google Sans"/>
              </a:rPr>
              <a:t>, and </a:t>
            </a:r>
            <a:r>
              <a:rPr lang="en-US" sz="1600" b="1" dirty="0">
                <a:solidFill>
                  <a:srgbClr val="0A0A0A"/>
                </a:solidFill>
                <a:latin typeface="Google Sans"/>
              </a:rPr>
              <a:t>VIN (Vehicle Identification Number)</a:t>
            </a:r>
            <a:r>
              <a:rPr lang="en-US" sz="1600" dirty="0">
                <a:solidFill>
                  <a:srgbClr val="0A0A0A"/>
                </a:solidFill>
                <a:latin typeface="Google Sans"/>
              </a:rPr>
              <a:t>. For your </a:t>
            </a:r>
            <a:r>
              <a:rPr lang="en-US" sz="1600" dirty="0">
                <a:solidFill>
                  <a:srgbClr val="0A0A0A"/>
                </a:solidFill>
                <a:latin typeface="Google Sans"/>
                <a:hlinkClick r:id="rId4"/>
              </a:rPr>
              <a:t>Mazda </a:t>
            </a:r>
            <a:r>
              <a:rPr lang="en-US" sz="1600" dirty="0" err="1">
                <a:solidFill>
                  <a:srgbClr val="0A0A0A"/>
                </a:solidFill>
                <a:latin typeface="Google Sans"/>
                <a:hlinkClick r:id="rId4"/>
              </a:rPr>
              <a:t>Demio</a:t>
            </a:r>
            <a:endParaRPr lang="en-US" sz="1600" dirty="0">
              <a:solidFill>
                <a:srgbClr val="0A0A0A"/>
              </a:solidFill>
              <a:latin typeface="Google Sans"/>
            </a:endParaRPr>
          </a:p>
          <a:p>
            <a:pPr>
              <a:buFont typeface="Arial" panose="020B0604020202020204" pitchFamily="34" charset="0"/>
              <a:buChar char="•"/>
            </a:pPr>
            <a:r>
              <a:rPr lang="en-US" sz="1600" dirty="0">
                <a:solidFill>
                  <a:srgbClr val="0A0A0A"/>
                </a:solidFill>
                <a:latin typeface="Google Sans"/>
              </a:rPr>
              <a:t>, this includes specific codes like </a:t>
            </a:r>
            <a:r>
              <a:rPr lang="en-US" sz="1600" b="1" dirty="0">
                <a:solidFill>
                  <a:srgbClr val="0A0A0A"/>
                </a:solidFill>
                <a:latin typeface="Google Sans"/>
              </a:rPr>
              <a:t>DBA-DEJFS</a:t>
            </a:r>
            <a:r>
              <a:rPr lang="en-US" sz="1600" dirty="0">
                <a:solidFill>
                  <a:srgbClr val="0A0A0A"/>
                </a:solidFill>
                <a:latin typeface="Google Sans"/>
              </a:rPr>
              <a:t> to ensure you order correct "</a:t>
            </a:r>
            <a:r>
              <a:rPr lang="en-US" sz="1600" dirty="0" err="1">
                <a:solidFill>
                  <a:srgbClr val="0A0A0A"/>
                </a:solidFill>
                <a:latin typeface="Google Sans"/>
              </a:rPr>
              <a:t>Skyactiv</a:t>
            </a:r>
            <a:r>
              <a:rPr lang="en-US" sz="1600" dirty="0">
                <a:solidFill>
                  <a:srgbClr val="0A0A0A"/>
                </a:solidFill>
                <a:latin typeface="Google Sans"/>
              </a:rPr>
              <a:t>" specific parts.</a:t>
            </a:r>
          </a:p>
          <a:p>
            <a:pPr>
              <a:buFont typeface="Arial" panose="020B0604020202020204" pitchFamily="34" charset="0"/>
              <a:buChar char="•"/>
            </a:pPr>
            <a:r>
              <a:rPr lang="en-US" sz="1600" b="1" dirty="0">
                <a:solidFill>
                  <a:srgbClr val="0A0A0A"/>
                </a:solidFill>
                <a:latin typeface="Google Sans"/>
              </a:rPr>
              <a:t>Status</a:t>
            </a:r>
            <a:r>
              <a:rPr lang="en-US" sz="1600" dirty="0">
                <a:solidFill>
                  <a:srgbClr val="0A0A0A"/>
                </a:solidFill>
                <a:latin typeface="Google Sans"/>
              </a:rPr>
              <a:t>: Current </a:t>
            </a:r>
            <a:r>
              <a:rPr lang="en-US" sz="1600" b="1" dirty="0">
                <a:solidFill>
                  <a:srgbClr val="0A0A0A"/>
                </a:solidFill>
                <a:latin typeface="Google Sans"/>
              </a:rPr>
              <a:t>Odometer reading</a:t>
            </a:r>
            <a:r>
              <a:rPr lang="en-US" sz="1600" dirty="0">
                <a:solidFill>
                  <a:srgbClr val="0A0A0A"/>
                </a:solidFill>
                <a:latin typeface="Google Sans"/>
              </a:rPr>
              <a:t> (mileage) and current fuel level.</a:t>
            </a:r>
          </a:p>
          <a:p>
            <a:pPr>
              <a:buFont typeface="Arial" panose="020B0604020202020204" pitchFamily="34" charset="0"/>
              <a:buChar char="•"/>
            </a:pPr>
            <a:r>
              <a:rPr lang="en-US" sz="1600" b="1" dirty="0">
                <a:solidFill>
                  <a:srgbClr val="0A0A0A"/>
                </a:solidFill>
                <a:latin typeface="Google Sans"/>
              </a:rPr>
              <a:t>Inventory Checklist</a:t>
            </a:r>
            <a:r>
              <a:rPr lang="en-US" sz="1600" dirty="0">
                <a:solidFill>
                  <a:srgbClr val="0A0A0A"/>
                </a:solidFill>
                <a:latin typeface="Google Sans"/>
              </a:rPr>
              <a:t>: Check for items left in the car like the spare wheel, jack, tools, or floor mats to prevent later disputes</a:t>
            </a:r>
            <a:endParaRPr lang="en-US" sz="1600" b="0" i="0" dirty="0">
              <a:solidFill>
                <a:srgbClr val="0A0A0A"/>
              </a:solidFill>
              <a:effectLst/>
              <a:latin typeface="Google Sans"/>
            </a:endParaRPr>
          </a:p>
        </p:txBody>
      </p:sp>
    </p:spTree>
    <p:custDataLst>
      <p:tags r:id="rId1"/>
    </p:custDataLst>
    <p:extLst>
      <p:ext uri="{BB962C8B-B14F-4D97-AF65-F5344CB8AC3E}">
        <p14:creationId xmlns:p14="http://schemas.microsoft.com/office/powerpoint/2010/main" val="2824004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07BEB-5209-63C5-19EE-67A43BD905C5}"/>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90573694-C652-AF9C-2D56-08C62BC4620B}"/>
              </a:ext>
            </a:extLst>
          </p:cNvPr>
          <p:cNvSpPr txBox="1"/>
          <p:nvPr>
            <p:custDataLst>
              <p:tags r:id="rId2"/>
            </p:custDataLst>
          </p:nvPr>
        </p:nvSpPr>
        <p:spPr>
          <a:xfrm>
            <a:off x="967152" y="612438"/>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4CC5F30F-95B0-CF46-5F07-11C5B6B888FA}"/>
              </a:ext>
            </a:extLst>
          </p:cNvPr>
          <p:cNvSpPr txBox="1"/>
          <p:nvPr/>
        </p:nvSpPr>
        <p:spPr>
          <a:xfrm>
            <a:off x="784272" y="6138850"/>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1641CCBB-AEB2-EF2E-25B0-0036E052F54C}"/>
              </a:ext>
            </a:extLst>
          </p:cNvPr>
          <p:cNvSpPr/>
          <p:nvPr/>
        </p:nvSpPr>
        <p:spPr>
          <a:xfrm>
            <a:off x="784272" y="1025240"/>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Vehicle Intake &amp; Safe Parking Protocol</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F8606812-8A45-B942-EC56-2045DAB99D3A}"/>
              </a:ext>
            </a:extLst>
          </p:cNvPr>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9" name="AutoShape 2" descr="Moving Off in an Automatic Car - Learn ...">
            <a:extLst>
              <a:ext uri="{FF2B5EF4-FFF2-40B4-BE49-F238E27FC236}">
                <a16:creationId xmlns:a16="http://schemas.microsoft.com/office/drawing/2014/main" id="{9B209E4C-EC66-AE33-6C7F-E1D62D14618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83B92ADC-6BDB-D9F3-702A-245DB762F91A}"/>
              </a:ext>
            </a:extLst>
          </p:cNvPr>
          <p:cNvSpPr txBox="1"/>
          <p:nvPr/>
        </p:nvSpPr>
        <p:spPr>
          <a:xfrm>
            <a:off x="1127653" y="1343176"/>
            <a:ext cx="6098344" cy="369332"/>
          </a:xfrm>
          <a:prstGeom prst="rect">
            <a:avLst/>
          </a:prstGeom>
          <a:noFill/>
        </p:spPr>
        <p:txBody>
          <a:bodyPr wrap="square">
            <a:spAutoFit/>
          </a:bodyPr>
          <a:lstStyle/>
          <a:p>
            <a:r>
              <a:rPr lang="en-US" b="1" i="0" dirty="0">
                <a:solidFill>
                  <a:srgbClr val="0A0A0A"/>
                </a:solidFill>
                <a:effectLst/>
                <a:latin typeface="Google Sans"/>
              </a:rPr>
              <a:t>Arrival &amp; Inspection</a:t>
            </a:r>
            <a:endParaRPr lang="en-US" dirty="0"/>
          </a:p>
        </p:txBody>
      </p:sp>
      <p:sp>
        <p:nvSpPr>
          <p:cNvPr id="6" name="Rectangle 5"/>
          <p:cNvSpPr/>
          <p:nvPr/>
        </p:nvSpPr>
        <p:spPr>
          <a:xfrm>
            <a:off x="1127653" y="1661112"/>
            <a:ext cx="3448380" cy="369332"/>
          </a:xfrm>
          <a:prstGeom prst="rect">
            <a:avLst/>
          </a:prstGeom>
        </p:spPr>
        <p:txBody>
          <a:bodyPr wrap="none">
            <a:spAutoFit/>
          </a:bodyPr>
          <a:lstStyle/>
          <a:p>
            <a:pPr marL="285750" indent="-285750">
              <a:buFont typeface="Wingdings" panose="05000000000000000000" pitchFamily="2" charset="2"/>
              <a:buChar char="Ø"/>
            </a:pPr>
            <a:r>
              <a:rPr lang="en-US" b="1" dirty="0">
                <a:solidFill>
                  <a:srgbClr val="0A0A0A"/>
                </a:solidFill>
                <a:latin typeface="Google Sans"/>
              </a:rPr>
              <a:t>Essential Customer Details</a:t>
            </a:r>
            <a:endParaRPr lang="en-US" dirty="0"/>
          </a:p>
        </p:txBody>
      </p:sp>
      <p:sp>
        <p:nvSpPr>
          <p:cNvPr id="4" name="Rectangle 3"/>
          <p:cNvSpPr/>
          <p:nvPr/>
        </p:nvSpPr>
        <p:spPr>
          <a:xfrm>
            <a:off x="1399587" y="2091287"/>
            <a:ext cx="4743606" cy="369332"/>
          </a:xfrm>
          <a:prstGeom prst="rect">
            <a:avLst/>
          </a:prstGeom>
        </p:spPr>
        <p:txBody>
          <a:bodyPr wrap="none">
            <a:spAutoFit/>
          </a:bodyPr>
          <a:lstStyle/>
          <a:p>
            <a:pPr marL="285750" indent="-285750">
              <a:buFont typeface="Wingdings" panose="05000000000000000000" pitchFamily="2" charset="2"/>
              <a:buChar char="Ø"/>
            </a:pPr>
            <a:r>
              <a:rPr lang="en-US" b="1" dirty="0">
                <a:solidFill>
                  <a:srgbClr val="0A0A0A"/>
                </a:solidFill>
                <a:latin typeface="Google Sans"/>
              </a:rPr>
              <a:t>Detailed "Complaint" or "Job Request"</a:t>
            </a:r>
            <a:endParaRPr lang="en-US" dirty="0"/>
          </a:p>
        </p:txBody>
      </p:sp>
      <p:sp>
        <p:nvSpPr>
          <p:cNvPr id="5" name="Rectangle 4"/>
          <p:cNvSpPr/>
          <p:nvPr/>
        </p:nvSpPr>
        <p:spPr>
          <a:xfrm>
            <a:off x="1560022" y="2839398"/>
            <a:ext cx="10210800" cy="1754326"/>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rPr>
              <a:t>The Issue</a:t>
            </a:r>
            <a:r>
              <a:rPr lang="en-US" dirty="0">
                <a:solidFill>
                  <a:srgbClr val="0A0A0A"/>
                </a:solidFill>
                <a:latin typeface="Google Sans"/>
              </a:rPr>
              <a:t>: Ask the customer to describe the problem in their own words (e.g., "squeaking noise when turning").</a:t>
            </a:r>
          </a:p>
          <a:p>
            <a:pPr>
              <a:buFont typeface="Arial" panose="020B0604020202020204" pitchFamily="34" charset="0"/>
              <a:buChar char="•"/>
            </a:pPr>
            <a:r>
              <a:rPr lang="en-US" b="1" dirty="0">
                <a:solidFill>
                  <a:srgbClr val="0A0A0A"/>
                </a:solidFill>
                <a:latin typeface="Google Sans"/>
              </a:rPr>
              <a:t>Symptom Details</a:t>
            </a:r>
            <a:r>
              <a:rPr lang="en-US" dirty="0">
                <a:solidFill>
                  <a:srgbClr val="0A0A0A"/>
                </a:solidFill>
                <a:latin typeface="Google Sans"/>
              </a:rPr>
              <a:t>: Ask </a:t>
            </a:r>
            <a:r>
              <a:rPr lang="en-US" b="1" dirty="0">
                <a:solidFill>
                  <a:srgbClr val="0A0A0A"/>
                </a:solidFill>
                <a:latin typeface="Google Sans"/>
              </a:rPr>
              <a:t>when</a:t>
            </a:r>
            <a:r>
              <a:rPr lang="en-US" dirty="0">
                <a:solidFill>
                  <a:srgbClr val="0A0A0A"/>
                </a:solidFill>
                <a:latin typeface="Google Sans"/>
              </a:rPr>
              <a:t> the issue happens (e.g., only when cold, at high speeds, or when braking) to help the mechanic diagnose faster.</a:t>
            </a:r>
          </a:p>
          <a:p>
            <a:pPr>
              <a:buFont typeface="Arial" panose="020B0604020202020204" pitchFamily="34" charset="0"/>
              <a:buChar char="•"/>
            </a:pPr>
            <a:r>
              <a:rPr lang="en-US" b="1" dirty="0">
                <a:solidFill>
                  <a:srgbClr val="0A0A0A"/>
                </a:solidFill>
                <a:latin typeface="Google Sans"/>
              </a:rPr>
              <a:t>Visual Inspection</a:t>
            </a:r>
            <a:r>
              <a:rPr lang="en-US" dirty="0">
                <a:solidFill>
                  <a:srgbClr val="0A0A0A"/>
                </a:solidFill>
                <a:latin typeface="Google Sans"/>
              </a:rPr>
              <a:t>: Walk around the car with the customer and mark any </a:t>
            </a:r>
            <a:r>
              <a:rPr lang="en-US" b="1" dirty="0">
                <a:solidFill>
                  <a:srgbClr val="0A0A0A"/>
                </a:solidFill>
                <a:latin typeface="Google Sans"/>
              </a:rPr>
              <a:t>existing scratches, dents, or cracked lights</a:t>
            </a:r>
            <a:r>
              <a:rPr lang="en-US" dirty="0">
                <a:solidFill>
                  <a:srgbClr val="0A0A0A"/>
                </a:solidFill>
                <a:latin typeface="Google Sans"/>
              </a:rPr>
              <a:t> on the intake form before they leave.</a:t>
            </a:r>
            <a:endParaRPr lang="en-US" b="0" i="0" dirty="0">
              <a:solidFill>
                <a:srgbClr val="0A0A0A"/>
              </a:solidFill>
              <a:effectLst/>
              <a:latin typeface="Google Sans"/>
            </a:endParaRPr>
          </a:p>
        </p:txBody>
      </p:sp>
    </p:spTree>
    <p:custDataLst>
      <p:tags r:id="rId1"/>
    </p:custDataLst>
    <p:extLst>
      <p:ext uri="{BB962C8B-B14F-4D97-AF65-F5344CB8AC3E}">
        <p14:creationId xmlns:p14="http://schemas.microsoft.com/office/powerpoint/2010/main" val="15525570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07BEB-5209-63C5-19EE-67A43BD905C5}"/>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90573694-C652-AF9C-2D56-08C62BC4620B}"/>
              </a:ext>
            </a:extLst>
          </p:cNvPr>
          <p:cNvSpPr txBox="1"/>
          <p:nvPr>
            <p:custDataLst>
              <p:tags r:id="rId2"/>
            </p:custDataLst>
          </p:nvPr>
        </p:nvSpPr>
        <p:spPr>
          <a:xfrm>
            <a:off x="967152" y="612438"/>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4CC5F30F-95B0-CF46-5F07-11C5B6B888FA}"/>
              </a:ext>
            </a:extLst>
          </p:cNvPr>
          <p:cNvSpPr txBox="1"/>
          <p:nvPr/>
        </p:nvSpPr>
        <p:spPr>
          <a:xfrm>
            <a:off x="784272" y="6138850"/>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1641CCBB-AEB2-EF2E-25B0-0036E052F54C}"/>
              </a:ext>
            </a:extLst>
          </p:cNvPr>
          <p:cNvSpPr/>
          <p:nvPr/>
        </p:nvSpPr>
        <p:spPr>
          <a:xfrm>
            <a:off x="784272" y="1025240"/>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Vehicle Intake &amp; Safe Parking Protocol</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F8606812-8A45-B942-EC56-2045DAB99D3A}"/>
              </a:ext>
            </a:extLst>
          </p:cNvPr>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9" name="AutoShape 2" descr="Moving Off in an Automatic Car - Learn ...">
            <a:extLst>
              <a:ext uri="{FF2B5EF4-FFF2-40B4-BE49-F238E27FC236}">
                <a16:creationId xmlns:a16="http://schemas.microsoft.com/office/drawing/2014/main" id="{9B209E4C-EC66-AE33-6C7F-E1D62D14618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83B92ADC-6BDB-D9F3-702A-245DB762F91A}"/>
              </a:ext>
            </a:extLst>
          </p:cNvPr>
          <p:cNvSpPr txBox="1"/>
          <p:nvPr/>
        </p:nvSpPr>
        <p:spPr>
          <a:xfrm>
            <a:off x="1127653" y="1343176"/>
            <a:ext cx="6098344" cy="369332"/>
          </a:xfrm>
          <a:prstGeom prst="rect">
            <a:avLst/>
          </a:prstGeom>
          <a:noFill/>
        </p:spPr>
        <p:txBody>
          <a:bodyPr wrap="square">
            <a:spAutoFit/>
          </a:bodyPr>
          <a:lstStyle/>
          <a:p>
            <a:r>
              <a:rPr lang="en-US" b="1" i="0" dirty="0">
                <a:solidFill>
                  <a:srgbClr val="0A0A0A"/>
                </a:solidFill>
                <a:effectLst/>
                <a:latin typeface="Google Sans"/>
              </a:rPr>
              <a:t>Arrival &amp; Inspection</a:t>
            </a:r>
            <a:endParaRPr lang="en-US" dirty="0"/>
          </a:p>
        </p:txBody>
      </p:sp>
      <p:sp>
        <p:nvSpPr>
          <p:cNvPr id="6" name="Rectangle 5"/>
          <p:cNvSpPr/>
          <p:nvPr/>
        </p:nvSpPr>
        <p:spPr>
          <a:xfrm>
            <a:off x="1127653" y="1661112"/>
            <a:ext cx="3448380" cy="369332"/>
          </a:xfrm>
          <a:prstGeom prst="rect">
            <a:avLst/>
          </a:prstGeom>
        </p:spPr>
        <p:txBody>
          <a:bodyPr wrap="none">
            <a:spAutoFit/>
          </a:bodyPr>
          <a:lstStyle/>
          <a:p>
            <a:pPr marL="285750" indent="-285750">
              <a:buFont typeface="Wingdings" panose="05000000000000000000" pitchFamily="2" charset="2"/>
              <a:buChar char="Ø"/>
            </a:pPr>
            <a:r>
              <a:rPr lang="en-US" b="1" dirty="0">
                <a:solidFill>
                  <a:srgbClr val="0A0A0A"/>
                </a:solidFill>
                <a:latin typeface="Google Sans"/>
              </a:rPr>
              <a:t>Essential Customer Details</a:t>
            </a:r>
            <a:endParaRPr lang="en-US" dirty="0"/>
          </a:p>
        </p:txBody>
      </p:sp>
      <p:sp>
        <p:nvSpPr>
          <p:cNvPr id="10" name="Rectangle 9"/>
          <p:cNvSpPr/>
          <p:nvPr/>
        </p:nvSpPr>
        <p:spPr>
          <a:xfrm>
            <a:off x="1352223" y="2030444"/>
            <a:ext cx="2610523" cy="369332"/>
          </a:xfrm>
          <a:prstGeom prst="rect">
            <a:avLst/>
          </a:prstGeom>
        </p:spPr>
        <p:txBody>
          <a:bodyPr wrap="none">
            <a:spAutoFit/>
          </a:bodyPr>
          <a:lstStyle/>
          <a:p>
            <a:pPr marL="285750" indent="-285750">
              <a:buFont typeface="Wingdings" panose="05000000000000000000" pitchFamily="2" charset="2"/>
              <a:buChar char="Ø"/>
            </a:pPr>
            <a:r>
              <a:rPr lang="en-US" b="1" dirty="0">
                <a:solidFill>
                  <a:srgbClr val="0A0A0A"/>
                </a:solidFill>
                <a:latin typeface="Google Sans"/>
              </a:rPr>
              <a:t>Digital Tools to Use</a:t>
            </a:r>
            <a:endParaRPr lang="en-US" dirty="0"/>
          </a:p>
        </p:txBody>
      </p:sp>
      <p:sp>
        <p:nvSpPr>
          <p:cNvPr id="12" name="Rectangle 11"/>
          <p:cNvSpPr/>
          <p:nvPr/>
        </p:nvSpPr>
        <p:spPr>
          <a:xfrm>
            <a:off x="1528032" y="2468819"/>
            <a:ext cx="10126411" cy="646331"/>
          </a:xfrm>
          <a:prstGeom prst="rect">
            <a:avLst/>
          </a:prstGeom>
        </p:spPr>
        <p:txBody>
          <a:bodyPr wrap="square">
            <a:spAutoFit/>
          </a:bodyPr>
          <a:lstStyle/>
          <a:p>
            <a:r>
              <a:rPr lang="en-US" dirty="0">
                <a:solidFill>
                  <a:srgbClr val="0A0A0A"/>
                </a:solidFill>
                <a:latin typeface="Google Sans"/>
              </a:rPr>
              <a:t>You can use templates from sites like the </a:t>
            </a:r>
            <a:r>
              <a:rPr lang="en-US" dirty="0" err="1">
                <a:solidFill>
                  <a:srgbClr val="1558D6"/>
                </a:solidFill>
                <a:latin typeface="Google Sans"/>
                <a:hlinkClick r:id="rId4"/>
              </a:rPr>
              <a:t>Jotform</a:t>
            </a:r>
            <a:r>
              <a:rPr lang="en-US" dirty="0">
                <a:solidFill>
                  <a:srgbClr val="1558D6"/>
                </a:solidFill>
                <a:latin typeface="Google Sans"/>
                <a:hlinkClick r:id="rId4"/>
              </a:rPr>
              <a:t> Vehicle Maintenance Template</a:t>
            </a:r>
            <a:r>
              <a:rPr lang="en-US" dirty="0">
                <a:solidFill>
                  <a:srgbClr val="0A0A0A"/>
                </a:solidFill>
                <a:latin typeface="Google Sans"/>
              </a:rPr>
              <a:t> or </a:t>
            </a:r>
            <a:r>
              <a:rPr lang="en-US" dirty="0" err="1">
                <a:solidFill>
                  <a:srgbClr val="1558D6"/>
                </a:solidFill>
                <a:latin typeface="Google Sans"/>
                <a:hlinkClick r:id="rId5"/>
              </a:rPr>
              <a:t>SafetyCulture</a:t>
            </a:r>
            <a:r>
              <a:rPr lang="en-US" dirty="0">
                <a:solidFill>
                  <a:srgbClr val="1558D6"/>
                </a:solidFill>
                <a:latin typeface="Google Sans"/>
                <a:hlinkClick r:id="rId5"/>
              </a:rPr>
              <a:t> Job Cards</a:t>
            </a:r>
            <a:r>
              <a:rPr lang="en-US" dirty="0">
                <a:solidFill>
                  <a:srgbClr val="0A0A0A"/>
                </a:solidFill>
                <a:latin typeface="Google Sans"/>
              </a:rPr>
              <a:t> to create professional digital or paper forms for your workshop.</a:t>
            </a:r>
            <a:endParaRPr lang="en-US" dirty="0"/>
          </a:p>
        </p:txBody>
      </p:sp>
    </p:spTree>
    <p:custDataLst>
      <p:tags r:id="rId1"/>
    </p:custDataLst>
    <p:extLst>
      <p:ext uri="{BB962C8B-B14F-4D97-AF65-F5344CB8AC3E}">
        <p14:creationId xmlns:p14="http://schemas.microsoft.com/office/powerpoint/2010/main" val="40571493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07BEB-5209-63C5-19EE-67A43BD905C5}"/>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90573694-C652-AF9C-2D56-08C62BC4620B}"/>
              </a:ext>
            </a:extLst>
          </p:cNvPr>
          <p:cNvSpPr txBox="1"/>
          <p:nvPr>
            <p:custDataLst>
              <p:tags r:id="rId2"/>
            </p:custDataLst>
          </p:nvPr>
        </p:nvSpPr>
        <p:spPr>
          <a:xfrm>
            <a:off x="967152" y="612438"/>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4CC5F30F-95B0-CF46-5F07-11C5B6B888FA}"/>
              </a:ext>
            </a:extLst>
          </p:cNvPr>
          <p:cNvSpPr txBox="1"/>
          <p:nvPr/>
        </p:nvSpPr>
        <p:spPr>
          <a:xfrm>
            <a:off x="784272" y="6138850"/>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1641CCBB-AEB2-EF2E-25B0-0036E052F54C}"/>
              </a:ext>
            </a:extLst>
          </p:cNvPr>
          <p:cNvSpPr/>
          <p:nvPr/>
        </p:nvSpPr>
        <p:spPr>
          <a:xfrm>
            <a:off x="784272" y="1025240"/>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Vehicle Intake &amp; Safe Parking Protocol</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F8606812-8A45-B942-EC56-2045DAB99D3A}"/>
              </a:ext>
            </a:extLst>
          </p:cNvPr>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9" name="AutoShape 2" descr="Moving Off in an Automatic Car - Learn ...">
            <a:extLst>
              <a:ext uri="{FF2B5EF4-FFF2-40B4-BE49-F238E27FC236}">
                <a16:creationId xmlns:a16="http://schemas.microsoft.com/office/drawing/2014/main" id="{9B209E4C-EC66-AE33-6C7F-E1D62D14618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83B92ADC-6BDB-D9F3-702A-245DB762F91A}"/>
              </a:ext>
            </a:extLst>
          </p:cNvPr>
          <p:cNvSpPr txBox="1"/>
          <p:nvPr/>
        </p:nvSpPr>
        <p:spPr>
          <a:xfrm>
            <a:off x="1135965" y="1559727"/>
            <a:ext cx="6098344" cy="369332"/>
          </a:xfrm>
          <a:prstGeom prst="rect">
            <a:avLst/>
          </a:prstGeom>
          <a:noFill/>
        </p:spPr>
        <p:txBody>
          <a:bodyPr wrap="square">
            <a:spAutoFit/>
          </a:bodyPr>
          <a:lstStyle/>
          <a:p>
            <a:r>
              <a:rPr lang="en-US" b="1" i="0" dirty="0">
                <a:solidFill>
                  <a:srgbClr val="0A0A0A"/>
                </a:solidFill>
                <a:effectLst/>
                <a:latin typeface="Google Sans"/>
              </a:rPr>
              <a:t>Arrival &amp; Inspection</a:t>
            </a:r>
            <a:endParaRPr lang="en-US" dirty="0"/>
          </a:p>
        </p:txBody>
      </p:sp>
      <p:sp>
        <p:nvSpPr>
          <p:cNvPr id="11" name="TextBox 10">
            <a:extLst>
              <a:ext uri="{FF2B5EF4-FFF2-40B4-BE49-F238E27FC236}">
                <a16:creationId xmlns:a16="http://schemas.microsoft.com/office/drawing/2014/main" id="{EEAF80AD-A55A-4A8E-1952-1B04326D3FB9}"/>
              </a:ext>
            </a:extLst>
          </p:cNvPr>
          <p:cNvSpPr txBox="1"/>
          <p:nvPr/>
        </p:nvSpPr>
        <p:spPr>
          <a:xfrm>
            <a:off x="1135964" y="1960266"/>
            <a:ext cx="9034977" cy="369332"/>
          </a:xfrm>
          <a:prstGeom prst="rect">
            <a:avLst/>
          </a:prstGeom>
          <a:noFill/>
        </p:spPr>
        <p:txBody>
          <a:bodyPr wrap="square">
            <a:spAutoFit/>
          </a:bodyPr>
          <a:lstStyle/>
          <a:p>
            <a:r>
              <a:rPr lang="en-US" b="0" i="0" dirty="0">
                <a:solidFill>
                  <a:srgbClr val="0A0A0A"/>
                </a:solidFill>
                <a:effectLst/>
                <a:latin typeface="Google Sans"/>
              </a:rPr>
              <a:t>Conduct a visual check for pre-existing damage as the vehicle enters the service bay</a:t>
            </a:r>
            <a:endParaRPr lang="en-US" dirty="0"/>
          </a:p>
        </p:txBody>
      </p:sp>
      <p:pic>
        <p:nvPicPr>
          <p:cNvPr id="5" name="Picture 4"/>
          <p:cNvPicPr>
            <a:picLocks noChangeAspect="1"/>
          </p:cNvPicPr>
          <p:nvPr/>
        </p:nvPicPr>
        <p:blipFill>
          <a:blip r:embed="rId4"/>
          <a:stretch>
            <a:fillRect/>
          </a:stretch>
        </p:blipFill>
        <p:spPr>
          <a:xfrm>
            <a:off x="1077775" y="2473722"/>
            <a:ext cx="9545782" cy="3310290"/>
          </a:xfrm>
          <a:prstGeom prst="rect">
            <a:avLst/>
          </a:prstGeom>
        </p:spPr>
      </p:pic>
    </p:spTree>
    <p:custDataLst>
      <p:tags r:id="rId1"/>
    </p:custDataLst>
    <p:extLst>
      <p:ext uri="{BB962C8B-B14F-4D97-AF65-F5344CB8AC3E}">
        <p14:creationId xmlns:p14="http://schemas.microsoft.com/office/powerpoint/2010/main" val="2793201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07BEB-5209-63C5-19EE-67A43BD905C5}"/>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90573694-C652-AF9C-2D56-08C62BC4620B}"/>
              </a:ext>
            </a:extLst>
          </p:cNvPr>
          <p:cNvSpPr txBox="1"/>
          <p:nvPr>
            <p:custDataLst>
              <p:tags r:id="rId2"/>
            </p:custDataLst>
          </p:nvPr>
        </p:nvSpPr>
        <p:spPr>
          <a:xfrm>
            <a:off x="967152" y="612438"/>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4CC5F30F-95B0-CF46-5F07-11C5B6B888FA}"/>
              </a:ext>
            </a:extLst>
          </p:cNvPr>
          <p:cNvSpPr txBox="1"/>
          <p:nvPr/>
        </p:nvSpPr>
        <p:spPr>
          <a:xfrm>
            <a:off x="784272" y="6138850"/>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1641CCBB-AEB2-EF2E-25B0-0036E052F54C}"/>
              </a:ext>
            </a:extLst>
          </p:cNvPr>
          <p:cNvSpPr/>
          <p:nvPr/>
        </p:nvSpPr>
        <p:spPr>
          <a:xfrm>
            <a:off x="784272" y="1025240"/>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Vehicle Intake &amp; Safe Parking Protocol</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F8606812-8A45-B942-EC56-2045DAB99D3A}"/>
              </a:ext>
            </a:extLst>
          </p:cNvPr>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9" name="AutoShape 2" descr="Moving Off in an Automatic Car - Learn ...">
            <a:extLst>
              <a:ext uri="{FF2B5EF4-FFF2-40B4-BE49-F238E27FC236}">
                <a16:creationId xmlns:a16="http://schemas.microsoft.com/office/drawing/2014/main" id="{9B209E4C-EC66-AE33-6C7F-E1D62D14618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83B92ADC-6BDB-D9F3-702A-245DB762F91A}"/>
              </a:ext>
            </a:extLst>
          </p:cNvPr>
          <p:cNvSpPr txBox="1"/>
          <p:nvPr/>
        </p:nvSpPr>
        <p:spPr>
          <a:xfrm>
            <a:off x="1135965" y="1559727"/>
            <a:ext cx="6098344" cy="369332"/>
          </a:xfrm>
          <a:prstGeom prst="rect">
            <a:avLst/>
          </a:prstGeom>
          <a:noFill/>
        </p:spPr>
        <p:txBody>
          <a:bodyPr wrap="square">
            <a:spAutoFit/>
          </a:bodyPr>
          <a:lstStyle/>
          <a:p>
            <a:r>
              <a:rPr lang="en-US" b="1" i="0" dirty="0">
                <a:solidFill>
                  <a:srgbClr val="0A0A0A"/>
                </a:solidFill>
                <a:effectLst/>
                <a:latin typeface="Google Sans"/>
              </a:rPr>
              <a:t>Arrival &amp; </a:t>
            </a:r>
            <a:r>
              <a:rPr lang="en-US" b="1" i="0" dirty="0" smtClean="0">
                <a:solidFill>
                  <a:srgbClr val="0A0A0A"/>
                </a:solidFill>
                <a:effectLst/>
                <a:latin typeface="Google Sans"/>
              </a:rPr>
              <a:t>Inspection (Find car information)</a:t>
            </a:r>
            <a:endParaRPr lang="en-US" dirty="0"/>
          </a:p>
        </p:txBody>
      </p:sp>
      <p:pic>
        <p:nvPicPr>
          <p:cNvPr id="4" name="Picture 3"/>
          <p:cNvPicPr>
            <a:picLocks noChangeAspect="1"/>
          </p:cNvPicPr>
          <p:nvPr/>
        </p:nvPicPr>
        <p:blipFill>
          <a:blip r:embed="rId4"/>
          <a:stretch>
            <a:fillRect/>
          </a:stretch>
        </p:blipFill>
        <p:spPr>
          <a:xfrm>
            <a:off x="1135965" y="2299154"/>
            <a:ext cx="8244735" cy="3665128"/>
          </a:xfrm>
          <a:prstGeom prst="rect">
            <a:avLst/>
          </a:prstGeom>
        </p:spPr>
      </p:pic>
    </p:spTree>
    <p:custDataLst>
      <p:tags r:id="rId1"/>
    </p:custDataLst>
    <p:extLst>
      <p:ext uri="{BB962C8B-B14F-4D97-AF65-F5344CB8AC3E}">
        <p14:creationId xmlns:p14="http://schemas.microsoft.com/office/powerpoint/2010/main" val="42565244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07BEB-5209-63C5-19EE-67A43BD905C5}"/>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90573694-C652-AF9C-2D56-08C62BC4620B}"/>
              </a:ext>
            </a:extLst>
          </p:cNvPr>
          <p:cNvSpPr txBox="1"/>
          <p:nvPr>
            <p:custDataLst>
              <p:tags r:id="rId2"/>
            </p:custDataLst>
          </p:nvPr>
        </p:nvSpPr>
        <p:spPr>
          <a:xfrm>
            <a:off x="967152" y="612438"/>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4CC5F30F-95B0-CF46-5F07-11C5B6B888FA}"/>
              </a:ext>
            </a:extLst>
          </p:cNvPr>
          <p:cNvSpPr txBox="1"/>
          <p:nvPr/>
        </p:nvSpPr>
        <p:spPr>
          <a:xfrm>
            <a:off x="460375" y="6356058"/>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1641CCBB-AEB2-EF2E-25B0-0036E052F54C}"/>
              </a:ext>
            </a:extLst>
          </p:cNvPr>
          <p:cNvSpPr/>
          <p:nvPr/>
        </p:nvSpPr>
        <p:spPr>
          <a:xfrm>
            <a:off x="784272" y="1025240"/>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Vehicle Intake &amp; Safe Parking Protocol</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F8606812-8A45-B942-EC56-2045DAB99D3A}"/>
              </a:ext>
            </a:extLst>
          </p:cNvPr>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9" name="AutoShape 2" descr="Moving Off in an Automatic Car - Learn ...">
            <a:extLst>
              <a:ext uri="{FF2B5EF4-FFF2-40B4-BE49-F238E27FC236}">
                <a16:creationId xmlns:a16="http://schemas.microsoft.com/office/drawing/2014/main" id="{9B209E4C-EC66-AE33-6C7F-E1D62D14618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83B92ADC-6BDB-D9F3-702A-245DB762F91A}"/>
              </a:ext>
            </a:extLst>
          </p:cNvPr>
          <p:cNvSpPr txBox="1"/>
          <p:nvPr/>
        </p:nvSpPr>
        <p:spPr>
          <a:xfrm>
            <a:off x="1135965" y="1559727"/>
            <a:ext cx="6098344" cy="369332"/>
          </a:xfrm>
          <a:prstGeom prst="rect">
            <a:avLst/>
          </a:prstGeom>
          <a:noFill/>
        </p:spPr>
        <p:txBody>
          <a:bodyPr wrap="square">
            <a:spAutoFit/>
          </a:bodyPr>
          <a:lstStyle/>
          <a:p>
            <a:r>
              <a:rPr lang="en-US" b="1" i="0" dirty="0">
                <a:solidFill>
                  <a:srgbClr val="0A0A0A"/>
                </a:solidFill>
                <a:effectLst/>
                <a:latin typeface="Google Sans"/>
              </a:rPr>
              <a:t>Arrival &amp; Inspection</a:t>
            </a:r>
            <a:endParaRPr lang="en-US" dirty="0"/>
          </a:p>
        </p:txBody>
      </p:sp>
      <p:sp>
        <p:nvSpPr>
          <p:cNvPr id="11" name="TextBox 10">
            <a:extLst>
              <a:ext uri="{FF2B5EF4-FFF2-40B4-BE49-F238E27FC236}">
                <a16:creationId xmlns:a16="http://schemas.microsoft.com/office/drawing/2014/main" id="{EEAF80AD-A55A-4A8E-1952-1B04326D3FB9}"/>
              </a:ext>
            </a:extLst>
          </p:cNvPr>
          <p:cNvSpPr txBox="1"/>
          <p:nvPr/>
        </p:nvSpPr>
        <p:spPr>
          <a:xfrm>
            <a:off x="1135964" y="1960266"/>
            <a:ext cx="9034977" cy="369332"/>
          </a:xfrm>
          <a:prstGeom prst="rect">
            <a:avLst/>
          </a:prstGeom>
          <a:noFill/>
        </p:spPr>
        <p:txBody>
          <a:bodyPr wrap="square">
            <a:spAutoFit/>
          </a:bodyPr>
          <a:lstStyle/>
          <a:p>
            <a:r>
              <a:rPr lang="en-US" b="1" i="0" dirty="0" smtClean="0">
                <a:solidFill>
                  <a:srgbClr val="0A0A0A"/>
                </a:solidFill>
                <a:effectLst/>
                <a:latin typeface="Google Sans"/>
              </a:rPr>
              <a:t>Mazda </a:t>
            </a:r>
            <a:r>
              <a:rPr lang="en-US" b="1" i="0" dirty="0" err="1" smtClean="0">
                <a:solidFill>
                  <a:srgbClr val="0A0A0A"/>
                </a:solidFill>
                <a:effectLst/>
                <a:latin typeface="Google Sans"/>
              </a:rPr>
              <a:t>Demio</a:t>
            </a:r>
            <a:r>
              <a:rPr lang="en-US" b="1" i="0" dirty="0" smtClean="0">
                <a:solidFill>
                  <a:srgbClr val="0A0A0A"/>
                </a:solidFill>
                <a:effectLst/>
                <a:latin typeface="Google Sans"/>
              </a:rPr>
              <a:t> </a:t>
            </a:r>
            <a:r>
              <a:rPr lang="en-US" b="1" i="0" dirty="0" err="1" smtClean="0">
                <a:solidFill>
                  <a:srgbClr val="0A0A0A"/>
                </a:solidFill>
                <a:effectLst/>
                <a:latin typeface="Google Sans"/>
              </a:rPr>
              <a:t>Skyactive</a:t>
            </a:r>
            <a:endParaRPr lang="en-US" b="1" dirty="0"/>
          </a:p>
        </p:txBody>
      </p:sp>
      <p:sp>
        <p:nvSpPr>
          <p:cNvPr id="5" name="Rectangle 4"/>
          <p:cNvSpPr/>
          <p:nvPr/>
        </p:nvSpPr>
        <p:spPr>
          <a:xfrm>
            <a:off x="4357808" y="1942526"/>
            <a:ext cx="2484398" cy="369332"/>
          </a:xfrm>
          <a:prstGeom prst="rect">
            <a:avLst/>
          </a:prstGeom>
        </p:spPr>
        <p:txBody>
          <a:bodyPr wrap="none">
            <a:spAutoFit/>
          </a:bodyPr>
          <a:lstStyle/>
          <a:p>
            <a:r>
              <a:rPr lang="en-US" b="1" dirty="0">
                <a:solidFill>
                  <a:srgbClr val="0A0A0A"/>
                </a:solidFill>
                <a:latin typeface="Google Sans"/>
              </a:rPr>
              <a:t>DBA DEJFS </a:t>
            </a:r>
            <a:r>
              <a:rPr lang="en-US" b="1" dirty="0" smtClean="0">
                <a:solidFill>
                  <a:srgbClr val="0A0A0A"/>
                </a:solidFill>
                <a:latin typeface="Google Sans"/>
              </a:rPr>
              <a:t>28W L21</a:t>
            </a:r>
            <a:endParaRPr lang="en-US" b="1" dirty="0"/>
          </a:p>
        </p:txBody>
      </p:sp>
      <p:sp>
        <p:nvSpPr>
          <p:cNvPr id="6" name="Rectangle 5"/>
          <p:cNvSpPr/>
          <p:nvPr/>
        </p:nvSpPr>
        <p:spPr>
          <a:xfrm>
            <a:off x="1138309" y="2404736"/>
            <a:ext cx="6096000" cy="584775"/>
          </a:xfrm>
          <a:prstGeom prst="rect">
            <a:avLst/>
          </a:prstGeom>
        </p:spPr>
        <p:txBody>
          <a:bodyPr>
            <a:spAutoFit/>
          </a:bodyPr>
          <a:lstStyle/>
          <a:p>
            <a:r>
              <a:rPr lang="en-US" sz="1600" b="1" dirty="0">
                <a:solidFill>
                  <a:srgbClr val="0A0A0A"/>
                </a:solidFill>
                <a:latin typeface="Google Sans"/>
              </a:rPr>
              <a:t>DBA</a:t>
            </a:r>
            <a:r>
              <a:rPr lang="en-US" sz="1600" dirty="0">
                <a:solidFill>
                  <a:srgbClr val="0A0A0A"/>
                </a:solidFill>
                <a:latin typeface="Google Sans"/>
              </a:rPr>
              <a:t>: Indicates the vehicle meets specific Japanese emission standards (Low Emissions Vehicle).</a:t>
            </a:r>
            <a:endParaRPr lang="en-US" sz="1600" b="0" i="0" dirty="0">
              <a:solidFill>
                <a:srgbClr val="0A0A0A"/>
              </a:solidFill>
              <a:effectLst/>
              <a:latin typeface="Google Sans"/>
            </a:endParaRPr>
          </a:p>
        </p:txBody>
      </p:sp>
      <p:sp>
        <p:nvSpPr>
          <p:cNvPr id="10" name="Rectangle 9"/>
          <p:cNvSpPr/>
          <p:nvPr/>
        </p:nvSpPr>
        <p:spPr>
          <a:xfrm>
            <a:off x="1135964" y="3122389"/>
            <a:ext cx="5955476" cy="369332"/>
          </a:xfrm>
          <a:prstGeom prst="rect">
            <a:avLst/>
          </a:prstGeom>
        </p:spPr>
        <p:txBody>
          <a:bodyPr wrap="none">
            <a:spAutoFit/>
          </a:bodyPr>
          <a:lstStyle/>
          <a:p>
            <a:r>
              <a:rPr lang="en-US" b="1" dirty="0">
                <a:solidFill>
                  <a:srgbClr val="0A0A0A"/>
                </a:solidFill>
                <a:latin typeface="Google Sans"/>
              </a:rPr>
              <a:t>DE</a:t>
            </a:r>
            <a:r>
              <a:rPr lang="en-US" dirty="0">
                <a:solidFill>
                  <a:srgbClr val="0A0A0A"/>
                </a:solidFill>
                <a:latin typeface="Google Sans"/>
              </a:rPr>
              <a:t>: Refers to the chassis series (3rd Generation </a:t>
            </a:r>
            <a:r>
              <a:rPr lang="en-US" dirty="0" err="1">
                <a:solidFill>
                  <a:srgbClr val="0A0A0A"/>
                </a:solidFill>
                <a:latin typeface="Google Sans"/>
              </a:rPr>
              <a:t>Demio</a:t>
            </a:r>
            <a:r>
              <a:rPr lang="en-US" dirty="0">
                <a:solidFill>
                  <a:srgbClr val="0A0A0A"/>
                </a:solidFill>
                <a:latin typeface="Google Sans"/>
              </a:rPr>
              <a:t>)</a:t>
            </a:r>
            <a:endParaRPr lang="en-US" dirty="0"/>
          </a:p>
        </p:txBody>
      </p:sp>
      <p:sp>
        <p:nvSpPr>
          <p:cNvPr id="12" name="Rectangle 11"/>
          <p:cNvSpPr/>
          <p:nvPr/>
        </p:nvSpPr>
        <p:spPr>
          <a:xfrm>
            <a:off x="1135963" y="3575311"/>
            <a:ext cx="7967187" cy="369332"/>
          </a:xfrm>
          <a:prstGeom prst="rect">
            <a:avLst/>
          </a:prstGeom>
        </p:spPr>
        <p:txBody>
          <a:bodyPr wrap="square">
            <a:spAutoFit/>
          </a:bodyPr>
          <a:lstStyle/>
          <a:p>
            <a:r>
              <a:rPr lang="en-US" b="1" dirty="0">
                <a:solidFill>
                  <a:srgbClr val="0A0A0A"/>
                </a:solidFill>
                <a:latin typeface="Google Sans"/>
              </a:rPr>
              <a:t>JFS</a:t>
            </a:r>
            <a:r>
              <a:rPr lang="en-US" dirty="0">
                <a:solidFill>
                  <a:srgbClr val="0A0A0A"/>
                </a:solidFill>
                <a:latin typeface="Google Sans"/>
              </a:rPr>
              <a:t>: Specifically identifies the </a:t>
            </a:r>
            <a:r>
              <a:rPr lang="en-US" b="1" dirty="0">
                <a:solidFill>
                  <a:srgbClr val="0A0A0A"/>
                </a:solidFill>
                <a:latin typeface="Google Sans"/>
              </a:rPr>
              <a:t>1.3-liter 13-Skyactiv</a:t>
            </a:r>
            <a:r>
              <a:rPr lang="en-US" dirty="0">
                <a:solidFill>
                  <a:srgbClr val="0A0A0A"/>
                </a:solidFill>
                <a:latin typeface="Google Sans"/>
              </a:rPr>
              <a:t> variant</a:t>
            </a:r>
            <a:endParaRPr lang="en-US" dirty="0"/>
          </a:p>
        </p:txBody>
      </p:sp>
      <p:sp>
        <p:nvSpPr>
          <p:cNvPr id="13" name="Rectangle 12"/>
          <p:cNvSpPr/>
          <p:nvPr/>
        </p:nvSpPr>
        <p:spPr>
          <a:xfrm>
            <a:off x="1734589" y="3890598"/>
            <a:ext cx="6096000" cy="523220"/>
          </a:xfrm>
          <a:prstGeom prst="rect">
            <a:avLst/>
          </a:prstGeom>
        </p:spPr>
        <p:txBody>
          <a:bodyPr>
            <a:spAutoFit/>
          </a:bodyPr>
          <a:lstStyle/>
          <a:p>
            <a:pPr>
              <a:buFont typeface="Arial" panose="020B0604020202020204" pitchFamily="34" charset="0"/>
              <a:buChar char="•"/>
            </a:pPr>
            <a:r>
              <a:rPr lang="en-US" sz="1400" b="1" dirty="0">
                <a:solidFill>
                  <a:srgbClr val="0A0A0A"/>
                </a:solidFill>
                <a:latin typeface="Google Sans"/>
              </a:rPr>
              <a:t>Engine</a:t>
            </a:r>
            <a:r>
              <a:rPr lang="en-US" sz="1400" dirty="0">
                <a:solidFill>
                  <a:srgbClr val="0A0A0A"/>
                </a:solidFill>
                <a:latin typeface="Google Sans"/>
              </a:rPr>
              <a:t>: 1.3L P3-VPS DOHC engine.</a:t>
            </a:r>
          </a:p>
          <a:p>
            <a:pPr>
              <a:buFont typeface="Arial" panose="020B0604020202020204" pitchFamily="34" charset="0"/>
              <a:buChar char="•"/>
            </a:pPr>
            <a:r>
              <a:rPr lang="en-US" sz="1400" b="1" dirty="0">
                <a:solidFill>
                  <a:srgbClr val="0A0A0A"/>
                </a:solidFill>
                <a:latin typeface="Google Sans"/>
              </a:rPr>
              <a:t>Transmission</a:t>
            </a:r>
            <a:r>
              <a:rPr lang="en-US" sz="1400" dirty="0">
                <a:solidFill>
                  <a:srgbClr val="0A0A0A"/>
                </a:solidFill>
                <a:latin typeface="Google Sans"/>
              </a:rPr>
              <a:t>: Continuously Variable Transmission (CVT)</a:t>
            </a:r>
            <a:endParaRPr lang="en-US" sz="1400" b="0" i="0" dirty="0">
              <a:solidFill>
                <a:srgbClr val="0A0A0A"/>
              </a:solidFill>
              <a:effectLst/>
              <a:latin typeface="Google Sans"/>
            </a:endParaRPr>
          </a:p>
        </p:txBody>
      </p:sp>
      <p:sp>
        <p:nvSpPr>
          <p:cNvPr id="14" name="Rectangle 13"/>
          <p:cNvSpPr/>
          <p:nvPr/>
        </p:nvSpPr>
        <p:spPr>
          <a:xfrm>
            <a:off x="1194422" y="4513889"/>
            <a:ext cx="2796599" cy="369332"/>
          </a:xfrm>
          <a:prstGeom prst="rect">
            <a:avLst/>
          </a:prstGeom>
        </p:spPr>
        <p:txBody>
          <a:bodyPr wrap="none">
            <a:spAutoFit/>
          </a:bodyPr>
          <a:lstStyle/>
          <a:p>
            <a:r>
              <a:rPr lang="en-US" b="1" dirty="0" smtClean="0">
                <a:solidFill>
                  <a:srgbClr val="0A0A0A"/>
                </a:solidFill>
                <a:latin typeface="Google Sans"/>
              </a:rPr>
              <a:t>28W: </a:t>
            </a:r>
            <a:r>
              <a:rPr lang="en-US" dirty="0"/>
              <a:t>Exterior Paint Code</a:t>
            </a:r>
            <a:endParaRPr lang="en-US" dirty="0"/>
          </a:p>
        </p:txBody>
      </p:sp>
      <p:sp>
        <p:nvSpPr>
          <p:cNvPr id="15" name="Rectangle 14"/>
          <p:cNvSpPr/>
          <p:nvPr/>
        </p:nvSpPr>
        <p:spPr>
          <a:xfrm>
            <a:off x="1235608" y="4999052"/>
            <a:ext cx="2569999" cy="369332"/>
          </a:xfrm>
          <a:prstGeom prst="rect">
            <a:avLst/>
          </a:prstGeom>
        </p:spPr>
        <p:txBody>
          <a:bodyPr wrap="none">
            <a:spAutoFit/>
          </a:bodyPr>
          <a:lstStyle/>
          <a:p>
            <a:r>
              <a:rPr lang="en-US" b="1" dirty="0" smtClean="0">
                <a:solidFill>
                  <a:srgbClr val="0A0A0A"/>
                </a:solidFill>
                <a:latin typeface="Google Sans"/>
              </a:rPr>
              <a:t>L21: </a:t>
            </a:r>
            <a:r>
              <a:rPr lang="en-US" dirty="0" smtClean="0">
                <a:solidFill>
                  <a:srgbClr val="0A0A0A"/>
                </a:solidFill>
                <a:latin typeface="Google Sans"/>
              </a:rPr>
              <a:t>I</a:t>
            </a:r>
            <a:r>
              <a:rPr lang="en-US" dirty="0" smtClean="0"/>
              <a:t>nterior </a:t>
            </a:r>
            <a:r>
              <a:rPr lang="en-US" dirty="0"/>
              <a:t>Trim Code</a:t>
            </a:r>
            <a:endParaRPr lang="en-US" dirty="0"/>
          </a:p>
        </p:txBody>
      </p:sp>
      <p:sp>
        <p:nvSpPr>
          <p:cNvPr id="16" name="Rectangle 15"/>
          <p:cNvSpPr/>
          <p:nvPr/>
        </p:nvSpPr>
        <p:spPr>
          <a:xfrm>
            <a:off x="1734589" y="5302228"/>
            <a:ext cx="9251206" cy="338554"/>
          </a:xfrm>
          <a:prstGeom prst="rect">
            <a:avLst/>
          </a:prstGeom>
        </p:spPr>
        <p:txBody>
          <a:bodyPr wrap="square">
            <a:spAutoFit/>
          </a:bodyPr>
          <a:lstStyle/>
          <a:p>
            <a:r>
              <a:rPr lang="en-US" sz="1600" dirty="0">
                <a:solidFill>
                  <a:srgbClr val="0A0A0A"/>
                </a:solidFill>
                <a:latin typeface="Google Sans"/>
              </a:rPr>
              <a:t>This code specifies the material and color configuration used inside the cabin</a:t>
            </a:r>
            <a:endParaRPr lang="en-US" sz="1600" dirty="0"/>
          </a:p>
        </p:txBody>
      </p:sp>
      <p:sp>
        <p:nvSpPr>
          <p:cNvPr id="17" name="Rectangle 16"/>
          <p:cNvSpPr/>
          <p:nvPr/>
        </p:nvSpPr>
        <p:spPr>
          <a:xfrm>
            <a:off x="784271" y="5599654"/>
            <a:ext cx="11252557" cy="523220"/>
          </a:xfrm>
          <a:prstGeom prst="rect">
            <a:avLst/>
          </a:prstGeom>
        </p:spPr>
        <p:txBody>
          <a:bodyPr wrap="square">
            <a:spAutoFit/>
          </a:bodyPr>
          <a:lstStyle/>
          <a:p>
            <a:pPr>
              <a:buFont typeface="Arial" panose="020B0604020202020204" pitchFamily="34" charset="0"/>
              <a:buChar char="•"/>
            </a:pPr>
            <a:r>
              <a:rPr lang="en-US" sz="1400" b="1" dirty="0">
                <a:solidFill>
                  <a:srgbClr val="0A0A0A"/>
                </a:solidFill>
                <a:latin typeface="Google Sans"/>
              </a:rPr>
              <a:t>Trim Type</a:t>
            </a:r>
            <a:r>
              <a:rPr lang="en-US" sz="1400" dirty="0">
                <a:solidFill>
                  <a:srgbClr val="0A0A0A"/>
                </a:solidFill>
                <a:latin typeface="Google Sans"/>
              </a:rPr>
              <a:t>: It designates a </a:t>
            </a:r>
            <a:r>
              <a:rPr lang="en-US" sz="1400" b="1" dirty="0">
                <a:solidFill>
                  <a:srgbClr val="0A0A0A"/>
                </a:solidFill>
                <a:latin typeface="Google Sans"/>
              </a:rPr>
              <a:t>Black interior</a:t>
            </a:r>
            <a:r>
              <a:rPr lang="en-US" sz="1400" dirty="0">
                <a:solidFill>
                  <a:srgbClr val="0A0A0A"/>
                </a:solidFill>
                <a:latin typeface="Google Sans"/>
              </a:rPr>
              <a:t> system.</a:t>
            </a:r>
          </a:p>
          <a:p>
            <a:pPr>
              <a:buFont typeface="Arial" panose="020B0604020202020204" pitchFamily="34" charset="0"/>
              <a:buChar char="•"/>
            </a:pPr>
            <a:r>
              <a:rPr lang="en-US" sz="1400" b="1" dirty="0">
                <a:solidFill>
                  <a:srgbClr val="0A0A0A"/>
                </a:solidFill>
                <a:latin typeface="Google Sans"/>
              </a:rPr>
              <a:t>Typical Features</a:t>
            </a:r>
            <a:r>
              <a:rPr lang="en-US" sz="1400" dirty="0">
                <a:solidFill>
                  <a:srgbClr val="0A0A0A"/>
                </a:solidFill>
                <a:latin typeface="Google Sans"/>
              </a:rPr>
              <a:t>: This often includes dark seat upholstery and matching dashboard/door paneling common to the "13-Skyactiv" grade</a:t>
            </a:r>
            <a:endParaRPr lang="en-US" sz="1400" b="0" i="0" dirty="0">
              <a:solidFill>
                <a:srgbClr val="0A0A0A"/>
              </a:solidFill>
              <a:effectLst/>
              <a:latin typeface="Google Sans"/>
            </a:endParaRPr>
          </a:p>
        </p:txBody>
      </p:sp>
    </p:spTree>
    <p:custDataLst>
      <p:tags r:id="rId1"/>
    </p:custDataLst>
    <p:extLst>
      <p:ext uri="{BB962C8B-B14F-4D97-AF65-F5344CB8AC3E}">
        <p14:creationId xmlns:p14="http://schemas.microsoft.com/office/powerpoint/2010/main" val="25519840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07BEB-5209-63C5-19EE-67A43BD905C5}"/>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90573694-C652-AF9C-2D56-08C62BC4620B}"/>
              </a:ext>
            </a:extLst>
          </p:cNvPr>
          <p:cNvSpPr txBox="1"/>
          <p:nvPr>
            <p:custDataLst>
              <p:tags r:id="rId2"/>
            </p:custDataLst>
          </p:nvPr>
        </p:nvSpPr>
        <p:spPr>
          <a:xfrm>
            <a:off x="967152" y="612438"/>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4CC5F30F-95B0-CF46-5F07-11C5B6B888FA}"/>
              </a:ext>
            </a:extLst>
          </p:cNvPr>
          <p:cNvSpPr txBox="1"/>
          <p:nvPr/>
        </p:nvSpPr>
        <p:spPr>
          <a:xfrm>
            <a:off x="784272" y="6138850"/>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1641CCBB-AEB2-EF2E-25B0-0036E052F54C}"/>
              </a:ext>
            </a:extLst>
          </p:cNvPr>
          <p:cNvSpPr/>
          <p:nvPr/>
        </p:nvSpPr>
        <p:spPr>
          <a:xfrm>
            <a:off x="784272" y="1025240"/>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Vehicle Intake &amp; Safe Parking Protocol</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F8606812-8A45-B942-EC56-2045DAB99D3A}"/>
              </a:ext>
            </a:extLst>
          </p:cNvPr>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9" name="AutoShape 2" descr="Moving Off in an Automatic Car - Learn ...">
            <a:extLst>
              <a:ext uri="{FF2B5EF4-FFF2-40B4-BE49-F238E27FC236}">
                <a16:creationId xmlns:a16="http://schemas.microsoft.com/office/drawing/2014/main" id="{9B209E4C-EC66-AE33-6C7F-E1D62D14618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83B92ADC-6BDB-D9F3-702A-245DB762F91A}"/>
              </a:ext>
            </a:extLst>
          </p:cNvPr>
          <p:cNvSpPr txBox="1"/>
          <p:nvPr/>
        </p:nvSpPr>
        <p:spPr>
          <a:xfrm>
            <a:off x="1135965" y="1559727"/>
            <a:ext cx="6098344" cy="369332"/>
          </a:xfrm>
          <a:prstGeom prst="rect">
            <a:avLst/>
          </a:prstGeom>
          <a:noFill/>
        </p:spPr>
        <p:txBody>
          <a:bodyPr wrap="square">
            <a:spAutoFit/>
          </a:bodyPr>
          <a:lstStyle/>
          <a:p>
            <a:r>
              <a:rPr lang="en-US" b="1" i="0" dirty="0">
                <a:solidFill>
                  <a:srgbClr val="0A0A0A"/>
                </a:solidFill>
                <a:effectLst/>
                <a:latin typeface="Google Sans"/>
              </a:rPr>
              <a:t>Arrival &amp; Inspection</a:t>
            </a:r>
            <a:endParaRPr lang="en-US" dirty="0"/>
          </a:p>
        </p:txBody>
      </p:sp>
      <p:sp>
        <p:nvSpPr>
          <p:cNvPr id="11" name="TextBox 10">
            <a:extLst>
              <a:ext uri="{FF2B5EF4-FFF2-40B4-BE49-F238E27FC236}">
                <a16:creationId xmlns:a16="http://schemas.microsoft.com/office/drawing/2014/main" id="{EEAF80AD-A55A-4A8E-1952-1B04326D3FB9}"/>
              </a:ext>
            </a:extLst>
          </p:cNvPr>
          <p:cNvSpPr txBox="1"/>
          <p:nvPr/>
        </p:nvSpPr>
        <p:spPr>
          <a:xfrm>
            <a:off x="1135964" y="1960266"/>
            <a:ext cx="9034977" cy="369332"/>
          </a:xfrm>
          <a:prstGeom prst="rect">
            <a:avLst/>
          </a:prstGeom>
          <a:noFill/>
        </p:spPr>
        <p:txBody>
          <a:bodyPr wrap="square">
            <a:spAutoFit/>
          </a:bodyPr>
          <a:lstStyle/>
          <a:p>
            <a:r>
              <a:rPr lang="en-US" b="0" i="0" dirty="0">
                <a:solidFill>
                  <a:srgbClr val="0A0A0A"/>
                </a:solidFill>
                <a:effectLst/>
                <a:latin typeface="Google Sans"/>
              </a:rPr>
              <a:t>Conduct a visual check for pre-existing damage as the vehicle enters the service bay</a:t>
            </a:r>
            <a:endParaRPr lang="en-US" dirty="0"/>
          </a:p>
        </p:txBody>
      </p:sp>
      <p:sp>
        <p:nvSpPr>
          <p:cNvPr id="13" name="Rectangle 2">
            <a:extLst>
              <a:ext uri="{FF2B5EF4-FFF2-40B4-BE49-F238E27FC236}">
                <a16:creationId xmlns:a16="http://schemas.microsoft.com/office/drawing/2014/main" id="{4AC9395D-1550-5CAC-DD34-16979BE70124}"/>
              </a:ext>
            </a:extLst>
          </p:cNvPr>
          <p:cNvSpPr>
            <a:spLocks noChangeArrowheads="1"/>
          </p:cNvSpPr>
          <p:nvPr/>
        </p:nvSpPr>
        <p:spPr bwMode="auto">
          <a:xfrm>
            <a:off x="1135964" y="1920773"/>
            <a:ext cx="8661025" cy="193899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rgbClr val="0A0A0A"/>
                </a:solidFill>
                <a:effectLst/>
                <a:latin typeface="Google Sans"/>
              </a:rPr>
              <a:t>Safe Positioning</a:t>
            </a:r>
            <a:r>
              <a:rPr kumimoji="0" lang="en-US" altLang="en-US" sz="1200" b="0" i="0" u="none" strike="noStrike" cap="none" normalizeH="0" baseline="0" dirty="0" smtClean="0">
                <a:ln>
                  <a:noFill/>
                </a:ln>
                <a:solidFill>
                  <a:srgbClr val="0A0A0A"/>
                </a:solidFill>
                <a:effectLst/>
                <a:latin typeface="Google Sans"/>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rgbClr val="0A0A0A"/>
              </a:solidFill>
              <a:effectLst/>
              <a:latin typeface="Google Sans"/>
            </a:endParaRPr>
          </a:p>
          <a:p>
            <a:pPr marL="457200" marR="0" lvl="1"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rgbClr val="0A0A0A"/>
                </a:solidFill>
                <a:effectLst/>
                <a:latin typeface="Google Sans"/>
              </a:rPr>
              <a:t>Level Ground</a:t>
            </a:r>
            <a:r>
              <a:rPr kumimoji="0" lang="en-US" altLang="en-US" sz="1200" b="0" i="0" u="none" strike="noStrike" cap="none" normalizeH="0" baseline="0" dirty="0">
                <a:ln>
                  <a:noFill/>
                </a:ln>
                <a:solidFill>
                  <a:srgbClr val="0A0A0A"/>
                </a:solidFill>
                <a:effectLst/>
                <a:latin typeface="Google Sans"/>
              </a:rPr>
              <a:t>: Always park on a level surface with a maximum 2% grade to prevent involuntary movement</a:t>
            </a:r>
            <a:r>
              <a:rPr kumimoji="0" lang="en-US" altLang="en-US" sz="1200" b="0" i="0" u="none" strike="noStrike" cap="none" normalizeH="0" baseline="0" dirty="0" smtClean="0">
                <a:ln>
                  <a:noFill/>
                </a:ln>
                <a:solidFill>
                  <a:srgbClr val="0A0A0A"/>
                </a:solidFill>
                <a:effectLst/>
                <a:latin typeface="Google Sans"/>
              </a:rPr>
              <a:t>.</a:t>
            </a: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rgbClr val="0A0A0A"/>
              </a:solidFill>
              <a:effectLst/>
              <a:latin typeface="Google Sans"/>
            </a:endParaRPr>
          </a:p>
          <a:p>
            <a:pPr marL="457200" marR="0" lvl="1"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rgbClr val="0A0A0A"/>
                </a:solidFill>
                <a:effectLst/>
                <a:latin typeface="Google Sans"/>
              </a:rPr>
              <a:t>Forward-Only Movement</a:t>
            </a:r>
            <a:r>
              <a:rPr kumimoji="0" lang="en-US" altLang="en-US" sz="1200" b="0" i="0" u="none" strike="noStrike" cap="none" normalizeH="0" baseline="0" dirty="0">
                <a:ln>
                  <a:noFill/>
                </a:ln>
                <a:solidFill>
                  <a:srgbClr val="0A0A0A"/>
                </a:solidFill>
                <a:effectLst/>
                <a:latin typeface="Google Sans"/>
              </a:rPr>
              <a:t>: Position the vehicle so the first movement after service is forward, minimizing risky reversing</a:t>
            </a:r>
            <a:r>
              <a:rPr kumimoji="0" lang="en-US" altLang="en-US" sz="1200" b="0" i="0" u="none" strike="noStrike" cap="none" normalizeH="0" baseline="0" dirty="0" smtClean="0">
                <a:ln>
                  <a:noFill/>
                </a:ln>
                <a:solidFill>
                  <a:srgbClr val="0A0A0A"/>
                </a:solidFill>
                <a:effectLst/>
                <a:latin typeface="Google Sans"/>
              </a:rPr>
              <a:t>.</a:t>
            </a: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rgbClr val="0A0A0A"/>
              </a:solidFill>
              <a:effectLst/>
              <a:latin typeface="Google Sans"/>
            </a:endParaRPr>
          </a:p>
          <a:p>
            <a:pPr marL="457200" marR="0" lvl="1"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rgbClr val="0A0A0A"/>
                </a:solidFill>
                <a:effectLst/>
                <a:latin typeface="Google Sans"/>
              </a:rPr>
              <a:t>Transmission</a:t>
            </a:r>
            <a:r>
              <a:rPr kumimoji="0" lang="en-US" altLang="en-US" sz="1200" b="0" i="0" u="none" strike="noStrike" cap="none" normalizeH="0" baseline="0" dirty="0">
                <a:ln>
                  <a:noFill/>
                </a:ln>
                <a:solidFill>
                  <a:srgbClr val="0A0A0A"/>
                </a:solidFill>
                <a:effectLst/>
                <a:latin typeface="Google Sans"/>
              </a:rPr>
              <a:t>: Shift to </a:t>
            </a:r>
            <a:r>
              <a:rPr kumimoji="0" lang="en-US" altLang="en-US" sz="1200" b="1" i="0" u="none" strike="noStrike" cap="none" normalizeH="0" baseline="0" dirty="0">
                <a:ln>
                  <a:noFill/>
                </a:ln>
                <a:solidFill>
                  <a:srgbClr val="0A0A0A"/>
                </a:solidFill>
                <a:effectLst/>
                <a:latin typeface="Google Sans"/>
              </a:rPr>
              <a:t>Park (P)</a:t>
            </a:r>
            <a:r>
              <a:rPr kumimoji="0" lang="en-US" altLang="en-US" sz="1200" b="0" i="0" u="none" strike="noStrike" cap="none" normalizeH="0" baseline="0" dirty="0">
                <a:ln>
                  <a:noFill/>
                </a:ln>
                <a:solidFill>
                  <a:srgbClr val="0A0A0A"/>
                </a:solidFill>
                <a:effectLst/>
                <a:latin typeface="Google Sans"/>
              </a:rPr>
              <a:t> for automatics or a low gear for manuals</a:t>
            </a:r>
            <a:r>
              <a:rPr kumimoji="0" lang="en-US" altLang="en-US" sz="1200" b="0" i="0" u="none" strike="noStrike" cap="none" normalizeH="0" baseline="0" dirty="0" smtClean="0">
                <a:ln>
                  <a:noFill/>
                </a:ln>
                <a:solidFill>
                  <a:srgbClr val="0A0A0A"/>
                </a:solidFill>
                <a:effectLst/>
                <a:latin typeface="Google Sans"/>
              </a:rPr>
              <a:t>.</a:t>
            </a: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rgbClr val="0A0A0A"/>
              </a:solidFill>
              <a:effectLst/>
              <a:latin typeface="Google Sans"/>
            </a:endParaRPr>
          </a:p>
          <a:p>
            <a:pPr marL="457200" marR="0" lvl="1"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rgbClr val="0A0A0A"/>
                </a:solidFill>
                <a:effectLst/>
                <a:latin typeface="Google Sans"/>
              </a:rPr>
              <a:t>Isolation</a:t>
            </a:r>
            <a:r>
              <a:rPr kumimoji="0" lang="en-US" altLang="en-US" sz="1200" b="0" i="0" u="none" strike="noStrike" cap="none" normalizeH="0" baseline="0" dirty="0">
                <a:ln>
                  <a:noFill/>
                </a:ln>
                <a:solidFill>
                  <a:srgbClr val="0A0A0A"/>
                </a:solidFill>
                <a:effectLst/>
                <a:latin typeface="Google Sans"/>
              </a:rPr>
              <a:t>: Fully engage the </a:t>
            </a:r>
            <a:r>
              <a:rPr kumimoji="0" lang="en-US" altLang="en-US" sz="1200" b="1" i="0" u="none" strike="noStrike" cap="none" normalizeH="0" baseline="0" dirty="0">
                <a:ln>
                  <a:noFill/>
                </a:ln>
                <a:solidFill>
                  <a:srgbClr val="0A0A0A"/>
                </a:solidFill>
                <a:effectLst/>
                <a:latin typeface="Google Sans"/>
              </a:rPr>
              <a:t>parking brake</a:t>
            </a:r>
            <a:r>
              <a:rPr kumimoji="0" lang="en-US" altLang="en-US" sz="1200" b="0" i="0" u="none" strike="noStrike" cap="none" normalizeH="0" baseline="0" dirty="0">
                <a:ln>
                  <a:noFill/>
                </a:ln>
                <a:solidFill>
                  <a:srgbClr val="0A0A0A"/>
                </a:solidFill>
                <a:effectLst/>
                <a:latin typeface="Google Sans"/>
              </a:rPr>
              <a:t> and use wheel chocks for heavy vehicles or when jacking. </a:t>
            </a:r>
          </a:p>
        </p:txBody>
      </p:sp>
      <p:sp>
        <p:nvSpPr>
          <p:cNvPr id="4" name="Rectangle 3"/>
          <p:cNvSpPr/>
          <p:nvPr/>
        </p:nvSpPr>
        <p:spPr>
          <a:xfrm>
            <a:off x="915460" y="4100851"/>
            <a:ext cx="10122026" cy="1631216"/>
          </a:xfrm>
          <a:prstGeom prst="rect">
            <a:avLst/>
          </a:prstGeom>
        </p:spPr>
        <p:txBody>
          <a:bodyPr wrap="square">
            <a:spAutoFit/>
          </a:bodyPr>
          <a:lstStyle/>
          <a:p>
            <a:pPr lvl="0" eaLnBrk="0" fontAlgn="base" hangingPunct="0">
              <a:spcBef>
                <a:spcPct val="0"/>
              </a:spcBef>
              <a:spcAft>
                <a:spcPct val="0"/>
              </a:spcAft>
            </a:pPr>
            <a:r>
              <a:rPr lang="en-US" altLang="en-US" b="1" dirty="0" smtClean="0">
                <a:solidFill>
                  <a:srgbClr val="0A0A0A"/>
                </a:solidFill>
                <a:latin typeface="Google Sans"/>
              </a:rPr>
              <a:t> </a:t>
            </a:r>
            <a:r>
              <a:rPr lang="en-US" altLang="en-US" b="1" dirty="0">
                <a:solidFill>
                  <a:srgbClr val="0A0A0A"/>
                </a:solidFill>
                <a:latin typeface="Google Sans"/>
              </a:rPr>
              <a:t>Maintenance </a:t>
            </a:r>
            <a:r>
              <a:rPr lang="en-US" altLang="en-US" b="1" dirty="0" smtClean="0">
                <a:solidFill>
                  <a:srgbClr val="0A0A0A"/>
                </a:solidFill>
                <a:latin typeface="Google Sans"/>
              </a:rPr>
              <a:t>Work plan </a:t>
            </a:r>
            <a:r>
              <a:rPr lang="en-US" altLang="en-US" b="1" dirty="0">
                <a:solidFill>
                  <a:srgbClr val="0A0A0A"/>
                </a:solidFill>
                <a:latin typeface="Google Sans"/>
              </a:rPr>
              <a:t>- Phase 1: </a:t>
            </a:r>
            <a:r>
              <a:rPr lang="en-US" altLang="en-US" b="1" dirty="0" smtClean="0">
                <a:solidFill>
                  <a:srgbClr val="0A0A0A"/>
                </a:solidFill>
                <a:latin typeface="Google Sans"/>
              </a:rPr>
              <a:t>Pre-Service</a:t>
            </a:r>
          </a:p>
          <a:p>
            <a:pPr lvl="0" eaLnBrk="0" fontAlgn="base" hangingPunct="0">
              <a:spcBef>
                <a:spcPct val="0"/>
              </a:spcBef>
              <a:spcAft>
                <a:spcPct val="0"/>
              </a:spcAft>
            </a:pPr>
            <a:endParaRPr lang="en-US" altLang="en-US" sz="1200" dirty="0"/>
          </a:p>
          <a:p>
            <a:pPr lvl="0" eaLnBrk="0" fontAlgn="base" hangingPunct="0">
              <a:spcBef>
                <a:spcPct val="0"/>
              </a:spcBef>
              <a:spcAft>
                <a:spcPct val="0"/>
              </a:spcAft>
              <a:buFontTx/>
              <a:buChar char="•"/>
            </a:pPr>
            <a:r>
              <a:rPr lang="en-US" altLang="en-US" sz="1400" b="1" dirty="0">
                <a:solidFill>
                  <a:srgbClr val="0A0A0A"/>
                </a:solidFill>
                <a:latin typeface="Google Sans"/>
              </a:rPr>
              <a:t>Asset Overview</a:t>
            </a:r>
            <a:r>
              <a:rPr lang="en-US" altLang="en-US" sz="1400" dirty="0">
                <a:solidFill>
                  <a:srgbClr val="0A0A0A"/>
                </a:solidFill>
                <a:latin typeface="Google Sans"/>
              </a:rPr>
              <a:t>: List the vehicle's past repair history and specific model requirements</a:t>
            </a:r>
            <a:r>
              <a:rPr lang="en-US" altLang="en-US" sz="1400" dirty="0" smtClean="0">
                <a:solidFill>
                  <a:srgbClr val="0A0A0A"/>
                </a:solidFill>
                <a:latin typeface="Google Sans"/>
              </a:rPr>
              <a:t>.</a:t>
            </a:r>
          </a:p>
          <a:p>
            <a:pPr lvl="0" eaLnBrk="0" fontAlgn="base" hangingPunct="0">
              <a:spcBef>
                <a:spcPct val="0"/>
              </a:spcBef>
              <a:spcAft>
                <a:spcPct val="0"/>
              </a:spcAft>
              <a:buFontTx/>
              <a:buChar char="•"/>
            </a:pPr>
            <a:endParaRPr lang="en-US" altLang="en-US" sz="1400" dirty="0">
              <a:solidFill>
                <a:srgbClr val="0A0A0A"/>
              </a:solidFill>
              <a:latin typeface="Google Sans"/>
            </a:endParaRPr>
          </a:p>
          <a:p>
            <a:pPr lvl="0" eaLnBrk="0" fontAlgn="base" hangingPunct="0">
              <a:spcBef>
                <a:spcPct val="0"/>
              </a:spcBef>
              <a:spcAft>
                <a:spcPct val="0"/>
              </a:spcAft>
              <a:buFontTx/>
              <a:buChar char="•"/>
            </a:pPr>
            <a:r>
              <a:rPr lang="en-US" altLang="en-US" sz="1400" b="1" dirty="0">
                <a:solidFill>
                  <a:srgbClr val="0A0A0A"/>
                </a:solidFill>
                <a:latin typeface="Google Sans"/>
              </a:rPr>
              <a:t>Resource Staging</a:t>
            </a:r>
            <a:r>
              <a:rPr lang="en-US" altLang="en-US" sz="1400" dirty="0">
                <a:solidFill>
                  <a:srgbClr val="0A0A0A"/>
                </a:solidFill>
                <a:latin typeface="Google Sans"/>
              </a:rPr>
              <a:t>: Identify necessary tools (jacks, stands, scan tools) and spare parts before beginning</a:t>
            </a:r>
            <a:r>
              <a:rPr lang="en-US" altLang="en-US" sz="1400" dirty="0" smtClean="0">
                <a:solidFill>
                  <a:srgbClr val="0A0A0A"/>
                </a:solidFill>
                <a:latin typeface="Google Sans"/>
              </a:rPr>
              <a:t>.</a:t>
            </a:r>
          </a:p>
          <a:p>
            <a:pPr lvl="0" eaLnBrk="0" fontAlgn="base" hangingPunct="0">
              <a:spcBef>
                <a:spcPct val="0"/>
              </a:spcBef>
              <a:spcAft>
                <a:spcPct val="0"/>
              </a:spcAft>
              <a:buFontTx/>
              <a:buChar char="•"/>
            </a:pPr>
            <a:endParaRPr lang="en-US" altLang="en-US" sz="1400" dirty="0">
              <a:solidFill>
                <a:srgbClr val="0A0A0A"/>
              </a:solidFill>
              <a:latin typeface="Google Sans"/>
            </a:endParaRPr>
          </a:p>
          <a:p>
            <a:pPr lvl="0" eaLnBrk="0" fontAlgn="base" hangingPunct="0">
              <a:spcBef>
                <a:spcPct val="0"/>
              </a:spcBef>
              <a:spcAft>
                <a:spcPct val="0"/>
              </a:spcAft>
              <a:buFontTx/>
              <a:buChar char="•"/>
            </a:pPr>
            <a:r>
              <a:rPr lang="en-US" altLang="en-US" sz="1400" b="1" dirty="0">
                <a:solidFill>
                  <a:srgbClr val="0A0A0A"/>
                </a:solidFill>
                <a:latin typeface="Google Sans"/>
              </a:rPr>
              <a:t>Safety Prep</a:t>
            </a:r>
            <a:r>
              <a:rPr lang="en-US" altLang="en-US" sz="1400" dirty="0">
                <a:solidFill>
                  <a:srgbClr val="0A0A0A"/>
                </a:solidFill>
                <a:latin typeface="Google Sans"/>
              </a:rPr>
              <a:t>: Ensure emergency equipment like fire extinguishers and first aid kits are accessible in the bay. </a:t>
            </a:r>
            <a:endParaRPr lang="en-US" sz="1400" dirty="0"/>
          </a:p>
        </p:txBody>
      </p:sp>
    </p:spTree>
    <p:custDataLst>
      <p:tags r:id="rId1"/>
    </p:custDataLst>
    <p:extLst>
      <p:ext uri="{BB962C8B-B14F-4D97-AF65-F5344CB8AC3E}">
        <p14:creationId xmlns:p14="http://schemas.microsoft.com/office/powerpoint/2010/main" val="9379066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07BEB-5209-63C5-19EE-67A43BD905C5}"/>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90573694-C652-AF9C-2D56-08C62BC4620B}"/>
              </a:ext>
            </a:extLst>
          </p:cNvPr>
          <p:cNvSpPr txBox="1"/>
          <p:nvPr>
            <p:custDataLst>
              <p:tags r:id="rId2"/>
            </p:custDataLst>
          </p:nvPr>
        </p:nvSpPr>
        <p:spPr>
          <a:xfrm>
            <a:off x="967152" y="612438"/>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4CC5F30F-95B0-CF46-5F07-11C5B6B888FA}"/>
              </a:ext>
            </a:extLst>
          </p:cNvPr>
          <p:cNvSpPr txBox="1"/>
          <p:nvPr/>
        </p:nvSpPr>
        <p:spPr>
          <a:xfrm>
            <a:off x="784272" y="6138850"/>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1641CCBB-AEB2-EF2E-25B0-0036E052F54C}"/>
              </a:ext>
            </a:extLst>
          </p:cNvPr>
          <p:cNvSpPr/>
          <p:nvPr/>
        </p:nvSpPr>
        <p:spPr>
          <a:xfrm>
            <a:off x="784272" y="1025240"/>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Vehicle Intake &amp; Safe Parking Protocol</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F8606812-8A45-B942-EC56-2045DAB99D3A}"/>
              </a:ext>
            </a:extLst>
          </p:cNvPr>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9" name="AutoShape 2" descr="Moving Off in an Automatic Car - Learn ...">
            <a:extLst>
              <a:ext uri="{FF2B5EF4-FFF2-40B4-BE49-F238E27FC236}">
                <a16:creationId xmlns:a16="http://schemas.microsoft.com/office/drawing/2014/main" id="{9B209E4C-EC66-AE33-6C7F-E1D62D14618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83B92ADC-6BDB-D9F3-702A-245DB762F91A}"/>
              </a:ext>
            </a:extLst>
          </p:cNvPr>
          <p:cNvSpPr txBox="1"/>
          <p:nvPr/>
        </p:nvSpPr>
        <p:spPr>
          <a:xfrm>
            <a:off x="1135965" y="1559727"/>
            <a:ext cx="6098344" cy="369332"/>
          </a:xfrm>
          <a:prstGeom prst="rect">
            <a:avLst/>
          </a:prstGeom>
          <a:noFill/>
        </p:spPr>
        <p:txBody>
          <a:bodyPr wrap="square">
            <a:spAutoFit/>
          </a:bodyPr>
          <a:lstStyle/>
          <a:p>
            <a:r>
              <a:rPr lang="en-US" b="1" i="0" dirty="0">
                <a:solidFill>
                  <a:srgbClr val="0A0A0A"/>
                </a:solidFill>
                <a:effectLst/>
                <a:latin typeface="Google Sans"/>
              </a:rPr>
              <a:t>Arrival &amp; Inspection</a:t>
            </a:r>
            <a:endParaRPr lang="en-US" dirty="0"/>
          </a:p>
        </p:txBody>
      </p:sp>
      <p:sp>
        <p:nvSpPr>
          <p:cNvPr id="11" name="TextBox 10">
            <a:extLst>
              <a:ext uri="{FF2B5EF4-FFF2-40B4-BE49-F238E27FC236}">
                <a16:creationId xmlns:a16="http://schemas.microsoft.com/office/drawing/2014/main" id="{EEAF80AD-A55A-4A8E-1952-1B04326D3FB9}"/>
              </a:ext>
            </a:extLst>
          </p:cNvPr>
          <p:cNvSpPr txBox="1"/>
          <p:nvPr/>
        </p:nvSpPr>
        <p:spPr>
          <a:xfrm>
            <a:off x="1135964" y="1960266"/>
            <a:ext cx="9034977" cy="369332"/>
          </a:xfrm>
          <a:prstGeom prst="rect">
            <a:avLst/>
          </a:prstGeom>
          <a:noFill/>
        </p:spPr>
        <p:txBody>
          <a:bodyPr wrap="square">
            <a:spAutoFit/>
          </a:bodyPr>
          <a:lstStyle/>
          <a:p>
            <a:r>
              <a:rPr lang="en-US" b="0" i="0" dirty="0">
                <a:solidFill>
                  <a:srgbClr val="0A0A0A"/>
                </a:solidFill>
                <a:effectLst/>
                <a:latin typeface="Google Sans"/>
              </a:rPr>
              <a:t>Conduct a visual check for pre-existing damage as the vehicle enters the service bay</a:t>
            </a:r>
            <a:endParaRPr lang="en-US" dirty="0"/>
          </a:p>
        </p:txBody>
      </p:sp>
      <p:sp>
        <p:nvSpPr>
          <p:cNvPr id="5" name="Rectangle 4"/>
          <p:cNvSpPr/>
          <p:nvPr/>
        </p:nvSpPr>
        <p:spPr>
          <a:xfrm>
            <a:off x="1069571" y="2473722"/>
            <a:ext cx="9612284" cy="1969770"/>
          </a:xfrm>
          <a:prstGeom prst="rect">
            <a:avLst/>
          </a:prstGeom>
        </p:spPr>
        <p:txBody>
          <a:bodyPr wrap="square">
            <a:spAutoFit/>
          </a:bodyPr>
          <a:lstStyle/>
          <a:p>
            <a:pPr lvl="0" eaLnBrk="0" fontAlgn="base" hangingPunct="0">
              <a:spcBef>
                <a:spcPct val="0"/>
              </a:spcBef>
              <a:spcAft>
                <a:spcPct val="0"/>
              </a:spcAft>
            </a:pPr>
            <a:r>
              <a:rPr lang="en-US" altLang="en-US" sz="1500" b="1" dirty="0" smtClean="0">
                <a:solidFill>
                  <a:srgbClr val="0A0A0A"/>
                </a:solidFill>
                <a:latin typeface="Google Sans"/>
              </a:rPr>
              <a:t>Phase </a:t>
            </a:r>
            <a:r>
              <a:rPr lang="en-US" altLang="en-US" sz="1500" b="1" dirty="0">
                <a:solidFill>
                  <a:srgbClr val="0A0A0A"/>
                </a:solidFill>
                <a:latin typeface="Google Sans"/>
              </a:rPr>
              <a:t>2: Execution &amp; Routine </a:t>
            </a:r>
            <a:r>
              <a:rPr lang="en-US" altLang="en-US" sz="1500" b="1" dirty="0" smtClean="0">
                <a:solidFill>
                  <a:srgbClr val="0A0A0A"/>
                </a:solidFill>
                <a:latin typeface="Google Sans"/>
              </a:rPr>
              <a:t>Tasks</a:t>
            </a:r>
          </a:p>
          <a:p>
            <a:pPr lvl="0" eaLnBrk="0" fontAlgn="base" hangingPunct="0">
              <a:spcBef>
                <a:spcPct val="0"/>
              </a:spcBef>
              <a:spcAft>
                <a:spcPct val="0"/>
              </a:spcAft>
            </a:pPr>
            <a:endParaRPr lang="en-US" altLang="en-US" sz="1100" dirty="0"/>
          </a:p>
          <a:p>
            <a:pPr lvl="0" eaLnBrk="0" fontAlgn="base" hangingPunct="0">
              <a:spcBef>
                <a:spcPct val="0"/>
              </a:spcBef>
              <a:spcAft>
                <a:spcPct val="0"/>
              </a:spcAft>
              <a:buFontTx/>
              <a:buChar char="•"/>
            </a:pPr>
            <a:r>
              <a:rPr lang="en-US" altLang="en-US" sz="1200" b="1" dirty="0">
                <a:solidFill>
                  <a:srgbClr val="0A0A0A"/>
                </a:solidFill>
                <a:latin typeface="Google Sans"/>
              </a:rPr>
              <a:t>Daily "WOFT" Checks</a:t>
            </a:r>
            <a:r>
              <a:rPr lang="en-US" altLang="en-US" sz="1200" dirty="0">
                <a:solidFill>
                  <a:srgbClr val="0A0A0A"/>
                </a:solidFill>
                <a:latin typeface="Google Sans"/>
              </a:rPr>
              <a:t>: Use the acronym </a:t>
            </a:r>
            <a:r>
              <a:rPr lang="en-US" altLang="en-US" sz="1200" b="1" dirty="0">
                <a:solidFill>
                  <a:srgbClr val="0A0A0A"/>
                </a:solidFill>
                <a:latin typeface="Google Sans"/>
              </a:rPr>
              <a:t>Water, Oil, Fan belt, and Tires</a:t>
            </a:r>
            <a:r>
              <a:rPr lang="en-US" altLang="en-US" sz="1200" dirty="0">
                <a:solidFill>
                  <a:srgbClr val="0A0A0A"/>
                </a:solidFill>
                <a:latin typeface="Google Sans"/>
              </a:rPr>
              <a:t> for basic daily maintenance. </a:t>
            </a:r>
          </a:p>
          <a:p>
            <a:pPr lvl="0" eaLnBrk="0" fontAlgn="base" hangingPunct="0">
              <a:spcBef>
                <a:spcPct val="0"/>
              </a:spcBef>
              <a:spcAft>
                <a:spcPct val="0"/>
              </a:spcAft>
              <a:buFontTx/>
              <a:buChar char="•"/>
            </a:pPr>
            <a:r>
              <a:rPr lang="en-US" altLang="en-US" sz="1200" b="1" dirty="0">
                <a:solidFill>
                  <a:srgbClr val="0A0A0A"/>
                </a:solidFill>
                <a:latin typeface="Google Sans"/>
              </a:rPr>
              <a:t>Preventive Milestones</a:t>
            </a:r>
            <a:r>
              <a:rPr lang="en-US" altLang="en-US" sz="1200" dirty="0" smtClean="0">
                <a:solidFill>
                  <a:srgbClr val="0A0A0A"/>
                </a:solidFill>
                <a:latin typeface="Google Sans"/>
              </a:rPr>
              <a:t>:</a:t>
            </a:r>
          </a:p>
          <a:p>
            <a:pPr lvl="0" eaLnBrk="0" fontAlgn="base" hangingPunct="0">
              <a:spcBef>
                <a:spcPct val="0"/>
              </a:spcBef>
              <a:spcAft>
                <a:spcPct val="0"/>
              </a:spcAft>
              <a:buFontTx/>
              <a:buChar char="•"/>
            </a:pPr>
            <a:endParaRPr lang="en-US" altLang="en-US" sz="1200" dirty="0">
              <a:solidFill>
                <a:srgbClr val="0A0A0A"/>
              </a:solidFill>
              <a:latin typeface="Google Sans"/>
            </a:endParaRPr>
          </a:p>
          <a:p>
            <a:pPr lvl="1" eaLnBrk="0" fontAlgn="base" hangingPunct="0">
              <a:spcBef>
                <a:spcPct val="0"/>
              </a:spcBef>
              <a:spcAft>
                <a:spcPct val="0"/>
              </a:spcAft>
              <a:buFontTx/>
              <a:buChar char="•"/>
            </a:pPr>
            <a:r>
              <a:rPr lang="en-US" altLang="en-US" sz="1200" b="1" dirty="0">
                <a:solidFill>
                  <a:srgbClr val="0A0A0A"/>
                </a:solidFill>
                <a:latin typeface="Google Sans"/>
              </a:rPr>
              <a:t>Fluid Service</a:t>
            </a:r>
            <a:r>
              <a:rPr lang="en-US" altLang="en-US" sz="1200" dirty="0">
                <a:solidFill>
                  <a:srgbClr val="0A0A0A"/>
                </a:solidFill>
                <a:latin typeface="Google Sans"/>
              </a:rPr>
              <a:t>: Drain/refill engine oil and check coolant levels (only when the engine is cool</a:t>
            </a:r>
            <a:r>
              <a:rPr lang="en-US" altLang="en-US" sz="1200" dirty="0" smtClean="0">
                <a:solidFill>
                  <a:srgbClr val="0A0A0A"/>
                </a:solidFill>
                <a:latin typeface="Google Sans"/>
              </a:rPr>
              <a:t>).</a:t>
            </a:r>
          </a:p>
          <a:p>
            <a:pPr lvl="1" eaLnBrk="0" fontAlgn="base" hangingPunct="0">
              <a:spcBef>
                <a:spcPct val="0"/>
              </a:spcBef>
              <a:spcAft>
                <a:spcPct val="0"/>
              </a:spcAft>
              <a:buFontTx/>
              <a:buChar char="•"/>
            </a:pPr>
            <a:endParaRPr lang="en-US" altLang="en-US" sz="1200" dirty="0">
              <a:solidFill>
                <a:srgbClr val="0A0A0A"/>
              </a:solidFill>
              <a:latin typeface="Google Sans"/>
            </a:endParaRPr>
          </a:p>
          <a:p>
            <a:pPr lvl="1" eaLnBrk="0" fontAlgn="base" hangingPunct="0">
              <a:spcBef>
                <a:spcPct val="0"/>
              </a:spcBef>
              <a:spcAft>
                <a:spcPct val="0"/>
              </a:spcAft>
              <a:buFontTx/>
              <a:buChar char="•"/>
            </a:pPr>
            <a:r>
              <a:rPr lang="en-US" altLang="en-US" sz="1200" b="1" dirty="0">
                <a:solidFill>
                  <a:srgbClr val="0A0A0A"/>
                </a:solidFill>
                <a:latin typeface="Google Sans"/>
              </a:rPr>
              <a:t>System Diagnostics</a:t>
            </a:r>
            <a:r>
              <a:rPr lang="en-US" altLang="en-US" sz="1200" dirty="0">
                <a:solidFill>
                  <a:srgbClr val="0A0A0A"/>
                </a:solidFill>
                <a:latin typeface="Google Sans"/>
              </a:rPr>
              <a:t>: Inspect brakes (liners/pads), steering mechanisms, and electrical systems (lights/wipers</a:t>
            </a:r>
            <a:r>
              <a:rPr lang="en-US" altLang="en-US" sz="1200" dirty="0" smtClean="0">
                <a:solidFill>
                  <a:srgbClr val="0A0A0A"/>
                </a:solidFill>
                <a:latin typeface="Google Sans"/>
              </a:rPr>
              <a:t>).</a:t>
            </a:r>
          </a:p>
          <a:p>
            <a:pPr lvl="1" eaLnBrk="0" fontAlgn="base" hangingPunct="0">
              <a:spcBef>
                <a:spcPct val="0"/>
              </a:spcBef>
              <a:spcAft>
                <a:spcPct val="0"/>
              </a:spcAft>
              <a:buFontTx/>
              <a:buChar char="•"/>
            </a:pPr>
            <a:endParaRPr lang="en-US" altLang="en-US" sz="1200" dirty="0">
              <a:solidFill>
                <a:srgbClr val="0A0A0A"/>
              </a:solidFill>
              <a:latin typeface="Google Sans"/>
            </a:endParaRPr>
          </a:p>
          <a:p>
            <a:pPr lvl="1" eaLnBrk="0" fontAlgn="base" hangingPunct="0">
              <a:spcBef>
                <a:spcPct val="0"/>
              </a:spcBef>
              <a:spcAft>
                <a:spcPct val="0"/>
              </a:spcAft>
              <a:buFontTx/>
              <a:buChar char="•"/>
            </a:pPr>
            <a:r>
              <a:rPr lang="en-US" altLang="en-US" sz="1200" b="1" dirty="0">
                <a:solidFill>
                  <a:srgbClr val="0A0A0A"/>
                </a:solidFill>
                <a:latin typeface="Google Sans"/>
              </a:rPr>
              <a:t>Tire Health</a:t>
            </a:r>
            <a:r>
              <a:rPr lang="en-US" altLang="en-US" sz="1200" dirty="0">
                <a:solidFill>
                  <a:srgbClr val="0A0A0A"/>
                </a:solidFill>
                <a:latin typeface="Google Sans"/>
              </a:rPr>
              <a:t>: Check pressure, tread depth, and wheel nut tightness. </a:t>
            </a:r>
          </a:p>
        </p:txBody>
      </p:sp>
    </p:spTree>
    <p:custDataLst>
      <p:tags r:id="rId1"/>
    </p:custDataLst>
    <p:extLst>
      <p:ext uri="{BB962C8B-B14F-4D97-AF65-F5344CB8AC3E}">
        <p14:creationId xmlns:p14="http://schemas.microsoft.com/office/powerpoint/2010/main" val="35338259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07BEB-5209-63C5-19EE-67A43BD905C5}"/>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90573694-C652-AF9C-2D56-08C62BC4620B}"/>
              </a:ext>
            </a:extLst>
          </p:cNvPr>
          <p:cNvSpPr txBox="1"/>
          <p:nvPr>
            <p:custDataLst>
              <p:tags r:id="rId2"/>
            </p:custDataLst>
          </p:nvPr>
        </p:nvSpPr>
        <p:spPr>
          <a:xfrm>
            <a:off x="967152" y="612438"/>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4CC5F30F-95B0-CF46-5F07-11C5B6B888FA}"/>
              </a:ext>
            </a:extLst>
          </p:cNvPr>
          <p:cNvSpPr txBox="1"/>
          <p:nvPr/>
        </p:nvSpPr>
        <p:spPr>
          <a:xfrm>
            <a:off x="784272" y="6138850"/>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1641CCBB-AEB2-EF2E-25B0-0036E052F54C}"/>
              </a:ext>
            </a:extLst>
          </p:cNvPr>
          <p:cNvSpPr/>
          <p:nvPr/>
        </p:nvSpPr>
        <p:spPr>
          <a:xfrm>
            <a:off x="784272" y="1025240"/>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Vehicle Intake &amp; Safe Parking Protocol</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F8606812-8A45-B942-EC56-2045DAB99D3A}"/>
              </a:ext>
            </a:extLst>
          </p:cNvPr>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9" name="AutoShape 2" descr="Moving Off in an Automatic Car - Learn ...">
            <a:extLst>
              <a:ext uri="{FF2B5EF4-FFF2-40B4-BE49-F238E27FC236}">
                <a16:creationId xmlns:a16="http://schemas.microsoft.com/office/drawing/2014/main" id="{9B209E4C-EC66-AE33-6C7F-E1D62D14618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83B92ADC-6BDB-D9F3-702A-245DB762F91A}"/>
              </a:ext>
            </a:extLst>
          </p:cNvPr>
          <p:cNvSpPr txBox="1"/>
          <p:nvPr/>
        </p:nvSpPr>
        <p:spPr>
          <a:xfrm>
            <a:off x="1135965" y="1559727"/>
            <a:ext cx="6098344" cy="369332"/>
          </a:xfrm>
          <a:prstGeom prst="rect">
            <a:avLst/>
          </a:prstGeom>
          <a:noFill/>
        </p:spPr>
        <p:txBody>
          <a:bodyPr wrap="square">
            <a:spAutoFit/>
          </a:bodyPr>
          <a:lstStyle/>
          <a:p>
            <a:r>
              <a:rPr lang="en-US" b="1" i="0" dirty="0">
                <a:solidFill>
                  <a:srgbClr val="0A0A0A"/>
                </a:solidFill>
                <a:effectLst/>
                <a:latin typeface="Google Sans"/>
              </a:rPr>
              <a:t>Arrival &amp; Inspection</a:t>
            </a:r>
            <a:endParaRPr lang="en-US" dirty="0"/>
          </a:p>
        </p:txBody>
      </p:sp>
      <p:sp>
        <p:nvSpPr>
          <p:cNvPr id="11" name="TextBox 10">
            <a:extLst>
              <a:ext uri="{FF2B5EF4-FFF2-40B4-BE49-F238E27FC236}">
                <a16:creationId xmlns:a16="http://schemas.microsoft.com/office/drawing/2014/main" id="{EEAF80AD-A55A-4A8E-1952-1B04326D3FB9}"/>
              </a:ext>
            </a:extLst>
          </p:cNvPr>
          <p:cNvSpPr txBox="1"/>
          <p:nvPr/>
        </p:nvSpPr>
        <p:spPr>
          <a:xfrm>
            <a:off x="1135964" y="1960266"/>
            <a:ext cx="9034977" cy="369332"/>
          </a:xfrm>
          <a:prstGeom prst="rect">
            <a:avLst/>
          </a:prstGeom>
          <a:noFill/>
        </p:spPr>
        <p:txBody>
          <a:bodyPr wrap="square">
            <a:spAutoFit/>
          </a:bodyPr>
          <a:lstStyle/>
          <a:p>
            <a:r>
              <a:rPr lang="en-US" b="0" i="0" dirty="0">
                <a:solidFill>
                  <a:srgbClr val="0A0A0A"/>
                </a:solidFill>
                <a:effectLst/>
                <a:latin typeface="Google Sans"/>
              </a:rPr>
              <a:t>Conduct a visual check for pre-existing damage as the vehicle enters the service bay</a:t>
            </a:r>
            <a:endParaRPr lang="en-US" dirty="0"/>
          </a:p>
        </p:txBody>
      </p:sp>
      <p:sp>
        <p:nvSpPr>
          <p:cNvPr id="5" name="Rectangle 4"/>
          <p:cNvSpPr/>
          <p:nvPr/>
        </p:nvSpPr>
        <p:spPr>
          <a:xfrm>
            <a:off x="1069571" y="2473722"/>
            <a:ext cx="9612284" cy="1969770"/>
          </a:xfrm>
          <a:prstGeom prst="rect">
            <a:avLst/>
          </a:prstGeom>
        </p:spPr>
        <p:txBody>
          <a:bodyPr wrap="square">
            <a:spAutoFit/>
          </a:bodyPr>
          <a:lstStyle/>
          <a:p>
            <a:pPr lvl="0" eaLnBrk="0" fontAlgn="base" hangingPunct="0">
              <a:spcBef>
                <a:spcPct val="0"/>
              </a:spcBef>
              <a:spcAft>
                <a:spcPct val="0"/>
              </a:spcAft>
            </a:pPr>
            <a:r>
              <a:rPr lang="en-US" altLang="en-US" sz="1500" b="1" dirty="0" smtClean="0">
                <a:solidFill>
                  <a:srgbClr val="0A0A0A"/>
                </a:solidFill>
                <a:latin typeface="Google Sans"/>
              </a:rPr>
              <a:t>Phase </a:t>
            </a:r>
            <a:r>
              <a:rPr lang="en-US" altLang="en-US" sz="1500" b="1" dirty="0">
                <a:solidFill>
                  <a:srgbClr val="0A0A0A"/>
                </a:solidFill>
                <a:latin typeface="Google Sans"/>
              </a:rPr>
              <a:t>2: Execution &amp; Routine </a:t>
            </a:r>
            <a:r>
              <a:rPr lang="en-US" altLang="en-US" sz="1500" b="1" dirty="0" smtClean="0">
                <a:solidFill>
                  <a:srgbClr val="0A0A0A"/>
                </a:solidFill>
                <a:latin typeface="Google Sans"/>
              </a:rPr>
              <a:t>Tasks</a:t>
            </a:r>
          </a:p>
          <a:p>
            <a:pPr lvl="0" eaLnBrk="0" fontAlgn="base" hangingPunct="0">
              <a:spcBef>
                <a:spcPct val="0"/>
              </a:spcBef>
              <a:spcAft>
                <a:spcPct val="0"/>
              </a:spcAft>
            </a:pPr>
            <a:endParaRPr lang="en-US" altLang="en-US" sz="1100" dirty="0"/>
          </a:p>
          <a:p>
            <a:pPr lvl="0" eaLnBrk="0" fontAlgn="base" hangingPunct="0">
              <a:spcBef>
                <a:spcPct val="0"/>
              </a:spcBef>
              <a:spcAft>
                <a:spcPct val="0"/>
              </a:spcAft>
              <a:buFontTx/>
              <a:buChar char="•"/>
            </a:pPr>
            <a:r>
              <a:rPr lang="en-US" altLang="en-US" sz="1200" b="1" dirty="0">
                <a:solidFill>
                  <a:srgbClr val="0A0A0A"/>
                </a:solidFill>
                <a:latin typeface="Google Sans"/>
              </a:rPr>
              <a:t>Daily "WOFT" Checks</a:t>
            </a:r>
            <a:r>
              <a:rPr lang="en-US" altLang="en-US" sz="1200" dirty="0">
                <a:solidFill>
                  <a:srgbClr val="0A0A0A"/>
                </a:solidFill>
                <a:latin typeface="Google Sans"/>
              </a:rPr>
              <a:t>: Use the acronym </a:t>
            </a:r>
            <a:r>
              <a:rPr lang="en-US" altLang="en-US" sz="1200" b="1" dirty="0">
                <a:solidFill>
                  <a:srgbClr val="0A0A0A"/>
                </a:solidFill>
                <a:latin typeface="Google Sans"/>
              </a:rPr>
              <a:t>Water, Oil, Fan belt, and Tires</a:t>
            </a:r>
            <a:r>
              <a:rPr lang="en-US" altLang="en-US" sz="1200" dirty="0">
                <a:solidFill>
                  <a:srgbClr val="0A0A0A"/>
                </a:solidFill>
                <a:latin typeface="Google Sans"/>
              </a:rPr>
              <a:t> for basic daily maintenance. </a:t>
            </a:r>
          </a:p>
          <a:p>
            <a:pPr lvl="0" eaLnBrk="0" fontAlgn="base" hangingPunct="0">
              <a:spcBef>
                <a:spcPct val="0"/>
              </a:spcBef>
              <a:spcAft>
                <a:spcPct val="0"/>
              </a:spcAft>
              <a:buFontTx/>
              <a:buChar char="•"/>
            </a:pPr>
            <a:r>
              <a:rPr lang="en-US" altLang="en-US" sz="1200" b="1" dirty="0">
                <a:solidFill>
                  <a:srgbClr val="0A0A0A"/>
                </a:solidFill>
                <a:latin typeface="Google Sans"/>
              </a:rPr>
              <a:t>Preventive Milestones</a:t>
            </a:r>
            <a:r>
              <a:rPr lang="en-US" altLang="en-US" sz="1200" dirty="0" smtClean="0">
                <a:solidFill>
                  <a:srgbClr val="0A0A0A"/>
                </a:solidFill>
                <a:latin typeface="Google Sans"/>
              </a:rPr>
              <a:t>:</a:t>
            </a:r>
          </a:p>
          <a:p>
            <a:pPr lvl="0" eaLnBrk="0" fontAlgn="base" hangingPunct="0">
              <a:spcBef>
                <a:spcPct val="0"/>
              </a:spcBef>
              <a:spcAft>
                <a:spcPct val="0"/>
              </a:spcAft>
              <a:buFontTx/>
              <a:buChar char="•"/>
            </a:pPr>
            <a:endParaRPr lang="en-US" altLang="en-US" sz="1200" dirty="0">
              <a:solidFill>
                <a:srgbClr val="0A0A0A"/>
              </a:solidFill>
              <a:latin typeface="Google Sans"/>
            </a:endParaRPr>
          </a:p>
          <a:p>
            <a:pPr lvl="1" eaLnBrk="0" fontAlgn="base" hangingPunct="0">
              <a:spcBef>
                <a:spcPct val="0"/>
              </a:spcBef>
              <a:spcAft>
                <a:spcPct val="0"/>
              </a:spcAft>
              <a:buFontTx/>
              <a:buChar char="•"/>
            </a:pPr>
            <a:r>
              <a:rPr lang="en-US" altLang="en-US" sz="1200" b="1" dirty="0">
                <a:solidFill>
                  <a:srgbClr val="0A0A0A"/>
                </a:solidFill>
                <a:latin typeface="Google Sans"/>
              </a:rPr>
              <a:t>Fluid Service</a:t>
            </a:r>
            <a:r>
              <a:rPr lang="en-US" altLang="en-US" sz="1200" dirty="0">
                <a:solidFill>
                  <a:srgbClr val="0A0A0A"/>
                </a:solidFill>
                <a:latin typeface="Google Sans"/>
              </a:rPr>
              <a:t>: Drain/refill engine oil and check coolant levels (only when the engine is cool</a:t>
            </a:r>
            <a:r>
              <a:rPr lang="en-US" altLang="en-US" sz="1200" dirty="0" smtClean="0">
                <a:solidFill>
                  <a:srgbClr val="0A0A0A"/>
                </a:solidFill>
                <a:latin typeface="Google Sans"/>
              </a:rPr>
              <a:t>).</a:t>
            </a:r>
          </a:p>
          <a:p>
            <a:pPr lvl="1" eaLnBrk="0" fontAlgn="base" hangingPunct="0">
              <a:spcBef>
                <a:spcPct val="0"/>
              </a:spcBef>
              <a:spcAft>
                <a:spcPct val="0"/>
              </a:spcAft>
              <a:buFontTx/>
              <a:buChar char="•"/>
            </a:pPr>
            <a:endParaRPr lang="en-US" altLang="en-US" sz="1200" dirty="0">
              <a:solidFill>
                <a:srgbClr val="0A0A0A"/>
              </a:solidFill>
              <a:latin typeface="Google Sans"/>
            </a:endParaRPr>
          </a:p>
          <a:p>
            <a:pPr lvl="1" eaLnBrk="0" fontAlgn="base" hangingPunct="0">
              <a:spcBef>
                <a:spcPct val="0"/>
              </a:spcBef>
              <a:spcAft>
                <a:spcPct val="0"/>
              </a:spcAft>
              <a:buFontTx/>
              <a:buChar char="•"/>
            </a:pPr>
            <a:r>
              <a:rPr lang="en-US" altLang="en-US" sz="1200" b="1" dirty="0">
                <a:solidFill>
                  <a:srgbClr val="0A0A0A"/>
                </a:solidFill>
                <a:latin typeface="Google Sans"/>
              </a:rPr>
              <a:t>System Diagnostics</a:t>
            </a:r>
            <a:r>
              <a:rPr lang="en-US" altLang="en-US" sz="1200" dirty="0">
                <a:solidFill>
                  <a:srgbClr val="0A0A0A"/>
                </a:solidFill>
                <a:latin typeface="Google Sans"/>
              </a:rPr>
              <a:t>: Inspect brakes (liners/pads), steering mechanisms, and electrical systems (lights/wipers</a:t>
            </a:r>
            <a:r>
              <a:rPr lang="en-US" altLang="en-US" sz="1200" dirty="0" smtClean="0">
                <a:solidFill>
                  <a:srgbClr val="0A0A0A"/>
                </a:solidFill>
                <a:latin typeface="Google Sans"/>
              </a:rPr>
              <a:t>).</a:t>
            </a:r>
          </a:p>
          <a:p>
            <a:pPr lvl="1" eaLnBrk="0" fontAlgn="base" hangingPunct="0">
              <a:spcBef>
                <a:spcPct val="0"/>
              </a:spcBef>
              <a:spcAft>
                <a:spcPct val="0"/>
              </a:spcAft>
              <a:buFontTx/>
              <a:buChar char="•"/>
            </a:pPr>
            <a:endParaRPr lang="en-US" altLang="en-US" sz="1200" dirty="0">
              <a:solidFill>
                <a:srgbClr val="0A0A0A"/>
              </a:solidFill>
              <a:latin typeface="Google Sans"/>
            </a:endParaRPr>
          </a:p>
          <a:p>
            <a:pPr lvl="1" eaLnBrk="0" fontAlgn="base" hangingPunct="0">
              <a:spcBef>
                <a:spcPct val="0"/>
              </a:spcBef>
              <a:spcAft>
                <a:spcPct val="0"/>
              </a:spcAft>
              <a:buFontTx/>
              <a:buChar char="•"/>
            </a:pPr>
            <a:r>
              <a:rPr lang="en-US" altLang="en-US" sz="1200" b="1" dirty="0">
                <a:solidFill>
                  <a:srgbClr val="0A0A0A"/>
                </a:solidFill>
                <a:latin typeface="Google Sans"/>
              </a:rPr>
              <a:t>Tire Health</a:t>
            </a:r>
            <a:r>
              <a:rPr lang="en-US" altLang="en-US" sz="1200" dirty="0">
                <a:solidFill>
                  <a:srgbClr val="0A0A0A"/>
                </a:solidFill>
                <a:latin typeface="Google Sans"/>
              </a:rPr>
              <a:t>: Check pressure, tread depth, and wheel nut tightness. </a:t>
            </a:r>
          </a:p>
        </p:txBody>
      </p:sp>
    </p:spTree>
    <p:custDataLst>
      <p:tags r:id="rId1"/>
    </p:custDataLst>
    <p:extLst>
      <p:ext uri="{BB962C8B-B14F-4D97-AF65-F5344CB8AC3E}">
        <p14:creationId xmlns:p14="http://schemas.microsoft.com/office/powerpoint/2010/main" val="13326860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07BEB-5209-63C5-19EE-67A43BD905C5}"/>
            </a:ext>
          </a:extLst>
        </p:cNvPr>
        <p:cNvGrpSpPr/>
        <p:nvPr/>
      </p:nvGrpSpPr>
      <p:grpSpPr>
        <a:xfrm>
          <a:off x="0" y="0"/>
          <a:ext cx="0" cy="0"/>
          <a:chOff x="0" y="0"/>
          <a:chExt cx="0" cy="0"/>
        </a:xfrm>
      </p:grpSpPr>
      <p:sp>
        <p:nvSpPr>
          <p:cNvPr id="23" name="文本框 22">
            <a:extLst>
              <a:ext uri="{FF2B5EF4-FFF2-40B4-BE49-F238E27FC236}">
                <a16:creationId xmlns:a16="http://schemas.microsoft.com/office/drawing/2014/main" id="{90573694-C652-AF9C-2D56-08C62BC4620B}"/>
              </a:ext>
            </a:extLst>
          </p:cNvPr>
          <p:cNvSpPr txBox="1"/>
          <p:nvPr>
            <p:custDataLst>
              <p:tags r:id="rId2"/>
            </p:custDataLst>
          </p:nvPr>
        </p:nvSpPr>
        <p:spPr>
          <a:xfrm>
            <a:off x="967152" y="612438"/>
            <a:ext cx="10018643" cy="370371"/>
          </a:xfrm>
          <a:prstGeom prst="rect">
            <a:avLst/>
          </a:prstGeom>
          <a:noFill/>
        </p:spPr>
        <p:txBody>
          <a:bodyPr wrap="square" rtlCol="0">
            <a:noAutofit/>
          </a:bodyPr>
          <a:lstStyle/>
          <a:p>
            <a:r>
              <a:rPr lang="en-US" b="1" dirty="0"/>
              <a:t>Chapter 2 Move, Position and Park Vehicle</a:t>
            </a:r>
          </a:p>
        </p:txBody>
      </p:sp>
      <p:sp>
        <p:nvSpPr>
          <p:cNvPr id="3" name="TextBox 2">
            <a:extLst>
              <a:ext uri="{FF2B5EF4-FFF2-40B4-BE49-F238E27FC236}">
                <a16:creationId xmlns:a16="http://schemas.microsoft.com/office/drawing/2014/main" id="{4CC5F30F-95B0-CF46-5F07-11C5B6B888FA}"/>
              </a:ext>
            </a:extLst>
          </p:cNvPr>
          <p:cNvSpPr txBox="1"/>
          <p:nvPr/>
        </p:nvSpPr>
        <p:spPr>
          <a:xfrm>
            <a:off x="784272" y="6138850"/>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a:extLst>
              <a:ext uri="{FF2B5EF4-FFF2-40B4-BE49-F238E27FC236}">
                <a16:creationId xmlns:a16="http://schemas.microsoft.com/office/drawing/2014/main" id="{1641CCBB-AEB2-EF2E-25B0-0036E052F54C}"/>
              </a:ext>
            </a:extLst>
          </p:cNvPr>
          <p:cNvSpPr/>
          <p:nvPr/>
        </p:nvSpPr>
        <p:spPr>
          <a:xfrm>
            <a:off x="784272" y="1025240"/>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Vehicle Intake &amp; Safe Parking Protocol</a:t>
            </a:r>
            <a:endParaRPr lang="en-US" sz="1600" kern="100" dirty="0">
              <a:latin typeface="Calibri" panose="020F0502020204030204" pitchFamily="34" charset="0"/>
              <a:ea typeface="Calibri" panose="020F050202020403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F8606812-8A45-B942-EC56-2045DAB99D3A}"/>
              </a:ext>
            </a:extLst>
          </p:cNvPr>
          <p:cNvSpPr/>
          <p:nvPr/>
        </p:nvSpPr>
        <p:spPr>
          <a:xfrm>
            <a:off x="3317336" y="227779"/>
            <a:ext cx="5785815" cy="461665"/>
          </a:xfrm>
          <a:prstGeom prst="rect">
            <a:avLst/>
          </a:prstGeom>
        </p:spPr>
        <p:txBody>
          <a:bodyPr wrap="none">
            <a:spAutoFit/>
          </a:bodyPr>
          <a:lstStyle/>
          <a:p>
            <a:r>
              <a:rPr lang="en-US" sz="2400" b="1" dirty="0">
                <a:solidFill>
                  <a:schemeClr val="accent4">
                    <a:lumMod val="50000"/>
                  </a:schemeClr>
                </a:solidFill>
                <a:latin typeface="Times New Roman" panose="02020603050405020304" pitchFamily="18" charset="0"/>
                <a:cs typeface="Times New Roman" panose="02020603050405020304" pitchFamily="18" charset="0"/>
              </a:rPr>
              <a:t>VEHICLE MAINTENACE AND REPAIR</a:t>
            </a:r>
          </a:p>
        </p:txBody>
      </p:sp>
      <p:sp>
        <p:nvSpPr>
          <p:cNvPr id="9" name="AutoShape 2" descr="Moving Off in an Automatic Car - Learn ...">
            <a:extLst>
              <a:ext uri="{FF2B5EF4-FFF2-40B4-BE49-F238E27FC236}">
                <a16:creationId xmlns:a16="http://schemas.microsoft.com/office/drawing/2014/main" id="{9B209E4C-EC66-AE33-6C7F-E1D62D14618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83B92ADC-6BDB-D9F3-702A-245DB762F91A}"/>
              </a:ext>
            </a:extLst>
          </p:cNvPr>
          <p:cNvSpPr txBox="1"/>
          <p:nvPr/>
        </p:nvSpPr>
        <p:spPr>
          <a:xfrm>
            <a:off x="1135965" y="1559727"/>
            <a:ext cx="6098344" cy="369332"/>
          </a:xfrm>
          <a:prstGeom prst="rect">
            <a:avLst/>
          </a:prstGeom>
          <a:noFill/>
        </p:spPr>
        <p:txBody>
          <a:bodyPr wrap="square">
            <a:spAutoFit/>
          </a:bodyPr>
          <a:lstStyle/>
          <a:p>
            <a:r>
              <a:rPr lang="en-US" b="1" i="0" dirty="0">
                <a:solidFill>
                  <a:srgbClr val="0A0A0A"/>
                </a:solidFill>
                <a:effectLst/>
                <a:latin typeface="Google Sans"/>
              </a:rPr>
              <a:t>Arrival &amp; Inspection</a:t>
            </a:r>
            <a:endParaRPr lang="en-US" dirty="0"/>
          </a:p>
        </p:txBody>
      </p:sp>
      <p:sp>
        <p:nvSpPr>
          <p:cNvPr id="11" name="TextBox 10">
            <a:extLst>
              <a:ext uri="{FF2B5EF4-FFF2-40B4-BE49-F238E27FC236}">
                <a16:creationId xmlns:a16="http://schemas.microsoft.com/office/drawing/2014/main" id="{EEAF80AD-A55A-4A8E-1952-1B04326D3FB9}"/>
              </a:ext>
            </a:extLst>
          </p:cNvPr>
          <p:cNvSpPr txBox="1"/>
          <p:nvPr/>
        </p:nvSpPr>
        <p:spPr>
          <a:xfrm>
            <a:off x="1135964" y="1960266"/>
            <a:ext cx="9034977" cy="369332"/>
          </a:xfrm>
          <a:prstGeom prst="rect">
            <a:avLst/>
          </a:prstGeom>
          <a:noFill/>
        </p:spPr>
        <p:txBody>
          <a:bodyPr wrap="square">
            <a:spAutoFit/>
          </a:bodyPr>
          <a:lstStyle/>
          <a:p>
            <a:r>
              <a:rPr lang="en-US" b="0" i="0" dirty="0">
                <a:solidFill>
                  <a:srgbClr val="0A0A0A"/>
                </a:solidFill>
                <a:effectLst/>
                <a:latin typeface="Google Sans"/>
              </a:rPr>
              <a:t>Conduct a visual check for pre-existing damage as the vehicle enters the service bay</a:t>
            </a:r>
            <a:endParaRPr lang="en-US" dirty="0"/>
          </a:p>
        </p:txBody>
      </p:sp>
      <p:sp>
        <p:nvSpPr>
          <p:cNvPr id="10" name="Rectangle 2">
            <a:extLst>
              <a:ext uri="{FF2B5EF4-FFF2-40B4-BE49-F238E27FC236}">
                <a16:creationId xmlns:a16="http://schemas.microsoft.com/office/drawing/2014/main" id="{4AC9395D-1550-5CAC-DD34-16979BE70124}"/>
              </a:ext>
            </a:extLst>
          </p:cNvPr>
          <p:cNvSpPr>
            <a:spLocks noChangeArrowheads="1"/>
          </p:cNvSpPr>
          <p:nvPr/>
        </p:nvSpPr>
        <p:spPr bwMode="auto">
          <a:xfrm>
            <a:off x="1051274" y="1891283"/>
            <a:ext cx="9475607" cy="28315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A0A0A"/>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rgbClr val="0A0A0A"/>
                </a:solidFill>
                <a:effectLst/>
                <a:latin typeface="Google Sans"/>
              </a:rPr>
              <a:t>Phase </a:t>
            </a:r>
            <a:r>
              <a:rPr kumimoji="0" lang="en-US" altLang="en-US" sz="1500" b="1" i="0" u="none" strike="noStrike" cap="none" normalizeH="0" baseline="0" dirty="0">
                <a:ln>
                  <a:noFill/>
                </a:ln>
                <a:solidFill>
                  <a:srgbClr val="0A0A0A"/>
                </a:solidFill>
                <a:effectLst/>
                <a:latin typeface="Google Sans"/>
              </a:rPr>
              <a:t>3: Post-Service &amp; </a:t>
            </a:r>
            <a:r>
              <a:rPr kumimoji="0" lang="en-US" altLang="en-US" sz="1500" b="1" i="0" u="none" strike="noStrike" cap="none" normalizeH="0" baseline="0" dirty="0" smtClean="0">
                <a:ln>
                  <a:noFill/>
                </a:ln>
                <a:solidFill>
                  <a:srgbClr val="0A0A0A"/>
                </a:solidFill>
                <a:effectLst/>
                <a:latin typeface="Google Sans"/>
              </a:rPr>
              <a:t>Handover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A0A0A"/>
                </a:solidFill>
                <a:effectLst/>
                <a:latin typeface="Google Sans"/>
              </a:rPr>
              <a:t>Quality Control</a:t>
            </a:r>
            <a:r>
              <a:rPr kumimoji="0" lang="en-US" altLang="en-US" sz="1200" b="0" i="0" u="none" strike="noStrike" cap="none" normalizeH="0" baseline="0" dirty="0">
                <a:ln>
                  <a:noFill/>
                </a:ln>
                <a:solidFill>
                  <a:srgbClr val="0A0A0A"/>
                </a:solidFill>
                <a:effectLst/>
                <a:latin typeface="Google Sans"/>
              </a:rPr>
              <a:t>: A supervisor or second technician should verify that all "holds in park" and safety lights function correctly</a:t>
            </a:r>
            <a:r>
              <a:rPr kumimoji="0" lang="en-US" altLang="en-US" sz="1200" b="0" i="0" u="none" strike="noStrike" cap="none" normalizeH="0" baseline="0" dirty="0" smtClean="0">
                <a:ln>
                  <a:noFill/>
                </a:ln>
                <a:solidFill>
                  <a:srgbClr val="0A0A0A"/>
                </a:solidFill>
                <a:effectLst/>
                <a:latin typeface="Google Sans"/>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rgbClr val="0A0A0A"/>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A0A0A"/>
                </a:solidFill>
                <a:effectLst/>
                <a:latin typeface="Google Sans"/>
              </a:rPr>
              <a:t>Workplace Restoration</a:t>
            </a:r>
            <a:r>
              <a:rPr kumimoji="0" lang="en-US" altLang="en-US" sz="1200" b="0" i="0" u="none" strike="noStrike" cap="none" normalizeH="0" baseline="0" dirty="0">
                <a:ln>
                  <a:noFill/>
                </a:ln>
                <a:solidFill>
                  <a:srgbClr val="0A0A0A"/>
                </a:solidFill>
                <a:effectLst/>
                <a:latin typeface="Google Sans"/>
              </a:rPr>
              <a:t>: Clear the parking bay of debris or spills (like slippery coolant) to maintain a safe shop environment</a:t>
            </a:r>
            <a:r>
              <a:rPr kumimoji="0" lang="en-US" altLang="en-US" sz="1200" b="0" i="0" u="none" strike="noStrike" cap="none" normalizeH="0" baseline="0" dirty="0" smtClean="0">
                <a:ln>
                  <a:noFill/>
                </a:ln>
                <a:solidFill>
                  <a:srgbClr val="0A0A0A"/>
                </a:solidFill>
                <a:effectLst/>
                <a:latin typeface="Google Sans"/>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rgbClr val="0A0A0A"/>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A0A0A"/>
                </a:solidFill>
                <a:effectLst/>
                <a:latin typeface="Google Sans"/>
              </a:rPr>
              <a:t>Record Keeping</a:t>
            </a:r>
            <a:r>
              <a:rPr kumimoji="0" lang="en-US" altLang="en-US" sz="1200" b="0" i="0" u="none" strike="noStrike" cap="none" normalizeH="0" baseline="0" dirty="0">
                <a:ln>
                  <a:noFill/>
                </a:ln>
                <a:solidFill>
                  <a:srgbClr val="0A0A0A"/>
                </a:solidFill>
                <a:effectLst/>
                <a:latin typeface="Google Sans"/>
              </a:rPr>
              <a:t>: Log all parts replaced and services performed into the </a:t>
            </a:r>
            <a:r>
              <a:rPr kumimoji="0" lang="en-US" altLang="en-US" sz="1200" i="0" u="sng" strike="noStrike" cap="none" normalizeH="0" baseline="0" dirty="0">
                <a:ln>
                  <a:noFill/>
                </a:ln>
                <a:solidFill>
                  <a:srgbClr val="1558D6"/>
                </a:solidFill>
                <a:effectLst/>
                <a:latin typeface="Google Sans"/>
                <a:hlinkClick r:id="rId4"/>
              </a:rPr>
              <a:t>Vehicle Maintenance Log</a:t>
            </a:r>
            <a:r>
              <a:rPr kumimoji="0" lang="en-US" altLang="en-US" sz="1200" b="0" i="0" u="none" strike="noStrike" cap="none" normalizeH="0" baseline="0" dirty="0">
                <a:ln>
                  <a:noFill/>
                </a:ln>
                <a:solidFill>
                  <a:srgbClr val="0A0A0A"/>
                </a:solidFill>
                <a:effectLst/>
                <a:latin typeface="Google Sans"/>
              </a:rPr>
              <a:t> to track future service intervals. </a:t>
            </a:r>
            <a:endParaRPr kumimoji="0" lang="en-US" altLang="en-US" sz="1200" b="0" i="0" u="none" strike="noStrike" cap="none" normalizeH="0" baseline="0" dirty="0" smtClean="0">
              <a:ln>
                <a:noFill/>
              </a:ln>
              <a:solidFill>
                <a:srgbClr val="0A0A0A"/>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rgbClr val="0A0A0A"/>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rgbClr val="0A0A0A"/>
                </a:solidFill>
                <a:effectLst/>
                <a:latin typeface="Google Sans"/>
              </a:rPr>
              <a:t>Recommended Slide </a:t>
            </a:r>
            <a:r>
              <a:rPr kumimoji="0" lang="en-US" altLang="en-US" sz="1500" b="1" i="0" u="none" strike="noStrike" cap="none" normalizeH="0" baseline="0" dirty="0" smtClean="0">
                <a:ln>
                  <a:noFill/>
                </a:ln>
                <a:solidFill>
                  <a:srgbClr val="0A0A0A"/>
                </a:solidFill>
                <a:effectLst/>
                <a:latin typeface="Google Sans"/>
              </a:rPr>
              <a:t>Templates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A0A0A"/>
                </a:solidFill>
                <a:effectLst/>
                <a:latin typeface="Google Sans"/>
              </a:rPr>
              <a:t>Professional Layouts</a:t>
            </a:r>
            <a:r>
              <a:rPr kumimoji="0" lang="en-US" altLang="en-US" sz="1200" b="0" i="0" u="none" strike="noStrike" cap="none" normalizeH="0" baseline="0" dirty="0">
                <a:ln>
                  <a:noFill/>
                </a:ln>
                <a:solidFill>
                  <a:srgbClr val="0A0A0A"/>
                </a:solidFill>
                <a:effectLst/>
                <a:latin typeface="Google Sans"/>
              </a:rPr>
              <a:t>: Utilize templates like the </a:t>
            </a:r>
            <a:r>
              <a:rPr kumimoji="0" lang="en-US" altLang="en-US" sz="1200" b="0" i="0" u="none" strike="noStrike" cap="none" normalizeH="0" baseline="0" dirty="0">
                <a:ln>
                  <a:noFill/>
                </a:ln>
                <a:solidFill>
                  <a:srgbClr val="1558D6"/>
                </a:solidFill>
                <a:effectLst/>
                <a:latin typeface="Google Sans"/>
                <a:hlinkClick r:id="rId5"/>
              </a:rPr>
              <a:t>Vehicle Maintenance PowerPoint</a:t>
            </a:r>
            <a:r>
              <a:rPr kumimoji="0" lang="en-US" altLang="en-US" sz="1200" b="0" i="0" u="none" strike="noStrike" cap="none" normalizeH="0" baseline="0" dirty="0">
                <a:ln>
                  <a:noFill/>
                </a:ln>
                <a:solidFill>
                  <a:srgbClr val="0A0A0A"/>
                </a:solidFill>
                <a:effectLst/>
                <a:latin typeface="Google Sans"/>
              </a:rPr>
              <a:t> or </a:t>
            </a:r>
            <a:r>
              <a:rPr kumimoji="0" lang="en-US" altLang="en-US" sz="1200" b="0" i="0" u="none" strike="noStrike" cap="none" normalizeH="0" baseline="0" dirty="0">
                <a:ln>
                  <a:noFill/>
                </a:ln>
                <a:solidFill>
                  <a:srgbClr val="1558D6"/>
                </a:solidFill>
                <a:effectLst/>
                <a:latin typeface="Google Sans"/>
                <a:hlinkClick r:id="rId6"/>
              </a:rPr>
              <a:t>Auto Repair Illustration</a:t>
            </a:r>
            <a:r>
              <a:rPr kumimoji="0" lang="en-US" altLang="en-US" sz="1200" b="0" i="0" u="none" strike="noStrike" cap="none" normalizeH="0" baseline="0" dirty="0">
                <a:ln>
                  <a:noFill/>
                </a:ln>
                <a:solidFill>
                  <a:srgbClr val="0A0A0A"/>
                </a:solidFill>
                <a:effectLst/>
                <a:latin typeface="Google Sans"/>
              </a:rPr>
              <a:t> to visually map your workflow</a:t>
            </a:r>
            <a:r>
              <a:rPr kumimoji="0" lang="en-US" altLang="en-US" sz="1200" b="0" i="0" u="none" strike="noStrike" cap="none" normalizeH="0" baseline="0" dirty="0" smtClean="0">
                <a:ln>
                  <a:noFill/>
                </a:ln>
                <a:solidFill>
                  <a:srgbClr val="0A0A0A"/>
                </a:solidFill>
                <a:effectLst/>
                <a:latin typeface="Google Sans"/>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rgbClr val="0A0A0A"/>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A0A0A"/>
                </a:solidFill>
                <a:effectLst/>
                <a:latin typeface="Google Sans"/>
              </a:rPr>
              <a:t>Checklist Examples</a:t>
            </a:r>
            <a:r>
              <a:rPr kumimoji="0" lang="en-US" altLang="en-US" sz="1200" b="0" i="0" u="none" strike="noStrike" cap="none" normalizeH="0" baseline="0" dirty="0">
                <a:ln>
                  <a:noFill/>
                </a:ln>
                <a:solidFill>
                  <a:srgbClr val="0A0A0A"/>
                </a:solidFill>
                <a:effectLst/>
                <a:latin typeface="Google Sans"/>
              </a:rPr>
              <a:t>: Refer to the </a:t>
            </a:r>
            <a:r>
              <a:rPr kumimoji="0" lang="en-US" altLang="en-US" sz="1200" b="0" i="0" u="none" strike="noStrike" cap="none" normalizeH="0" baseline="0" dirty="0">
                <a:ln>
                  <a:noFill/>
                </a:ln>
                <a:solidFill>
                  <a:srgbClr val="1558D6"/>
                </a:solidFill>
                <a:effectLst/>
                <a:latin typeface="Google Sans"/>
                <a:hlinkClick r:id="rId7"/>
              </a:rPr>
              <a:t>FRSC Maintenance Guide</a:t>
            </a:r>
            <a:r>
              <a:rPr kumimoji="0" lang="en-US" altLang="en-US" sz="1200" b="0" i="0" u="none" strike="noStrike" cap="none" normalizeH="0" baseline="0" dirty="0">
                <a:ln>
                  <a:noFill/>
                </a:ln>
                <a:solidFill>
                  <a:srgbClr val="0A0A0A"/>
                </a:solidFill>
                <a:effectLst/>
                <a:latin typeface="Google Sans"/>
              </a:rPr>
              <a:t> for structured safety acronyms and diagrams.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A0A0A"/>
                </a:solidFill>
                <a:effectLst/>
                <a:latin typeface="Google Sans"/>
              </a:rPr>
              <a:t>Would you like a more detailed </a:t>
            </a:r>
            <a:r>
              <a:rPr kumimoji="0" lang="en-US" altLang="en-US" sz="1200" b="1" i="0" u="none" strike="noStrike" cap="none" normalizeH="0" baseline="0" dirty="0">
                <a:ln>
                  <a:noFill/>
                </a:ln>
                <a:solidFill>
                  <a:srgbClr val="0A0A0A"/>
                </a:solidFill>
                <a:effectLst/>
                <a:latin typeface="Google Sans"/>
              </a:rPr>
              <a:t>technical checklist</a:t>
            </a:r>
            <a:r>
              <a:rPr kumimoji="0" lang="en-US" altLang="en-US" sz="1200" b="0" i="0" u="none" strike="noStrike" cap="none" normalizeH="0" baseline="0" dirty="0">
                <a:ln>
                  <a:noFill/>
                </a:ln>
                <a:solidFill>
                  <a:srgbClr val="0A0A0A"/>
                </a:solidFill>
                <a:effectLst/>
                <a:latin typeface="Google Sans"/>
              </a:rPr>
              <a:t> for specific components like the </a:t>
            </a:r>
            <a:r>
              <a:rPr kumimoji="0" lang="en-US" altLang="en-US" sz="1200" b="1" i="0" u="none" strike="noStrike" cap="none" normalizeH="0" baseline="0" dirty="0">
                <a:ln>
                  <a:noFill/>
                </a:ln>
                <a:solidFill>
                  <a:srgbClr val="0A0A0A"/>
                </a:solidFill>
                <a:effectLst/>
                <a:latin typeface="Google Sans"/>
              </a:rPr>
              <a:t>braking system</a:t>
            </a:r>
            <a:r>
              <a:rPr kumimoji="0" lang="en-US" altLang="en-US" sz="1200" b="0" i="0" u="none" strike="noStrike" cap="none" normalizeH="0" baseline="0" dirty="0">
                <a:ln>
                  <a:noFill/>
                </a:ln>
                <a:solidFill>
                  <a:srgbClr val="0A0A0A"/>
                </a:solidFill>
                <a:effectLst/>
                <a:latin typeface="Google Sans"/>
              </a:rPr>
              <a:t> or </a:t>
            </a:r>
            <a:r>
              <a:rPr kumimoji="0" lang="en-US" altLang="en-US" sz="1200" b="1" i="0" u="none" strike="noStrike" cap="none" normalizeH="0" baseline="0" dirty="0">
                <a:ln>
                  <a:noFill/>
                </a:ln>
                <a:solidFill>
                  <a:srgbClr val="0A0A0A"/>
                </a:solidFill>
                <a:effectLst/>
                <a:latin typeface="Google Sans"/>
              </a:rPr>
              <a:t>engine management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2065658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92696" y="1527335"/>
            <a:ext cx="10018643" cy="4086802"/>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736D334A-8353-F612-C4E0-A0790F8E500E}"/>
              </a:ext>
            </a:extLst>
          </p:cNvPr>
          <p:cNvSpPr txBox="1"/>
          <p:nvPr/>
        </p:nvSpPr>
        <p:spPr>
          <a:xfrm>
            <a:off x="3677478" y="3309126"/>
            <a:ext cx="441297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THANK YOU</a:t>
            </a:r>
          </a:p>
        </p:txBody>
      </p:sp>
    </p:spTree>
    <p:custDataLst>
      <p:tags r:id="rId1"/>
    </p:custDataLst>
    <p:extLst>
      <p:ext uri="{BB962C8B-B14F-4D97-AF65-F5344CB8AC3E}">
        <p14:creationId xmlns:p14="http://schemas.microsoft.com/office/powerpoint/2010/main" val="18558776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Q4MGY0NjJhMzczNGQ0NjZmYzYxODFkYTNkOWQ4NTQifQ=="/>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23075"/>
  <p:tag name="KSO_WM_CHIP_COLORING" val="1"/>
</p:tagLst>
</file>

<file path=ppt/tags/tag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4*i*1"/>
  <p:tag name="KSO_WM_BEAUTIFY_FLAG" val="#wm#"/>
  <p:tag name="KSO_WM_TAG_VERSION" val="1.0"/>
  <p:tag name="KSO_WM_CHIP_GROUPID" val="62cb92ed67e1b3ac3a0df933"/>
  <p:tag name="KSO_WM_CHIP_XID" val="62cb92f267e1b3ac3a0dfd51"/>
  <p:tag name="KSO_WM_UNIT_DEC_AREA_ID" val="a11a73839daf4afd8c8eecb70bd8d2c5"/>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74db68e000024515aa2d711777418aa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6*i*1"/>
  <p:tag name="KSO_WM_BEAUTIFY_FLAG" val="#wm#"/>
  <p:tag name="KSO_WM_TAG_VERSION" val="1.0"/>
  <p:tag name="KSO_WM_CHIP_GROUPID" val="62cb92ed67e1b3ac3a0df933"/>
  <p:tag name="KSO_WM_CHIP_XID" val="62cb92f267e1b3ac3a0dfc96"/>
  <p:tag name="KSO_WM_UNIT_DEC_AREA_ID" val="9fcaac9ea3384a638db80c6bdc5589bd"/>
  <p:tag name="KSO_WM_CHIP_FILLAREA_FILL_RULE" val="{&quot;fill_align&quot;:&quot;lt&quot;,&quot;fill_effect&quot;:[],&quot;fill_mode&quot;:&quot;adaptive&quot;,&quot;sacle_strategy&quot;:&quot;stretch&quot;}"/>
  <p:tag name="KSO_WM_UNIT_DEC_SUPPORTCHANGEPIC" val="0"/>
  <p:tag name="KSO_WM_UNIT_DEC_CHANGEPICRESERVED" val="1"/>
  <p:tag name="KSO_WM_ASSEMBLE_CHIP_INDEX" val="fc0d64f86cd3483cab8a5ed4c0ff90c2"/>
</p:tagLst>
</file>

<file path=ppt/tags/tag1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8*i*1"/>
  <p:tag name="KSO_WM_BEAUTIFY_FLAG" val="#wm#"/>
  <p:tag name="KSO_WM_TAG_VERSION" val="1.0"/>
  <p:tag name="KSO_WM_CHIP_GROUPID" val="62cb92ed67e1b3ac3a0df933"/>
  <p:tag name="KSO_WM_CHIP_XID" val="62cb92f267e1b3ac3a0dfcb7"/>
  <p:tag name="KSO_WM_UNIT_DEC_AREA_ID" val="0b6e32bb8e9b4cd59a73ec1ab58588a3"/>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6252d6d1848c46529fc1ac4283ac4f73"/>
</p:tagLst>
</file>

<file path=ppt/tags/tag11.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15*i*1"/>
  <p:tag name="KSO_WM_BEAUTIFY_FLAG" val="#wm#"/>
  <p:tag name="KSO_WM_TAG_VERSION" val="1.0"/>
  <p:tag name="KSO_WM_CHIP_GROUPID" val="62cb92ed67e1b3ac3a0df933"/>
  <p:tag name="KSO_WM_CHIP_XID" val="62cb92f267e1b3ac3a0dfd31"/>
  <p:tag name="KSO_WM_UNIT_DEC_AREA_ID" val="cedfc75459a64b91839f7c4e93fc4ab0"/>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2307ef49eb7844ab8170517694ba29cf"/>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7*i*1"/>
  <p:tag name="KSO_WM_BEAUTIFY_FLAG" val="#wm#"/>
  <p:tag name="KSO_WM_TAG_VERSION" val="1.0"/>
  <p:tag name="KSO_WM_CHIP_GROUPID" val="62cb92ed67e1b3ac3a0df933"/>
  <p:tag name="KSO_WM_CHIP_XID" val="62cb92f267e1b3ac3a0dfcb1"/>
  <p:tag name="KSO_WM_UNIT_DEC_AREA_ID" val="d0ce6c47bdc440d196dfdadc5c19a3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b4fe2c4d5bb440eb7542455658eee6d"/>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19.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2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i*1"/>
  <p:tag name="KSO_WM_BEAUTIFY_FLAG" val="#wm#"/>
  <p:tag name="KSO_WM_TAG_VERSION" val="1.0"/>
  <p:tag name="KSO_WM_CHIP_GROUPID" val="62cb92ed67e1b3ac3a0df933"/>
  <p:tag name="KSO_WM_CHIP_XID" val="62cb92f267e1b3ac3a0dfbd8"/>
  <p:tag name="KSO_WM_UNIT_DEC_AREA_ID" val="353a2ba7688d4d109d88d8fbf076f1be"/>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c821e70711df4ae0a04b6ba18360b869"/>
</p:tagLst>
</file>

<file path=ppt/tags/tag27.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4*i*1"/>
  <p:tag name="KSO_WM_BEAUTIFY_FLAG" val="#wm#"/>
  <p:tag name="KSO_WM_TAG_VERSION" val="1.0"/>
  <p:tag name="KSO_WM_CHIP_GROUPID" val="62cb92ed67e1b3ac3a0df933"/>
  <p:tag name="KSO_WM_CHIP_XID" val="62cb92f267e1b3ac3a0dfbcb"/>
  <p:tag name="KSO_WM_UNIT_DEC_AREA_ID" val="4ab4fedb6c6640b484a0fdb113c32716"/>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0b2380889160463abab291528e337d23"/>
</p:tagLst>
</file>

<file path=ppt/tags/tag28.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3*i*1"/>
  <p:tag name="KSO_WM_BEAUTIFY_FLAG" val="#wm#"/>
  <p:tag name="KSO_WM_TAG_VERSION" val="1.0"/>
  <p:tag name="KSO_WM_CHIP_GROUPID" val="62cb92ed67e1b3ac3a0df933"/>
  <p:tag name="KSO_WM_CHIP_XID" val="62cb92f267e1b3ac3a0dfbc7"/>
  <p:tag name="KSO_WM_UNIT_DEC_AREA_ID" val="f51db6bba423479a96c7def23f363aa5"/>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46eb048d58f74aaaaaf7557c2b39a70c"/>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UNIT_DEFAULT_FONT" val="60;66;2"/>
  <p:tag name="KSO_WM_UNIT_BLOCK" val="0"/>
  <p:tag name="KSO_WM_UNIT_DEC_AREA_ID" val="e5577524724345448ce6d9c2ce3939e0"/>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15"/>
  <p:tag name="KSO_WM_UNIT_TEXT_FILL_FORE_SCHEMECOLOR_INDEX" val="13"/>
  <p:tag name="KSO_WM_UNIT_TEXT_FILL_TYPE" val="1"/>
  <p:tag name="KSO_WM_TEMPLATE_ASSEMBLE_XID" val="63156d2459d53ee3cde2290b"/>
  <p:tag name="KSO_WM_TEMPLATE_ASSEMBLE_GROUPID" val="62cb92ed67e1b3ac3a0df933"/>
</p:tagLst>
</file>

<file path=ppt/tags/tag3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为了演示发布的良好效果，请言简意赅地阐述您的观点。"/>
  <p:tag name="KSO_WM_UNIT_NOCLEAR" val="0"/>
  <p:tag name="KSO_WM_UNIT_VALUE" val="76"/>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UNIT_DEFAULT_FONT" val="14;14;2"/>
  <p:tag name="KSO_WM_UNIT_BLOCK" val="0"/>
  <p:tag name="KSO_WM_UNIT_DEC_AREA_ID" val="35127bff71ec4a98b1f1a512400e582e"/>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5"/>
  <p:tag name="KSO_WM_UNIT_TEXT_FILL_FORE_SCHEMECOLOR_INDEX" val="13"/>
  <p:tag name="KSO_WM_UNIT_TEXT_FILL_TYPE" val="1"/>
  <p:tag name="KSO_WM_TEMPLATE_ASSEMBLE_XID" val="63156d2459d53ee3cde2290b"/>
  <p:tag name="KSO_WM_TEMPLATE_ASSEMBLE_GROUPID" val="62cb92ed67e1b3ac3a0df933"/>
</p:tagLst>
</file>

<file path=ppt/tags/tag3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3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3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4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4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6*i*1"/>
  <p:tag name="KSO_WM_BEAUTIFY_FLAG" val="#wm#"/>
  <p:tag name="KSO_WM_TAG_VERSION" val="1.0"/>
  <p:tag name="KSO_WM_CHIP_GROUPID" val="62cb92ed67e1b3ac3a0df933"/>
  <p:tag name="KSO_WM_CHIP_XID" val="62cb92f267e1b3ac3a0df99b"/>
  <p:tag name="KSO_WM_UNIT_DEC_AREA_ID" val="7ae053233a014cf5b087ba4b069db752"/>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d0fe025b92a4121b116f65108e5c0b7"/>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7*i*1"/>
  <p:tag name="KSO_WM_BEAUTIFY_FLAG" val="#wm#"/>
  <p:tag name="KSO_WM_TAG_VERSION" val="1.0"/>
  <p:tag name="KSO_WM_CHIP_GROUPID" val="62cb92ed67e1b3ac3a0df933"/>
  <p:tag name="KSO_WM_CHIP_XID" val="62cb92f267e1b3ac3a0df93d"/>
  <p:tag name="KSO_WM_UNIT_DEC_AREA_ID" val="7aac52c509324246a2139159652c9dce"/>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26a1af26a8d74008b1380f22ba29d46f"/>
</p:tagLst>
</file>

<file path=ppt/tags/tag56.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8*i*1"/>
  <p:tag name="KSO_WM_BEAUTIFY_FLAG" val="#wm#"/>
  <p:tag name="KSO_WM_TAG_VERSION" val="1.0"/>
  <p:tag name="KSO_WM_CHIP_GROUPID" val="62cb92ed67e1b3ac3a0df933"/>
  <p:tag name="KSO_WM_CHIP_XID" val="62cb92f267e1b3ac3a0df990"/>
  <p:tag name="KSO_WM_UNIT_DEC_AREA_ID" val="b20fbc8bd01f4b7ebdd46d90e2647b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68a292b1c74438a8be59c5e124aa1e5"/>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6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6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7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82.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0*i*1"/>
  <p:tag name="KSO_WM_BEAUTIFY_FLAG" val="#wm#"/>
  <p:tag name="KSO_WM_TAG_VERSION" val="1.0"/>
  <p:tag name="KSO_WM_CHIP_GROUPID" val="62cb92ed67e1b3ac3a0df933"/>
  <p:tag name="KSO_WM_CHIP_XID" val="62cb92f267e1b3ac3a0dfaaf"/>
  <p:tag name="KSO_WM_UNIT_DEC_AREA_ID" val="511aa335ee7d4245a08946cb05b9faa4"/>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6cad2575e594576b80f3f7814fb0824"/>
</p:tagLst>
</file>

<file path=ppt/tags/tag89.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2*i*1"/>
  <p:tag name="KSO_WM_BEAUTIFY_FLAG" val="#wm#"/>
  <p:tag name="KSO_WM_TAG_VERSION" val="1.0"/>
  <p:tag name="KSO_WM_CHIP_GROUPID" val="62cb92ed67e1b3ac3a0df933"/>
  <p:tag name="KSO_WM_CHIP_XID" val="62cb92f267e1b3ac3a0dfa9c"/>
  <p:tag name="KSO_WM_UNIT_DEC_AREA_ID" val="cd0b699e343a426dbd8923da658f7258"/>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46079dca97b54b6f8f260c458203cdd5"/>
</p:tagLst>
</file>

<file path=ppt/tags/tag90.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1*i*1"/>
  <p:tag name="KSO_WM_BEAUTIFY_FLAG" val="#wm#"/>
  <p:tag name="KSO_WM_TAG_VERSION" val="1.0"/>
  <p:tag name="KSO_WM_CHIP_GROUPID" val="62cb92ed67e1b3ac3a0df933"/>
  <p:tag name="KSO_WM_CHIP_XID" val="62cb92f267e1b3ac3a0dfa7d"/>
  <p:tag name="KSO_WM_UNIT_DEC_AREA_ID" val="61fe8ffa078a456db36c7c5a609a0b36"/>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a3844cc6be254379824c635ec2fa7326"/>
</p:tagLst>
</file>

<file path=ppt/tags/tag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UNIT_DEFAULT_FONT" val="66;74;2"/>
  <p:tag name="KSO_WM_UNIT_BLOCK" val="0"/>
  <p:tag name="KSO_WM_UNIT_DEC_AREA_ID" val="024cb455de114c8590873753d08ef7c9"/>
  <p:tag name="KSO_WM_UNIT_ISCONTENTSTITLE" val="0"/>
  <p:tag name="KSO_WM_UNIT_ISNUMDGMTITLE" val="0"/>
  <p:tag name="KSO_WM_UNIT_PRESET_TEXT" val="感谢各位的观看"/>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5.xml><?xml version="1.0" encoding="utf-8"?>
<p:tagLst xmlns:a="http://schemas.openxmlformats.org/drawingml/2006/main" xmlns:r="http://schemas.openxmlformats.org/officeDocument/2006/relationships" xmlns:p="http://schemas.openxmlformats.org/presentationml/2006/main">
  <p:tag name="KSO_WM_UNIT_DEFAULT_FONT" val="16;18;2"/>
  <p:tag name="KSO_WM_UNIT_BLOCK" val="0"/>
  <p:tag name="KSO_WM_UNIT_DEC_AREA_ID" val="59dd0d01bf8d46bc94fd640b0712b633"/>
  <p:tag name="KSO_WM_UNIT_SUBTYPE" val="a"/>
  <p:tag name="KSO_WM_UNIT_PRESET_TEXT" val="点击此处添加正文，文字是您思想的提炼，为了演示发布的良好效果，请言简意赅地阐述您的观点。"/>
  <p:tag name="KSO_WM_UNIT_NOCLEAR" val="0"/>
  <p:tag name="KSO_WM_UNIT_VALUE" val="68"/>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6.xml><?xml version="1.0" encoding="utf-8"?>
<p:tagLst xmlns:a="http://schemas.openxmlformats.org/drawingml/2006/main" xmlns:r="http://schemas.openxmlformats.org/officeDocument/2006/relationships" xmlns:p="http://schemas.openxmlformats.org/presentationml/2006/main">
  <p:tag name="KSO_WM_UNIT_DEFAULT_FONT" val="20;22;2"/>
  <p:tag name="KSO_WM_UNIT_BLOCK" val="0"/>
  <p:tag name="KSO_WM_UNIT_DEC_AREA_ID" val="c54f68c39bda4efea42a2b1659b9e2ea"/>
  <p:tag name="KSO_WM_UNIT_ISCONTENTSTITLE" val="0"/>
  <p:tag name="KSO_WM_UNIT_ISNUMDGMTITLE" val="0"/>
  <p:tag name="KSO_WM_UNIT_PRESET_TEXT" val="单击此处添加副标题"/>
  <p:tag name="KSO_WM_UNIT_NOCLEAR" val="0"/>
  <p:tag name="KSO_WM_UNIT_VALUE" val="31"/>
  <p:tag name="KSO_WM_UNIT_HIGHLIGHT" val="0"/>
  <p:tag name="KSO_WM_UNIT_COMPATIBLE" val="0"/>
  <p:tag name="KSO_WM_UNIT_DIAGRAM_ISNUMVISUAL" val="0"/>
  <p:tag name="KSO_WM_UNIT_DIAGRAM_ISREFERUNIT" val="0"/>
  <p:tag name="KSO_WM_UNIT_TYPE" val="b"/>
  <p:tag name="KSO_WM_UNIT_INDEX" val="1"/>
  <p:tag name="KSO_WM_UNIT_ID" val="custom20223075_1*b*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5ce45d99c9346cabff41e6ef0eb7af0"/>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6537d4269ae34ae59ff37b0111906262"/>
  <p:tag name="KSO_WM_SLIDE_BACKGROUND_TYPE" val="frame"/>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bg20220522_2*i*1"/>
  <p:tag name="KSO_WM_UNIT_LAYERLEVEL" val="1"/>
  <p:tag name="KSO_WM_TAG_VERSION" val="1.0"/>
  <p:tag name="KSO_WM_BEAUTIFY_FLAG" val="#wm#"/>
  <p:tag name="KSO_WM_UNIT_BK_DARK_LIGHT" val="2"/>
  <p:tag name="KSO_WM_UNIT_SUBTYPE" val="h"/>
  <p:tag name="KSO_WM_UNIT_TYPE" val="i"/>
  <p:tag name="KSO_WM_UNIT_INDEX" val="1"/>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9f"/>
</p:tagLst>
</file>

<file path=ppt/tags/tag10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42cf1ad8d3b4eb0bc92d6509446e45a"/>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d066acbe25924c35ba7e4d0e178721a0"/>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2039976cc11543efbf63e0c103feb90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eb60c42fd64e447c9b8f4cd9ce8e4ce2"/>
  <p:tag name="KSO_WM_SLIDE_BACKGROUND_TYPE" val="leftRight"/>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bg20220522_3*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0"/>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2ad48e2b17a4f77b87a10486738724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a3575a3699ba4e9590b75c31e722b4ff"/>
  <p:tag name="KSO_WM_SLIDE_BACKGROUND_TYPE" val="topBotto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bg20220522_4*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e58b3c5437b14b488da16b18285e6cbb"/>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49d04b894b834011bbf293d67fba658e"/>
  <p:tag name="KSO_WM_SLIDE_BACKGROUND_TYPE" val="topBotto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9.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f00e2266f384317bf6fac64cc483ba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2e98fb069d54a89a4b8b1732f73ed81"/>
  <p:tag name="KSO_WM_SLIDE_BACKGROUND_TYPE" val="bottomTop"/>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bg20220522_5*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2"/>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bb42711b180428ea5bd2cfefbce329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36697363c1ad4851b9c268ca0b1630f5"/>
  <p:tag name="KSO_WM_SLIDE_BACKGROUND_TYPE" val="navigation"/>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bg20220522_6*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3"/>
</p:tagLst>
</file>

<file path=ppt/tags/tag13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2b1a7f510dda4678a34427de5d8de730"/>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1bf646edba524302864a0e38be5e443b"/>
  <p:tag name="KSO_WM_SLIDE_BACKGROUND_TYPE" val="navigation"/>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a69f6163a09d4335b371cbcbaaa3e57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dcb46b93d9964b6e9394b5aded1e27e0"/>
  <p:tag name="KSO_WM_SLIDE_BACKGROUND_TYPE" val="belt"/>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bg20220522_7*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4"/>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a4ccf5ccfb9b44a896f37319a9a629a5"/>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f530d658cf74450e8cb5f979b7fa71d8"/>
  <p:tag name="KSO_WM_SLIDE_BACKGROUND_TYPE" val="belt"/>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5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5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heme/theme1.xml><?xml version="1.0" encoding="utf-8"?>
<a:theme xmlns:a="http://schemas.openxmlformats.org/drawingml/2006/main" name="2_Office 主题​​">
  <a:themeElements>
    <a:clrScheme name="">
      <a:dk1>
        <a:srgbClr val="000000"/>
      </a:dk1>
      <a:lt1>
        <a:srgbClr val="FFFFFF"/>
      </a:lt1>
      <a:dk2>
        <a:srgbClr val="D88D7B"/>
      </a:dk2>
      <a:lt2>
        <a:srgbClr val="FFFFFF"/>
      </a:lt2>
      <a:accent1>
        <a:srgbClr val="FE7959"/>
      </a:accent1>
      <a:accent2>
        <a:srgbClr val="FE935E"/>
      </a:accent2>
      <a:accent3>
        <a:srgbClr val="FFAD63"/>
      </a:accent3>
      <a:accent4>
        <a:srgbClr val="FFA965"/>
      </a:accent4>
      <a:accent5>
        <a:srgbClr val="FF8864"/>
      </a:accent5>
      <a:accent6>
        <a:srgbClr val="FF6763"/>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939</TotalTime>
  <Words>2356</Words>
  <Application>Microsoft Office PowerPoint</Application>
  <PresentationFormat>Widescreen</PresentationFormat>
  <Paragraphs>308</Paragraphs>
  <Slides>27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27</vt:i4>
      </vt:variant>
    </vt:vector>
  </HeadingPairs>
  <TitlesOfParts>
    <vt:vector size="38" baseType="lpstr">
      <vt:lpstr>微软雅黑</vt:lpstr>
      <vt:lpstr>宋体</vt:lpstr>
      <vt:lpstr>Arial</vt:lpstr>
      <vt:lpstr>Calibri</vt:lpstr>
      <vt:lpstr>Courier New</vt:lpstr>
      <vt:lpstr>Google Sans</vt:lpstr>
      <vt:lpstr>Times New Roman</vt:lpstr>
      <vt:lpstr>Wingdings</vt:lpstr>
      <vt:lpstr>汉仪文黑-55简</vt:lpstr>
      <vt:lpstr>汉仪文黑-85简</vt:lpstr>
      <vt:lpstr>2_Office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Su Jiajing</dc:creator>
  <cp:lastModifiedBy>Ibrahim Siraj</cp:lastModifiedBy>
  <cp:revision>231</cp:revision>
  <dcterms:created xsi:type="dcterms:W3CDTF">2019-06-19T02:08:00Z</dcterms:created>
  <dcterms:modified xsi:type="dcterms:W3CDTF">2026-04-21T08:14:01Z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A05E1846C5A840C580943081378365C3_11</vt:lpwstr>
  </property>
</Properties>
</file>