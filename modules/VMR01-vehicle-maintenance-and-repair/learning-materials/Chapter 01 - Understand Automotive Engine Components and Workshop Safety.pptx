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27"/>
  </p:notesMasterIdLst>
  <p:sldIdLst>
    <p:sldId id="348" r:id="rId2"/>
    <p:sldId id="349" r:id="rId3"/>
    <p:sldId id="331" r:id="rId4"/>
    <p:sldId id="332" r:id="rId5"/>
    <p:sldId id="346" r:id="rId6"/>
    <p:sldId id="333" r:id="rId7"/>
    <p:sldId id="334" r:id="rId8"/>
    <p:sldId id="335" r:id="rId9"/>
    <p:sldId id="336" r:id="rId10"/>
    <p:sldId id="337" r:id="rId11"/>
    <p:sldId id="338" r:id="rId12"/>
    <p:sldId id="347" r:id="rId13"/>
    <p:sldId id="339" r:id="rId14"/>
    <p:sldId id="340" r:id="rId15"/>
    <p:sldId id="341" r:id="rId16"/>
    <p:sldId id="342" r:id="rId17"/>
    <p:sldId id="343" r:id="rId18"/>
    <p:sldId id="344" r:id="rId19"/>
    <p:sldId id="350" r:id="rId20"/>
    <p:sldId id="351" r:id="rId21"/>
    <p:sldId id="352" r:id="rId22"/>
    <p:sldId id="353" r:id="rId23"/>
    <p:sldId id="354" r:id="rId24"/>
    <p:sldId id="345" r:id="rId25"/>
    <p:sldId id="295"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1" d="100"/>
          <a:sy n="111" d="100"/>
        </p:scale>
        <p:origin x="660"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2025/11/26</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0.xml"/><Relationship Id="rId1" Type="http://schemas.openxmlformats.org/officeDocument/2006/relationships/tags" Target="../tags/tag159.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image" Target="../media/image17.jpeg"/><Relationship Id="rId5" Type="http://schemas.openxmlformats.org/officeDocument/2006/relationships/slideLayout" Target="../slideLayouts/slideLayout1.xml"/><Relationship Id="rId4" Type="http://schemas.openxmlformats.org/officeDocument/2006/relationships/video" Target="https://www.youtube.com/embed/DKF5dKo_r_Y" TargetMode="External"/></Relationships>
</file>

<file path=ppt/slides/_rels/slide6.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5" Type="http://schemas.openxmlformats.org/officeDocument/2006/relationships/image" Target="../media/image18.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5" Type="http://schemas.openxmlformats.org/officeDocument/2006/relationships/image" Target="../media/image19.png"/><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 Id="rId5" Type="http://schemas.openxmlformats.org/officeDocument/2006/relationships/image" Target="../media/image20.png"/><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5" Type="http://schemas.openxmlformats.org/officeDocument/2006/relationships/image" Target="../media/image21.png"/><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 Id="rId5" Type="http://schemas.openxmlformats.org/officeDocument/2006/relationships/image" Target="../media/image22.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image" Target="../media/image24.jpeg"/><Relationship Id="rId5" Type="http://schemas.openxmlformats.org/officeDocument/2006/relationships/slideLayout" Target="../slideLayouts/slideLayout1.xml"/><Relationship Id="rId4" Type="http://schemas.openxmlformats.org/officeDocument/2006/relationships/video" Target="https://www.youtube.com/embed/MdEZjSQDT0s" TargetMode="External"/></Relationships>
</file>

<file path=ppt/slides/_rels/slide13.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tags" Target="../tags/tag194.xml"/><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 Id="rId5" Type="http://schemas.openxmlformats.org/officeDocument/2006/relationships/image" Target="../media/image25.png"/><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tags" Target="../tags/tag206.xml"/><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 Id="rId5" Type="http://schemas.openxmlformats.org/officeDocument/2006/relationships/image" Target="../media/image26.png"/><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 Id="rId5" Type="http://schemas.openxmlformats.org/officeDocument/2006/relationships/image" Target="../media/image27.png"/><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8.xml"/><Relationship Id="rId1" Type="http://schemas.openxmlformats.org/officeDocument/2006/relationships/tags" Target="../tags/tag2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300517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smtClean="0"/>
              <a:t>1 Understand Automotive Engine Components and Workshop Safety</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967152" y="1665218"/>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smtClean="0">
                <a:latin typeface="Times New Roman" panose="02020603050405020304" pitchFamily="18" charset="0"/>
                <a:ea typeface="Calibri" panose="020F0502020204030204" pitchFamily="34" charset="0"/>
                <a:cs typeface="Arial" panose="020B0604020202020204" pitchFamily="34" charset="0"/>
              </a:rPr>
              <a:t>Automotive Engine Components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1184694" y="2094637"/>
            <a:ext cx="6096000" cy="1754326"/>
          </a:xfrm>
          <a:prstGeom prst="rect">
            <a:avLst/>
          </a:prstGeom>
        </p:spPr>
        <p:txBody>
          <a:bodyPr>
            <a:spAutoFit/>
          </a:bodyPr>
          <a:lstStyle/>
          <a:p>
            <a:r>
              <a:rPr lang="en-US" dirty="0"/>
              <a:t>Automotive engine components include the engine block, cylinder head, pistons, connecting rods, crankshaft, and camshaft. Other important parts are the valves, spark plugs, fuel injectors, timing belt or chain, and the cooling and lubrication systems. These components work together to convert fuel into the power needed to run a vehicle</a:t>
            </a:r>
          </a:p>
        </p:txBody>
      </p:sp>
      <p:pic>
        <p:nvPicPr>
          <p:cNvPr id="7" name="Picture 6"/>
          <p:cNvPicPr>
            <a:picLocks noChangeAspect="1"/>
          </p:cNvPicPr>
          <p:nvPr/>
        </p:nvPicPr>
        <p:blipFill>
          <a:blip r:embed="rId4"/>
          <a:stretch>
            <a:fillRect/>
          </a:stretch>
        </p:blipFill>
        <p:spPr>
          <a:xfrm>
            <a:off x="8166788" y="2224514"/>
            <a:ext cx="3271838" cy="2977213"/>
          </a:xfrm>
          <a:prstGeom prst="rect">
            <a:avLst/>
          </a:prstGeom>
        </p:spPr>
      </p:pic>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Tree>
    <p:custDataLst>
      <p:tags r:id="rId1"/>
    </p:custDataLst>
    <p:extLst>
      <p:ext uri="{BB962C8B-B14F-4D97-AF65-F5344CB8AC3E}">
        <p14:creationId xmlns:p14="http://schemas.microsoft.com/office/powerpoint/2010/main" val="3733977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222019" y="1251403"/>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222019" y="1746770"/>
            <a:ext cx="7738787" cy="2681119"/>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Times New Roman" panose="02020603050405020304" pitchFamily="18" charset="0"/>
                <a:cs typeface="Arial" panose="020B0604020202020204" pitchFamily="34" charset="0"/>
              </a:rPr>
              <a:t>Introduction</a:t>
            </a:r>
            <a:endParaRPr lang="en-US" sz="1200"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400" kern="0" dirty="0">
                <a:latin typeface="+mj-lt"/>
                <a:ea typeface="Times New Roman" panose="02020603050405020304" pitchFamily="18" charset="0"/>
                <a:cs typeface="Arial" panose="020B0604020202020204" pitchFamily="34" charset="0"/>
              </a:rPr>
              <a:t>The </a:t>
            </a:r>
            <a:r>
              <a:rPr lang="en-US" sz="1400" b="1" kern="0" dirty="0">
                <a:latin typeface="+mj-lt"/>
                <a:ea typeface="Times New Roman" panose="02020603050405020304" pitchFamily="18" charset="0"/>
                <a:cs typeface="Arial" panose="020B0604020202020204" pitchFamily="34" charset="0"/>
              </a:rPr>
              <a:t>internal combustion engine (IC engine)</a:t>
            </a:r>
            <a:r>
              <a:rPr lang="en-US" sz="1400" kern="0" dirty="0">
                <a:latin typeface="+mj-lt"/>
                <a:ea typeface="Times New Roman" panose="02020603050405020304" pitchFamily="18" charset="0"/>
                <a:cs typeface="Arial" panose="020B0604020202020204" pitchFamily="34" charset="0"/>
              </a:rPr>
              <a:t> converts </a:t>
            </a:r>
            <a:r>
              <a:rPr lang="en-US" sz="1400" b="1" kern="0" dirty="0">
                <a:latin typeface="+mj-lt"/>
                <a:ea typeface="Times New Roman" panose="02020603050405020304" pitchFamily="18" charset="0"/>
                <a:cs typeface="Arial" panose="020B0604020202020204" pitchFamily="34" charset="0"/>
              </a:rPr>
              <a:t>chemical energy</a:t>
            </a:r>
            <a:r>
              <a:rPr lang="en-US" sz="1400" kern="0" dirty="0">
                <a:latin typeface="+mj-lt"/>
                <a:ea typeface="Times New Roman" panose="02020603050405020304" pitchFamily="18" charset="0"/>
                <a:cs typeface="Arial" panose="020B0604020202020204" pitchFamily="34" charset="0"/>
              </a:rPr>
              <a:t> of fuel into </a:t>
            </a:r>
            <a:r>
              <a:rPr lang="en-US" sz="1400" b="1" kern="0" dirty="0">
                <a:latin typeface="+mj-lt"/>
                <a:ea typeface="Times New Roman" panose="02020603050405020304" pitchFamily="18" charset="0"/>
                <a:cs typeface="Arial" panose="020B0604020202020204" pitchFamily="34" charset="0"/>
              </a:rPr>
              <a:t>mechanical energy</a:t>
            </a:r>
            <a:r>
              <a:rPr lang="en-US" sz="1400" kern="0" dirty="0">
                <a:latin typeface="+mj-lt"/>
                <a:ea typeface="Times New Roman" panose="02020603050405020304" pitchFamily="18" charset="0"/>
                <a:cs typeface="Arial" panose="020B0604020202020204" pitchFamily="34" charset="0"/>
              </a:rPr>
              <a:t>.</a:t>
            </a:r>
            <a:endParaRPr lang="en-US" sz="14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400" kern="0" dirty="0">
                <a:latin typeface="+mj-lt"/>
                <a:ea typeface="Times New Roman" panose="02020603050405020304" pitchFamily="18" charset="0"/>
                <a:cs typeface="Arial" panose="020B0604020202020204" pitchFamily="34" charset="0"/>
              </a:rPr>
              <a:t>Combustion takes place </a:t>
            </a:r>
            <a:r>
              <a:rPr lang="en-US" sz="1400" b="1" kern="0" dirty="0">
                <a:latin typeface="+mj-lt"/>
                <a:ea typeface="Times New Roman" panose="02020603050405020304" pitchFamily="18" charset="0"/>
                <a:cs typeface="Arial" panose="020B0604020202020204" pitchFamily="34" charset="0"/>
              </a:rPr>
              <a:t>inside the cylinder</a:t>
            </a:r>
            <a:r>
              <a:rPr lang="en-US" sz="1400" kern="0" dirty="0">
                <a:latin typeface="+mj-lt"/>
                <a:ea typeface="Times New Roman" panose="02020603050405020304" pitchFamily="18" charset="0"/>
                <a:cs typeface="Arial" panose="020B0604020202020204" pitchFamily="34" charset="0"/>
              </a:rPr>
              <a:t>.</a:t>
            </a:r>
            <a:endParaRPr lang="en-US" sz="14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400" kern="0" dirty="0">
                <a:latin typeface="+mj-lt"/>
                <a:ea typeface="Times New Roman" panose="02020603050405020304" pitchFamily="18" charset="0"/>
                <a:cs typeface="Arial" panose="020B0604020202020204" pitchFamily="34" charset="0"/>
              </a:rPr>
              <a:t>Used in </a:t>
            </a:r>
            <a:r>
              <a:rPr lang="en-US" sz="1400" b="1" kern="0" dirty="0">
                <a:latin typeface="+mj-lt"/>
                <a:ea typeface="Times New Roman" panose="02020603050405020304" pitchFamily="18" charset="0"/>
                <a:cs typeface="Arial" panose="020B0604020202020204" pitchFamily="34" charset="0"/>
              </a:rPr>
              <a:t>cars, bikes, generators, ships, and aircraft</a:t>
            </a:r>
            <a:r>
              <a:rPr lang="en-US" sz="1400" kern="0" dirty="0">
                <a:latin typeface="+mj-lt"/>
                <a:ea typeface="Times New Roman" panose="02020603050405020304" pitchFamily="18" charset="0"/>
                <a:cs typeface="Arial" panose="020B0604020202020204" pitchFamily="34" charset="0"/>
              </a:rPr>
              <a:t>.</a:t>
            </a:r>
            <a:endParaRPr lang="en-US" sz="14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400" kern="0" dirty="0">
                <a:latin typeface="+mj-lt"/>
                <a:ea typeface="Times New Roman" panose="02020603050405020304" pitchFamily="18" charset="0"/>
                <a:cs typeface="Arial" panose="020B0604020202020204" pitchFamily="34" charset="0"/>
              </a:rPr>
              <a:t>Two main types:</a:t>
            </a:r>
            <a:endParaRPr lang="en-US" sz="1400" kern="100" dirty="0">
              <a:latin typeface="+mj-lt"/>
              <a:ea typeface="Calibri" panose="020F0502020204030204" pitchFamily="34" charset="0"/>
              <a:cs typeface="Arial" panose="020B0604020202020204" pitchFamily="34" charset="0"/>
            </a:endParaRPr>
          </a:p>
          <a:p>
            <a:pPr marL="742950" marR="0" lvl="1" indent="-285750">
              <a:lnSpc>
                <a:spcPct val="115000"/>
              </a:lnSpc>
              <a:spcBef>
                <a:spcPts val="0"/>
              </a:spcBef>
              <a:spcAft>
                <a:spcPts val="800"/>
              </a:spcAft>
              <a:buSzPts val="1000"/>
              <a:buFont typeface="Courier New" panose="02070309020205020404" pitchFamily="49" charset="0"/>
              <a:buChar char="o"/>
              <a:tabLst>
                <a:tab pos="914400" algn="l"/>
              </a:tabLst>
            </a:pPr>
            <a:r>
              <a:rPr lang="en-US" sz="1400" b="1" kern="0" dirty="0">
                <a:latin typeface="+mj-lt"/>
                <a:ea typeface="Times New Roman" panose="02020603050405020304" pitchFamily="18" charset="0"/>
                <a:cs typeface="Times New Roman" panose="02020603050405020304" pitchFamily="18" charset="0"/>
              </a:rPr>
              <a:t>Petrol (Spark Ignition) Engine</a:t>
            </a:r>
            <a:endParaRPr lang="en-US" sz="1400" kern="100" dirty="0">
              <a:latin typeface="+mj-lt"/>
              <a:ea typeface="Calibri" panose="020F0502020204030204" pitchFamily="34" charset="0"/>
              <a:cs typeface="Times New Roman" panose="02020603050405020304" pitchFamily="18" charset="0"/>
            </a:endParaRPr>
          </a:p>
          <a:p>
            <a:pPr marL="742950" marR="0" lvl="1" indent="-285750">
              <a:lnSpc>
                <a:spcPct val="115000"/>
              </a:lnSpc>
              <a:spcBef>
                <a:spcPts val="0"/>
              </a:spcBef>
              <a:spcAft>
                <a:spcPts val="800"/>
              </a:spcAft>
              <a:buSzPts val="1000"/>
              <a:buFont typeface="Courier New" panose="02070309020205020404" pitchFamily="49" charset="0"/>
              <a:buChar char="o"/>
              <a:tabLst>
                <a:tab pos="914400" algn="l"/>
              </a:tabLst>
            </a:pPr>
            <a:r>
              <a:rPr lang="en-US" sz="1400" b="1" kern="0" dirty="0">
                <a:latin typeface="+mj-lt"/>
                <a:ea typeface="Times New Roman" panose="02020603050405020304" pitchFamily="18" charset="0"/>
                <a:cs typeface="Times New Roman" panose="02020603050405020304" pitchFamily="18" charset="0"/>
              </a:rPr>
              <a:t>Diesel (Compression Ignition) Engine</a:t>
            </a:r>
            <a:endParaRPr lang="en-US" sz="1400" kern="100" dirty="0">
              <a:effectLst/>
              <a:latin typeface="+mj-lt"/>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8377917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28890"/>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88831" y="609901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807952" y="1354177"/>
            <a:ext cx="2896947" cy="369332"/>
          </a:xfrm>
          <a:prstGeom prst="rect">
            <a:avLst/>
          </a:prstGeom>
        </p:spPr>
        <p:txBody>
          <a:bodyPr wrap="none">
            <a:spAutoFit/>
          </a:bodyPr>
          <a:lstStyle/>
          <a:p>
            <a:pPr marL="285750" indent="-285750">
              <a:buFont typeface="Wingdings" panose="05000000000000000000" pitchFamily="2" charset="2"/>
              <a:buChar char="Ø"/>
            </a:pPr>
            <a:r>
              <a:rPr lang="en-US" b="1" kern="0" dirty="0">
                <a:latin typeface="Times New Roman" panose="02020603050405020304" pitchFamily="18" charset="0"/>
                <a:ea typeface="Times New Roman" panose="02020603050405020304" pitchFamily="18" charset="0"/>
              </a:rPr>
              <a:t>Basic Working Principle</a:t>
            </a:r>
            <a:endParaRPr lang="en-US" dirty="0"/>
          </a:p>
        </p:txBody>
      </p:sp>
      <p:sp>
        <p:nvSpPr>
          <p:cNvPr id="5" name="Rectangle 4"/>
          <p:cNvSpPr/>
          <p:nvPr/>
        </p:nvSpPr>
        <p:spPr>
          <a:xfrm>
            <a:off x="807952" y="2218204"/>
            <a:ext cx="8248998" cy="1700978"/>
          </a:xfrm>
          <a:prstGeom prst="rect">
            <a:avLst/>
          </a:prstGeom>
        </p:spPr>
        <p:txBody>
          <a:bodyPr wrap="square">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600" kern="0" dirty="0">
                <a:latin typeface="+mj-lt"/>
                <a:ea typeface="Times New Roman" panose="02020603050405020304" pitchFamily="18" charset="0"/>
                <a:cs typeface="Arial" panose="020B0604020202020204" pitchFamily="34" charset="0"/>
              </a:rPr>
              <a:t>The engine works on the </a:t>
            </a:r>
            <a:r>
              <a:rPr lang="en-US" sz="1600" b="1" kern="0" dirty="0">
                <a:latin typeface="+mj-lt"/>
                <a:ea typeface="Times New Roman" panose="02020603050405020304" pitchFamily="18" charset="0"/>
                <a:cs typeface="Arial" panose="020B0604020202020204" pitchFamily="34" charset="0"/>
              </a:rPr>
              <a:t>principle of combustion of fuel-air mixture</a:t>
            </a:r>
            <a:r>
              <a:rPr lang="en-US" sz="1600" kern="0" dirty="0">
                <a:latin typeface="+mj-lt"/>
                <a:ea typeface="Times New Roman" panose="02020603050405020304" pitchFamily="18" charset="0"/>
                <a:cs typeface="Arial" panose="020B0604020202020204" pitchFamily="34" charset="0"/>
              </a:rPr>
              <a:t> to produce expanding gases.</a:t>
            </a:r>
            <a:endParaRPr lang="en-US" sz="16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600" kern="0" dirty="0">
                <a:latin typeface="+mj-lt"/>
                <a:ea typeface="Times New Roman" panose="02020603050405020304" pitchFamily="18" charset="0"/>
                <a:cs typeface="Arial" panose="020B0604020202020204" pitchFamily="34" charset="0"/>
              </a:rPr>
              <a:t>These gases push the </a:t>
            </a:r>
            <a:r>
              <a:rPr lang="en-US" sz="1600" b="1" kern="0" dirty="0">
                <a:latin typeface="+mj-lt"/>
                <a:ea typeface="Times New Roman" panose="02020603050405020304" pitchFamily="18" charset="0"/>
                <a:cs typeface="Arial" panose="020B0604020202020204" pitchFamily="34" charset="0"/>
              </a:rPr>
              <a:t>piston</a:t>
            </a:r>
            <a:r>
              <a:rPr lang="en-US" sz="1600" kern="0" dirty="0">
                <a:latin typeface="+mj-lt"/>
                <a:ea typeface="Times New Roman" panose="02020603050405020304" pitchFamily="18" charset="0"/>
                <a:cs typeface="Arial" panose="020B0604020202020204" pitchFamily="34" charset="0"/>
              </a:rPr>
              <a:t>, converting </a:t>
            </a:r>
            <a:r>
              <a:rPr lang="en-US" sz="1600" b="1" kern="0" dirty="0">
                <a:latin typeface="+mj-lt"/>
                <a:ea typeface="Times New Roman" panose="02020603050405020304" pitchFamily="18" charset="0"/>
                <a:cs typeface="Arial" panose="020B0604020202020204" pitchFamily="34" charset="0"/>
              </a:rPr>
              <a:t>heat energy → mechanical energy</a:t>
            </a:r>
            <a:r>
              <a:rPr lang="en-US" sz="1600" kern="0" dirty="0">
                <a:latin typeface="+mj-lt"/>
                <a:ea typeface="Times New Roman" panose="02020603050405020304" pitchFamily="18" charset="0"/>
                <a:cs typeface="Arial" panose="020B0604020202020204" pitchFamily="34" charset="0"/>
              </a:rPr>
              <a:t>.</a:t>
            </a:r>
            <a:endParaRPr lang="en-US" sz="1600" kern="100" dirty="0">
              <a:latin typeface="+mj-lt"/>
              <a:ea typeface="Calibri" panose="020F0502020204030204" pitchFamily="34" charset="0"/>
              <a:cs typeface="Arial" panose="020B0604020202020204" pitchFamily="34" charset="0"/>
            </a:endParaRPr>
          </a:p>
          <a:p>
            <a:r>
              <a:rPr lang="en-US" sz="1600" kern="0" dirty="0">
                <a:latin typeface="+mj-lt"/>
                <a:ea typeface="Times New Roman" panose="02020603050405020304" pitchFamily="18" charset="0"/>
              </a:rPr>
              <a:t>The motion of the piston is transferred to the </a:t>
            </a:r>
            <a:r>
              <a:rPr lang="en-US" sz="1600" b="1" kern="0" dirty="0">
                <a:latin typeface="+mj-lt"/>
                <a:ea typeface="Times New Roman" panose="02020603050405020304" pitchFamily="18" charset="0"/>
              </a:rPr>
              <a:t>crankshaft</a:t>
            </a:r>
            <a:r>
              <a:rPr lang="en-US" sz="1600" kern="0" dirty="0">
                <a:latin typeface="+mj-lt"/>
                <a:ea typeface="Times New Roman" panose="02020603050405020304" pitchFamily="18" charset="0"/>
              </a:rPr>
              <a:t> via the </a:t>
            </a:r>
            <a:r>
              <a:rPr lang="en-US" sz="1600" b="1" kern="0" dirty="0">
                <a:latin typeface="+mj-lt"/>
                <a:ea typeface="Times New Roman" panose="02020603050405020304" pitchFamily="18" charset="0"/>
              </a:rPr>
              <a:t>connecting rod</a:t>
            </a:r>
            <a:r>
              <a:rPr lang="en-US" sz="1600" kern="0" dirty="0">
                <a:latin typeface="+mj-lt"/>
                <a:ea typeface="Times New Roman" panose="02020603050405020304" pitchFamily="18" charset="0"/>
              </a:rPr>
              <a:t>, producing </a:t>
            </a:r>
            <a:r>
              <a:rPr lang="en-US" sz="1600" b="1" kern="0" dirty="0">
                <a:latin typeface="+mj-lt"/>
                <a:ea typeface="Times New Roman" panose="02020603050405020304" pitchFamily="18" charset="0"/>
              </a:rPr>
              <a:t>rotary motion</a:t>
            </a:r>
            <a:endParaRPr lang="en-US" sz="1600" dirty="0">
              <a:latin typeface="+mj-lt"/>
            </a:endParaRPr>
          </a:p>
        </p:txBody>
      </p:sp>
      <p:pic>
        <p:nvPicPr>
          <p:cNvPr id="6" name="Picture 5"/>
          <p:cNvPicPr>
            <a:picLocks noChangeAspect="1"/>
          </p:cNvPicPr>
          <p:nvPr/>
        </p:nvPicPr>
        <p:blipFill>
          <a:blip r:embed="rId5"/>
          <a:stretch>
            <a:fillRect/>
          </a:stretch>
        </p:blipFill>
        <p:spPr>
          <a:xfrm>
            <a:off x="8559645" y="3999447"/>
            <a:ext cx="2266950" cy="2019300"/>
          </a:xfrm>
          <a:prstGeom prst="rect">
            <a:avLst/>
          </a:prstGeom>
        </p:spPr>
      </p:pic>
    </p:spTree>
    <p:custDataLst>
      <p:tags r:id="rId1"/>
    </p:custDataLst>
    <p:extLst>
      <p:ext uri="{BB962C8B-B14F-4D97-AF65-F5344CB8AC3E}">
        <p14:creationId xmlns:p14="http://schemas.microsoft.com/office/powerpoint/2010/main" val="19443374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57550" y="1072597"/>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657550" y="1491424"/>
            <a:ext cx="2896947" cy="369332"/>
          </a:xfrm>
          <a:prstGeom prst="rect">
            <a:avLst/>
          </a:prstGeom>
        </p:spPr>
        <p:txBody>
          <a:bodyPr wrap="none">
            <a:spAutoFit/>
          </a:bodyPr>
          <a:lstStyle/>
          <a:p>
            <a:pPr marL="285750" indent="-285750">
              <a:buFont typeface="Wingdings" panose="05000000000000000000" pitchFamily="2" charset="2"/>
              <a:buChar char="Ø"/>
            </a:pPr>
            <a:r>
              <a:rPr lang="en-US" b="1" kern="0" dirty="0">
                <a:latin typeface="Times New Roman" panose="02020603050405020304" pitchFamily="18" charset="0"/>
                <a:ea typeface="Times New Roman" panose="02020603050405020304" pitchFamily="18" charset="0"/>
              </a:rPr>
              <a:t>Basic Working Principle</a:t>
            </a:r>
            <a:endParaRPr lang="en-US" dirty="0"/>
          </a:p>
        </p:txBody>
      </p:sp>
      <p:pic>
        <p:nvPicPr>
          <p:cNvPr id="7" name="DKF5dKo_r_Y"/>
          <p:cNvPicPr>
            <a:picLocks noRot="1" noChangeAspect="1"/>
          </p:cNvPicPr>
          <p:nvPr>
            <a:videoFile r:link="rId4"/>
          </p:nvPr>
        </p:nvPicPr>
        <p:blipFill>
          <a:blip r:embed="rId6"/>
          <a:stretch>
            <a:fillRect/>
          </a:stretch>
        </p:blipFill>
        <p:spPr>
          <a:xfrm>
            <a:off x="2205644" y="2583076"/>
            <a:ext cx="5167745" cy="2906857"/>
          </a:xfrm>
          <a:prstGeom prst="rect">
            <a:avLst/>
          </a:prstGeom>
        </p:spPr>
      </p:pic>
    </p:spTree>
    <p:custDataLst>
      <p:tags r:id="rId1"/>
    </p:custDataLst>
    <p:extLst>
      <p:ext uri="{BB962C8B-B14F-4D97-AF65-F5344CB8AC3E}">
        <p14:creationId xmlns:p14="http://schemas.microsoft.com/office/powerpoint/2010/main" val="80053738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p:cTn id="7" fill="hold" display="0">
                  <p:stCondLst>
                    <p:cond delay="indefinite"/>
                  </p:stCondLst>
                </p:cTn>
                <p:tgtEl>
                  <p:spTgt spid="7"/>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1774277" y="1945176"/>
            <a:ext cx="2646878" cy="369332"/>
          </a:xfrm>
          <a:prstGeom prst="rect">
            <a:avLst/>
          </a:prstGeom>
        </p:spPr>
        <p:txBody>
          <a:bodyPr wrap="none">
            <a:spAutoFit/>
          </a:bodyPr>
          <a:lstStyle/>
          <a:p>
            <a:r>
              <a:rPr lang="en-US" b="1" dirty="0"/>
              <a:t>The Four-Stroke Cycle</a:t>
            </a:r>
            <a:endParaRPr lang="en-US" dirty="0"/>
          </a:p>
        </p:txBody>
      </p:sp>
      <p:sp>
        <p:nvSpPr>
          <p:cNvPr id="5" name="Rectangle 4"/>
          <p:cNvSpPr/>
          <p:nvPr/>
        </p:nvSpPr>
        <p:spPr>
          <a:xfrm>
            <a:off x="1774278" y="2439369"/>
            <a:ext cx="7519352" cy="2308324"/>
          </a:xfrm>
          <a:prstGeom prst="rect">
            <a:avLst/>
          </a:prstGeom>
        </p:spPr>
        <p:txBody>
          <a:bodyPr wrap="square">
            <a:spAutoFit/>
          </a:bodyPr>
          <a:lstStyle/>
          <a:p>
            <a:r>
              <a:rPr lang="en-US" dirty="0"/>
              <a:t>Most modern engines operate on a </a:t>
            </a:r>
            <a:r>
              <a:rPr lang="en-US" b="1" dirty="0"/>
              <a:t>Four-Stroke Cycle</a:t>
            </a:r>
            <a:r>
              <a:rPr lang="en-US" dirty="0"/>
              <a:t>, discovered by </a:t>
            </a:r>
            <a:r>
              <a:rPr lang="en-US" b="1" dirty="0" err="1"/>
              <a:t>Nikolaus</a:t>
            </a:r>
            <a:r>
              <a:rPr lang="en-US" b="1" dirty="0"/>
              <a:t> Otto (1876</a:t>
            </a:r>
            <a:r>
              <a:rPr lang="en-US" b="1" dirty="0" smtClean="0"/>
              <a:t>)</a:t>
            </a:r>
            <a:r>
              <a:rPr lang="en-US" dirty="0" smtClean="0"/>
              <a:t>.</a:t>
            </a:r>
          </a:p>
          <a:p>
            <a:endParaRPr lang="en-US" dirty="0"/>
          </a:p>
          <a:p>
            <a:r>
              <a:rPr lang="en-US" dirty="0"/>
              <a:t>The four strokes are:</a:t>
            </a:r>
          </a:p>
          <a:p>
            <a:pPr lvl="0"/>
            <a:r>
              <a:rPr lang="en-US" b="1" dirty="0" smtClean="0"/>
              <a:t>1- Intake </a:t>
            </a:r>
            <a:r>
              <a:rPr lang="en-US" b="1" dirty="0"/>
              <a:t>(Suction) Stroke</a:t>
            </a:r>
            <a:endParaRPr lang="en-US" dirty="0"/>
          </a:p>
          <a:p>
            <a:pPr lvl="0"/>
            <a:r>
              <a:rPr lang="en-US" b="1" dirty="0" smtClean="0"/>
              <a:t>2- Compression </a:t>
            </a:r>
            <a:r>
              <a:rPr lang="en-US" b="1" dirty="0"/>
              <a:t>Stroke</a:t>
            </a:r>
            <a:endParaRPr lang="en-US" dirty="0"/>
          </a:p>
          <a:p>
            <a:pPr lvl="0"/>
            <a:r>
              <a:rPr lang="en-US" b="1" dirty="0" smtClean="0"/>
              <a:t>3- Power </a:t>
            </a:r>
            <a:r>
              <a:rPr lang="en-US" b="1" dirty="0"/>
              <a:t>(Expansion) Stroke</a:t>
            </a:r>
            <a:endParaRPr lang="en-US" dirty="0"/>
          </a:p>
          <a:p>
            <a:pPr lvl="0"/>
            <a:r>
              <a:rPr lang="en-US" b="1" dirty="0" smtClean="0"/>
              <a:t>4- Exhaust </a:t>
            </a:r>
            <a:r>
              <a:rPr lang="en-US" b="1" dirty="0"/>
              <a:t>Stroke</a:t>
            </a:r>
            <a:endParaRPr lang="en-US" dirty="0"/>
          </a:p>
        </p:txBody>
      </p:sp>
      <p:sp>
        <p:nvSpPr>
          <p:cNvPr id="6" name="AutoShape 2" descr="Four stroke engin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4" descr="Four stroke engin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Four stroke engin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p:cNvPicPr>
            <a:picLocks noChangeAspect="1"/>
          </p:cNvPicPr>
          <p:nvPr/>
        </p:nvPicPr>
        <p:blipFill>
          <a:blip r:embed="rId5"/>
          <a:stretch>
            <a:fillRect/>
          </a:stretch>
        </p:blipFill>
        <p:spPr>
          <a:xfrm>
            <a:off x="5337438" y="2897335"/>
            <a:ext cx="5761798" cy="2942705"/>
          </a:xfrm>
          <a:prstGeom prst="rect">
            <a:avLst/>
          </a:prstGeom>
        </p:spPr>
      </p:pic>
    </p:spTree>
    <p:custDataLst>
      <p:tags r:id="rId1"/>
    </p:custDataLst>
    <p:extLst>
      <p:ext uri="{BB962C8B-B14F-4D97-AF65-F5344CB8AC3E}">
        <p14:creationId xmlns:p14="http://schemas.microsoft.com/office/powerpoint/2010/main" val="11548437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1774277" y="1945176"/>
            <a:ext cx="2935419" cy="369332"/>
          </a:xfrm>
          <a:prstGeom prst="rect">
            <a:avLst/>
          </a:prstGeom>
        </p:spPr>
        <p:txBody>
          <a:bodyPr wrap="none">
            <a:spAutoFit/>
          </a:bodyPr>
          <a:lstStyle/>
          <a:p>
            <a:pPr marL="285750" indent="-285750">
              <a:buFont typeface="Wingdings" panose="05000000000000000000" pitchFamily="2" charset="2"/>
              <a:buChar char="Ø"/>
            </a:pPr>
            <a:r>
              <a:rPr lang="en-US" b="1" dirty="0"/>
              <a:t>The Four-Stroke Cycle</a:t>
            </a:r>
            <a:endParaRPr lang="en-US" dirty="0"/>
          </a:p>
        </p:txBody>
      </p:sp>
      <p:sp>
        <p:nvSpPr>
          <p:cNvPr id="5" name="Rectangle 4"/>
          <p:cNvSpPr/>
          <p:nvPr/>
        </p:nvSpPr>
        <p:spPr>
          <a:xfrm>
            <a:off x="1774278" y="2439369"/>
            <a:ext cx="7519352" cy="369332"/>
          </a:xfrm>
          <a:prstGeom prst="rect">
            <a:avLst/>
          </a:prstGeom>
        </p:spPr>
        <p:txBody>
          <a:bodyPr wrap="square">
            <a:spAutoFit/>
          </a:bodyPr>
          <a:lstStyle/>
          <a:p>
            <a:r>
              <a:rPr lang="en-US" b="1" dirty="0"/>
              <a:t>1. Intake (Suction) Stroke</a:t>
            </a:r>
            <a:endParaRPr lang="en-US" dirty="0"/>
          </a:p>
        </p:txBody>
      </p:sp>
      <p:sp>
        <p:nvSpPr>
          <p:cNvPr id="6" name="Rectangle 5"/>
          <p:cNvSpPr/>
          <p:nvPr/>
        </p:nvSpPr>
        <p:spPr>
          <a:xfrm>
            <a:off x="1956263" y="2808701"/>
            <a:ext cx="6096000" cy="1992853"/>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b="1" kern="0" dirty="0">
                <a:latin typeface="Times New Roman" panose="02020603050405020304" pitchFamily="18" charset="0"/>
                <a:ea typeface="Times New Roman" panose="02020603050405020304" pitchFamily="18" charset="0"/>
                <a:cs typeface="Arial" panose="020B0604020202020204" pitchFamily="34" charset="0"/>
              </a:rPr>
              <a:t>Piston moves downward.</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b="1" kern="0" dirty="0">
                <a:latin typeface="Times New Roman" panose="02020603050405020304" pitchFamily="18" charset="0"/>
                <a:ea typeface="Times New Roman" panose="02020603050405020304" pitchFamily="18" charset="0"/>
                <a:cs typeface="Arial" panose="020B0604020202020204" pitchFamily="34" charset="0"/>
              </a:rPr>
              <a:t>Inlet valve opens</a:t>
            </a:r>
            <a:r>
              <a:rPr lang="en-US" kern="0" dirty="0">
                <a:latin typeface="Times New Roman" panose="02020603050405020304" pitchFamily="18" charset="0"/>
                <a:ea typeface="Times New Roman" panose="02020603050405020304" pitchFamily="18" charset="0"/>
                <a:cs typeface="Arial" panose="020B0604020202020204" pitchFamily="34" charset="0"/>
              </a:rPr>
              <a:t>, </a:t>
            </a:r>
            <a:r>
              <a:rPr lang="en-US" b="1" kern="0" dirty="0">
                <a:latin typeface="Times New Roman" panose="02020603050405020304" pitchFamily="18" charset="0"/>
                <a:ea typeface="Times New Roman" panose="02020603050405020304" pitchFamily="18" charset="0"/>
                <a:cs typeface="Arial" panose="020B0604020202020204" pitchFamily="34" charset="0"/>
              </a:rPr>
              <a:t>exhaust valve closes</a:t>
            </a:r>
            <a:r>
              <a:rPr lang="en-US" kern="0" dirty="0">
                <a:latin typeface="Times New Roman" panose="02020603050405020304" pitchFamily="18" charset="0"/>
                <a:ea typeface="Times New Roman" panose="02020603050405020304" pitchFamily="18" charset="0"/>
                <a:cs typeface="Arial" panose="020B0604020202020204" pitchFamily="34" charset="0"/>
              </a:rPr>
              <a:t>.</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Times New Roman" panose="02020603050405020304" pitchFamily="18" charset="0"/>
                <a:ea typeface="Times New Roman" panose="02020603050405020304" pitchFamily="18" charset="0"/>
                <a:cs typeface="Arial" panose="020B0604020202020204" pitchFamily="34" charset="0"/>
              </a:rPr>
              <a:t>Air-fuel mixture (in petrol engine) or air (in diesel engine) enters the cylinder.</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b="1" kern="0" dirty="0">
                <a:latin typeface="Times New Roman" panose="02020603050405020304" pitchFamily="18" charset="0"/>
                <a:ea typeface="Times New Roman" panose="02020603050405020304" pitchFamily="18" charset="0"/>
                <a:cs typeface="Arial" panose="020B0604020202020204" pitchFamily="34" charset="0"/>
              </a:rPr>
              <a:t>Objective:</a:t>
            </a:r>
            <a:r>
              <a:rPr lang="en-US" kern="0" dirty="0">
                <a:latin typeface="Times New Roman" panose="02020603050405020304" pitchFamily="18" charset="0"/>
                <a:ea typeface="Times New Roman" panose="02020603050405020304" pitchFamily="18" charset="0"/>
                <a:cs typeface="Arial" panose="020B0604020202020204" pitchFamily="34" charset="0"/>
              </a:rPr>
              <a:t> Fill cylinder with charge for combustion.</a:t>
            </a:r>
            <a:endParaRPr lang="en-US" kern="100" dirty="0">
              <a:latin typeface="Calibri" panose="020F0502020204030204" pitchFamily="34" charset="0"/>
              <a:ea typeface="Calibri" panose="020F0502020204030204" pitchFamily="34" charset="0"/>
              <a:cs typeface="Arial" panose="020B0604020202020204" pitchFamily="34" charset="0"/>
            </a:endParaRPr>
          </a:p>
        </p:txBody>
      </p:sp>
      <p:pic>
        <p:nvPicPr>
          <p:cNvPr id="7" name="Picture 6"/>
          <p:cNvPicPr>
            <a:picLocks noChangeAspect="1"/>
          </p:cNvPicPr>
          <p:nvPr/>
        </p:nvPicPr>
        <p:blipFill>
          <a:blip r:embed="rId5"/>
          <a:stretch>
            <a:fillRect/>
          </a:stretch>
        </p:blipFill>
        <p:spPr>
          <a:xfrm>
            <a:off x="7947833" y="1945176"/>
            <a:ext cx="2381250" cy="2752725"/>
          </a:xfrm>
          <a:prstGeom prst="rect">
            <a:avLst/>
          </a:prstGeom>
        </p:spPr>
      </p:pic>
    </p:spTree>
    <p:custDataLst>
      <p:tags r:id="rId1"/>
    </p:custDataLst>
    <p:extLst>
      <p:ext uri="{BB962C8B-B14F-4D97-AF65-F5344CB8AC3E}">
        <p14:creationId xmlns:p14="http://schemas.microsoft.com/office/powerpoint/2010/main" val="36744347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1774277" y="1945176"/>
            <a:ext cx="2935419" cy="369332"/>
          </a:xfrm>
          <a:prstGeom prst="rect">
            <a:avLst/>
          </a:prstGeom>
        </p:spPr>
        <p:txBody>
          <a:bodyPr wrap="none">
            <a:spAutoFit/>
          </a:bodyPr>
          <a:lstStyle/>
          <a:p>
            <a:pPr marL="285750" indent="-285750">
              <a:buFont typeface="Wingdings" panose="05000000000000000000" pitchFamily="2" charset="2"/>
              <a:buChar char="Ø"/>
            </a:pPr>
            <a:r>
              <a:rPr lang="en-US" b="1" dirty="0"/>
              <a:t>The Four-Stroke Cycle</a:t>
            </a:r>
            <a:endParaRPr lang="en-US" dirty="0"/>
          </a:p>
        </p:txBody>
      </p:sp>
      <p:sp>
        <p:nvSpPr>
          <p:cNvPr id="5" name="Rectangle 4"/>
          <p:cNvSpPr/>
          <p:nvPr/>
        </p:nvSpPr>
        <p:spPr>
          <a:xfrm>
            <a:off x="1774278" y="2439369"/>
            <a:ext cx="7519352" cy="369332"/>
          </a:xfrm>
          <a:prstGeom prst="rect">
            <a:avLst/>
          </a:prstGeom>
        </p:spPr>
        <p:txBody>
          <a:bodyPr wrap="square">
            <a:spAutoFit/>
          </a:bodyPr>
          <a:lstStyle/>
          <a:p>
            <a:r>
              <a:rPr lang="en-US" b="1" dirty="0"/>
              <a:t>2</a:t>
            </a:r>
            <a:r>
              <a:rPr lang="en-US" b="1" dirty="0" smtClean="0"/>
              <a:t>. </a:t>
            </a:r>
            <a:r>
              <a:rPr lang="en-US" b="1" dirty="0"/>
              <a:t>Compression Stroke</a:t>
            </a:r>
            <a:endParaRPr lang="en-US" dirty="0"/>
          </a:p>
        </p:txBody>
      </p:sp>
      <p:sp>
        <p:nvSpPr>
          <p:cNvPr id="7" name="Rectangle 6"/>
          <p:cNvSpPr/>
          <p:nvPr/>
        </p:nvSpPr>
        <p:spPr>
          <a:xfrm>
            <a:off x="1774277" y="2795815"/>
            <a:ext cx="6096000" cy="1879489"/>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b="1" kern="0" dirty="0">
                <a:latin typeface="+mj-lt"/>
                <a:ea typeface="Times New Roman" panose="02020603050405020304" pitchFamily="18" charset="0"/>
                <a:cs typeface="Arial" panose="020B0604020202020204" pitchFamily="34" charset="0"/>
              </a:rPr>
              <a:t>Both valves closed.</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0" dirty="0">
                <a:latin typeface="+mj-lt"/>
                <a:ea typeface="Times New Roman" panose="02020603050405020304" pitchFamily="18" charset="0"/>
                <a:cs typeface="Arial" panose="020B0604020202020204" pitchFamily="34" charset="0"/>
              </a:rPr>
              <a:t>Piston moves </a:t>
            </a:r>
            <a:r>
              <a:rPr lang="en-US" sz="1200" b="1" kern="0" dirty="0">
                <a:latin typeface="+mj-lt"/>
                <a:ea typeface="Times New Roman" panose="02020603050405020304" pitchFamily="18" charset="0"/>
                <a:cs typeface="Arial" panose="020B0604020202020204" pitchFamily="34" charset="0"/>
              </a:rPr>
              <a:t>upward</a:t>
            </a:r>
            <a:r>
              <a:rPr lang="en-US" sz="1200" kern="0" dirty="0">
                <a:latin typeface="+mj-lt"/>
                <a:ea typeface="Times New Roman" panose="02020603050405020304" pitchFamily="18" charset="0"/>
                <a:cs typeface="Arial" panose="020B0604020202020204" pitchFamily="34" charset="0"/>
              </a:rPr>
              <a:t>, compressing the mixture (or air).</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0" dirty="0">
                <a:latin typeface="+mj-lt"/>
                <a:ea typeface="Times New Roman" panose="02020603050405020304" pitchFamily="18" charset="0"/>
                <a:cs typeface="Arial" panose="020B0604020202020204" pitchFamily="34" charset="0"/>
              </a:rPr>
              <a:t>Compression increases </a:t>
            </a:r>
            <a:r>
              <a:rPr lang="en-US" sz="1200" b="1" kern="0" dirty="0">
                <a:latin typeface="+mj-lt"/>
                <a:ea typeface="Times New Roman" panose="02020603050405020304" pitchFamily="18" charset="0"/>
                <a:cs typeface="Arial" panose="020B0604020202020204" pitchFamily="34" charset="0"/>
              </a:rPr>
              <a:t>pressure and temperature</a:t>
            </a:r>
            <a:r>
              <a:rPr lang="en-US" sz="1200" kern="0" dirty="0">
                <a:latin typeface="+mj-lt"/>
                <a:ea typeface="Times New Roman" panose="02020603050405020304" pitchFamily="18" charset="0"/>
                <a:cs typeface="Arial" panose="020B0604020202020204" pitchFamily="34" charset="0"/>
              </a:rPr>
              <a:t> inside the cylinder.</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0" dirty="0">
                <a:latin typeface="+mj-lt"/>
                <a:ea typeface="Times New Roman" panose="02020603050405020304" pitchFamily="18" charset="0"/>
                <a:cs typeface="Arial" panose="020B0604020202020204" pitchFamily="34" charset="0"/>
              </a:rPr>
              <a:t>At the end of this stroke:</a:t>
            </a:r>
            <a:endParaRPr lang="en-US" sz="1200" kern="100" dirty="0">
              <a:latin typeface="+mj-lt"/>
              <a:ea typeface="Calibri" panose="020F0502020204030204" pitchFamily="34" charset="0"/>
              <a:cs typeface="Arial" panose="020B0604020202020204" pitchFamily="34" charset="0"/>
            </a:endParaRPr>
          </a:p>
          <a:p>
            <a:pPr marL="742950" marR="0" lvl="1" indent="-285750">
              <a:lnSpc>
                <a:spcPct val="115000"/>
              </a:lnSpc>
              <a:spcBef>
                <a:spcPts val="0"/>
              </a:spcBef>
              <a:spcAft>
                <a:spcPts val="800"/>
              </a:spcAft>
              <a:buSzPts val="1000"/>
              <a:buFont typeface="Courier New" panose="02070309020205020404" pitchFamily="49" charset="0"/>
              <a:buChar char="o"/>
              <a:tabLst>
                <a:tab pos="914400" algn="l"/>
              </a:tabLst>
            </a:pPr>
            <a:r>
              <a:rPr lang="en-US" sz="1200" b="1" kern="0" dirty="0">
                <a:latin typeface="+mj-lt"/>
                <a:ea typeface="Times New Roman" panose="02020603050405020304" pitchFamily="18" charset="0"/>
                <a:cs typeface="Times New Roman" panose="02020603050405020304" pitchFamily="18" charset="0"/>
              </a:rPr>
              <a:t>Petrol Engine:</a:t>
            </a:r>
            <a:r>
              <a:rPr lang="en-US" sz="1200" kern="0" dirty="0">
                <a:latin typeface="+mj-lt"/>
                <a:ea typeface="Times New Roman" panose="02020603050405020304" pitchFamily="18" charset="0"/>
                <a:cs typeface="Times New Roman" panose="02020603050405020304" pitchFamily="18" charset="0"/>
              </a:rPr>
              <a:t> Spark plug ignites the mixture.</a:t>
            </a:r>
            <a:endParaRPr lang="en-US" sz="1200" kern="100" dirty="0">
              <a:latin typeface="+mj-lt"/>
              <a:ea typeface="Calibri" panose="020F0502020204030204" pitchFamily="34" charset="0"/>
              <a:cs typeface="Times New Roman" panose="02020603050405020304" pitchFamily="18" charset="0"/>
            </a:endParaRPr>
          </a:p>
          <a:p>
            <a:pPr marL="742950" marR="0" lvl="1" indent="-285750">
              <a:lnSpc>
                <a:spcPct val="115000"/>
              </a:lnSpc>
              <a:spcBef>
                <a:spcPts val="0"/>
              </a:spcBef>
              <a:spcAft>
                <a:spcPts val="800"/>
              </a:spcAft>
              <a:buSzPts val="1000"/>
              <a:buFont typeface="Courier New" panose="02070309020205020404" pitchFamily="49" charset="0"/>
              <a:buChar char="o"/>
              <a:tabLst>
                <a:tab pos="914400" algn="l"/>
              </a:tabLst>
            </a:pPr>
            <a:r>
              <a:rPr lang="en-US" sz="1200" b="1" kern="0" dirty="0">
                <a:latin typeface="+mj-lt"/>
                <a:ea typeface="Times New Roman" panose="02020603050405020304" pitchFamily="18" charset="0"/>
                <a:cs typeface="Times New Roman" panose="02020603050405020304" pitchFamily="18" charset="0"/>
              </a:rPr>
              <a:t>Diesel Engine:</a:t>
            </a:r>
            <a:r>
              <a:rPr lang="en-US" sz="1200" kern="0" dirty="0">
                <a:latin typeface="+mj-lt"/>
                <a:ea typeface="Times New Roman" panose="02020603050405020304" pitchFamily="18" charset="0"/>
                <a:cs typeface="Times New Roman" panose="02020603050405020304" pitchFamily="18" charset="0"/>
              </a:rPr>
              <a:t> Fuel is injected and ignites due to heat of compression</a:t>
            </a:r>
            <a:r>
              <a:rPr lang="en-US" sz="1200" kern="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p:cNvPicPr>
            <a:picLocks noChangeAspect="1"/>
          </p:cNvPicPr>
          <p:nvPr/>
        </p:nvPicPr>
        <p:blipFill>
          <a:blip r:embed="rId5"/>
          <a:stretch>
            <a:fillRect/>
          </a:stretch>
        </p:blipFill>
        <p:spPr>
          <a:xfrm>
            <a:off x="7992341" y="2104676"/>
            <a:ext cx="1943100" cy="2362200"/>
          </a:xfrm>
          <a:prstGeom prst="rect">
            <a:avLst/>
          </a:prstGeom>
        </p:spPr>
      </p:pic>
    </p:spTree>
    <p:custDataLst>
      <p:tags r:id="rId1"/>
    </p:custDataLst>
    <p:extLst>
      <p:ext uri="{BB962C8B-B14F-4D97-AF65-F5344CB8AC3E}">
        <p14:creationId xmlns:p14="http://schemas.microsoft.com/office/powerpoint/2010/main" val="4426659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38941" y="943716"/>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799492" y="1379714"/>
            <a:ext cx="2935419" cy="369332"/>
          </a:xfrm>
          <a:prstGeom prst="rect">
            <a:avLst/>
          </a:prstGeom>
        </p:spPr>
        <p:txBody>
          <a:bodyPr wrap="none">
            <a:spAutoFit/>
          </a:bodyPr>
          <a:lstStyle/>
          <a:p>
            <a:pPr marL="285750" indent="-285750">
              <a:buFont typeface="Wingdings" panose="05000000000000000000" pitchFamily="2" charset="2"/>
              <a:buChar char="Ø"/>
            </a:pPr>
            <a:r>
              <a:rPr lang="en-US" b="1" dirty="0"/>
              <a:t>The Four-Stroke Cycle</a:t>
            </a:r>
            <a:endParaRPr lang="en-US" dirty="0"/>
          </a:p>
        </p:txBody>
      </p:sp>
      <p:sp>
        <p:nvSpPr>
          <p:cNvPr id="5" name="Rectangle 4"/>
          <p:cNvSpPr/>
          <p:nvPr/>
        </p:nvSpPr>
        <p:spPr>
          <a:xfrm>
            <a:off x="946142" y="1854181"/>
            <a:ext cx="7519352" cy="369332"/>
          </a:xfrm>
          <a:prstGeom prst="rect">
            <a:avLst/>
          </a:prstGeom>
        </p:spPr>
        <p:txBody>
          <a:bodyPr wrap="square">
            <a:spAutoFit/>
          </a:bodyPr>
          <a:lstStyle/>
          <a:p>
            <a:r>
              <a:rPr lang="en-US" b="1" dirty="0"/>
              <a:t>3</a:t>
            </a:r>
            <a:r>
              <a:rPr lang="en-US" b="1" dirty="0" smtClean="0"/>
              <a:t>. </a:t>
            </a:r>
            <a:r>
              <a:rPr lang="en-US" b="1" dirty="0"/>
              <a:t>Power (Expansion) Stroke</a:t>
            </a:r>
            <a:endParaRPr lang="en-US" dirty="0"/>
          </a:p>
        </p:txBody>
      </p:sp>
      <p:sp>
        <p:nvSpPr>
          <p:cNvPr id="7" name="Rectangle 6"/>
          <p:cNvSpPr/>
          <p:nvPr/>
        </p:nvSpPr>
        <p:spPr>
          <a:xfrm>
            <a:off x="1774277" y="2795815"/>
            <a:ext cx="6096000" cy="292259"/>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946142" y="2643035"/>
            <a:ext cx="6190210" cy="1249573"/>
          </a:xfrm>
          <a:prstGeom prst="rect">
            <a:avLst/>
          </a:prstGeom>
        </p:spPr>
        <p:txBody>
          <a:bodyPr wrap="square">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0" dirty="0">
                <a:latin typeface="+mj-lt"/>
                <a:ea typeface="Times New Roman" panose="02020603050405020304" pitchFamily="18" charset="0"/>
                <a:cs typeface="Arial" panose="020B0604020202020204" pitchFamily="34" charset="0"/>
              </a:rPr>
              <a:t>Combustion occurs, producing </a:t>
            </a:r>
            <a:r>
              <a:rPr lang="en-US" sz="1200" b="1" kern="0" dirty="0">
                <a:latin typeface="+mj-lt"/>
                <a:ea typeface="Times New Roman" panose="02020603050405020304" pitchFamily="18" charset="0"/>
                <a:cs typeface="Arial" panose="020B0604020202020204" pitchFamily="34" charset="0"/>
              </a:rPr>
              <a:t>high-pressure gases</a:t>
            </a:r>
            <a:r>
              <a:rPr lang="en-US" sz="1200" kern="0" dirty="0">
                <a:latin typeface="+mj-lt"/>
                <a:ea typeface="Times New Roman" panose="02020603050405020304" pitchFamily="18" charset="0"/>
                <a:cs typeface="Arial" panose="020B0604020202020204" pitchFamily="34" charset="0"/>
              </a:rPr>
              <a:t>.</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0" dirty="0">
                <a:latin typeface="+mj-lt"/>
                <a:ea typeface="Times New Roman" panose="02020603050405020304" pitchFamily="18" charset="0"/>
                <a:cs typeface="Arial" panose="020B0604020202020204" pitchFamily="34" charset="0"/>
              </a:rPr>
              <a:t>The expanding gases </a:t>
            </a:r>
            <a:r>
              <a:rPr lang="en-US" sz="1200" b="1" kern="0" dirty="0">
                <a:latin typeface="+mj-lt"/>
                <a:ea typeface="Times New Roman" panose="02020603050405020304" pitchFamily="18" charset="0"/>
                <a:cs typeface="Arial" panose="020B0604020202020204" pitchFamily="34" charset="0"/>
              </a:rPr>
              <a:t>push the piston downward</a:t>
            </a:r>
            <a:r>
              <a:rPr lang="en-US" sz="1200" kern="0" dirty="0">
                <a:latin typeface="+mj-lt"/>
                <a:ea typeface="Times New Roman" panose="02020603050405020304" pitchFamily="18" charset="0"/>
                <a:cs typeface="Arial" panose="020B0604020202020204" pitchFamily="34" charset="0"/>
              </a:rPr>
              <a:t>.</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0" dirty="0">
                <a:latin typeface="+mj-lt"/>
                <a:ea typeface="Times New Roman" panose="02020603050405020304" pitchFamily="18" charset="0"/>
                <a:cs typeface="Arial" panose="020B0604020202020204" pitchFamily="34" charset="0"/>
              </a:rPr>
              <a:t>This is the </a:t>
            </a:r>
            <a:r>
              <a:rPr lang="en-US" sz="1200" b="1" kern="0" dirty="0">
                <a:latin typeface="+mj-lt"/>
                <a:ea typeface="Times New Roman" panose="02020603050405020304" pitchFamily="18" charset="0"/>
                <a:cs typeface="Arial" panose="020B0604020202020204" pitchFamily="34" charset="0"/>
              </a:rPr>
              <a:t>only stroke that produces power</a:t>
            </a:r>
            <a:r>
              <a:rPr lang="en-US" sz="1200" kern="0" dirty="0">
                <a:latin typeface="+mj-lt"/>
                <a:ea typeface="Times New Roman" panose="02020603050405020304" pitchFamily="18" charset="0"/>
                <a:cs typeface="Arial" panose="020B0604020202020204" pitchFamily="34" charset="0"/>
              </a:rPr>
              <a:t>.</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0" dirty="0">
                <a:latin typeface="+mj-lt"/>
                <a:ea typeface="Times New Roman" panose="02020603050405020304" pitchFamily="18" charset="0"/>
                <a:cs typeface="Arial" panose="020B0604020202020204" pitchFamily="34" charset="0"/>
              </a:rPr>
              <a:t>Crankshaft converts this movement into </a:t>
            </a:r>
            <a:r>
              <a:rPr lang="en-US" sz="1200" b="1" kern="0" dirty="0">
                <a:latin typeface="+mj-lt"/>
                <a:ea typeface="Times New Roman" panose="02020603050405020304" pitchFamily="18" charset="0"/>
                <a:cs typeface="Arial" panose="020B0604020202020204" pitchFamily="34" charset="0"/>
              </a:rPr>
              <a:t>rotational energy</a:t>
            </a:r>
            <a:r>
              <a:rPr lang="en-US" sz="1200" kern="0" dirty="0">
                <a:latin typeface="+mj-lt"/>
                <a:ea typeface="Times New Roman" panose="02020603050405020304" pitchFamily="18" charset="0"/>
                <a:cs typeface="Arial" panose="020B0604020202020204" pitchFamily="34" charset="0"/>
              </a:rPr>
              <a:t>.</a:t>
            </a:r>
            <a:endParaRPr lang="en-US" sz="1200" kern="100" dirty="0">
              <a:effectLst/>
              <a:latin typeface="+mj-lt"/>
              <a:ea typeface="Calibri" panose="020F0502020204030204" pitchFamily="34" charset="0"/>
              <a:cs typeface="Arial" panose="020B0604020202020204" pitchFamily="34" charset="0"/>
            </a:endParaRPr>
          </a:p>
        </p:txBody>
      </p:sp>
      <p:sp>
        <p:nvSpPr>
          <p:cNvPr id="9" name="AutoShape 2" descr="The Four Stroke Engine Cycle | AeroTool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p:cNvPicPr>
            <a:picLocks noChangeAspect="1"/>
          </p:cNvPicPr>
          <p:nvPr/>
        </p:nvPicPr>
        <p:blipFill>
          <a:blip r:embed="rId5"/>
          <a:stretch>
            <a:fillRect/>
          </a:stretch>
        </p:blipFill>
        <p:spPr>
          <a:xfrm>
            <a:off x="8064273" y="2223513"/>
            <a:ext cx="2000250" cy="2286000"/>
          </a:xfrm>
          <a:prstGeom prst="rect">
            <a:avLst/>
          </a:prstGeom>
        </p:spPr>
      </p:pic>
    </p:spTree>
    <p:custDataLst>
      <p:tags r:id="rId1"/>
    </p:custDataLst>
    <p:extLst>
      <p:ext uri="{BB962C8B-B14F-4D97-AF65-F5344CB8AC3E}">
        <p14:creationId xmlns:p14="http://schemas.microsoft.com/office/powerpoint/2010/main" val="24289281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14986" y="1111843"/>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1014986" y="1688885"/>
            <a:ext cx="2935419" cy="369332"/>
          </a:xfrm>
          <a:prstGeom prst="rect">
            <a:avLst/>
          </a:prstGeom>
        </p:spPr>
        <p:txBody>
          <a:bodyPr wrap="none">
            <a:spAutoFit/>
          </a:bodyPr>
          <a:lstStyle/>
          <a:p>
            <a:pPr marL="285750" indent="-285750">
              <a:buFont typeface="Wingdings" panose="05000000000000000000" pitchFamily="2" charset="2"/>
              <a:buChar char="Ø"/>
            </a:pPr>
            <a:r>
              <a:rPr lang="en-US" b="1" dirty="0"/>
              <a:t>The Four-Stroke Cycle</a:t>
            </a:r>
            <a:endParaRPr lang="en-US" dirty="0"/>
          </a:p>
        </p:txBody>
      </p:sp>
      <p:sp>
        <p:nvSpPr>
          <p:cNvPr id="5" name="Rectangle 4"/>
          <p:cNvSpPr/>
          <p:nvPr/>
        </p:nvSpPr>
        <p:spPr>
          <a:xfrm>
            <a:off x="1282572" y="2151329"/>
            <a:ext cx="7519352" cy="369332"/>
          </a:xfrm>
          <a:prstGeom prst="rect">
            <a:avLst/>
          </a:prstGeom>
        </p:spPr>
        <p:txBody>
          <a:bodyPr wrap="square">
            <a:spAutoFit/>
          </a:bodyPr>
          <a:lstStyle/>
          <a:p>
            <a:r>
              <a:rPr lang="en-US" b="1" dirty="0"/>
              <a:t>4</a:t>
            </a:r>
            <a:r>
              <a:rPr lang="en-US" b="1" dirty="0" smtClean="0"/>
              <a:t>. </a:t>
            </a:r>
            <a:r>
              <a:rPr lang="en-US" b="1" dirty="0"/>
              <a:t>Exhaust Stroke</a:t>
            </a:r>
            <a:endParaRPr lang="en-US" dirty="0"/>
          </a:p>
        </p:txBody>
      </p:sp>
      <p:sp>
        <p:nvSpPr>
          <p:cNvPr id="7" name="Rectangle 6"/>
          <p:cNvSpPr/>
          <p:nvPr/>
        </p:nvSpPr>
        <p:spPr>
          <a:xfrm>
            <a:off x="1524001" y="2771166"/>
            <a:ext cx="6096000" cy="934615"/>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b="1" kern="0" dirty="0">
                <a:latin typeface="+mj-lt"/>
                <a:ea typeface="Times New Roman" panose="02020603050405020304" pitchFamily="18" charset="0"/>
                <a:cs typeface="Arial" panose="020B0604020202020204" pitchFamily="34" charset="0"/>
              </a:rPr>
              <a:t>Exhaust valve opens</a:t>
            </a:r>
            <a:r>
              <a:rPr lang="en-US" sz="1200" kern="0" dirty="0">
                <a:latin typeface="+mj-lt"/>
                <a:ea typeface="Times New Roman" panose="02020603050405020304" pitchFamily="18" charset="0"/>
                <a:cs typeface="Arial" panose="020B0604020202020204" pitchFamily="34" charset="0"/>
              </a:rPr>
              <a:t>, </a:t>
            </a:r>
            <a:r>
              <a:rPr lang="en-US" sz="1200" b="1" kern="0" dirty="0">
                <a:latin typeface="+mj-lt"/>
                <a:ea typeface="Times New Roman" panose="02020603050405020304" pitchFamily="18" charset="0"/>
                <a:cs typeface="Arial" panose="020B0604020202020204" pitchFamily="34" charset="0"/>
              </a:rPr>
              <a:t>inlet valve closes.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0" dirty="0">
                <a:latin typeface="+mj-lt"/>
                <a:ea typeface="Times New Roman" panose="02020603050405020304" pitchFamily="18" charset="0"/>
                <a:cs typeface="Arial" panose="020B0604020202020204" pitchFamily="34" charset="0"/>
              </a:rPr>
              <a:t>Piston moves </a:t>
            </a:r>
            <a:r>
              <a:rPr lang="en-US" sz="1200" b="1" kern="0" dirty="0">
                <a:latin typeface="+mj-lt"/>
                <a:ea typeface="Times New Roman" panose="02020603050405020304" pitchFamily="18" charset="0"/>
                <a:cs typeface="Arial" panose="020B0604020202020204" pitchFamily="34" charset="0"/>
              </a:rPr>
              <a:t>upward</a:t>
            </a:r>
            <a:r>
              <a:rPr lang="en-US" sz="1200" kern="0" dirty="0">
                <a:latin typeface="+mj-lt"/>
                <a:ea typeface="Times New Roman" panose="02020603050405020304" pitchFamily="18" charset="0"/>
                <a:cs typeface="Arial" panose="020B0604020202020204" pitchFamily="34" charset="0"/>
              </a:rPr>
              <a:t>, pushing out the burnt gases.</a:t>
            </a:r>
            <a:endParaRPr lang="en-US" sz="1200"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200" kern="0" dirty="0">
                <a:latin typeface="+mj-lt"/>
                <a:ea typeface="Times New Roman" panose="02020603050405020304" pitchFamily="18" charset="0"/>
                <a:cs typeface="Arial" panose="020B0604020202020204" pitchFamily="34" charset="0"/>
              </a:rPr>
              <a:t>Cylinder becomes ready for the next cycle.</a:t>
            </a:r>
            <a:endParaRPr lang="en-US" sz="1200" kern="100" dirty="0">
              <a:effectLst/>
              <a:latin typeface="+mj-lt"/>
              <a:ea typeface="Calibri" panose="020F0502020204030204" pitchFamily="34" charset="0"/>
              <a:cs typeface="Arial" panose="020B0604020202020204" pitchFamily="34" charset="0"/>
            </a:endParaRPr>
          </a:p>
        </p:txBody>
      </p:sp>
      <p:pic>
        <p:nvPicPr>
          <p:cNvPr id="6" name="Picture 5"/>
          <p:cNvPicPr>
            <a:picLocks noChangeAspect="1"/>
          </p:cNvPicPr>
          <p:nvPr/>
        </p:nvPicPr>
        <p:blipFill>
          <a:blip r:embed="rId5"/>
          <a:stretch>
            <a:fillRect/>
          </a:stretch>
        </p:blipFill>
        <p:spPr>
          <a:xfrm>
            <a:off x="7970939" y="1759992"/>
            <a:ext cx="2167370" cy="2819400"/>
          </a:xfrm>
          <a:prstGeom prst="rect">
            <a:avLst/>
          </a:prstGeom>
        </p:spPr>
      </p:pic>
    </p:spTree>
    <p:custDataLst>
      <p:tags r:id="rId1"/>
    </p:custDataLst>
    <p:extLst>
      <p:ext uri="{BB962C8B-B14F-4D97-AF65-F5344CB8AC3E}">
        <p14:creationId xmlns:p14="http://schemas.microsoft.com/office/powerpoint/2010/main" val="20558568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937348" y="1054088"/>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961364" y="1509933"/>
            <a:ext cx="5354864" cy="369332"/>
          </a:xfrm>
          <a:prstGeom prst="rect">
            <a:avLst/>
          </a:prstGeom>
        </p:spPr>
        <p:txBody>
          <a:bodyPr wrap="none">
            <a:spAutoFit/>
          </a:bodyPr>
          <a:lstStyle/>
          <a:p>
            <a:pPr marL="285750" indent="-285750">
              <a:buFont typeface="Wingdings" panose="05000000000000000000" pitchFamily="2" charset="2"/>
              <a:buChar char="Ø"/>
            </a:pPr>
            <a:r>
              <a:rPr lang="en-US" b="1" dirty="0"/>
              <a:t>Two-Stroke Engine Principle (Optional Slide)</a:t>
            </a:r>
            <a:endParaRPr lang="en-US" dirty="0"/>
          </a:p>
        </p:txBody>
      </p:sp>
      <p:sp>
        <p:nvSpPr>
          <p:cNvPr id="6" name="Rectangle 5"/>
          <p:cNvSpPr/>
          <p:nvPr/>
        </p:nvSpPr>
        <p:spPr>
          <a:xfrm>
            <a:off x="973713" y="2226420"/>
            <a:ext cx="6096000" cy="1606594"/>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400" b="1" kern="0" dirty="0">
                <a:latin typeface="+mj-lt"/>
                <a:ea typeface="Times New Roman" panose="02020603050405020304" pitchFamily="18" charset="0"/>
                <a:cs typeface="Arial" panose="020B0604020202020204" pitchFamily="34" charset="0"/>
              </a:rPr>
              <a:t>In a two-stroke engine, all four operations occur in two piston strokes (one revolution of crankshaft).</a:t>
            </a:r>
            <a:endParaRPr lang="en-US" sz="1400" b="1"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400" b="1" kern="0" dirty="0">
                <a:latin typeface="+mj-lt"/>
                <a:ea typeface="Times New Roman" panose="02020603050405020304" pitchFamily="18" charset="0"/>
                <a:cs typeface="Arial" panose="020B0604020202020204" pitchFamily="34" charset="0"/>
              </a:rPr>
              <a:t>Advantages: Simple design, lightweight, more power for size.</a:t>
            </a:r>
            <a:endParaRPr lang="en-US" sz="1400" b="1" kern="100" dirty="0">
              <a:latin typeface="+mj-lt"/>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400" b="1" kern="0" dirty="0">
                <a:latin typeface="+mj-lt"/>
                <a:ea typeface="Times New Roman" panose="02020603050405020304" pitchFamily="18" charset="0"/>
                <a:cs typeface="Arial" panose="020B0604020202020204" pitchFamily="34" charset="0"/>
              </a:rPr>
              <a:t>Used in: Motorbikes, scooters, chainsaws.</a:t>
            </a:r>
            <a:endParaRPr lang="en-US" sz="1400" b="1" kern="100" dirty="0">
              <a:latin typeface="+mj-lt"/>
              <a:ea typeface="Calibri" panose="020F0502020204030204" pitchFamily="34" charset="0"/>
              <a:cs typeface="Arial" panose="020B0604020202020204" pitchFamily="34" charset="0"/>
            </a:endParaRPr>
          </a:p>
          <a:p>
            <a:r>
              <a:rPr lang="en-US" sz="1400" b="1" kern="0" dirty="0">
                <a:latin typeface="+mj-lt"/>
                <a:ea typeface="Times New Roman" panose="02020603050405020304" pitchFamily="18" charset="0"/>
              </a:rPr>
              <a:t>Disadvantages: Less fuel efficient, more pollution</a:t>
            </a:r>
            <a:endParaRPr lang="en-US" sz="2000" b="1" dirty="0">
              <a:latin typeface="+mj-lt"/>
            </a:endParaRPr>
          </a:p>
        </p:txBody>
      </p:sp>
      <p:pic>
        <p:nvPicPr>
          <p:cNvPr id="9" name="Picture 8"/>
          <p:cNvPicPr>
            <a:picLocks noChangeAspect="1"/>
          </p:cNvPicPr>
          <p:nvPr/>
        </p:nvPicPr>
        <p:blipFill>
          <a:blip r:embed="rId5"/>
          <a:stretch>
            <a:fillRect/>
          </a:stretch>
        </p:blipFill>
        <p:spPr>
          <a:xfrm>
            <a:off x="7620001" y="1688530"/>
            <a:ext cx="4164678" cy="2876550"/>
          </a:xfrm>
          <a:prstGeom prst="rect">
            <a:avLst/>
          </a:prstGeom>
        </p:spPr>
      </p:pic>
    </p:spTree>
    <p:custDataLst>
      <p:tags r:id="rId1"/>
    </p:custDataLst>
    <p:extLst>
      <p:ext uri="{BB962C8B-B14F-4D97-AF65-F5344CB8AC3E}">
        <p14:creationId xmlns:p14="http://schemas.microsoft.com/office/powerpoint/2010/main" val="40934050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49491" y="1070624"/>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992489" y="1666988"/>
            <a:ext cx="5066323" cy="369332"/>
          </a:xfrm>
          <a:prstGeom prst="rect">
            <a:avLst/>
          </a:prstGeom>
        </p:spPr>
        <p:txBody>
          <a:bodyPr wrap="none">
            <a:spAutoFit/>
          </a:bodyPr>
          <a:lstStyle/>
          <a:p>
            <a:r>
              <a:rPr lang="en-US" b="1" dirty="0"/>
              <a:t>Two-Stroke Engine Principle (Optional Slide)</a:t>
            </a:r>
            <a:endParaRPr lang="en-US" dirty="0"/>
          </a:p>
        </p:txBody>
      </p:sp>
      <p:pic>
        <p:nvPicPr>
          <p:cNvPr id="5" name="MdEZjSQDT0s"/>
          <p:cNvPicPr>
            <a:picLocks noRot="1" noChangeAspect="1"/>
          </p:cNvPicPr>
          <p:nvPr>
            <a:videoFile r:link="rId4"/>
          </p:nvPr>
        </p:nvPicPr>
        <p:blipFill>
          <a:blip r:embed="rId6"/>
          <a:stretch>
            <a:fillRect/>
          </a:stretch>
        </p:blipFill>
        <p:spPr>
          <a:xfrm>
            <a:off x="2546466" y="2530770"/>
            <a:ext cx="5325687" cy="2939940"/>
          </a:xfrm>
          <a:prstGeom prst="rect">
            <a:avLst/>
          </a:prstGeom>
        </p:spPr>
      </p:pic>
    </p:spTree>
    <p:custDataLst>
      <p:tags r:id="rId1"/>
    </p:custDataLst>
    <p:extLst>
      <p:ext uri="{BB962C8B-B14F-4D97-AF65-F5344CB8AC3E}">
        <p14:creationId xmlns:p14="http://schemas.microsoft.com/office/powerpoint/2010/main" val="25662048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193" y="1056291"/>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756193" y="1449714"/>
            <a:ext cx="3692036" cy="369332"/>
          </a:xfrm>
          <a:prstGeom prst="rect">
            <a:avLst/>
          </a:prstGeom>
        </p:spPr>
        <p:txBody>
          <a:bodyPr wrap="none">
            <a:spAutoFit/>
          </a:bodyPr>
          <a:lstStyle/>
          <a:p>
            <a:pPr marL="285750" indent="-285750">
              <a:buFont typeface="Wingdings" panose="05000000000000000000" pitchFamily="2" charset="2"/>
              <a:buChar char="Ø"/>
            </a:pPr>
            <a:r>
              <a:rPr lang="en-US" b="1" dirty="0"/>
              <a:t>Energy Conversion in Engine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263692755"/>
              </p:ext>
            </p:extLst>
          </p:nvPr>
        </p:nvGraphicFramePr>
        <p:xfrm>
          <a:off x="1789846" y="2516437"/>
          <a:ext cx="7426671" cy="917448"/>
        </p:xfrm>
        <a:graphic>
          <a:graphicData uri="http://schemas.openxmlformats.org/drawingml/2006/table">
            <a:tbl>
              <a:tblPr firstRow="1" firstCol="1" bandRow="1">
                <a:tableStyleId>{5C22544A-7EE6-4342-B048-85BDC9FD1C3A}</a:tableStyleId>
              </a:tblPr>
              <a:tblGrid>
                <a:gridCol w="2475557">
                  <a:extLst>
                    <a:ext uri="{9D8B030D-6E8A-4147-A177-3AD203B41FA5}">
                      <a16:colId xmlns:a16="http://schemas.microsoft.com/office/drawing/2014/main" val="2551197443"/>
                    </a:ext>
                  </a:extLst>
                </a:gridCol>
                <a:gridCol w="2475557">
                  <a:extLst>
                    <a:ext uri="{9D8B030D-6E8A-4147-A177-3AD203B41FA5}">
                      <a16:colId xmlns:a16="http://schemas.microsoft.com/office/drawing/2014/main" val="2228208321"/>
                    </a:ext>
                  </a:extLst>
                </a:gridCol>
                <a:gridCol w="2475557">
                  <a:extLst>
                    <a:ext uri="{9D8B030D-6E8A-4147-A177-3AD203B41FA5}">
                      <a16:colId xmlns:a16="http://schemas.microsoft.com/office/drawing/2014/main" val="383749099"/>
                    </a:ext>
                  </a:extLst>
                </a:gridCol>
              </a:tblGrid>
              <a:tr h="0">
                <a:tc>
                  <a:txBody>
                    <a:bodyPr/>
                    <a:lstStyle/>
                    <a:p>
                      <a:pPr marL="0" marR="0" algn="ctr">
                        <a:lnSpc>
                          <a:spcPct val="115000"/>
                        </a:lnSpc>
                        <a:spcBef>
                          <a:spcPts val="0"/>
                        </a:spcBef>
                        <a:spcAft>
                          <a:spcPts val="0"/>
                        </a:spcAft>
                      </a:pPr>
                      <a:r>
                        <a:rPr lang="en-US" sz="1200" kern="0">
                          <a:effectLst/>
                        </a:rPr>
                        <a:t>Process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Energy Type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Conversion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245231397"/>
                  </a:ext>
                </a:extLst>
              </a:tr>
              <a:tr h="0">
                <a:tc>
                  <a:txBody>
                    <a:bodyPr/>
                    <a:lstStyle/>
                    <a:p>
                      <a:pPr marL="0" marR="0">
                        <a:lnSpc>
                          <a:spcPct val="115000"/>
                        </a:lnSpc>
                        <a:spcBef>
                          <a:spcPts val="0"/>
                        </a:spcBef>
                        <a:spcAft>
                          <a:spcPts val="0"/>
                        </a:spcAft>
                      </a:pPr>
                      <a:r>
                        <a:rPr lang="en-US" sz="1200" kern="0">
                          <a:effectLst/>
                        </a:rPr>
                        <a:t>Combustion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Chemical → Thermal</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Burning fuel-air mixture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562998119"/>
                  </a:ext>
                </a:extLst>
              </a:tr>
              <a:tr h="0">
                <a:tc>
                  <a:txBody>
                    <a:bodyPr/>
                    <a:lstStyle/>
                    <a:p>
                      <a:pPr marL="0" marR="0">
                        <a:lnSpc>
                          <a:spcPct val="115000"/>
                        </a:lnSpc>
                        <a:spcBef>
                          <a:spcPts val="0"/>
                        </a:spcBef>
                        <a:spcAft>
                          <a:spcPts val="0"/>
                        </a:spcAft>
                      </a:pPr>
                      <a:r>
                        <a:rPr lang="en-US" sz="1200" kern="0">
                          <a:effectLst/>
                        </a:rPr>
                        <a:t>Expansion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Thermal → Mechanical</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Gas expansion pushes piston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724005426"/>
                  </a:ext>
                </a:extLst>
              </a:tr>
              <a:tr h="0">
                <a:tc>
                  <a:txBody>
                    <a:bodyPr/>
                    <a:lstStyle/>
                    <a:p>
                      <a:pPr marL="0" marR="0">
                        <a:lnSpc>
                          <a:spcPct val="115000"/>
                        </a:lnSpc>
                        <a:spcBef>
                          <a:spcPts val="0"/>
                        </a:spcBef>
                        <a:spcAft>
                          <a:spcPts val="0"/>
                        </a:spcAft>
                      </a:pPr>
                      <a:r>
                        <a:rPr lang="en-US" sz="1200" kern="0">
                          <a:effectLst/>
                        </a:rPr>
                        <a:t>Crankshaft Rotation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Mechanical</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dirty="0">
                          <a:effectLst/>
                        </a:rPr>
                        <a:t>Drives wheels or machinery</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37044027"/>
                  </a:ext>
                </a:extLst>
              </a:tr>
            </a:tbl>
          </a:graphicData>
        </a:graphic>
      </p:graphicFrame>
    </p:spTree>
    <p:custDataLst>
      <p:tags r:id="rId1"/>
    </p:custDataLst>
    <p:extLst>
      <p:ext uri="{BB962C8B-B14F-4D97-AF65-F5344CB8AC3E}">
        <p14:creationId xmlns:p14="http://schemas.microsoft.com/office/powerpoint/2010/main" val="3625887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57550" y="1009489"/>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777372" y="1500653"/>
            <a:ext cx="3794629" cy="369332"/>
          </a:xfrm>
          <a:prstGeom prst="rect">
            <a:avLst/>
          </a:prstGeom>
        </p:spPr>
        <p:txBody>
          <a:bodyPr wrap="none">
            <a:spAutoFit/>
          </a:bodyPr>
          <a:lstStyle/>
          <a:p>
            <a:pPr marL="285750" indent="-285750">
              <a:buFont typeface="Wingdings" panose="05000000000000000000" pitchFamily="2" charset="2"/>
              <a:buChar char="Ø"/>
            </a:pPr>
            <a:r>
              <a:rPr lang="en-US" b="1" dirty="0"/>
              <a:t>Key Components in Operation</a:t>
            </a:r>
            <a:endParaRPr lang="en-US" dirty="0"/>
          </a:p>
        </p:txBody>
      </p:sp>
      <p:sp>
        <p:nvSpPr>
          <p:cNvPr id="5" name="Rectangle 4"/>
          <p:cNvSpPr/>
          <p:nvPr/>
        </p:nvSpPr>
        <p:spPr>
          <a:xfrm>
            <a:off x="1317909" y="2339367"/>
            <a:ext cx="6096000" cy="2095445"/>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b="1" kern="0" dirty="0">
                <a:latin typeface="Times New Roman" panose="02020603050405020304" pitchFamily="18" charset="0"/>
                <a:ea typeface="Times New Roman" panose="02020603050405020304" pitchFamily="18" charset="0"/>
                <a:cs typeface="Arial" panose="020B0604020202020204" pitchFamily="34" charset="0"/>
              </a:rPr>
              <a:t>Piston:</a:t>
            </a:r>
            <a:r>
              <a:rPr lang="en-US" kern="0" dirty="0">
                <a:latin typeface="Times New Roman" panose="02020603050405020304" pitchFamily="18" charset="0"/>
                <a:ea typeface="Times New Roman" panose="02020603050405020304" pitchFamily="18" charset="0"/>
                <a:cs typeface="Arial" panose="020B0604020202020204" pitchFamily="34" charset="0"/>
              </a:rPr>
              <a:t> Converts gas pressure into motion</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b="1" kern="0" dirty="0">
                <a:latin typeface="Times New Roman" panose="02020603050405020304" pitchFamily="18" charset="0"/>
                <a:ea typeface="Times New Roman" panose="02020603050405020304" pitchFamily="18" charset="0"/>
                <a:cs typeface="Arial" panose="020B0604020202020204" pitchFamily="34" charset="0"/>
              </a:rPr>
              <a:t>Valves:</a:t>
            </a:r>
            <a:r>
              <a:rPr lang="en-US" kern="0" dirty="0">
                <a:latin typeface="Times New Roman" panose="02020603050405020304" pitchFamily="18" charset="0"/>
                <a:ea typeface="Times New Roman" panose="02020603050405020304" pitchFamily="18" charset="0"/>
                <a:cs typeface="Arial" panose="020B0604020202020204" pitchFamily="34" charset="0"/>
              </a:rPr>
              <a:t> Control air/fuel intake and exhaust</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b="1" kern="0" dirty="0">
                <a:latin typeface="Times New Roman" panose="02020603050405020304" pitchFamily="18" charset="0"/>
                <a:ea typeface="Times New Roman" panose="02020603050405020304" pitchFamily="18" charset="0"/>
                <a:cs typeface="Arial" panose="020B0604020202020204" pitchFamily="34" charset="0"/>
              </a:rPr>
              <a:t>Spark Plug / Injector:</a:t>
            </a:r>
            <a:r>
              <a:rPr lang="en-US" kern="0" dirty="0">
                <a:latin typeface="Times New Roman" panose="02020603050405020304" pitchFamily="18" charset="0"/>
                <a:ea typeface="Times New Roman" panose="02020603050405020304" pitchFamily="18" charset="0"/>
                <a:cs typeface="Arial" panose="020B0604020202020204" pitchFamily="34" charset="0"/>
              </a:rPr>
              <a:t> Initiates combustion</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b="1" kern="0" dirty="0">
                <a:latin typeface="Times New Roman" panose="02020603050405020304" pitchFamily="18" charset="0"/>
                <a:ea typeface="Times New Roman" panose="02020603050405020304" pitchFamily="18" charset="0"/>
                <a:cs typeface="Arial" panose="020B0604020202020204" pitchFamily="34" charset="0"/>
              </a:rPr>
              <a:t>Crankshaft:</a:t>
            </a:r>
            <a:r>
              <a:rPr lang="en-US" kern="0" dirty="0">
                <a:latin typeface="Times New Roman" panose="02020603050405020304" pitchFamily="18" charset="0"/>
                <a:ea typeface="Times New Roman" panose="02020603050405020304" pitchFamily="18" charset="0"/>
                <a:cs typeface="Arial" panose="020B0604020202020204" pitchFamily="34" charset="0"/>
              </a:rPr>
              <a:t> Converts reciprocating to rotary motion</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b="1" kern="0" dirty="0">
                <a:latin typeface="Times New Roman" panose="02020603050405020304" pitchFamily="18" charset="0"/>
                <a:ea typeface="Times New Roman" panose="02020603050405020304" pitchFamily="18" charset="0"/>
                <a:cs typeface="Arial" panose="020B0604020202020204" pitchFamily="34" charset="0"/>
              </a:rPr>
              <a:t>Flywheel:</a:t>
            </a:r>
            <a:r>
              <a:rPr lang="en-US" kern="0" dirty="0">
                <a:latin typeface="Times New Roman" panose="02020603050405020304" pitchFamily="18" charset="0"/>
                <a:ea typeface="Times New Roman" panose="02020603050405020304" pitchFamily="18" charset="0"/>
                <a:cs typeface="Arial" panose="020B0604020202020204" pitchFamily="34" charset="0"/>
              </a:rPr>
              <a:t> Smooths engine rotation</a:t>
            </a:r>
            <a:endParaRPr lang="en-US" kern="100" dirty="0">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2965909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5" y="989215"/>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1757652" y="1366013"/>
            <a:ext cx="3418565" cy="369332"/>
          </a:xfrm>
          <a:prstGeom prst="rect">
            <a:avLst/>
          </a:prstGeom>
        </p:spPr>
        <p:txBody>
          <a:bodyPr wrap="none">
            <a:spAutoFit/>
          </a:bodyPr>
          <a:lstStyle/>
          <a:p>
            <a:pPr marL="285750" indent="-285750">
              <a:buFont typeface="Wingdings" panose="05000000000000000000" pitchFamily="2" charset="2"/>
              <a:buChar char="Ø"/>
            </a:pPr>
            <a:r>
              <a:rPr lang="en-US" b="1" dirty="0"/>
              <a:t>Working Principle Diagram</a:t>
            </a:r>
            <a:endParaRPr lang="en-US" dirty="0"/>
          </a:p>
        </p:txBody>
      </p:sp>
      <p:pic>
        <p:nvPicPr>
          <p:cNvPr id="7" name="Picture 6"/>
          <p:cNvPicPr>
            <a:picLocks noChangeAspect="1"/>
          </p:cNvPicPr>
          <p:nvPr/>
        </p:nvPicPr>
        <p:blipFill>
          <a:blip r:embed="rId5"/>
          <a:stretch>
            <a:fillRect/>
          </a:stretch>
        </p:blipFill>
        <p:spPr>
          <a:xfrm>
            <a:off x="1757651" y="2264174"/>
            <a:ext cx="3238298" cy="2615397"/>
          </a:xfrm>
          <a:prstGeom prst="rect">
            <a:avLst/>
          </a:prstGeom>
        </p:spPr>
      </p:pic>
    </p:spTree>
    <p:custDataLst>
      <p:tags r:id="rId1"/>
    </p:custDataLst>
    <p:extLst>
      <p:ext uri="{BB962C8B-B14F-4D97-AF65-F5344CB8AC3E}">
        <p14:creationId xmlns:p14="http://schemas.microsoft.com/office/powerpoint/2010/main" val="34047069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480148" y="1097344"/>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900316" y="1575845"/>
            <a:ext cx="4833374" cy="369332"/>
          </a:xfrm>
          <a:prstGeom prst="rect">
            <a:avLst/>
          </a:prstGeom>
        </p:spPr>
        <p:txBody>
          <a:bodyPr wrap="none">
            <a:spAutoFit/>
          </a:bodyPr>
          <a:lstStyle/>
          <a:p>
            <a:pPr marL="285750" indent="-285750">
              <a:buFont typeface="Wingdings" panose="05000000000000000000" pitchFamily="2" charset="2"/>
              <a:buChar char="Ø"/>
            </a:pPr>
            <a:r>
              <a:rPr lang="en-US" b="1" dirty="0"/>
              <a:t>Comparison: Petrol vs Diesel Operation</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077932114"/>
              </p:ext>
            </p:extLst>
          </p:nvPr>
        </p:nvGraphicFramePr>
        <p:xfrm>
          <a:off x="1014985" y="2314509"/>
          <a:ext cx="8091690" cy="1679170"/>
        </p:xfrm>
        <a:graphic>
          <a:graphicData uri="http://schemas.openxmlformats.org/drawingml/2006/table">
            <a:tbl>
              <a:tblPr firstRow="1" firstCol="1" bandRow="1">
                <a:tableStyleId>{5C22544A-7EE6-4342-B048-85BDC9FD1C3A}</a:tableStyleId>
              </a:tblPr>
              <a:tblGrid>
                <a:gridCol w="2697230">
                  <a:extLst>
                    <a:ext uri="{9D8B030D-6E8A-4147-A177-3AD203B41FA5}">
                      <a16:colId xmlns:a16="http://schemas.microsoft.com/office/drawing/2014/main" val="3160772678"/>
                    </a:ext>
                  </a:extLst>
                </a:gridCol>
                <a:gridCol w="2697230">
                  <a:extLst>
                    <a:ext uri="{9D8B030D-6E8A-4147-A177-3AD203B41FA5}">
                      <a16:colId xmlns:a16="http://schemas.microsoft.com/office/drawing/2014/main" val="1586410772"/>
                    </a:ext>
                  </a:extLst>
                </a:gridCol>
                <a:gridCol w="2697230">
                  <a:extLst>
                    <a:ext uri="{9D8B030D-6E8A-4147-A177-3AD203B41FA5}">
                      <a16:colId xmlns:a16="http://schemas.microsoft.com/office/drawing/2014/main" val="3361091671"/>
                    </a:ext>
                  </a:extLst>
                </a:gridCol>
              </a:tblGrid>
              <a:tr h="335834">
                <a:tc>
                  <a:txBody>
                    <a:bodyPr/>
                    <a:lstStyle/>
                    <a:p>
                      <a:pPr marL="0" marR="0" algn="ctr">
                        <a:lnSpc>
                          <a:spcPct val="115000"/>
                        </a:lnSpc>
                        <a:spcBef>
                          <a:spcPts val="0"/>
                        </a:spcBef>
                        <a:spcAft>
                          <a:spcPts val="0"/>
                        </a:spcAft>
                      </a:pPr>
                      <a:r>
                        <a:rPr lang="en-US" sz="1200" kern="0">
                          <a:effectLst/>
                        </a:rPr>
                        <a:t>Feature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Petrol Engine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gn="ctr">
                        <a:lnSpc>
                          <a:spcPct val="115000"/>
                        </a:lnSpc>
                        <a:spcBef>
                          <a:spcPts val="0"/>
                        </a:spcBef>
                        <a:spcAft>
                          <a:spcPts val="0"/>
                        </a:spcAft>
                      </a:pPr>
                      <a:r>
                        <a:rPr lang="en-US" sz="1200" kern="0">
                          <a:effectLst/>
                        </a:rPr>
                        <a:t>Diesel Engine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278813406"/>
                  </a:ext>
                </a:extLst>
              </a:tr>
              <a:tr h="335834">
                <a:tc>
                  <a:txBody>
                    <a:bodyPr/>
                    <a:lstStyle/>
                    <a:p>
                      <a:pPr marL="0" marR="0">
                        <a:lnSpc>
                          <a:spcPct val="115000"/>
                        </a:lnSpc>
                        <a:spcBef>
                          <a:spcPts val="0"/>
                        </a:spcBef>
                        <a:spcAft>
                          <a:spcPts val="0"/>
                        </a:spcAft>
                      </a:pPr>
                      <a:r>
                        <a:rPr lang="en-US" sz="1200" kern="0">
                          <a:effectLst/>
                        </a:rPr>
                        <a:t>Air-Fuel Mixing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Before intake (carburetor/injector)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Inside cylinder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55008977"/>
                  </a:ext>
                </a:extLst>
              </a:tr>
              <a:tr h="335834">
                <a:tc>
                  <a:txBody>
                    <a:bodyPr/>
                    <a:lstStyle/>
                    <a:p>
                      <a:pPr marL="0" marR="0">
                        <a:lnSpc>
                          <a:spcPct val="115000"/>
                        </a:lnSpc>
                        <a:spcBef>
                          <a:spcPts val="0"/>
                        </a:spcBef>
                        <a:spcAft>
                          <a:spcPts val="0"/>
                        </a:spcAft>
                      </a:pPr>
                      <a:r>
                        <a:rPr lang="en-US" sz="1200" kern="0" dirty="0">
                          <a:effectLst/>
                        </a:rPr>
                        <a:t>Ignition</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Spark plug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Compression heat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88721336"/>
                  </a:ext>
                </a:extLst>
              </a:tr>
              <a:tr h="335834">
                <a:tc>
                  <a:txBody>
                    <a:bodyPr/>
                    <a:lstStyle/>
                    <a:p>
                      <a:pPr marL="0" marR="0">
                        <a:lnSpc>
                          <a:spcPct val="115000"/>
                        </a:lnSpc>
                        <a:spcBef>
                          <a:spcPts val="0"/>
                        </a:spcBef>
                        <a:spcAft>
                          <a:spcPts val="0"/>
                        </a:spcAft>
                      </a:pPr>
                      <a:r>
                        <a:rPr lang="en-US" sz="1200" kern="0">
                          <a:effectLst/>
                        </a:rPr>
                        <a:t>Compression Ratio</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6:1 – 10:1</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14:1 – 22:1</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955628724"/>
                  </a:ext>
                </a:extLst>
              </a:tr>
              <a:tr h="335834">
                <a:tc>
                  <a:txBody>
                    <a:bodyPr/>
                    <a:lstStyle/>
                    <a:p>
                      <a:pPr marL="0" marR="0">
                        <a:lnSpc>
                          <a:spcPct val="115000"/>
                        </a:lnSpc>
                        <a:spcBef>
                          <a:spcPts val="0"/>
                        </a:spcBef>
                        <a:spcAft>
                          <a:spcPts val="0"/>
                        </a:spcAft>
                      </a:pPr>
                      <a:r>
                        <a:rPr lang="en-US" sz="1200" kern="0">
                          <a:effectLst/>
                        </a:rPr>
                        <a:t>Efficiency</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a:effectLst/>
                        </a:rPr>
                        <a:t>Lower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200" kern="0" dirty="0">
                          <a:effectLst/>
                        </a:rPr>
                        <a:t>Higher</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465440977"/>
                  </a:ext>
                </a:extLst>
              </a:tr>
            </a:tbl>
          </a:graphicData>
        </a:graphic>
      </p:graphicFrame>
    </p:spTree>
    <p:custDataLst>
      <p:tags r:id="rId1"/>
    </p:custDataLst>
    <p:extLst>
      <p:ext uri="{BB962C8B-B14F-4D97-AF65-F5344CB8AC3E}">
        <p14:creationId xmlns:p14="http://schemas.microsoft.com/office/powerpoint/2010/main" val="40032579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57550" y="1025214"/>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893396" y="590060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893396" y="1594799"/>
            <a:ext cx="1588897" cy="369332"/>
          </a:xfrm>
          <a:prstGeom prst="rect">
            <a:avLst/>
          </a:prstGeom>
        </p:spPr>
        <p:txBody>
          <a:bodyPr wrap="none">
            <a:spAutoFit/>
          </a:bodyPr>
          <a:lstStyle/>
          <a:p>
            <a:pPr marL="285750" indent="-285750">
              <a:buFont typeface="Wingdings" panose="05000000000000000000" pitchFamily="2" charset="2"/>
              <a:buChar char="Ø"/>
            </a:pPr>
            <a:r>
              <a:rPr lang="en-US" b="1" dirty="0"/>
              <a:t> Summary</a:t>
            </a:r>
            <a:endParaRPr lang="en-US" dirty="0"/>
          </a:p>
        </p:txBody>
      </p:sp>
      <p:sp>
        <p:nvSpPr>
          <p:cNvPr id="5" name="Rectangle 4"/>
          <p:cNvSpPr/>
          <p:nvPr/>
        </p:nvSpPr>
        <p:spPr>
          <a:xfrm>
            <a:off x="1196307" y="2264175"/>
            <a:ext cx="6096000" cy="1807161"/>
          </a:xfrm>
          <a:prstGeom prst="rect">
            <a:avLst/>
          </a:prstGeom>
        </p:spPr>
        <p:txBody>
          <a:bodyPr>
            <a:spAutoFit/>
          </a:bodyPr>
          <a:lstStyle/>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Times New Roman" panose="02020603050405020304" pitchFamily="18" charset="0"/>
                <a:ea typeface="Times New Roman" panose="02020603050405020304" pitchFamily="18" charset="0"/>
                <a:cs typeface="Arial" panose="020B0604020202020204" pitchFamily="34" charset="0"/>
              </a:rPr>
              <a:t>Engine operation is based on </a:t>
            </a:r>
            <a:r>
              <a:rPr lang="en-US" b="1" kern="0" dirty="0">
                <a:latin typeface="Times New Roman" panose="02020603050405020304" pitchFamily="18" charset="0"/>
                <a:ea typeface="Times New Roman" panose="02020603050405020304" pitchFamily="18" charset="0"/>
                <a:cs typeface="Arial" panose="020B0604020202020204" pitchFamily="34" charset="0"/>
              </a:rPr>
              <a:t>conversion of fuel energy to mechanical work</a:t>
            </a:r>
            <a:r>
              <a:rPr lang="en-US" kern="0" dirty="0">
                <a:latin typeface="Times New Roman" panose="02020603050405020304" pitchFamily="18" charset="0"/>
                <a:ea typeface="Times New Roman" panose="02020603050405020304" pitchFamily="18" charset="0"/>
                <a:cs typeface="Arial" panose="020B0604020202020204" pitchFamily="34" charset="0"/>
              </a:rPr>
              <a:t>.</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kern="0" dirty="0">
                <a:latin typeface="Times New Roman" panose="02020603050405020304" pitchFamily="18" charset="0"/>
                <a:ea typeface="Times New Roman" panose="02020603050405020304" pitchFamily="18" charset="0"/>
                <a:cs typeface="Arial" panose="020B0604020202020204" pitchFamily="34" charset="0"/>
              </a:rPr>
              <a:t>The </a:t>
            </a:r>
            <a:r>
              <a:rPr lang="en-US" b="1" kern="0" dirty="0">
                <a:latin typeface="Times New Roman" panose="02020603050405020304" pitchFamily="18" charset="0"/>
                <a:ea typeface="Times New Roman" panose="02020603050405020304" pitchFamily="18" charset="0"/>
                <a:cs typeface="Arial" panose="020B0604020202020204" pitchFamily="34" charset="0"/>
              </a:rPr>
              <a:t>four-stroke cycle</a:t>
            </a:r>
            <a:r>
              <a:rPr lang="en-US" kern="0" dirty="0">
                <a:latin typeface="Times New Roman" panose="02020603050405020304" pitchFamily="18" charset="0"/>
                <a:ea typeface="Times New Roman" panose="02020603050405020304" pitchFamily="18" charset="0"/>
                <a:cs typeface="Arial" panose="020B0604020202020204" pitchFamily="34" charset="0"/>
              </a:rPr>
              <a:t> ensures efficient use of fuel.</a:t>
            </a:r>
            <a:endParaRPr lang="en-US" kern="100" dirty="0">
              <a:latin typeface="Calibri" panose="020F0502020204030204" pitchFamily="34" charset="0"/>
              <a:ea typeface="Calibri" panose="020F0502020204030204" pitchFamily="34" charset="0"/>
              <a:cs typeface="Arial" panose="020B0604020202020204" pitchFamily="34" charset="0"/>
            </a:endParaRPr>
          </a:p>
          <a:p>
            <a:r>
              <a:rPr lang="en-US" kern="0" dirty="0">
                <a:latin typeface="Times New Roman" panose="02020603050405020304" pitchFamily="18" charset="0"/>
                <a:ea typeface="Times New Roman" panose="02020603050405020304" pitchFamily="18" charset="0"/>
              </a:rPr>
              <a:t>Understanding this principle is key to designing and maintaining engines</a:t>
            </a:r>
            <a:endParaRPr lang="en-US" dirty="0"/>
          </a:p>
        </p:txBody>
      </p:sp>
    </p:spTree>
    <p:custDataLst>
      <p:tags r:id="rId1"/>
    </p:custDataLst>
    <p:extLst>
      <p:ext uri="{BB962C8B-B14F-4D97-AF65-F5344CB8AC3E}">
        <p14:creationId xmlns:p14="http://schemas.microsoft.com/office/powerpoint/2010/main" val="19079601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06359" y="1070624"/>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1021507" y="1451132"/>
            <a:ext cx="1505540" cy="369332"/>
          </a:xfrm>
          <a:prstGeom prst="rect">
            <a:avLst/>
          </a:prstGeom>
        </p:spPr>
        <p:txBody>
          <a:bodyPr wrap="none">
            <a:spAutoFit/>
          </a:bodyPr>
          <a:lstStyle/>
          <a:p>
            <a:r>
              <a:rPr lang="en-US" b="1" dirty="0"/>
              <a:t> Conclusion</a:t>
            </a:r>
            <a:endParaRPr lang="en-US" dirty="0"/>
          </a:p>
        </p:txBody>
      </p:sp>
      <p:sp>
        <p:nvSpPr>
          <p:cNvPr id="5" name="Rectangle 4"/>
          <p:cNvSpPr/>
          <p:nvPr/>
        </p:nvSpPr>
        <p:spPr>
          <a:xfrm>
            <a:off x="1006359" y="2104676"/>
            <a:ext cx="6096000" cy="1200329"/>
          </a:xfrm>
          <a:prstGeom prst="rect">
            <a:avLst/>
          </a:prstGeom>
        </p:spPr>
        <p:txBody>
          <a:bodyPr>
            <a:spAutoFit/>
          </a:bodyPr>
          <a:lstStyle/>
          <a:p>
            <a:pPr marL="285750" lvl="0" indent="-285750">
              <a:buFont typeface="Arial" panose="020B0604020202020204" pitchFamily="34" charset="0"/>
              <a:buChar char="•"/>
            </a:pPr>
            <a:r>
              <a:rPr lang="en-US" dirty="0"/>
              <a:t>The IC engine is a remarkable innovation that powers modern transportation.</a:t>
            </a:r>
          </a:p>
          <a:p>
            <a:pPr marL="285750" lvl="0" indent="-285750">
              <a:buFont typeface="Arial" panose="020B0604020202020204" pitchFamily="34" charset="0"/>
              <a:buChar char="•"/>
            </a:pPr>
            <a:r>
              <a:rPr lang="en-US" dirty="0"/>
              <a:t>Though efficient, focus is shifting toward </a:t>
            </a:r>
            <a:r>
              <a:rPr lang="en-US" b="1" dirty="0"/>
              <a:t>hybrid and electric technologies</a:t>
            </a:r>
            <a:r>
              <a:rPr lang="en-US" dirty="0"/>
              <a:t> for a cleaner future.</a:t>
            </a:r>
          </a:p>
        </p:txBody>
      </p:sp>
    </p:spTree>
    <p:custDataLst>
      <p:tags r:id="rId1"/>
    </p:custDataLst>
    <p:extLst>
      <p:ext uri="{BB962C8B-B14F-4D97-AF65-F5344CB8AC3E}">
        <p14:creationId xmlns:p14="http://schemas.microsoft.com/office/powerpoint/2010/main" val="26455283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06359" y="1070624"/>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6" name="Rectangle 5"/>
          <p:cNvSpPr/>
          <p:nvPr/>
        </p:nvSpPr>
        <p:spPr>
          <a:xfrm>
            <a:off x="1006359" y="1522404"/>
            <a:ext cx="2354171" cy="369332"/>
          </a:xfrm>
          <a:prstGeom prst="rect">
            <a:avLst/>
          </a:prstGeom>
        </p:spPr>
        <p:txBody>
          <a:bodyPr wrap="none">
            <a:spAutoFit/>
          </a:bodyPr>
          <a:lstStyle/>
          <a:p>
            <a:pPr marL="285750" indent="-285750">
              <a:buFont typeface="Wingdings" panose="05000000000000000000" pitchFamily="2" charset="2"/>
              <a:buChar char="Ø"/>
            </a:pPr>
            <a:r>
              <a:rPr lang="en-US" b="1" dirty="0"/>
              <a:t>Workshop Safety</a:t>
            </a:r>
          </a:p>
        </p:txBody>
      </p:sp>
      <p:sp>
        <p:nvSpPr>
          <p:cNvPr id="7" name="Rectangle 6"/>
          <p:cNvSpPr/>
          <p:nvPr/>
        </p:nvSpPr>
        <p:spPr>
          <a:xfrm>
            <a:off x="1193321" y="2042842"/>
            <a:ext cx="10297064" cy="923330"/>
          </a:xfrm>
          <a:prstGeom prst="rect">
            <a:avLst/>
          </a:prstGeom>
        </p:spPr>
        <p:txBody>
          <a:bodyPr wrap="square">
            <a:spAutoFit/>
          </a:bodyPr>
          <a:lstStyle/>
          <a:p>
            <a:r>
              <a:rPr lang="en-US" dirty="0"/>
              <a:t>Engine workshop safety involves using proper personal protective equipment (PPE), maintaining a clean and organized workspace, and following safe procedures to mitigate risks from fire, heavy equipment, hazardous materials, and moving parts.</a:t>
            </a:r>
          </a:p>
        </p:txBody>
      </p:sp>
      <p:sp>
        <p:nvSpPr>
          <p:cNvPr id="8" name="Rectangle 7"/>
          <p:cNvSpPr/>
          <p:nvPr/>
        </p:nvSpPr>
        <p:spPr>
          <a:xfrm>
            <a:off x="1193320" y="3117278"/>
            <a:ext cx="7484853" cy="923330"/>
          </a:xfrm>
          <a:prstGeom prst="rect">
            <a:avLst/>
          </a:prstGeom>
        </p:spPr>
        <p:txBody>
          <a:bodyPr wrap="square">
            <a:spAutoFit/>
          </a:bodyPr>
          <a:lstStyle/>
          <a:p>
            <a:r>
              <a:rPr lang="en-US" dirty="0"/>
              <a:t> It includes securing the vehicle, using correct lifting techniques for heavy components, handling flammable substances with care, and ensuring all tools and machinery are in good working </a:t>
            </a:r>
            <a:r>
              <a:rPr lang="en-US" dirty="0" smtClean="0"/>
              <a:t>order</a:t>
            </a:r>
            <a:endParaRPr lang="en-US" dirty="0"/>
          </a:p>
        </p:txBody>
      </p:sp>
      <p:pic>
        <p:nvPicPr>
          <p:cNvPr id="9" name="Picture 8"/>
          <p:cNvPicPr>
            <a:picLocks noChangeAspect="1"/>
          </p:cNvPicPr>
          <p:nvPr/>
        </p:nvPicPr>
        <p:blipFill>
          <a:blip r:embed="rId5"/>
          <a:stretch>
            <a:fillRect/>
          </a:stretch>
        </p:blipFill>
        <p:spPr>
          <a:xfrm>
            <a:off x="7844289" y="3799666"/>
            <a:ext cx="3788342" cy="2520969"/>
          </a:xfrm>
          <a:prstGeom prst="rect">
            <a:avLst/>
          </a:prstGeom>
        </p:spPr>
      </p:pic>
    </p:spTree>
    <p:custDataLst>
      <p:tags r:id="rId1"/>
    </p:custDataLst>
    <p:extLst>
      <p:ext uri="{BB962C8B-B14F-4D97-AF65-F5344CB8AC3E}">
        <p14:creationId xmlns:p14="http://schemas.microsoft.com/office/powerpoint/2010/main" val="25796332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06359" y="1070624"/>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7" y="60990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6" name="Rectangle 5"/>
          <p:cNvSpPr/>
          <p:nvPr/>
        </p:nvSpPr>
        <p:spPr>
          <a:xfrm>
            <a:off x="1006359" y="1522404"/>
            <a:ext cx="2354171" cy="369332"/>
          </a:xfrm>
          <a:prstGeom prst="rect">
            <a:avLst/>
          </a:prstGeom>
        </p:spPr>
        <p:txBody>
          <a:bodyPr wrap="none">
            <a:spAutoFit/>
          </a:bodyPr>
          <a:lstStyle/>
          <a:p>
            <a:pPr marL="285750" indent="-285750">
              <a:buFont typeface="Wingdings" panose="05000000000000000000" pitchFamily="2" charset="2"/>
              <a:buChar char="Ø"/>
            </a:pPr>
            <a:r>
              <a:rPr lang="en-US" b="1" dirty="0"/>
              <a:t>Workshop Safety</a:t>
            </a:r>
          </a:p>
        </p:txBody>
      </p:sp>
      <p:sp>
        <p:nvSpPr>
          <p:cNvPr id="4" name="Rectangle 3"/>
          <p:cNvSpPr/>
          <p:nvPr/>
        </p:nvSpPr>
        <p:spPr>
          <a:xfrm>
            <a:off x="1207236" y="1973145"/>
            <a:ext cx="4237057" cy="369332"/>
          </a:xfrm>
          <a:prstGeom prst="rect">
            <a:avLst/>
          </a:prstGeom>
        </p:spPr>
        <p:txBody>
          <a:bodyPr wrap="none">
            <a:spAutoFit/>
          </a:bodyPr>
          <a:lstStyle/>
          <a:p>
            <a:r>
              <a:rPr lang="en-US" b="1" dirty="0"/>
              <a:t>Personal protective equipment (PPE</a:t>
            </a:r>
            <a:r>
              <a:rPr lang="en-US" dirty="0"/>
              <a:t>)</a:t>
            </a:r>
          </a:p>
        </p:txBody>
      </p:sp>
      <p:sp>
        <p:nvSpPr>
          <p:cNvPr id="5" name="Rectangle 4"/>
          <p:cNvSpPr/>
          <p:nvPr/>
        </p:nvSpPr>
        <p:spPr>
          <a:xfrm>
            <a:off x="1211223" y="2299809"/>
            <a:ext cx="9028332" cy="3416320"/>
          </a:xfrm>
          <a:prstGeom prst="rect">
            <a:avLst/>
          </a:prstGeom>
        </p:spPr>
        <p:txBody>
          <a:bodyPr wrap="square">
            <a:spAutoFit/>
          </a:bodyPr>
          <a:lstStyle/>
          <a:p>
            <a:r>
              <a:rPr lang="en-US" dirty="0"/>
              <a:t>Wear goggles and gloves to protect your eyes from chemical splashes and flying debris, and your hands from sharp objects, chemicals, and heat</a:t>
            </a:r>
            <a:r>
              <a:rPr lang="en-US" dirty="0" smtClean="0"/>
              <a:t>.</a:t>
            </a:r>
          </a:p>
          <a:p>
            <a:endParaRPr lang="en-US" dirty="0"/>
          </a:p>
          <a:p>
            <a:r>
              <a:rPr lang="en-US" dirty="0"/>
              <a:t>Use hearing protection in noisy areas to prevent hearing damage</a:t>
            </a:r>
            <a:r>
              <a:rPr lang="en-US" dirty="0" smtClean="0"/>
              <a:t>.</a:t>
            </a:r>
          </a:p>
          <a:p>
            <a:endParaRPr lang="en-US" dirty="0"/>
          </a:p>
          <a:p>
            <a:r>
              <a:rPr lang="en-US" dirty="0"/>
              <a:t>Wear appropriate clothing, such as long-sleeved shirts and pants, and avoid loose clothing that could get caught in machinery</a:t>
            </a:r>
            <a:r>
              <a:rPr lang="en-US" dirty="0" smtClean="0"/>
              <a:t>.</a:t>
            </a:r>
          </a:p>
          <a:p>
            <a:endParaRPr lang="en-US" dirty="0"/>
          </a:p>
          <a:p>
            <a:r>
              <a:rPr lang="en-US" dirty="0"/>
              <a:t>Wear closed-toe shoes to protect your feet from dropped objects</a:t>
            </a:r>
            <a:r>
              <a:rPr lang="en-US" dirty="0" smtClean="0"/>
              <a:t>.</a:t>
            </a:r>
          </a:p>
          <a:p>
            <a:endParaRPr lang="en-US" dirty="0"/>
          </a:p>
          <a:p>
            <a:r>
              <a:rPr lang="en-US" dirty="0"/>
              <a:t>Remove jewelry like rings, necklaces, and watches to prevent them from getting caught in moving part</a:t>
            </a:r>
          </a:p>
        </p:txBody>
      </p:sp>
    </p:spTree>
    <p:custDataLst>
      <p:tags r:id="rId1"/>
    </p:custDataLst>
    <p:extLst>
      <p:ext uri="{BB962C8B-B14F-4D97-AF65-F5344CB8AC3E}">
        <p14:creationId xmlns:p14="http://schemas.microsoft.com/office/powerpoint/2010/main" val="631558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44107" y="939626"/>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7" y="60990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6" name="Rectangle 5"/>
          <p:cNvSpPr/>
          <p:nvPr/>
        </p:nvSpPr>
        <p:spPr>
          <a:xfrm>
            <a:off x="1006359" y="1522404"/>
            <a:ext cx="2354171" cy="369332"/>
          </a:xfrm>
          <a:prstGeom prst="rect">
            <a:avLst/>
          </a:prstGeom>
        </p:spPr>
        <p:txBody>
          <a:bodyPr wrap="none">
            <a:spAutoFit/>
          </a:bodyPr>
          <a:lstStyle/>
          <a:p>
            <a:pPr marL="285750" indent="-285750">
              <a:buFont typeface="Wingdings" panose="05000000000000000000" pitchFamily="2" charset="2"/>
              <a:buChar char="Ø"/>
            </a:pPr>
            <a:r>
              <a:rPr lang="en-US" b="1" dirty="0"/>
              <a:t>Workshop Safety</a:t>
            </a:r>
          </a:p>
        </p:txBody>
      </p:sp>
      <p:sp>
        <p:nvSpPr>
          <p:cNvPr id="7" name="Rectangle 6"/>
          <p:cNvSpPr/>
          <p:nvPr/>
        </p:nvSpPr>
        <p:spPr>
          <a:xfrm>
            <a:off x="1246173" y="1973145"/>
            <a:ext cx="3784049" cy="369332"/>
          </a:xfrm>
          <a:prstGeom prst="rect">
            <a:avLst/>
          </a:prstGeom>
        </p:spPr>
        <p:txBody>
          <a:bodyPr wrap="none">
            <a:spAutoFit/>
          </a:bodyPr>
          <a:lstStyle/>
          <a:p>
            <a:r>
              <a:rPr lang="en-US" b="1" dirty="0"/>
              <a:t>Workplace and equipment safety</a:t>
            </a:r>
          </a:p>
        </p:txBody>
      </p:sp>
      <p:sp>
        <p:nvSpPr>
          <p:cNvPr id="8" name="Rectangle 7"/>
          <p:cNvSpPr/>
          <p:nvPr/>
        </p:nvSpPr>
        <p:spPr>
          <a:xfrm>
            <a:off x="710241" y="2317616"/>
            <a:ext cx="9486182" cy="3416320"/>
          </a:xfrm>
          <a:prstGeom prst="rect">
            <a:avLst/>
          </a:prstGeom>
        </p:spPr>
        <p:txBody>
          <a:bodyPr wrap="square">
            <a:spAutoFit/>
          </a:bodyPr>
          <a:lstStyle/>
          <a:p>
            <a:r>
              <a:rPr lang="en-US" dirty="0"/>
              <a:t>Keep the area clean and organized to prevent slips, trips, and falls</a:t>
            </a:r>
            <a:r>
              <a:rPr lang="en-US" dirty="0" smtClean="0"/>
              <a:t>.</a:t>
            </a:r>
          </a:p>
          <a:p>
            <a:endParaRPr lang="en-US" dirty="0"/>
          </a:p>
          <a:p>
            <a:r>
              <a:rPr lang="en-US" dirty="0"/>
              <a:t>Ensure the area is well-lit and ventilated, especially when running an engine, to prevent a buildup of toxic fumes</a:t>
            </a:r>
            <a:r>
              <a:rPr lang="en-US" dirty="0" smtClean="0"/>
              <a:t>.</a:t>
            </a:r>
          </a:p>
          <a:p>
            <a:endParaRPr lang="en-US" dirty="0"/>
          </a:p>
          <a:p>
            <a:r>
              <a:rPr lang="en-US" dirty="0"/>
              <a:t>Use the right tool for the job and ensure all tools and equipment are in good working order.</a:t>
            </a:r>
          </a:p>
          <a:p>
            <a:r>
              <a:rPr lang="en-US" dirty="0"/>
              <a:t>Secure the vehicle properly on jack stands or ramps before working underneath it to prevent it from falling</a:t>
            </a:r>
            <a:r>
              <a:rPr lang="en-US" dirty="0" smtClean="0"/>
              <a:t>.</a:t>
            </a:r>
          </a:p>
          <a:p>
            <a:endParaRPr lang="en-US" dirty="0"/>
          </a:p>
          <a:p>
            <a:r>
              <a:rPr lang="en-US" dirty="0"/>
              <a:t>Securely store flammable liquids and keep them away from heat sources or sparks.</a:t>
            </a:r>
          </a:p>
          <a:p>
            <a:r>
              <a:rPr lang="en-US" dirty="0"/>
              <a:t>Disconnect the battery before working on electrical systems.</a:t>
            </a:r>
          </a:p>
          <a:p>
            <a:r>
              <a:rPr lang="en-US" dirty="0"/>
              <a:t>Keep hands away from moving parts, such as fans and belts, and tie back long </a:t>
            </a:r>
            <a:r>
              <a:rPr lang="en-US" dirty="0" err="1"/>
              <a:t>hai</a:t>
            </a:r>
            <a:endParaRPr lang="en-US" dirty="0"/>
          </a:p>
        </p:txBody>
      </p:sp>
    </p:spTree>
    <p:custDataLst>
      <p:tags r:id="rId1"/>
    </p:custDataLst>
    <p:extLst>
      <p:ext uri="{BB962C8B-B14F-4D97-AF65-F5344CB8AC3E}">
        <p14:creationId xmlns:p14="http://schemas.microsoft.com/office/powerpoint/2010/main" val="16008875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44107" y="939626"/>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7" y="60990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6" name="Rectangle 5"/>
          <p:cNvSpPr/>
          <p:nvPr/>
        </p:nvSpPr>
        <p:spPr>
          <a:xfrm>
            <a:off x="1006359" y="1522404"/>
            <a:ext cx="2354171" cy="369332"/>
          </a:xfrm>
          <a:prstGeom prst="rect">
            <a:avLst/>
          </a:prstGeom>
        </p:spPr>
        <p:txBody>
          <a:bodyPr wrap="none">
            <a:spAutoFit/>
          </a:bodyPr>
          <a:lstStyle/>
          <a:p>
            <a:pPr marL="285750" indent="-285750">
              <a:buFont typeface="Wingdings" panose="05000000000000000000" pitchFamily="2" charset="2"/>
              <a:buChar char="Ø"/>
            </a:pPr>
            <a:r>
              <a:rPr lang="en-US" b="1" dirty="0"/>
              <a:t>Workshop Safety</a:t>
            </a:r>
          </a:p>
        </p:txBody>
      </p:sp>
      <p:sp>
        <p:nvSpPr>
          <p:cNvPr id="4" name="Rectangle 3"/>
          <p:cNvSpPr/>
          <p:nvPr/>
        </p:nvSpPr>
        <p:spPr>
          <a:xfrm>
            <a:off x="1006359" y="1919477"/>
            <a:ext cx="3172663" cy="369332"/>
          </a:xfrm>
          <a:prstGeom prst="rect">
            <a:avLst/>
          </a:prstGeom>
        </p:spPr>
        <p:txBody>
          <a:bodyPr wrap="none">
            <a:spAutoFit/>
          </a:bodyPr>
          <a:lstStyle/>
          <a:p>
            <a:r>
              <a:rPr lang="en-US" b="1" dirty="0"/>
              <a:t>Procedures and awareness</a:t>
            </a:r>
          </a:p>
        </p:txBody>
      </p:sp>
      <p:sp>
        <p:nvSpPr>
          <p:cNvPr id="5" name="Rectangle 4"/>
          <p:cNvSpPr/>
          <p:nvPr/>
        </p:nvSpPr>
        <p:spPr>
          <a:xfrm>
            <a:off x="1006359" y="2314509"/>
            <a:ext cx="7490660" cy="3693319"/>
          </a:xfrm>
          <a:prstGeom prst="rect">
            <a:avLst/>
          </a:prstGeom>
        </p:spPr>
        <p:txBody>
          <a:bodyPr wrap="square">
            <a:spAutoFit/>
          </a:bodyPr>
          <a:lstStyle/>
          <a:p>
            <a:r>
              <a:rPr lang="en-US" dirty="0"/>
              <a:t>Never work on a hot engine to avoid burns.</a:t>
            </a:r>
          </a:p>
          <a:p>
            <a:r>
              <a:rPr lang="en-US" dirty="0"/>
              <a:t>Be aware of potential hazards, such as hot surfaces, flammable materials, and electrical shock.</a:t>
            </a:r>
          </a:p>
          <a:p>
            <a:r>
              <a:rPr lang="en-US" dirty="0"/>
              <a:t>Handle hazardous materials carefully and clean up any spills immediately.</a:t>
            </a:r>
          </a:p>
          <a:p>
            <a:r>
              <a:rPr lang="en-US" dirty="0"/>
              <a:t>Use proper lifting techniques and equipment for heavy parts to prevent back injuries.</a:t>
            </a:r>
          </a:p>
          <a:p>
            <a:r>
              <a:rPr lang="en-US" dirty="0"/>
              <a:t>Follow manufacturer instructions and be mindful of specific safety warnings for different engines.</a:t>
            </a:r>
          </a:p>
          <a:p>
            <a:r>
              <a:rPr lang="en-US" dirty="0"/>
              <a:t>Do not smoke or drink alcohol in the workshop.</a:t>
            </a:r>
          </a:p>
          <a:p>
            <a:r>
              <a:rPr lang="en-US" dirty="0"/>
              <a:t>Report all accidents and unsafe conditions to a supervisor.</a:t>
            </a:r>
          </a:p>
          <a:p>
            <a:r>
              <a:rPr lang="en-US" dirty="0"/>
              <a:t>Know the location of fire extinguishers and understand fire drill procedure</a:t>
            </a:r>
          </a:p>
        </p:txBody>
      </p:sp>
      <p:pic>
        <p:nvPicPr>
          <p:cNvPr id="9" name="Picture 8"/>
          <p:cNvPicPr>
            <a:picLocks noChangeAspect="1"/>
          </p:cNvPicPr>
          <p:nvPr/>
        </p:nvPicPr>
        <p:blipFill>
          <a:blip r:embed="rId5"/>
          <a:stretch>
            <a:fillRect/>
          </a:stretch>
        </p:blipFill>
        <p:spPr>
          <a:xfrm>
            <a:off x="8428007" y="3216125"/>
            <a:ext cx="3048000" cy="2554947"/>
          </a:xfrm>
          <a:prstGeom prst="rect">
            <a:avLst/>
          </a:prstGeom>
        </p:spPr>
      </p:pic>
    </p:spTree>
    <p:custDataLst>
      <p:tags r:id="rId1"/>
    </p:custDataLst>
    <p:extLst>
      <p:ext uri="{BB962C8B-B14F-4D97-AF65-F5344CB8AC3E}">
        <p14:creationId xmlns:p14="http://schemas.microsoft.com/office/powerpoint/2010/main" val="17389816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44107" y="939626"/>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44107" y="609901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6" name="Rectangle 5"/>
          <p:cNvSpPr/>
          <p:nvPr/>
        </p:nvSpPr>
        <p:spPr>
          <a:xfrm>
            <a:off x="1006359" y="1522404"/>
            <a:ext cx="2354171" cy="369332"/>
          </a:xfrm>
          <a:prstGeom prst="rect">
            <a:avLst/>
          </a:prstGeom>
        </p:spPr>
        <p:txBody>
          <a:bodyPr wrap="none">
            <a:spAutoFit/>
          </a:bodyPr>
          <a:lstStyle/>
          <a:p>
            <a:pPr marL="285750" indent="-285750">
              <a:buFont typeface="Wingdings" panose="05000000000000000000" pitchFamily="2" charset="2"/>
              <a:buChar char="Ø"/>
            </a:pPr>
            <a:r>
              <a:rPr lang="en-US" b="1" dirty="0"/>
              <a:t>Workshop Safety</a:t>
            </a:r>
          </a:p>
        </p:txBody>
      </p:sp>
      <p:pic>
        <p:nvPicPr>
          <p:cNvPr id="8" name="Picture 7"/>
          <p:cNvPicPr>
            <a:picLocks noChangeAspect="1"/>
          </p:cNvPicPr>
          <p:nvPr/>
        </p:nvPicPr>
        <p:blipFill>
          <a:blip r:embed="rId5"/>
          <a:stretch>
            <a:fillRect/>
          </a:stretch>
        </p:blipFill>
        <p:spPr>
          <a:xfrm>
            <a:off x="1006359" y="2264175"/>
            <a:ext cx="3776743" cy="3041070"/>
          </a:xfrm>
          <a:prstGeom prst="rect">
            <a:avLst/>
          </a:prstGeom>
        </p:spPr>
      </p:pic>
      <p:pic>
        <p:nvPicPr>
          <p:cNvPr id="10" name="Picture 9"/>
          <p:cNvPicPr>
            <a:picLocks noChangeAspect="1"/>
          </p:cNvPicPr>
          <p:nvPr/>
        </p:nvPicPr>
        <p:blipFill>
          <a:blip r:embed="rId6"/>
          <a:stretch>
            <a:fillRect/>
          </a:stretch>
        </p:blipFill>
        <p:spPr>
          <a:xfrm>
            <a:off x="5347854" y="2103764"/>
            <a:ext cx="5328339" cy="3995247"/>
          </a:xfrm>
          <a:prstGeom prst="rect">
            <a:avLst/>
          </a:prstGeom>
        </p:spPr>
      </p:pic>
    </p:spTree>
    <p:custDataLst>
      <p:tags r:id="rId1"/>
    </p:custDataLst>
    <p:extLst>
      <p:ext uri="{BB962C8B-B14F-4D97-AF65-F5344CB8AC3E}">
        <p14:creationId xmlns:p14="http://schemas.microsoft.com/office/powerpoint/2010/main" val="75642859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6" y="1574807"/>
            <a:ext cx="10018643" cy="370371"/>
          </a:xfrm>
          <a:prstGeom prst="rect">
            <a:avLst/>
          </a:prstGeom>
          <a:noFill/>
        </p:spPr>
        <p:txBody>
          <a:bodyPr wrap="square" rtlCol="0">
            <a:noAutofit/>
          </a:bodyPr>
          <a:lstStyle/>
          <a:p>
            <a:r>
              <a:rPr lang="en-US" b="1" dirty="0"/>
              <a:t>Chapter 1 Understand Automotive Engine Components and Workshop Safety</a:t>
            </a:r>
            <a:endParaRPr lang="en-US" b="1" dirty="0"/>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r>
              <a:rPr lang="en-US" sz="28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687845" y="1945177"/>
            <a:ext cx="7738787" cy="318998"/>
          </a:xfrm>
          <a:prstGeom prst="rect">
            <a:avLst/>
          </a:prstGeom>
        </p:spPr>
        <p:txBody>
          <a:bodyPr wrap="square">
            <a:spAutoFit/>
          </a:bodyPr>
          <a:lstStyle/>
          <a:p>
            <a:pPr>
              <a:lnSpc>
                <a:spcPct val="115000"/>
              </a:lnSpc>
              <a:spcAft>
                <a:spcPts val="800"/>
              </a:spcAft>
            </a:pPr>
            <a:endParaRPr lang="en-US" sz="1400" kern="100" dirty="0">
              <a:effectLst/>
              <a:latin typeface="+mj-lt"/>
              <a:ea typeface="Calibri" panose="020F0502020204030204" pitchFamily="34" charset="0"/>
              <a:cs typeface="Times New Roman" panose="02020603050405020304" pitchFamily="18" charset="0"/>
            </a:endParaRPr>
          </a:p>
        </p:txBody>
      </p:sp>
      <p:sp>
        <p:nvSpPr>
          <p:cNvPr id="4" name="Rectangle 3"/>
          <p:cNvSpPr/>
          <p:nvPr/>
        </p:nvSpPr>
        <p:spPr>
          <a:xfrm>
            <a:off x="1774277" y="1945176"/>
            <a:ext cx="1428596" cy="369332"/>
          </a:xfrm>
          <a:prstGeom prst="rect">
            <a:avLst/>
          </a:prstGeom>
        </p:spPr>
        <p:txBody>
          <a:bodyPr wrap="none">
            <a:spAutoFit/>
          </a:bodyPr>
          <a:lstStyle/>
          <a:p>
            <a:r>
              <a:rPr lang="en-US" b="1" dirty="0"/>
              <a:t>References</a:t>
            </a:r>
            <a:endParaRPr lang="en-US" dirty="0"/>
          </a:p>
        </p:txBody>
      </p:sp>
      <p:sp>
        <p:nvSpPr>
          <p:cNvPr id="5" name="Rectangle 4"/>
          <p:cNvSpPr/>
          <p:nvPr/>
        </p:nvSpPr>
        <p:spPr>
          <a:xfrm>
            <a:off x="1774277" y="2530770"/>
            <a:ext cx="6096000" cy="923330"/>
          </a:xfrm>
          <a:prstGeom prst="rect">
            <a:avLst/>
          </a:prstGeom>
        </p:spPr>
        <p:txBody>
          <a:bodyPr>
            <a:spAutoFit/>
          </a:bodyPr>
          <a:lstStyle/>
          <a:p>
            <a:pPr marL="285750" lvl="0" indent="-285750">
              <a:buFont typeface="Arial" panose="020B0604020202020204" pitchFamily="34" charset="0"/>
              <a:buChar char="•"/>
            </a:pPr>
            <a:r>
              <a:rPr lang="en-US" i="1" dirty="0"/>
              <a:t>Internal Combustion Engines</a:t>
            </a:r>
            <a:r>
              <a:rPr lang="en-US" dirty="0"/>
              <a:t> by V. </a:t>
            </a:r>
            <a:r>
              <a:rPr lang="en-US" dirty="0" err="1"/>
              <a:t>Ganesan</a:t>
            </a:r>
            <a:endParaRPr lang="en-US" dirty="0"/>
          </a:p>
          <a:p>
            <a:pPr marL="285750" lvl="0" indent="-285750">
              <a:buFont typeface="Wingdings" panose="05000000000000000000" pitchFamily="2" charset="2"/>
              <a:buChar char="§"/>
            </a:pPr>
            <a:r>
              <a:rPr lang="en-US" i="1" dirty="0"/>
              <a:t>Automobile Engineering</a:t>
            </a:r>
            <a:r>
              <a:rPr lang="en-US" dirty="0"/>
              <a:t> by </a:t>
            </a:r>
            <a:r>
              <a:rPr lang="en-US" dirty="0" err="1"/>
              <a:t>Kirpal</a:t>
            </a:r>
            <a:r>
              <a:rPr lang="en-US" dirty="0"/>
              <a:t> Singh</a:t>
            </a:r>
          </a:p>
          <a:p>
            <a:pPr marL="285750" lvl="0" indent="-285750">
              <a:buFont typeface="Arial" panose="020B0604020202020204" pitchFamily="34" charset="0"/>
              <a:buChar char="•"/>
            </a:pPr>
            <a:r>
              <a:rPr lang="en-US" dirty="0"/>
              <a:t>Technical manuals: Honda, Cummins, Toyota</a:t>
            </a:r>
          </a:p>
        </p:txBody>
      </p:sp>
    </p:spTree>
    <p:custDataLst>
      <p:tags r:id="rId1"/>
    </p:custDataLst>
    <p:extLst>
      <p:ext uri="{BB962C8B-B14F-4D97-AF65-F5344CB8AC3E}">
        <p14:creationId xmlns:p14="http://schemas.microsoft.com/office/powerpoint/2010/main" val="41996301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917</TotalTime>
  <Words>1482</Words>
  <Application>Microsoft Office PowerPoint</Application>
  <PresentationFormat>Widescreen</PresentationFormat>
  <Paragraphs>234</Paragraphs>
  <Slides>25</Slides>
  <Notes>0</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Microsoft YaHei</vt:lpstr>
      <vt:lpstr>SimSun</vt:lpstr>
      <vt:lpstr>Arial</vt:lpstr>
      <vt:lpstr>Calibri</vt:lpstr>
      <vt:lpstr>Courier New</vt:lpstr>
      <vt:lpstr>Symbol</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219</cp:revision>
  <dcterms:created xsi:type="dcterms:W3CDTF">2019-06-19T02:08:00Z</dcterms:created>
  <dcterms:modified xsi:type="dcterms:W3CDTF">2025-11-26T13:39:13Z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