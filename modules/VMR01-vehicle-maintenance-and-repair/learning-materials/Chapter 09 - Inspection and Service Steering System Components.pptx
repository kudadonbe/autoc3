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heme/theme2.xml" ContentType="application/vnd.openxmlformats-officedocument.them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8" r:id="rId1"/>
  </p:sldMasterIdLst>
  <p:notesMasterIdLst>
    <p:notesMasterId r:id="rId32"/>
  </p:notesMasterIdLst>
  <p:sldIdLst>
    <p:sldId id="348" r:id="rId2"/>
    <p:sldId id="349" r:id="rId3"/>
    <p:sldId id="350" r:id="rId4"/>
    <p:sldId id="351" r:id="rId5"/>
    <p:sldId id="356" r:id="rId6"/>
    <p:sldId id="357" r:id="rId7"/>
    <p:sldId id="358" r:id="rId8"/>
    <p:sldId id="359" r:id="rId9"/>
    <p:sldId id="360" r:id="rId10"/>
    <p:sldId id="361" r:id="rId11"/>
    <p:sldId id="362" r:id="rId12"/>
    <p:sldId id="363" r:id="rId13"/>
    <p:sldId id="364" r:id="rId14"/>
    <p:sldId id="365" r:id="rId15"/>
    <p:sldId id="366" r:id="rId16"/>
    <p:sldId id="367" r:id="rId17"/>
    <p:sldId id="368" r:id="rId18"/>
    <p:sldId id="352" r:id="rId19"/>
    <p:sldId id="369" r:id="rId20"/>
    <p:sldId id="353" r:id="rId21"/>
    <p:sldId id="370" r:id="rId22"/>
    <p:sldId id="371" r:id="rId23"/>
    <p:sldId id="354" r:id="rId24"/>
    <p:sldId id="372" r:id="rId25"/>
    <p:sldId id="373" r:id="rId26"/>
    <p:sldId id="355" r:id="rId27"/>
    <p:sldId id="374" r:id="rId28"/>
    <p:sldId id="375" r:id="rId29"/>
    <p:sldId id="376" r:id="rId30"/>
    <p:sldId id="295" r:id="rId31"/>
  </p:sldIdLst>
  <p:sldSz cx="12192000" cy="6858000"/>
  <p:notesSz cx="6858000" cy="9144000"/>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111" d="100"/>
          <a:sy n="111" d="100"/>
        </p:scale>
        <p:origin x="660" y="114"/>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2025/11/25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image" Target="../media/image2.pn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image" Target="../media/image1.png"/><Relationship Id="rId2" Type="http://schemas.openxmlformats.org/officeDocument/2006/relationships/tags" Target="../tags/tag9.xml"/><Relationship Id="rId16" Type="http://schemas.openxmlformats.org/officeDocument/2006/relationships/image" Target="../media/image5.png"/><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slideMaster" Target="../slideMasters/slideMaster1.xml"/><Relationship Id="rId5" Type="http://schemas.openxmlformats.org/officeDocument/2006/relationships/tags" Target="../tags/tag12.xml"/><Relationship Id="rId15" Type="http://schemas.openxmlformats.org/officeDocument/2006/relationships/image" Target="../media/image4.png"/><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5.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image" Target="../media/image7.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6.png"/><Relationship Id="rId5" Type="http://schemas.openxmlformats.org/officeDocument/2006/relationships/tags" Target="../tags/tag22.xml"/><Relationship Id="rId10" Type="http://schemas.openxmlformats.org/officeDocument/2006/relationships/image" Target="../media/image1.png"/><Relationship Id="rId4" Type="http://schemas.openxmlformats.org/officeDocument/2006/relationships/tags" Target="../tags/tag21.xml"/><Relationship Id="rId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9.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8.png"/><Relationship Id="rId5" Type="http://schemas.openxmlformats.org/officeDocument/2006/relationships/tags" Target="../tags/tag30.xml"/><Relationship Id="rId10" Type="http://schemas.openxmlformats.org/officeDocument/2006/relationships/image" Target="../media/image1.png"/><Relationship Id="rId4" Type="http://schemas.openxmlformats.org/officeDocument/2006/relationships/tags" Target="../tags/tag29.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image" Target="../media/image7.png"/><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image" Target="../media/image6.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image" Target="../media/image1.png"/><Relationship Id="rId5" Type="http://schemas.openxmlformats.org/officeDocument/2006/relationships/tags" Target="../tags/tag38.xml"/><Relationship Id="rId10" Type="http://schemas.openxmlformats.org/officeDocument/2006/relationships/slideMaster" Target="../slideMasters/slideMaster1.xml"/><Relationship Id="rId4" Type="http://schemas.openxmlformats.org/officeDocument/2006/relationships/tags" Target="../tags/tag37.xml"/><Relationship Id="rId9" Type="http://schemas.openxmlformats.org/officeDocument/2006/relationships/tags" Target="../tags/tag42.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image" Target="../media/image1.pn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image" Target="../media/image7.png"/><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6.xml"/><Relationship Id="rId7" Type="http://schemas.openxmlformats.org/officeDocument/2006/relationships/tags" Target="../tags/tag60.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image" Target="../media/image11.png"/><Relationship Id="rId5" Type="http://schemas.openxmlformats.org/officeDocument/2006/relationships/tags" Target="../tags/tag58.xml"/><Relationship Id="rId10" Type="http://schemas.openxmlformats.org/officeDocument/2006/relationships/image" Target="../media/image10.png"/><Relationship Id="rId4" Type="http://schemas.openxmlformats.org/officeDocument/2006/relationships/tags" Target="../tags/tag57.xml"/><Relationship Id="rId9"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image" Target="../media/image7.png"/><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image" Target="../media/image6.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image" Target="../media/image1.png"/><Relationship Id="rId5" Type="http://schemas.openxmlformats.org/officeDocument/2006/relationships/tags" Target="../tags/tag68.xml"/><Relationship Id="rId10" Type="http://schemas.openxmlformats.org/officeDocument/2006/relationships/slideMaster" Target="../slideMasters/slideMaster1.xml"/><Relationship Id="rId4" Type="http://schemas.openxmlformats.org/officeDocument/2006/relationships/tags" Target="../tags/tag67.xml"/><Relationship Id="rId9" Type="http://schemas.openxmlformats.org/officeDocument/2006/relationships/tags" Target="../tags/tag72.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0.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image" Target="../media/image7.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image" Target="../media/image6.png"/><Relationship Id="rId5" Type="http://schemas.openxmlformats.org/officeDocument/2006/relationships/tags" Target="../tags/tag77.xml"/><Relationship Id="rId10" Type="http://schemas.openxmlformats.org/officeDocument/2006/relationships/image" Target="../media/image1.png"/><Relationship Id="rId4" Type="http://schemas.openxmlformats.org/officeDocument/2006/relationships/tags" Target="../tags/tag76.xml"/><Relationship Id="rId9"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3.xml"/><Relationship Id="rId7" Type="http://schemas.openxmlformats.org/officeDocument/2006/relationships/tags" Target="../tags/tag87.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image" Target="../media/image7.png"/><Relationship Id="rId5" Type="http://schemas.openxmlformats.org/officeDocument/2006/relationships/tags" Target="../tags/tag85.xml"/><Relationship Id="rId10" Type="http://schemas.openxmlformats.org/officeDocument/2006/relationships/image" Target="../media/image6.png"/><Relationship Id="rId4" Type="http://schemas.openxmlformats.org/officeDocument/2006/relationships/tags" Target="../tags/tag84.xml"/><Relationship Id="rId9"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image" Target="../media/image13.png"/><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image" Target="../media/image12.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image" Target="../media/image1.png"/><Relationship Id="rId5" Type="http://schemas.openxmlformats.org/officeDocument/2006/relationships/tags" Target="../tags/tag92.xml"/><Relationship Id="rId10" Type="http://schemas.openxmlformats.org/officeDocument/2006/relationships/slideMaster" Target="../slideMasters/slideMaster1.xml"/><Relationship Id="rId4" Type="http://schemas.openxmlformats.org/officeDocument/2006/relationships/tags" Target="../tags/tag91.xml"/><Relationship Id="rId9" Type="http://schemas.openxmlformats.org/officeDocument/2006/relationships/tags" Target="../tags/tag96.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image" Target="../media/image7.png"/><Relationship Id="rId5" Type="http://schemas.openxmlformats.org/officeDocument/2006/relationships/tags" Target="../tags/tag101.xml"/><Relationship Id="rId10" Type="http://schemas.openxmlformats.org/officeDocument/2006/relationships/image" Target="../media/image6.png"/><Relationship Id="rId4" Type="http://schemas.openxmlformats.org/officeDocument/2006/relationships/tags" Target="../tags/tag100.xml"/><Relationship Id="rId9"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image" Target="../media/image7.png"/><Relationship Id="rId5" Type="http://schemas.openxmlformats.org/officeDocument/2006/relationships/tags" Target="../tags/tag108.xml"/><Relationship Id="rId10" Type="http://schemas.openxmlformats.org/officeDocument/2006/relationships/image" Target="../media/image1.png"/><Relationship Id="rId4" Type="http://schemas.openxmlformats.org/officeDocument/2006/relationships/tags" Target="../tags/tag107.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19.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10" Type="http://schemas.openxmlformats.org/officeDocument/2006/relationships/image" Target="../media/image1.png"/><Relationship Id="rId4" Type="http://schemas.openxmlformats.org/officeDocument/2006/relationships/tags" Target="../tags/tag115.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27.xml"/><Relationship Id="rId3" Type="http://schemas.openxmlformats.org/officeDocument/2006/relationships/tags" Target="../tags/tag122.xml"/><Relationship Id="rId7" Type="http://schemas.openxmlformats.org/officeDocument/2006/relationships/tags" Target="../tags/tag126.xml"/><Relationship Id="rId12" Type="http://schemas.openxmlformats.org/officeDocument/2006/relationships/image" Target="../media/image7.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image" Target="../media/image1.png"/><Relationship Id="rId5" Type="http://schemas.openxmlformats.org/officeDocument/2006/relationships/tags" Target="../tags/tag124.xml"/><Relationship Id="rId10" Type="http://schemas.openxmlformats.org/officeDocument/2006/relationships/slideMaster" Target="../slideMasters/slideMaster1.xml"/><Relationship Id="rId4" Type="http://schemas.openxmlformats.org/officeDocument/2006/relationships/tags" Target="../tags/tag123.xml"/><Relationship Id="rId9" Type="http://schemas.openxmlformats.org/officeDocument/2006/relationships/tags" Target="../tags/tag128.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36.xml"/><Relationship Id="rId3" Type="http://schemas.openxmlformats.org/officeDocument/2006/relationships/tags" Target="../tags/tag131.xml"/><Relationship Id="rId7" Type="http://schemas.openxmlformats.org/officeDocument/2006/relationships/tags" Target="../tags/tag135.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5" Type="http://schemas.openxmlformats.org/officeDocument/2006/relationships/tags" Target="../tags/tag133.xml"/><Relationship Id="rId10" Type="http://schemas.openxmlformats.org/officeDocument/2006/relationships/image" Target="../media/image1.png"/><Relationship Id="rId4" Type="http://schemas.openxmlformats.org/officeDocument/2006/relationships/tags" Target="../tags/tag132.xml"/><Relationship Id="rId9"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image" Target="../media/image1.png"/><Relationship Id="rId3" Type="http://schemas.openxmlformats.org/officeDocument/2006/relationships/tags" Target="../tags/tag139.xml"/><Relationship Id="rId7" Type="http://schemas.openxmlformats.org/officeDocument/2006/relationships/tags" Target="../tags/tag143.xml"/><Relationship Id="rId12" Type="http://schemas.openxmlformats.org/officeDocument/2006/relationships/slideMaster" Target="../slideMasters/slideMaster1.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0" Type="http://schemas.openxmlformats.org/officeDocument/2006/relationships/tags" Target="../tags/tag146.xml"/><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55.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11" Type="http://schemas.openxmlformats.org/officeDocument/2006/relationships/image" Target="../media/image7.png"/><Relationship Id="rId5" Type="http://schemas.openxmlformats.org/officeDocument/2006/relationships/tags" Target="../tags/tag152.xml"/><Relationship Id="rId10" Type="http://schemas.openxmlformats.org/officeDocument/2006/relationships/image" Target="../media/image1.png"/><Relationship Id="rId4" Type="http://schemas.openxmlformats.org/officeDocument/2006/relationships/tags" Target="../tags/tag151.xml"/><Relationship Id="rId9"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3" descr="JY01_画板 1 副本"/>
          <p:cNvPicPr>
            <a:picLocks noChangeAspect="1"/>
          </p:cNvPicPr>
          <p:nvPr>
            <p:custDataLst>
              <p:tags r:id="rId1"/>
            </p:custDataLst>
          </p:nvPr>
        </p:nvPicPr>
        <p:blipFill>
          <a:blip r:embed="rId12"/>
          <a:stretch>
            <a:fillRect/>
          </a:stretch>
        </p:blipFill>
        <p:spPr>
          <a:xfrm>
            <a:off x="0" y="-5556"/>
            <a:ext cx="12192000" cy="6856730"/>
          </a:xfrm>
          <a:prstGeom prst="rect">
            <a:avLst/>
          </a:prstGeom>
        </p:spPr>
      </p:pic>
      <p:pic>
        <p:nvPicPr>
          <p:cNvPr id="21" name="图片 20" descr="JY01-13"/>
          <p:cNvPicPr>
            <a:picLocks noChangeAspect="1"/>
          </p:cNvPicPr>
          <p:nvPr>
            <p:custDataLst>
              <p:tags r:id="rId2"/>
            </p:custDataLst>
          </p:nvPr>
        </p:nvPicPr>
        <p:blipFill>
          <a:blip r:embed="rId13"/>
          <a:stretch>
            <a:fillRect/>
          </a:stretch>
        </p:blipFill>
        <p:spPr>
          <a:xfrm>
            <a:off x="0" y="0"/>
            <a:ext cx="2032000" cy="1009020"/>
          </a:xfrm>
          <a:prstGeom prst="rect">
            <a:avLst/>
          </a:prstGeom>
        </p:spPr>
      </p:pic>
      <p:pic>
        <p:nvPicPr>
          <p:cNvPr id="23" name="图片 22" descr="JY01-15"/>
          <p:cNvPicPr>
            <a:picLocks noChangeAspect="1"/>
          </p:cNvPicPr>
          <p:nvPr>
            <p:custDataLst>
              <p:tags r:id="rId3"/>
            </p:custDataLst>
          </p:nvPr>
        </p:nvPicPr>
        <p:blipFill>
          <a:blip r:embed="rId14"/>
          <a:stretch>
            <a:fillRect/>
          </a:stretch>
        </p:blipFill>
        <p:spPr>
          <a:xfrm>
            <a:off x="0" y="5611495"/>
            <a:ext cx="1257294" cy="1252220"/>
          </a:xfrm>
          <a:prstGeom prst="rect">
            <a:avLst/>
          </a:prstGeom>
        </p:spPr>
      </p:pic>
      <p:pic>
        <p:nvPicPr>
          <p:cNvPr id="22" name="图片 21" descr="JY01-16"/>
          <p:cNvPicPr>
            <a:picLocks noChangeAspect="1"/>
          </p:cNvPicPr>
          <p:nvPr>
            <p:custDataLst>
              <p:tags r:id="rId4"/>
            </p:custDataLst>
          </p:nvPr>
        </p:nvPicPr>
        <p:blipFill>
          <a:blip r:embed="rId15"/>
          <a:stretch>
            <a:fillRect/>
          </a:stretch>
        </p:blipFill>
        <p:spPr>
          <a:xfrm>
            <a:off x="4790440" y="2028565"/>
            <a:ext cx="7401560" cy="4829423"/>
          </a:xfrm>
          <a:prstGeom prst="rect">
            <a:avLst/>
          </a:prstGeom>
        </p:spPr>
      </p:pic>
      <p:pic>
        <p:nvPicPr>
          <p:cNvPr id="19" name="图片 18" descr="JY01-14"/>
          <p:cNvPicPr>
            <a:picLocks noChangeAspect="1"/>
          </p:cNvPicPr>
          <p:nvPr>
            <p:custDataLst>
              <p:tags r:id="rId5"/>
            </p:custDataLst>
          </p:nvPr>
        </p:nvPicPr>
        <p:blipFill>
          <a:blip r:embed="rId16"/>
          <a:stretch>
            <a:fillRect/>
          </a:stretch>
        </p:blipFill>
        <p:spPr>
          <a:xfrm>
            <a:off x="10250805" y="-24765"/>
            <a:ext cx="1941195" cy="3671639"/>
          </a:xfrm>
          <a:prstGeom prst="rect">
            <a:avLst/>
          </a:prstGeom>
        </p:spPr>
      </p:pic>
      <p:sp>
        <p:nvSpPr>
          <p:cNvPr id="16" name="日期占位符 15"/>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17" name="页脚占位符 16"/>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18" name="灯片编号占位符 17"/>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6" name="标题 5"/>
          <p:cNvSpPr txBox="1">
            <a:spLocks noGrp="1"/>
          </p:cNvSpPr>
          <p:nvPr>
            <p:ph type="title" idx="1" hasCustomPrompt="1"/>
            <p:custDataLst>
              <p:tags r:id="rId9"/>
            </p:custDataLst>
          </p:nvPr>
        </p:nvSpPr>
        <p:spPr>
          <a:xfrm>
            <a:off x="1137137" y="1044416"/>
            <a:ext cx="8927126" cy="3333296"/>
          </a:xfrm>
          <a:noFill/>
        </p:spPr>
        <p:txBody>
          <a:bodyPr wrap="square" rtlCol="0" anchor="ctr" anchorCtr="0">
            <a:normAutofit/>
          </a:bodyPr>
          <a:lstStyle>
            <a:lvl1pPr marL="0" marR="0" algn="l" defTabSz="914400" rtl="0" eaLnBrk="1" fontAlgn="auto" latinLnBrk="0" hangingPunct="1">
              <a:lnSpc>
                <a:spcPct val="110000"/>
              </a:lnSpc>
              <a:buClrTx/>
              <a:buSzTx/>
              <a:buFontTx/>
              <a:buNone/>
              <a:defRPr kumimoji="0" lang="zh-CN" altLang="en-US" sz="6000" b="1" i="0" u="none" strike="noStrike" kern="1200" cap="none" spc="0" normalizeH="0" baseline="0" noProof="1" dirty="0">
                <a:solidFill>
                  <a:schemeClr val="accent1"/>
                </a:solidFill>
                <a:latin typeface="微软雅黑" panose="020B0503020204020204" charset="-122"/>
                <a:ea typeface="微软雅黑" panose="020B0503020204020204" charset="-122"/>
                <a:cs typeface="+mn-cs"/>
              </a:defRPr>
            </a:lvl1pPr>
          </a:lstStyle>
          <a:p>
            <a:pPr lvl="0"/>
            <a:r>
              <a:rPr>
                <a:sym typeface="+mn-ea"/>
              </a:rPr>
              <a:t>单击此处添加</a:t>
            </a:r>
          </a:p>
          <a:p>
            <a:pPr lvl="0"/>
            <a:r>
              <a:rPr>
                <a:sym typeface="+mn-ea"/>
              </a:rPr>
              <a:t>标题</a:t>
            </a:r>
          </a:p>
        </p:txBody>
      </p:sp>
      <p:sp>
        <p:nvSpPr>
          <p:cNvPr id="7" name="副标题 6"/>
          <p:cNvSpPr txBox="1">
            <a:spLocks noGrp="1"/>
          </p:cNvSpPr>
          <p:nvPr>
            <p:ph type="subTitle" idx="2" hasCustomPrompt="1"/>
            <p:custDataLst>
              <p:tags r:id="rId10"/>
            </p:custDataLst>
          </p:nvPr>
        </p:nvSpPr>
        <p:spPr>
          <a:xfrm>
            <a:off x="1137137" y="4429560"/>
            <a:ext cx="7629063" cy="1183999"/>
          </a:xfrm>
          <a:noFill/>
        </p:spPr>
        <p:txBody>
          <a:bodyPr wrap="square" rtlCol="0">
            <a:normAutofit/>
          </a:bodyPr>
          <a:lstStyle>
            <a:lvl1pPr marL="0" marR="0" algn="l" defTabSz="914400" rtl="0" eaLnBrk="1" fontAlgn="auto" latinLnBrk="0" hangingPunct="1">
              <a:lnSpc>
                <a:spcPct val="120000"/>
              </a:lnSpc>
              <a:buClrTx/>
              <a:buSzTx/>
              <a:buFontTx/>
              <a:buNone/>
              <a:defRPr kumimoji="0" lang="zh-CN" altLang="en-US" sz="2800" b="1" i="0" u="none" strike="noStrike" kern="1200" cap="all" spc="400" normalizeH="0" baseline="0" noProof="1" dirty="0">
                <a:solidFill>
                  <a:schemeClr val="accent1"/>
                </a:solidFill>
                <a:uFillTx/>
                <a:latin typeface="微软雅黑" panose="020B0503020204020204" charset="-122"/>
                <a:ea typeface="微软雅黑" panose="020B0503020204020204" charset="-122"/>
                <a:cs typeface="+mn-cs"/>
              </a:defRPr>
            </a:lvl1pPr>
          </a:lstStyle>
          <a:p>
            <a:pPr lvl="0"/>
            <a:r>
              <a:rPr>
                <a:sym typeface="+mn-ea"/>
              </a:rPr>
              <a:t>单击此处添加副标题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5"/>
            </p:custDataLst>
          </p:nvPr>
        </p:nvSpPr>
        <p:spPr>
          <a:xfrm>
            <a:off x="669882" y="952508"/>
            <a:ext cx="10852237"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0"/>
          <a:stretch>
            <a:fillRect/>
          </a:stretch>
        </p:blipFill>
        <p:spPr>
          <a:xfrm>
            <a:off x="794" y="-318"/>
            <a:ext cx="12192000" cy="6858318"/>
          </a:xfrm>
          <a:prstGeom prst="rect">
            <a:avLst/>
          </a:prstGeom>
        </p:spPr>
      </p:pic>
      <p:pic>
        <p:nvPicPr>
          <p:cNvPr id="3" name="图片 2" descr="JY01_章节页装饰2"/>
          <p:cNvPicPr>
            <a:picLocks noChangeAspect="1"/>
          </p:cNvPicPr>
          <p:nvPr>
            <p:custDataLst>
              <p:tags r:id="rId2"/>
            </p:custDataLst>
          </p:nvPr>
        </p:nvPicPr>
        <p:blipFill>
          <a:blip r:embed="rId11"/>
          <a:stretch>
            <a:fillRect/>
          </a:stretch>
        </p:blipFill>
        <p:spPr>
          <a:xfrm>
            <a:off x="7479507" y="5458144"/>
            <a:ext cx="4703272" cy="1398270"/>
          </a:xfrm>
          <a:prstGeom prst="rect">
            <a:avLst/>
          </a:prstGeom>
        </p:spPr>
      </p:pic>
      <p:pic>
        <p:nvPicPr>
          <p:cNvPr id="2" name="图片 1" descr="JY01_章节页装饰1"/>
          <p:cNvPicPr>
            <a:picLocks noChangeAspect="1"/>
          </p:cNvPicPr>
          <p:nvPr>
            <p:custDataLst>
              <p:tags r:id="rId3"/>
            </p:custDataLst>
          </p:nvPr>
        </p:nvPicPr>
        <p:blipFill>
          <a:blip r:embed="rId12"/>
          <a:stretch>
            <a:fillRect/>
          </a:stretch>
        </p:blipFill>
        <p:spPr>
          <a:xfrm>
            <a:off x="635" y="0"/>
            <a:ext cx="1954530" cy="6858000"/>
          </a:xfrm>
          <a:prstGeom prst="rect">
            <a:avLst/>
          </a:prstGeom>
        </p:spPr>
      </p:pic>
      <p:sp>
        <p:nvSpPr>
          <p:cNvPr id="4" name="日期占位符 3"/>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5" name="页脚占位符 4"/>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ctrTitle" idx="1" hasCustomPrompt="1"/>
            <p:custDataLst>
              <p:tags r:id="rId7"/>
            </p:custDataLst>
          </p:nvPr>
        </p:nvSpPr>
        <p:spPr>
          <a:xfrm>
            <a:off x="2112431" y="2833012"/>
            <a:ext cx="7967137" cy="1200150"/>
          </a:xfrm>
          <a:noFill/>
        </p:spPr>
        <p:txBody>
          <a:bodyPr vert="horz" wrap="square" lIns="101600" tIns="38100" rIns="76200" bIns="38100" rtlCol="0" anchor="ctr" anchorCtr="0">
            <a:normAutofit/>
          </a:bodyPr>
          <a:lstStyle>
            <a:lvl1pPr marL="0" marR="0" algn="ctr" defTabSz="914400" rtl="0" eaLnBrk="1" fontAlgn="auto" latinLnBrk="0" hangingPunct="1">
              <a:lnSpc>
                <a:spcPct val="100000"/>
              </a:lnSpc>
              <a:spcBef>
                <a:spcPct val="0"/>
              </a:spcBef>
              <a:buClrTx/>
              <a:buSzTx/>
              <a:buFontTx/>
              <a:buNone/>
              <a:defRPr kumimoji="0" lang="zh-CN" altLang="en-US" sz="6600" b="0" i="0" u="none" strike="noStrike" kern="1200" cap="none" spc="100" normalizeH="0" baseline="0" noProof="1" dirty="0">
                <a:solidFill>
                  <a:schemeClr val="dk1">
                    <a:lumMod val="85000"/>
                    <a:lumOff val="15000"/>
                  </a:schemeClr>
                </a:solidFill>
                <a:uFillTx/>
                <a:latin typeface="Arial" panose="020B0604020202020204" pitchFamily="34" charset="0"/>
                <a:ea typeface="汉仪文黑-85简" panose="00020600040101010101" charset="-122"/>
                <a:cs typeface="+mn-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a:off x="2680121" y="4295417"/>
            <a:ext cx="6831757" cy="827115"/>
          </a:xfrm>
        </p:spPr>
        <p:txBody>
          <a:bodyPr vert="horz" wrap="square" lIns="101600" tIns="0" rIns="82550" bIns="0" rtlCol="0">
            <a:normAutofit/>
          </a:bodyPr>
          <a:lstStyle>
            <a:lvl1pPr marL="0" marR="0" indent="-228600" algn="ctr" defTabSz="914400" rtl="0" eaLnBrk="1" fontAlgn="auto" latinLnBrk="0" hangingPunct="1">
              <a:lnSpc>
                <a:spcPct val="150000"/>
              </a:lnSpc>
              <a:spcBef>
                <a:spcPts val="0"/>
              </a:spcBef>
              <a:spcAft>
                <a:spcPts val="1000"/>
              </a:spcAft>
              <a:buClrTx/>
              <a:buSzTx/>
              <a:buFontTx/>
              <a:buNone/>
              <a:defRPr kumimoji="0" lang="zh-CN" altLang="en-US" sz="1400" b="0" i="0" u="none" strike="noStrike" kern="1200" cap="none" spc="0" normalizeH="0" baseline="0" noProof="1" dirty="0">
                <a:solidFill>
                  <a:schemeClr val="dk1">
                    <a:lumMod val="50000"/>
                    <a:lumOff val="50000"/>
                  </a:schemeClr>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5"/>
            </p:custDataLst>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6"/>
            </p:custDataLst>
          </p:nvPr>
        </p:nvSpPr>
        <p:spPr>
          <a:xfrm>
            <a:off x="6238877" y="952508"/>
            <a:ext cx="5283242" cy="5388907"/>
          </a:xfrm>
        </p:spPr>
        <p:txBody>
          <a:bodyPr lIns="90170" tIns="46990" rIns="90170" bIns="46990">
            <a:normAutofit/>
          </a:bodyPr>
          <a:lstStyle>
            <a:lvl1pPr eaLnBrk="1" fontAlgn="auto" latinLnBrk="0" hangingPunct="1">
              <a:defRPr sz="1600">
                <a:solidFill>
                  <a:schemeClr val="tx1"/>
                </a:solidFill>
                <a:latin typeface="Arial" panose="020B0604020202020204" pitchFamily="34" charset="0"/>
                <a:ea typeface="汉仪文黑-55简" panose="00020600040101010101" charset="-122"/>
              </a:defRPr>
            </a:lvl1pPr>
            <a:lvl2pPr eaLnBrk="1" fontAlgn="auto" latinLnBrk="0" hangingPunct="1">
              <a:defRPr sz="1600">
                <a:solidFill>
                  <a:schemeClr val="tx1"/>
                </a:solidFill>
                <a:latin typeface="Arial" panose="020B0604020202020204" pitchFamily="34" charset="0"/>
                <a:ea typeface="汉仪文黑-55简" panose="00020600040101010101" charset="-122"/>
              </a:defRPr>
            </a:lvl2pPr>
            <a:lvl3pPr eaLnBrk="1" fontAlgn="auto" latinLnBrk="0" hangingPunct="1">
              <a:defRPr sz="1600">
                <a:solidFill>
                  <a:schemeClr val="tx1"/>
                </a:solidFill>
                <a:latin typeface="Arial" panose="020B0604020202020204" pitchFamily="34" charset="0"/>
                <a:ea typeface="汉仪文黑-55简" panose="00020600040101010101" charset="-122"/>
              </a:defRPr>
            </a:lvl3pPr>
            <a:lvl4pPr eaLnBrk="1" fontAlgn="auto" latinLnBrk="0" hangingPunct="1">
              <a:defRPr sz="1600">
                <a:solidFill>
                  <a:schemeClr val="tx1"/>
                </a:solidFill>
                <a:latin typeface="Arial" panose="020B0604020202020204" pitchFamily="34" charset="0"/>
                <a:ea typeface="汉仪文黑-55简" panose="00020600040101010101" charset="-122"/>
              </a:defRPr>
            </a:lvl4pPr>
            <a:lvl5pPr eaLnBrk="1" fontAlgn="auto" latinLnBrk="0" hangingPunct="1">
              <a:defRPr sz="160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2" name="图片 11" descr="JY01_画板 1 副本"/>
          <p:cNvPicPr>
            <a:picLocks noChangeAspect="1"/>
          </p:cNvPicPr>
          <p:nvPr>
            <p:custDataLst>
              <p:tags r:id="rId1"/>
            </p:custDataLst>
          </p:nvPr>
        </p:nvPicPr>
        <p:blipFill>
          <a:blip r:embed="rId13"/>
          <a:stretch>
            <a:fillRect/>
          </a:stretch>
        </p:blipFill>
        <p:spPr>
          <a:xfrm>
            <a:off x="0" y="317"/>
            <a:ext cx="12193257" cy="6858635"/>
          </a:xfrm>
          <a:prstGeom prst="rect">
            <a:avLst/>
          </a:prstGeom>
        </p:spPr>
      </p:pic>
      <p:pic>
        <p:nvPicPr>
          <p:cNvPr id="11" name="图片 10" descr="JY01_正文页装饰2"/>
          <p:cNvPicPr>
            <a:picLocks noChangeAspect="1"/>
          </p:cNvPicPr>
          <p:nvPr>
            <p:custDataLst>
              <p:tags r:id="rId2"/>
            </p:custDataLst>
          </p:nvPr>
        </p:nvPicPr>
        <p:blipFill>
          <a:blip r:embed="rId14"/>
          <a:stretch>
            <a:fillRect/>
          </a:stretch>
        </p:blipFill>
        <p:spPr>
          <a:xfrm>
            <a:off x="822289" y="524194"/>
            <a:ext cx="11370346" cy="5810247"/>
          </a:xfrm>
          <a:prstGeom prst="rect">
            <a:avLst/>
          </a:prstGeom>
        </p:spPr>
      </p:pic>
      <p:pic>
        <p:nvPicPr>
          <p:cNvPr id="10" name="图片 9" descr="JY01_正文页装饰1"/>
          <p:cNvPicPr>
            <a:picLocks noChangeAspect="1"/>
          </p:cNvPicPr>
          <p:nvPr>
            <p:custDataLst>
              <p:tags r:id="rId3"/>
            </p:custDataLst>
          </p:nvPr>
        </p:nvPicPr>
        <p:blipFill>
          <a:blip r:embed="rId15"/>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5"/>
            </p:custDataLst>
          </p:nvPr>
        </p:nvSpPr>
        <p:spPr>
          <a:xfrm>
            <a:off x="669930" y="952508"/>
            <a:ext cx="5283242" cy="381003"/>
          </a:xfrm>
        </p:spPr>
        <p:txBody>
          <a:bodyPr lIns="90170" tIns="46990" rIns="90170" bIns="46990" anchor="ctr"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汉仪文黑-55简" panose="00020600040101010101"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6"/>
            </p:custDataLst>
          </p:nvPr>
        </p:nvSpPr>
        <p:spPr>
          <a:xfrm>
            <a:off x="669925" y="1406525"/>
            <a:ext cx="5283200"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7"/>
            </p:custDataLst>
          </p:nvPr>
        </p:nvSpPr>
        <p:spPr>
          <a:xfrm>
            <a:off x="6235750" y="952508"/>
            <a:ext cx="5283242" cy="381003"/>
          </a:xfrm>
        </p:spPr>
        <p:txBody>
          <a:bodyPr vert="horz" lIns="90170" tIns="46990" rIns="90170" bIns="46990" rtlCol="0" anchor="ctr"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8"/>
            </p:custDataLst>
          </p:nvPr>
        </p:nvSpPr>
        <p:spPr>
          <a:xfrm>
            <a:off x="6235750" y="1406525"/>
            <a:ext cx="5283242"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8" name="页脚占位符 7"/>
          <p:cNvSpPr>
            <a:spLocks noGrp="1"/>
          </p:cNvSpPr>
          <p:nvPr>
            <p:ph type="ftr" sz="quarter" idx="11"/>
            <p:custDataLst>
              <p:tags r:id="rId10"/>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9" name="灯片编号占位符 8"/>
          <p:cNvSpPr>
            <a:spLocks noGrp="1"/>
          </p:cNvSpPr>
          <p:nvPr>
            <p:ph type="sldNum" sz="quarter" idx="12"/>
            <p:custDataLst>
              <p:tags r:id="rId1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8"/>
            <a:ext cx="12192000" cy="6858635"/>
          </a:xfrm>
          <a:prstGeom prst="rect">
            <a:avLst/>
          </a:prstGeom>
        </p:spPr>
      </p:pic>
      <p:pic>
        <p:nvPicPr>
          <p:cNvPr id="7" name="图片 6" descr="JY01_目录页装饰1"/>
          <p:cNvPicPr>
            <a:picLocks noChangeAspect="1"/>
          </p:cNvPicPr>
          <p:nvPr>
            <p:custDataLst>
              <p:tags r:id="rId2"/>
            </p:custDataLst>
          </p:nvPr>
        </p:nvPicPr>
        <p:blipFill>
          <a:blip r:embed="rId10"/>
          <a:stretch>
            <a:fillRect/>
          </a:stretch>
        </p:blipFill>
        <p:spPr>
          <a:xfrm>
            <a:off x="0" y="5388868"/>
            <a:ext cx="2132952" cy="1469132"/>
          </a:xfrm>
          <a:prstGeom prst="rect">
            <a:avLst/>
          </a:prstGeom>
        </p:spPr>
      </p:pic>
      <p:pic>
        <p:nvPicPr>
          <p:cNvPr id="6" name="图片 5" descr="JY01_目录页装饰2"/>
          <p:cNvPicPr>
            <a:picLocks noChangeAspect="1"/>
          </p:cNvPicPr>
          <p:nvPr>
            <p:custDataLst>
              <p:tags r:id="rId3"/>
            </p:custDataLst>
          </p:nvPr>
        </p:nvPicPr>
        <p:blipFill>
          <a:blip r:embed="rId11"/>
          <a:stretch>
            <a:fillRect/>
          </a:stretch>
        </p:blipFill>
        <p:spPr>
          <a:xfrm>
            <a:off x="7445375" y="0"/>
            <a:ext cx="4746625" cy="4411480"/>
          </a:xfrm>
          <a:prstGeom prst="rect">
            <a:avLst/>
          </a:prstGeom>
        </p:spPr>
      </p:pic>
      <p:sp>
        <p:nvSpPr>
          <p:cNvPr id="2" name="标题 1"/>
          <p:cNvSpPr>
            <a:spLocks noGrp="1"/>
          </p:cNvSpPr>
          <p:nvPr>
            <p:ph type="title"/>
            <p:custDataLst>
              <p:tags r:id="rId4"/>
            </p:custDataLst>
          </p:nvPr>
        </p:nvSpPr>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3" name="页脚占位符 2"/>
          <p:cNvSpPr>
            <a:spLocks noGrp="1"/>
          </p:cNvSpPr>
          <p:nvPr>
            <p:ph type="ftr" sz="quarter" idx="11"/>
            <p:custDataLst>
              <p:tags r:id="rId2"/>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4" name="灯片编号占位符 3"/>
          <p:cNvSpPr>
            <a:spLocks noGrp="1"/>
          </p:cNvSpPr>
          <p:nvPr>
            <p:ph type="sldNum" sz="quarter" idx="12"/>
            <p:custDataLst>
              <p:tags r:id="rId3"/>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930"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5"/>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6"/>
            </p:custDataLst>
          </p:nvPr>
        </p:nvSpPr>
        <p:spPr>
          <a:xfrm>
            <a:off x="6238925"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9EFD9D74-47D9-4702-A33C-335B63B48DBF}" type="datetimeFigureOut">
              <a:rPr lang="zh-CN" altLang="en-US" smtClean="0"/>
              <a:t>2025/11/25</a:t>
            </a:fld>
            <a:endParaRPr lang="zh-CN" altLang="en-US" dirty="0"/>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竖排标题 1"/>
          <p:cNvSpPr>
            <a:spLocks noGrp="1"/>
          </p:cNvSpPr>
          <p:nvPr>
            <p:ph type="title" orient="vert"/>
            <p:custDataLst>
              <p:tags r:id="rId4"/>
            </p:custDataLst>
          </p:nvPr>
        </p:nvSpPr>
        <p:spPr>
          <a:xfrm>
            <a:off x="10571135" y="952508"/>
            <a:ext cx="950984" cy="5388907"/>
          </a:xfrm>
        </p:spPr>
        <p:txBody>
          <a:bodyPr vert="eaVert" lIns="90170" tIns="46990" rIns="90170" bIns="4699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5"/>
            </p:custDataLst>
          </p:nvPr>
        </p:nvSpPr>
        <p:spPr>
          <a:xfrm>
            <a:off x="669925" y="952500"/>
            <a:ext cx="9828101" cy="5388907"/>
          </a:xfrm>
        </p:spPr>
        <p:txBody>
          <a:bodyPr vert="eaVert"/>
          <a:lstStyle>
            <a:lvl1pPr indent="0" eaLnBrk="1" fontAlgn="auto" latinLnBrk="0" hangingPunct="1">
              <a:defRPr>
                <a:solidFill>
                  <a:schemeClr val="tx1"/>
                </a:solidFill>
                <a:latin typeface="Arial" panose="020B0604020202020204" pitchFamily="34" charset="0"/>
                <a:ea typeface="汉仪文黑-55简" panose="00020600040101010101" charset="-122"/>
              </a:defRPr>
            </a:lvl1pPr>
            <a:lvl2pPr indent="0" eaLnBrk="1" fontAlgn="auto" latinLnBrk="0" hangingPunct="1">
              <a:defRPr>
                <a:solidFill>
                  <a:schemeClr val="tx1"/>
                </a:solidFill>
                <a:latin typeface="Arial" panose="020B0604020202020204" pitchFamily="34" charset="0"/>
                <a:ea typeface="汉仪文黑-55简" panose="00020600040101010101" charset="-122"/>
              </a:defRPr>
            </a:lvl2pPr>
            <a:lvl3pPr indent="0" eaLnBrk="1" fontAlgn="auto" latinLnBrk="0" hangingPunct="1">
              <a:defRPr>
                <a:solidFill>
                  <a:schemeClr val="tx1"/>
                </a:solidFill>
                <a:latin typeface="Arial" panose="020B0604020202020204" pitchFamily="34" charset="0"/>
                <a:ea typeface="汉仪文黑-55简" panose="00020600040101010101" charset="-122"/>
              </a:defRPr>
            </a:lvl3pPr>
            <a:lvl4pPr indent="0" eaLnBrk="1" fontAlgn="auto" latinLnBrk="0" hangingPunct="1">
              <a:defRPr>
                <a:solidFill>
                  <a:schemeClr val="tx1"/>
                </a:solidFill>
                <a:latin typeface="Arial" panose="020B0604020202020204" pitchFamily="34" charset="0"/>
                <a:ea typeface="汉仪文黑-55简" panose="00020600040101010101" charset="-122"/>
              </a:defRPr>
            </a:lvl4pPr>
            <a:lvl5pPr indent="0" eaLnBrk="1" fontAlgn="auto" latinLnBrk="0" hangingPunct="1">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2" name="图片 1"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7"/>
            </p:custDataLst>
          </p:nvPr>
        </p:nvSpPr>
        <p:spPr>
          <a:xfrm>
            <a:off x="669930" y="952508"/>
            <a:ext cx="10852237" cy="5388907"/>
          </a:xfrm>
        </p:spPr>
        <p:txBody>
          <a:bodyPr/>
          <a:lstStyle>
            <a:lvl1pPr>
              <a:defRPr>
                <a:solidFill>
                  <a:schemeClr val="tx1"/>
                </a:solidFill>
                <a:latin typeface="Arial" panose="020B0604020202020204" pitchFamily="34" charset="0"/>
                <a:ea typeface="汉仪文黑-55简" panose="00020600040101010101" charset="-122"/>
              </a:defRPr>
            </a:lvl1pPr>
            <a:lvl2pPr>
              <a:defRPr>
                <a:solidFill>
                  <a:schemeClr val="tx1"/>
                </a:solidFill>
                <a:latin typeface="Arial" panose="020B0604020202020204" pitchFamily="34" charset="0"/>
                <a:ea typeface="汉仪文黑-55简" panose="00020600040101010101" charset="-122"/>
              </a:defRPr>
            </a:lvl2pPr>
            <a:lvl3pPr>
              <a:defRPr>
                <a:solidFill>
                  <a:schemeClr val="tx1"/>
                </a:solidFill>
                <a:latin typeface="Arial" panose="020B0604020202020204" pitchFamily="34" charset="0"/>
                <a:ea typeface="汉仪文黑-55简" panose="00020600040101010101" charset="-122"/>
              </a:defRPr>
            </a:lvl3pPr>
            <a:lvl4pPr>
              <a:defRPr>
                <a:solidFill>
                  <a:schemeClr val="tx1"/>
                </a:solidFill>
                <a:latin typeface="Arial" panose="020B0604020202020204" pitchFamily="34" charset="0"/>
                <a:ea typeface="汉仪文黑-55简" panose="00020600040101010101" charset="-122"/>
              </a:defRPr>
            </a:lvl4pPr>
            <a:lvl5pPr>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1"/>
          <a:stretch>
            <a:fillRect/>
          </a:stretch>
        </p:blipFill>
        <p:spPr>
          <a:xfrm>
            <a:off x="794" y="-318"/>
            <a:ext cx="12192000" cy="6858318"/>
          </a:xfrm>
          <a:prstGeom prst="rect">
            <a:avLst/>
          </a:prstGeom>
        </p:spPr>
      </p:pic>
      <p:pic>
        <p:nvPicPr>
          <p:cNvPr id="6" name="图片 5" descr="JY01_结束页装饰2"/>
          <p:cNvPicPr>
            <a:picLocks noChangeAspect="1"/>
          </p:cNvPicPr>
          <p:nvPr>
            <p:custDataLst>
              <p:tags r:id="rId2"/>
            </p:custDataLst>
          </p:nvPr>
        </p:nvPicPr>
        <p:blipFill>
          <a:blip r:embed="rId12"/>
          <a:stretch>
            <a:fillRect/>
          </a:stretch>
        </p:blipFill>
        <p:spPr>
          <a:xfrm>
            <a:off x="7479507" y="5458144"/>
            <a:ext cx="4703272" cy="1398270"/>
          </a:xfrm>
          <a:prstGeom prst="rect">
            <a:avLst/>
          </a:prstGeom>
        </p:spPr>
      </p:pic>
      <p:pic>
        <p:nvPicPr>
          <p:cNvPr id="2" name="图片 1" descr="JY01_结束页装饰1"/>
          <p:cNvPicPr>
            <a:picLocks noChangeAspect="1"/>
          </p:cNvPicPr>
          <p:nvPr>
            <p:custDataLst>
              <p:tags r:id="rId3"/>
            </p:custDataLst>
          </p:nvPr>
        </p:nvPicPr>
        <p:blipFill>
          <a:blip r:embed="rId13"/>
          <a:stretch>
            <a:fillRect/>
          </a:stretch>
        </p:blipFill>
        <p:spPr>
          <a:xfrm>
            <a:off x="635" y="0"/>
            <a:ext cx="1954530" cy="6858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title" idx="1" hasCustomPrompt="1"/>
            <p:custDataLst>
              <p:tags r:id="rId7"/>
            </p:custDataLst>
          </p:nvPr>
        </p:nvSpPr>
        <p:spPr>
          <a:xfrm>
            <a:off x="2153288" y="2533739"/>
            <a:ext cx="7885427" cy="1353881"/>
          </a:xfrm>
          <a:noFill/>
        </p:spPr>
        <p:txBody>
          <a:bodyPr vert="horz" wrap="square" lIns="90000" tIns="46800" rIns="90000" bIns="46800" rtlCol="0" anchor="ctr" anchorCtr="0">
            <a:normAutofit/>
          </a:bodyPr>
          <a:lstStyle>
            <a:lvl1pPr marL="0" marR="0" algn="l" defTabSz="914400" rtl="0" eaLnBrk="1" fontAlgn="auto" latinLnBrk="0" hangingPunct="0">
              <a:lnSpc>
                <a:spcPct val="100000"/>
              </a:lnSpc>
              <a:spcBef>
                <a:spcPts val="0"/>
              </a:spcBef>
              <a:spcAft>
                <a:spcPts val="0"/>
              </a:spcAft>
              <a:buClrTx/>
              <a:buSzTx/>
              <a:buFontTx/>
              <a:buNone/>
              <a:defRPr kumimoji="0" lang="zh-CN" altLang="en-US" sz="7200" b="1" i="0" u="none" strike="noStrike" kern="0" cap="none" spc="300" normalizeH="0" baseline="0" noProof="1" dirty="0">
                <a:ln>
                  <a:noFill/>
                </a:ln>
                <a:solidFill>
                  <a:schemeClr val="dk1">
                    <a:lumMod val="85000"/>
                    <a:lumOff val="15000"/>
                  </a:schemeClr>
                </a:solidFill>
                <a:effectLst/>
                <a:uFillTx/>
                <a:latin typeface="Arial" panose="020B0604020202020204" pitchFamily="34" charset="0"/>
                <a:ea typeface="汉仪文黑-85简" panose="00020600040101010101" charset="-122"/>
                <a:cs typeface="+mj-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flipH="1">
            <a:off x="2153285" y="3996025"/>
            <a:ext cx="7885428" cy="928995"/>
          </a:xfrm>
          <a:noFill/>
        </p:spPr>
        <p:txBody>
          <a:bodyPr vert="horz" wrap="square" lIns="0" tIns="0" rIns="0" bIns="0" rtlCol="0">
            <a:normAutofit/>
          </a:bodyPr>
          <a:lstStyle>
            <a:lvl1pPr marL="0" marR="0" indent="-228600" algn="l" defTabSz="914400" rtl="0" eaLnBrk="1" fontAlgn="auto" latinLnBrk="0" hangingPunct="0">
              <a:lnSpc>
                <a:spcPct val="125000"/>
              </a:lnSpc>
              <a:spcBef>
                <a:spcPts val="0"/>
              </a:spcBef>
              <a:spcAft>
                <a:spcPts val="0"/>
              </a:spcAft>
              <a:buClrTx/>
              <a:buSzTx/>
              <a:buFontTx/>
              <a:buNone/>
              <a:defRPr kumimoji="0" lang="zh-CN" altLang="en-US" sz="1800" b="0" i="0" u="none" strike="noStrike" kern="0" cap="none" spc="1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
        <p:nvSpPr>
          <p:cNvPr id="10" name="副标题 3"/>
          <p:cNvSpPr>
            <a:spLocks noGrp="1"/>
          </p:cNvSpPr>
          <p:nvPr>
            <p:ph type="subTitle" idx="3" hasCustomPrompt="1"/>
            <p:custDataLst>
              <p:tags r:id="rId9"/>
            </p:custDataLst>
          </p:nvPr>
        </p:nvSpPr>
        <p:spPr>
          <a:xfrm>
            <a:off x="2153288" y="1932968"/>
            <a:ext cx="7885427" cy="492366"/>
          </a:xfrm>
          <a:noFill/>
        </p:spPr>
        <p:txBody>
          <a:bodyPr vert="horz" wrap="square" lIns="90000" tIns="46800" rIns="90000" bIns="46800" rtlCol="0">
            <a:normAutofit/>
          </a:bodyPr>
          <a:lstStyle>
            <a:lvl1pPr marL="0" marR="0" indent="-228600" algn="l" defTabSz="914400" rtl="0" eaLnBrk="1" fontAlgn="auto" latinLnBrk="0" hangingPunct="0">
              <a:lnSpc>
                <a:spcPct val="100000"/>
              </a:lnSpc>
              <a:spcBef>
                <a:spcPts val="0"/>
              </a:spcBef>
              <a:spcAft>
                <a:spcPts val="0"/>
              </a:spcAft>
              <a:buClrTx/>
              <a:buSzTx/>
              <a:buFontTx/>
              <a:buNone/>
              <a:defRPr kumimoji="0" lang="zh-CN" altLang="en-US" sz="2400" b="1" i="0" u="none" strike="noStrike" kern="0" cap="none" spc="6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单击此处编辑副标题</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7" name="图片 6"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293594" y="304200"/>
            <a:ext cx="11606400" cy="6249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635" y="5589270"/>
            <a:ext cx="1314622" cy="1268730"/>
          </a:xfrm>
          <a:prstGeom prst="rect">
            <a:avLst/>
          </a:prstGeom>
        </p:spPr>
      </p:pic>
      <p:sp>
        <p:nvSpPr>
          <p:cNvPr id="2" name="标题 1"/>
          <p:cNvSpPr>
            <a:spLocks noGrp="1"/>
          </p:cNvSpPr>
          <p:nvPr>
            <p:ph type="title" hasCustomPrompt="1"/>
            <p:custDataLst>
              <p:tags r:id="rId4"/>
            </p:custDataLst>
          </p:nvPr>
        </p:nvSpPr>
        <p:spPr>
          <a:xfrm>
            <a:off x="1281600" y="1249200"/>
            <a:ext cx="9626400" cy="723600"/>
          </a:xfrm>
        </p:spPr>
        <p:txBody>
          <a:bodyPr anchor="ctr"/>
          <a:lstStyle>
            <a:lvl1pP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4" name="页脚占位符 3"/>
          <p:cNvSpPr>
            <a:spLocks noGrp="1"/>
          </p:cNvSpPr>
          <p:nvPr>
            <p:ph type="ftr" sz="quarter" idx="11"/>
            <p:custDataLst>
              <p:tags r:id="rId7"/>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635" y="-318"/>
            <a:ext cx="12192622" cy="6858635"/>
          </a:xfrm>
          <a:prstGeom prst="rect">
            <a:avLst/>
          </a:prstGeom>
        </p:spPr>
      </p:pic>
      <p:sp>
        <p:nvSpPr>
          <p:cNvPr id="6" name="矩形 5"/>
          <p:cNvSpPr/>
          <p:nvPr>
            <p:custDataLst>
              <p:tags r:id="rId2"/>
            </p:custDataLst>
          </p:nvPr>
        </p:nvSpPr>
        <p:spPr>
          <a:xfrm>
            <a:off x="794" y="1"/>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lt1"/>
              </a:solidFill>
              <a:sym typeface="+mn-ea"/>
            </a:endParaRPr>
          </a:p>
        </p:txBody>
      </p:sp>
      <p:sp>
        <p:nvSpPr>
          <p:cNvPr id="2" name="标题 1"/>
          <p:cNvSpPr>
            <a:spLocks noGrp="1"/>
          </p:cNvSpPr>
          <p:nvPr>
            <p:ph type="title" hasCustomPrompt="1"/>
            <p:custDataLst>
              <p:tags r:id="rId3"/>
            </p:custDataLst>
          </p:nvPr>
        </p:nvSpPr>
        <p:spPr>
          <a:xfrm>
            <a:off x="583200" y="770400"/>
            <a:ext cx="3960000" cy="882000"/>
          </a:xfrm>
        </p:spPr>
        <p:txBody>
          <a:bodyPr anchor="ctr" anchorCtr="0"/>
          <a:lstStyle>
            <a:lvl1pP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200" y="769938"/>
            <a:ext cx="6480000" cy="5087937"/>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794" y="0"/>
            <a:ext cx="12192000" cy="6858318"/>
          </a:xfrm>
          <a:prstGeom prst="rect">
            <a:avLst/>
          </a:prstGeom>
        </p:spPr>
      </p:pic>
      <p:sp>
        <p:nvSpPr>
          <p:cNvPr id="8" name="矩形 7"/>
          <p:cNvSpPr/>
          <p:nvPr>
            <p:custDataLst>
              <p:tags r:id="rId2"/>
            </p:custDataLst>
          </p:nvPr>
        </p:nvSpPr>
        <p:spPr>
          <a:xfrm>
            <a:off x="159"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12000" y="781200"/>
            <a:ext cx="10976400" cy="626400"/>
          </a:xfrm>
        </p:spPr>
        <p:txBody>
          <a:bodyPr anchor="ctr"/>
          <a:lstStyle>
            <a:lvl1pPr algn="ct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6" name="矩形 5"/>
          <p:cNvSpPr/>
          <p:nvPr>
            <p:custDataLst>
              <p:tags r:id="rId2"/>
            </p:custDataLst>
          </p:nvPr>
        </p:nvSpPr>
        <p:spPr>
          <a:xfrm>
            <a:off x="159" y="5029202"/>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sp>
        <p:nvSpPr>
          <p:cNvPr id="2" name="标题 1"/>
          <p:cNvSpPr>
            <a:spLocks noGrp="1"/>
          </p:cNvSpPr>
          <p:nvPr>
            <p:ph type="title"/>
            <p:custDataLst>
              <p:tags r:id="rId3"/>
            </p:custDataLst>
          </p:nvPr>
        </p:nvSpPr>
        <p:spPr>
          <a:xfrm>
            <a:off x="604800" y="669600"/>
            <a:ext cx="10976400" cy="565200"/>
          </a:xfrm>
        </p:spPr>
        <p:txBody>
          <a:bodyPr anchor="ctr" anchorCtr="0"/>
          <a:lstStyle>
            <a:lvl1pPr algn="ct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3"/>
          <a:stretch>
            <a:fillRect/>
          </a:stretch>
        </p:blipFill>
        <p:spPr>
          <a:xfrm>
            <a:off x="635" y="317"/>
            <a:ext cx="12192000" cy="6858635"/>
          </a:xfrm>
          <a:prstGeom prst="rect">
            <a:avLst/>
          </a:prstGeom>
        </p:spPr>
      </p:pic>
      <p:sp>
        <p:nvSpPr>
          <p:cNvPr id="8" name="矩形 7"/>
          <p:cNvSpPr/>
          <p:nvPr>
            <p:custDataLst>
              <p:tags r:id="rId2"/>
            </p:custDataLst>
          </p:nvPr>
        </p:nvSpPr>
        <p:spPr>
          <a:xfrm>
            <a:off x="159" y="3175"/>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4"/>
          <a:stretch>
            <a:fillRect/>
          </a:stretch>
        </p:blipFill>
        <p:spPr>
          <a:xfrm>
            <a:off x="0" y="5636260"/>
            <a:ext cx="1266591" cy="1222375"/>
          </a:xfrm>
          <a:prstGeom prst="rect">
            <a:avLst/>
          </a:prstGeom>
        </p:spPr>
      </p:pic>
      <p:sp>
        <p:nvSpPr>
          <p:cNvPr id="2" name="标题 1"/>
          <p:cNvSpPr>
            <a:spLocks noGrp="1"/>
          </p:cNvSpPr>
          <p:nvPr>
            <p:ph type="title"/>
            <p:custDataLst>
              <p:tags r:id="rId4"/>
            </p:custDataLst>
          </p:nvPr>
        </p:nvSpPr>
        <p:spPr>
          <a:xfrm>
            <a:off x="579600" y="237600"/>
            <a:ext cx="11037600" cy="441964"/>
          </a:xfrm>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579600" y="1663200"/>
            <a:ext cx="53424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6242400" y="1663200"/>
            <a:ext cx="53676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572400" y="4816800"/>
            <a:ext cx="53424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6253200" y="4813200"/>
            <a:ext cx="53676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1429" y="958590"/>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0" y="5635625"/>
            <a:ext cx="1266591" cy="1222375"/>
          </a:xfrm>
          <a:prstGeom prst="rect">
            <a:avLst/>
          </a:prstGeom>
        </p:spPr>
      </p:pic>
      <p:sp>
        <p:nvSpPr>
          <p:cNvPr id="2" name="标题 1"/>
          <p:cNvSpPr>
            <a:spLocks noGrp="1"/>
          </p:cNvSpPr>
          <p:nvPr>
            <p:ph type="title" hasCustomPrompt="1"/>
            <p:custDataLst>
              <p:tags r:id="rId4"/>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2025/11/25</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8"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汉仪文黑-55简" panose="00020600040101010101"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5" Type="http://schemas.openxmlformats.org/officeDocument/2006/relationships/image" Target="../media/image14.png"/><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 Id="rId5" Type="http://schemas.openxmlformats.org/officeDocument/2006/relationships/image" Target="../media/image15.png"/><Relationship Id="rId4"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 Id="rId4"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 Id="rId4"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tags" Target="../tags/tag16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 Id="rId4"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tags" Target="../tags/tag176.xml"/><Relationship Id="rId2" Type="http://schemas.openxmlformats.org/officeDocument/2006/relationships/tags" Target="../tags/tag175.xml"/><Relationship Id="rId1" Type="http://schemas.openxmlformats.org/officeDocument/2006/relationships/tags" Target="../tags/tag17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 Id="rId4"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tags" Target="../tags/tag182.xml"/><Relationship Id="rId2" Type="http://schemas.openxmlformats.org/officeDocument/2006/relationships/tags" Target="../tags/tag181.xml"/><Relationship Id="rId1" Type="http://schemas.openxmlformats.org/officeDocument/2006/relationships/tags" Target="../tags/tag180.xml"/><Relationship Id="rId4"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tags" Target="../tags/tag185.xml"/><Relationship Id="rId2" Type="http://schemas.openxmlformats.org/officeDocument/2006/relationships/tags" Target="../tags/tag184.xml"/><Relationship Id="rId1" Type="http://schemas.openxmlformats.org/officeDocument/2006/relationships/tags" Target="../tags/tag183.xml"/><Relationship Id="rId5" Type="http://schemas.openxmlformats.org/officeDocument/2006/relationships/image" Target="../media/image20.png"/><Relationship Id="rId4"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tags" Target="../tags/tag186.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 Id="rId6" Type="http://schemas.openxmlformats.org/officeDocument/2006/relationships/image" Target="../media/image23.png"/><Relationship Id="rId5" Type="http://schemas.openxmlformats.org/officeDocument/2006/relationships/image" Target="../media/image20.png"/><Relationship Id="rId4"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 Id="rId5" Type="http://schemas.openxmlformats.org/officeDocument/2006/relationships/image" Target="../media/image24.png"/><Relationship Id="rId4"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tags" Target="../tags/tag195.xml"/><Relationship Id="rId4"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tags" Target="../tags/tag200.xml"/><Relationship Id="rId2" Type="http://schemas.openxmlformats.org/officeDocument/2006/relationships/tags" Target="../tags/tag199.xml"/><Relationship Id="rId1" Type="http://schemas.openxmlformats.org/officeDocument/2006/relationships/tags" Target="../tags/tag198.xml"/><Relationship Id="rId5" Type="http://schemas.openxmlformats.org/officeDocument/2006/relationships/image" Target="../media/image25.png"/><Relationship Id="rId4"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tags" Target="../tags/tag203.xml"/><Relationship Id="rId2" Type="http://schemas.openxmlformats.org/officeDocument/2006/relationships/tags" Target="../tags/tag202.xml"/><Relationship Id="rId1" Type="http://schemas.openxmlformats.org/officeDocument/2006/relationships/tags" Target="../tags/tag201.xml"/><Relationship Id="rId4"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tags" Target="../tags/tag206.xml"/><Relationship Id="rId2" Type="http://schemas.openxmlformats.org/officeDocument/2006/relationships/tags" Target="../tags/tag205.xml"/><Relationship Id="rId1" Type="http://schemas.openxmlformats.org/officeDocument/2006/relationships/tags" Target="../tags/tag204.xml"/><Relationship Id="rId6" Type="http://schemas.openxmlformats.org/officeDocument/2006/relationships/image" Target="../media/image26.jpeg"/><Relationship Id="rId5" Type="http://schemas.openxmlformats.org/officeDocument/2006/relationships/slideLayout" Target="../slideLayouts/slideLayout1.xml"/><Relationship Id="rId4" Type="http://schemas.openxmlformats.org/officeDocument/2006/relationships/video" Target="https://www.youtube.com/embed/em1O8mz7sF0" TargetMode="External"/></Relationships>
</file>

<file path=ppt/slides/_rels/slide18.xml.rels><?xml version="1.0" encoding="UTF-8" standalone="yes"?>
<Relationships xmlns="http://schemas.openxmlformats.org/package/2006/relationships"><Relationship Id="rId3" Type="http://schemas.openxmlformats.org/officeDocument/2006/relationships/tags" Target="../tags/tag209.xml"/><Relationship Id="rId2" Type="http://schemas.openxmlformats.org/officeDocument/2006/relationships/tags" Target="../tags/tag208.xml"/><Relationship Id="rId1" Type="http://schemas.openxmlformats.org/officeDocument/2006/relationships/tags" Target="../tags/tag207.xml"/><Relationship Id="rId4"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tags" Target="../tags/tag212.xml"/><Relationship Id="rId2" Type="http://schemas.openxmlformats.org/officeDocument/2006/relationships/tags" Target="../tags/tag211.xml"/><Relationship Id="rId1" Type="http://schemas.openxmlformats.org/officeDocument/2006/relationships/tags" Target="../tags/tag210.xml"/><Relationship Id="rId5" Type="http://schemas.openxmlformats.org/officeDocument/2006/relationships/image" Target="../media/image27.png"/><Relationship Id="rId4"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 Id="rId4"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tags" Target="../tags/tag218.xml"/><Relationship Id="rId2" Type="http://schemas.openxmlformats.org/officeDocument/2006/relationships/tags" Target="../tags/tag217.xml"/><Relationship Id="rId1" Type="http://schemas.openxmlformats.org/officeDocument/2006/relationships/tags" Target="../tags/tag216.xml"/><Relationship Id="rId4"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tags" Target="../tags/tag221.xml"/><Relationship Id="rId2" Type="http://schemas.openxmlformats.org/officeDocument/2006/relationships/tags" Target="../tags/tag220.xml"/><Relationship Id="rId1" Type="http://schemas.openxmlformats.org/officeDocument/2006/relationships/tags" Target="../tags/tag219.xml"/><Relationship Id="rId5" Type="http://schemas.openxmlformats.org/officeDocument/2006/relationships/image" Target="../media/image28.png"/><Relationship Id="rId4"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tags" Target="../tags/tag224.xml"/><Relationship Id="rId2" Type="http://schemas.openxmlformats.org/officeDocument/2006/relationships/tags" Target="../tags/tag223.xml"/><Relationship Id="rId1" Type="http://schemas.openxmlformats.org/officeDocument/2006/relationships/tags" Target="../tags/tag222.xml"/><Relationship Id="rId4"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tags" Target="../tags/tag227.xml"/><Relationship Id="rId2" Type="http://schemas.openxmlformats.org/officeDocument/2006/relationships/tags" Target="../tags/tag226.xml"/><Relationship Id="rId1" Type="http://schemas.openxmlformats.org/officeDocument/2006/relationships/tags" Target="../tags/tag225.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tags" Target="../tags/tag230.xml"/><Relationship Id="rId2" Type="http://schemas.openxmlformats.org/officeDocument/2006/relationships/tags" Target="../tags/tag229.xml"/><Relationship Id="rId1" Type="http://schemas.openxmlformats.org/officeDocument/2006/relationships/tags" Target="../tags/tag228.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tags" Target="../tags/tag233.xml"/><Relationship Id="rId2" Type="http://schemas.openxmlformats.org/officeDocument/2006/relationships/tags" Target="../tags/tag232.xml"/><Relationship Id="rId1" Type="http://schemas.openxmlformats.org/officeDocument/2006/relationships/tags" Target="../tags/tag231.xml"/><Relationship Id="rId5" Type="http://schemas.openxmlformats.org/officeDocument/2006/relationships/image" Target="../media/image33.png"/><Relationship Id="rId4"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tags" Target="../tags/tag236.xml"/><Relationship Id="rId2" Type="http://schemas.openxmlformats.org/officeDocument/2006/relationships/tags" Target="../tags/tag235.xml"/><Relationship Id="rId1" Type="http://schemas.openxmlformats.org/officeDocument/2006/relationships/tags" Target="../tags/tag234.xml"/><Relationship Id="rId5" Type="http://schemas.openxmlformats.org/officeDocument/2006/relationships/image" Target="../media/image34.png"/><Relationship Id="rId4"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tags" Target="../tags/tag239.xml"/><Relationship Id="rId2" Type="http://schemas.openxmlformats.org/officeDocument/2006/relationships/tags" Target="../tags/tag238.xml"/><Relationship Id="rId1" Type="http://schemas.openxmlformats.org/officeDocument/2006/relationships/tags" Target="../tags/tag23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tags" Target="../tags/tag242.xml"/><Relationship Id="rId2" Type="http://schemas.openxmlformats.org/officeDocument/2006/relationships/tags" Target="../tags/tag241.xml"/><Relationship Id="rId1" Type="http://schemas.openxmlformats.org/officeDocument/2006/relationships/tags" Target="../tags/tag240.xml"/><Relationship Id="rId6" Type="http://schemas.openxmlformats.org/officeDocument/2006/relationships/image" Target="../media/image37.jpeg"/><Relationship Id="rId5" Type="http://schemas.openxmlformats.org/officeDocument/2006/relationships/slideLayout" Target="../slideLayouts/slideLayout1.xml"/><Relationship Id="rId4" Type="http://schemas.openxmlformats.org/officeDocument/2006/relationships/video" Target="https://www.youtube.com/embed/Fkgp64e-nNQ" TargetMode="Externa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44.xml"/><Relationship Id="rId1" Type="http://schemas.openxmlformats.org/officeDocument/2006/relationships/tags" Target="../tags/tag2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84128" y="5658615"/>
            <a:ext cx="7629063" cy="1183999"/>
          </a:xfrm>
          <a:prstGeom prst="rect">
            <a:avLst/>
          </a:prstGeom>
          <a:noFill/>
        </p:spPr>
        <p:txBody>
          <a:bodyPr wrap="square" rtlCol="0">
            <a:norm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4" name="Picture 3">
            <a:extLst>
              <a:ext uri="{FF2B5EF4-FFF2-40B4-BE49-F238E27FC236}">
                <a16:creationId xmlns:a16="http://schemas.microsoft.com/office/drawing/2014/main" id="{55D17C5F-D582-80A6-4DE3-CCB3F46FECDE}"/>
              </a:ext>
            </a:extLst>
          </p:cNvPr>
          <p:cNvPicPr>
            <a:picLocks noChangeAspect="1"/>
          </p:cNvPicPr>
          <p:nvPr/>
        </p:nvPicPr>
        <p:blipFill>
          <a:blip r:embed="rId5"/>
          <a:stretch>
            <a:fillRect/>
          </a:stretch>
        </p:blipFill>
        <p:spPr>
          <a:xfrm>
            <a:off x="5191125" y="466312"/>
            <a:ext cx="904875" cy="1428750"/>
          </a:xfrm>
          <a:prstGeom prst="rect">
            <a:avLst/>
          </a:prstGeom>
        </p:spPr>
      </p:pic>
      <p:sp>
        <p:nvSpPr>
          <p:cNvPr id="5" name="文本框 21">
            <a:extLst>
              <a:ext uri="{FF2B5EF4-FFF2-40B4-BE49-F238E27FC236}">
                <a16:creationId xmlns:a16="http://schemas.microsoft.com/office/drawing/2014/main" id="{8291BEAF-DC80-7114-D7E5-4D33D4D73EFF}"/>
              </a:ext>
            </a:extLst>
          </p:cNvPr>
          <p:cNvSpPr txBox="1"/>
          <p:nvPr>
            <p:custDataLst>
              <p:tags r:id="rId3"/>
            </p:custDataLst>
          </p:nvPr>
        </p:nvSpPr>
        <p:spPr>
          <a:xfrm>
            <a:off x="1517374" y="2036310"/>
            <a:ext cx="8719930" cy="1740528"/>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effectLst/>
                <a:latin typeface="Times New Roman" panose="02020603050405020304" pitchFamily="18" charset="0"/>
                <a:ea typeface="Calibri" panose="020F0502020204030204" pitchFamily="34" charset="0"/>
                <a:cs typeface="Arial" panose="020B0604020202020204" pitchFamily="34" charset="0"/>
              </a:rPr>
              <a:t>CERTIFICATE III IN AUTOMOTIVE REPAIR &amp; MAINTE</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NANCE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5B8B25F2-350A-E959-A436-C1320A9A1827}"/>
              </a:ext>
            </a:extLst>
          </p:cNvPr>
          <p:cNvSpPr txBox="1"/>
          <p:nvPr/>
        </p:nvSpPr>
        <p:spPr>
          <a:xfrm>
            <a:off x="821635" y="4015155"/>
            <a:ext cx="9415669" cy="530594"/>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2800" b="1" i="0" u="none" strike="noStrike" kern="100" cap="none" spc="0" normalizeH="0" baseline="0" noProof="0" dirty="0">
                <a:ln>
                  <a:noFill/>
                </a:ln>
                <a:solidFill>
                  <a:srgbClr val="FFAD63">
                    <a:lumMod val="50000"/>
                  </a:srgbClr>
                </a:solidFill>
                <a:effectLst/>
                <a:uLnTx/>
                <a:uFillTx/>
                <a:latin typeface="Times New Roman" panose="02020603050405020304" pitchFamily="18" charset="0"/>
                <a:ea typeface="Calibri" panose="020F0502020204030204" pitchFamily="34" charset="0"/>
                <a:cs typeface="Arial" panose="020B0604020202020204" pitchFamily="34" charset="0"/>
              </a:rPr>
              <a:t>SUBJECT:  </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kumimoji="0" lang="en-US" sz="2800" b="1" i="0" u="none" strike="noStrike" kern="100" cap="none" spc="0" normalizeH="0" baseline="0" noProof="0" dirty="0">
              <a:ln>
                <a:noFill/>
              </a:ln>
              <a:solidFill>
                <a:schemeClr val="accent3">
                  <a:lumMod val="50000"/>
                </a:schemeClr>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84519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95808" y="1044036"/>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09601" y="614214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428389" y="1425594"/>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Times New Roman" panose="02020603050405020304" pitchFamily="18" charset="0"/>
                <a:cs typeface="Arial" panose="020B0604020202020204" pitchFamily="34" charset="0"/>
              </a:rPr>
              <a:t>Introduction</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6" name="Rectangle 5"/>
          <p:cNvSpPr/>
          <p:nvPr/>
        </p:nvSpPr>
        <p:spPr>
          <a:xfrm>
            <a:off x="695808" y="1830913"/>
            <a:ext cx="10785950" cy="1200329"/>
          </a:xfrm>
          <a:prstGeom prst="rect">
            <a:avLst/>
          </a:prstGeom>
        </p:spPr>
        <p:txBody>
          <a:bodyPr wrap="square">
            <a:spAutoFit/>
          </a:bodyPr>
          <a:lstStyle/>
          <a:p>
            <a:r>
              <a:rPr lang="en-US" dirty="0"/>
              <a:t>A steering system is the mechanism in a vehicle that converts the driver's rotational input from the steering wheel into </a:t>
            </a:r>
            <a:r>
              <a:rPr lang="en-US" b="1" dirty="0"/>
              <a:t>the swiveling motion </a:t>
            </a:r>
            <a:r>
              <a:rPr lang="en-US" dirty="0"/>
              <a:t>of the wheels to change the vehicle's </a:t>
            </a:r>
            <a:r>
              <a:rPr lang="en-US" dirty="0" smtClean="0"/>
              <a:t>direction</a:t>
            </a:r>
          </a:p>
          <a:p>
            <a:endParaRPr lang="en-US" dirty="0"/>
          </a:p>
          <a:p>
            <a:endParaRPr lang="en-US" dirty="0"/>
          </a:p>
        </p:txBody>
      </p:sp>
      <p:sp>
        <p:nvSpPr>
          <p:cNvPr id="7" name="Rectangle 6"/>
          <p:cNvSpPr/>
          <p:nvPr/>
        </p:nvSpPr>
        <p:spPr>
          <a:xfrm>
            <a:off x="747566" y="3294325"/>
            <a:ext cx="10397762" cy="1200329"/>
          </a:xfrm>
          <a:prstGeom prst="rect">
            <a:avLst/>
          </a:prstGeom>
        </p:spPr>
        <p:txBody>
          <a:bodyPr wrap="square">
            <a:spAutoFit/>
          </a:bodyPr>
          <a:lstStyle/>
          <a:p>
            <a:r>
              <a:rPr lang="en-US" dirty="0"/>
              <a:t>The basic components include the steering wheel, steering column, and a steering gear (like a rack and pinion or recirculating ball) that is connected to the wheels via a linkage system of rods and joints. The system is designed to provide the driver with effortless control and a sense of the road while allowing for safe </a:t>
            </a:r>
            <a:r>
              <a:rPr lang="en-US" dirty="0" smtClean="0"/>
              <a:t>maneuvering</a:t>
            </a:r>
            <a:endParaRPr lang="en-US" dirty="0"/>
          </a:p>
        </p:txBody>
      </p:sp>
      <p:sp>
        <p:nvSpPr>
          <p:cNvPr id="8" name="Rectangle 7"/>
          <p:cNvSpPr/>
          <p:nvPr/>
        </p:nvSpPr>
        <p:spPr>
          <a:xfrm>
            <a:off x="695808" y="2539536"/>
            <a:ext cx="10449520" cy="646331"/>
          </a:xfrm>
          <a:prstGeom prst="rect">
            <a:avLst/>
          </a:prstGeom>
        </p:spPr>
        <p:txBody>
          <a:bodyPr wrap="square">
            <a:spAutoFit/>
          </a:bodyPr>
          <a:lstStyle/>
          <a:p>
            <a:r>
              <a:rPr lang="en-US" b="1" dirty="0"/>
              <a:t>A swiveling motion </a:t>
            </a:r>
            <a:r>
              <a:rPr lang="en-US" dirty="0"/>
              <a:t>is a type of rotation or turning movement around a central point or axis, allowing an object or a body part to face in a different direction</a:t>
            </a:r>
          </a:p>
        </p:txBody>
      </p:sp>
      <p:pic>
        <p:nvPicPr>
          <p:cNvPr id="9" name="Picture 8"/>
          <p:cNvPicPr>
            <a:picLocks noChangeAspect="1"/>
          </p:cNvPicPr>
          <p:nvPr/>
        </p:nvPicPr>
        <p:blipFill>
          <a:blip r:embed="rId5"/>
          <a:stretch>
            <a:fillRect/>
          </a:stretch>
        </p:blipFill>
        <p:spPr>
          <a:xfrm>
            <a:off x="7644441" y="4356340"/>
            <a:ext cx="2286000" cy="2286000"/>
          </a:xfrm>
          <a:prstGeom prst="rect">
            <a:avLst/>
          </a:prstGeom>
        </p:spPr>
      </p:pic>
    </p:spTree>
    <p:custDataLst>
      <p:tags r:id="rId1"/>
    </p:custDataLst>
    <p:extLst>
      <p:ext uri="{BB962C8B-B14F-4D97-AF65-F5344CB8AC3E}">
        <p14:creationId xmlns:p14="http://schemas.microsoft.com/office/powerpoint/2010/main" val="3847500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7" y="1044036"/>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97399" y="6168862"/>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497399" y="1425594"/>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smtClean="0">
                <a:latin typeface="Times New Roman" panose="02020603050405020304" pitchFamily="18" charset="0"/>
                <a:ea typeface="Times New Roman" panose="02020603050405020304" pitchFamily="18" charset="0"/>
                <a:cs typeface="Times New Roman" panose="02020603050405020304" pitchFamily="18" charset="0"/>
              </a:rPr>
              <a:t>Steering Function </a:t>
            </a:r>
            <a:endParaRPr lang="en-US" sz="12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Rectangle 3"/>
          <p:cNvSpPr/>
          <p:nvPr/>
        </p:nvSpPr>
        <p:spPr>
          <a:xfrm>
            <a:off x="747566" y="1752958"/>
            <a:ext cx="11018863" cy="3139321"/>
          </a:xfrm>
          <a:prstGeom prst="rect">
            <a:avLst/>
          </a:prstGeom>
        </p:spPr>
        <p:txBody>
          <a:bodyPr wrap="square">
            <a:spAutoFit/>
          </a:bodyPr>
          <a:lstStyle/>
          <a:p>
            <a:r>
              <a:rPr lang="en-US" b="1" dirty="0"/>
              <a:t>Directional control</a:t>
            </a:r>
            <a:r>
              <a:rPr lang="en-US" dirty="0"/>
              <a:t>: The primary function is to change the direction of a vehicle by turning the wheels, most commonly the front ones</a:t>
            </a:r>
            <a:r>
              <a:rPr lang="en-US" dirty="0" smtClean="0"/>
              <a:t>.</a:t>
            </a:r>
          </a:p>
          <a:p>
            <a:endParaRPr lang="en-US" dirty="0"/>
          </a:p>
          <a:p>
            <a:r>
              <a:rPr lang="en-US" b="1" dirty="0"/>
              <a:t>Force conversion</a:t>
            </a:r>
            <a:r>
              <a:rPr lang="en-US" dirty="0"/>
              <a:t>: It transforms the rotational movement of the steering wheel into the linear motion needed to turn the wheels, making it easier for the driver to steer even a heavy vehicle</a:t>
            </a:r>
            <a:r>
              <a:rPr lang="en-US" dirty="0" smtClean="0"/>
              <a:t>.</a:t>
            </a:r>
          </a:p>
          <a:p>
            <a:endParaRPr lang="en-US" dirty="0"/>
          </a:p>
          <a:p>
            <a:r>
              <a:rPr lang="en-US" b="1" dirty="0"/>
              <a:t>Road feedback and stability: </a:t>
            </a:r>
            <a:r>
              <a:rPr lang="en-US" dirty="0"/>
              <a:t>The system provides the driver with feedback from the road surface and helps maintain directional stability, returning the wheels to a straight position after a turn</a:t>
            </a:r>
            <a:r>
              <a:rPr lang="en-US" dirty="0" smtClean="0"/>
              <a:t>.</a:t>
            </a:r>
          </a:p>
          <a:p>
            <a:endParaRPr lang="en-US" dirty="0"/>
          </a:p>
          <a:p>
            <a:r>
              <a:rPr lang="en-US" b="1" dirty="0"/>
              <a:t>Safety: </a:t>
            </a:r>
            <a:r>
              <a:rPr lang="en-US" dirty="0"/>
              <a:t>It includes safety features, such as collapsible steering columns to protect the driver in a crash, and is designed to be precise with minimal play</a:t>
            </a:r>
          </a:p>
        </p:txBody>
      </p:sp>
    </p:spTree>
    <p:custDataLst>
      <p:tags r:id="rId1"/>
    </p:custDataLst>
    <p:extLst>
      <p:ext uri="{BB962C8B-B14F-4D97-AF65-F5344CB8AC3E}">
        <p14:creationId xmlns:p14="http://schemas.microsoft.com/office/powerpoint/2010/main" val="1388595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56193" y="1044036"/>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44106" y="613351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23279" y="148797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smtClean="0">
                <a:latin typeface="Times New Roman" panose="02020603050405020304" pitchFamily="18" charset="0"/>
                <a:ea typeface="Calibri" panose="020F0502020204030204" pitchFamily="34" charset="0"/>
                <a:cs typeface="Arial" panose="020B0604020202020204" pitchFamily="34" charset="0"/>
              </a:rPr>
              <a:t>Common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792525" y="1877724"/>
            <a:ext cx="10818630" cy="2862322"/>
          </a:xfrm>
          <a:prstGeom prst="rect">
            <a:avLst/>
          </a:prstGeom>
        </p:spPr>
        <p:txBody>
          <a:bodyPr wrap="square">
            <a:spAutoFit/>
          </a:bodyPr>
          <a:lstStyle/>
          <a:p>
            <a:r>
              <a:rPr lang="en-US" b="1" dirty="0"/>
              <a:t>Steering wheel</a:t>
            </a:r>
            <a:r>
              <a:rPr lang="en-US" dirty="0"/>
              <a:t>: The part the driver holds and turns</a:t>
            </a:r>
            <a:r>
              <a:rPr lang="en-US" dirty="0" smtClean="0"/>
              <a:t>.</a:t>
            </a:r>
          </a:p>
          <a:p>
            <a:endParaRPr lang="en-US" dirty="0"/>
          </a:p>
          <a:p>
            <a:r>
              <a:rPr lang="en-US" b="1" dirty="0"/>
              <a:t>Steering column</a:t>
            </a:r>
            <a:r>
              <a:rPr lang="en-US" dirty="0"/>
              <a:t>: Connects the steering wheel to the steering gear, often containing universal joints and collapsible features for safety</a:t>
            </a:r>
            <a:r>
              <a:rPr lang="en-US" dirty="0" smtClean="0"/>
              <a:t>.</a:t>
            </a:r>
          </a:p>
          <a:p>
            <a:endParaRPr lang="en-US" dirty="0"/>
          </a:p>
          <a:p>
            <a:r>
              <a:rPr lang="en-US" b="1" dirty="0"/>
              <a:t>Steering gear</a:t>
            </a:r>
            <a:r>
              <a:rPr lang="en-US" dirty="0"/>
              <a:t>: The mechanism that converts the rotary motion of the steering wheel into linear motion. Common types are rack and pinion and recirculating ball</a:t>
            </a:r>
            <a:r>
              <a:rPr lang="en-US" dirty="0" smtClean="0"/>
              <a:t>.</a:t>
            </a:r>
          </a:p>
          <a:p>
            <a:endParaRPr lang="en-US" dirty="0"/>
          </a:p>
          <a:p>
            <a:r>
              <a:rPr lang="en-US" b="1" dirty="0"/>
              <a:t>Linkage</a:t>
            </a:r>
            <a:r>
              <a:rPr lang="en-US" dirty="0"/>
              <a:t>: A series of rods, arms, and tie rods that connect the steering gear to the steering knuckles on the wheels, transmitting the movement to turn them</a:t>
            </a:r>
          </a:p>
        </p:txBody>
      </p:sp>
    </p:spTree>
    <p:custDataLst>
      <p:tags r:id="rId1"/>
    </p:custDataLst>
    <p:extLst>
      <p:ext uri="{BB962C8B-B14F-4D97-AF65-F5344CB8AC3E}">
        <p14:creationId xmlns:p14="http://schemas.microsoft.com/office/powerpoint/2010/main" val="3450537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56193" y="1044036"/>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44106" y="613351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23279" y="148797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smtClean="0">
                <a:latin typeface="Times New Roman" panose="02020603050405020304" pitchFamily="18" charset="0"/>
                <a:ea typeface="Calibri" panose="020F0502020204030204" pitchFamily="34" charset="0"/>
                <a:cs typeface="Arial" panose="020B0604020202020204" pitchFamily="34" charset="0"/>
              </a:rPr>
              <a:t>Common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792525" y="1877724"/>
            <a:ext cx="10818630" cy="369332"/>
          </a:xfrm>
          <a:prstGeom prst="rect">
            <a:avLst/>
          </a:prstGeom>
        </p:spPr>
        <p:txBody>
          <a:bodyPr wrap="square">
            <a:spAutoFit/>
          </a:bodyPr>
          <a:lstStyle/>
          <a:p>
            <a:r>
              <a:rPr lang="en-US" b="1" dirty="0"/>
              <a:t>Steering wheel</a:t>
            </a:r>
            <a:r>
              <a:rPr lang="en-US" dirty="0"/>
              <a:t>: The part the driver holds and turns</a:t>
            </a:r>
            <a:r>
              <a:rPr lang="en-US" dirty="0" smtClean="0"/>
              <a:t>.</a:t>
            </a:r>
          </a:p>
        </p:txBody>
      </p:sp>
      <p:sp>
        <p:nvSpPr>
          <p:cNvPr id="5" name="Rectangle 4"/>
          <p:cNvSpPr/>
          <p:nvPr/>
        </p:nvSpPr>
        <p:spPr>
          <a:xfrm>
            <a:off x="792525" y="2267471"/>
            <a:ext cx="3095719" cy="369332"/>
          </a:xfrm>
          <a:prstGeom prst="rect">
            <a:avLst/>
          </a:prstGeom>
        </p:spPr>
        <p:txBody>
          <a:bodyPr wrap="none">
            <a:spAutoFit/>
          </a:bodyPr>
          <a:lstStyle/>
          <a:p>
            <a:r>
              <a:rPr lang="en-US" b="1" dirty="0"/>
              <a:t>Components and Features</a:t>
            </a:r>
          </a:p>
        </p:txBody>
      </p:sp>
      <p:sp>
        <p:nvSpPr>
          <p:cNvPr id="7" name="Rectangle 6"/>
          <p:cNvSpPr/>
          <p:nvPr/>
        </p:nvSpPr>
        <p:spPr>
          <a:xfrm>
            <a:off x="792525" y="2558232"/>
            <a:ext cx="10818630" cy="646331"/>
          </a:xfrm>
          <a:prstGeom prst="rect">
            <a:avLst/>
          </a:prstGeom>
        </p:spPr>
        <p:txBody>
          <a:bodyPr wrap="square">
            <a:spAutoFit/>
          </a:bodyPr>
          <a:lstStyle/>
          <a:p>
            <a:r>
              <a:rPr lang="en-US" dirty="0"/>
              <a:t>Modern steering wheels are sophisticated control hubs with many integrated features designed for safety, comfort, and convenience. Key components include:</a:t>
            </a:r>
          </a:p>
        </p:txBody>
      </p:sp>
      <p:pic>
        <p:nvPicPr>
          <p:cNvPr id="8" name="Picture 7"/>
          <p:cNvPicPr>
            <a:picLocks noChangeAspect="1"/>
          </p:cNvPicPr>
          <p:nvPr/>
        </p:nvPicPr>
        <p:blipFill>
          <a:blip r:embed="rId5"/>
          <a:stretch>
            <a:fillRect/>
          </a:stretch>
        </p:blipFill>
        <p:spPr>
          <a:xfrm>
            <a:off x="947557" y="3557795"/>
            <a:ext cx="3840103" cy="2299541"/>
          </a:xfrm>
          <a:prstGeom prst="rect">
            <a:avLst/>
          </a:prstGeom>
        </p:spPr>
      </p:pic>
      <p:pic>
        <p:nvPicPr>
          <p:cNvPr id="9" name="Picture 8"/>
          <p:cNvPicPr>
            <a:picLocks noChangeAspect="1"/>
          </p:cNvPicPr>
          <p:nvPr/>
        </p:nvPicPr>
        <p:blipFill>
          <a:blip r:embed="rId6"/>
          <a:stretch>
            <a:fillRect/>
          </a:stretch>
        </p:blipFill>
        <p:spPr>
          <a:xfrm>
            <a:off x="5483099" y="3376432"/>
            <a:ext cx="4792415" cy="3403418"/>
          </a:xfrm>
          <a:prstGeom prst="rect">
            <a:avLst/>
          </a:prstGeom>
        </p:spPr>
      </p:pic>
    </p:spTree>
    <p:custDataLst>
      <p:tags r:id="rId1"/>
    </p:custDataLst>
    <p:extLst>
      <p:ext uri="{BB962C8B-B14F-4D97-AF65-F5344CB8AC3E}">
        <p14:creationId xmlns:p14="http://schemas.microsoft.com/office/powerpoint/2010/main" val="2003993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56193" y="1044036"/>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44106" y="613351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23279" y="148797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smtClean="0">
                <a:latin typeface="Times New Roman" panose="02020603050405020304" pitchFamily="18" charset="0"/>
                <a:ea typeface="Calibri" panose="020F0502020204030204" pitchFamily="34" charset="0"/>
                <a:cs typeface="Arial" panose="020B0604020202020204" pitchFamily="34" charset="0"/>
              </a:rPr>
              <a:t>Common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792525" y="1877724"/>
            <a:ext cx="10818630" cy="646331"/>
          </a:xfrm>
          <a:prstGeom prst="rect">
            <a:avLst/>
          </a:prstGeom>
        </p:spPr>
        <p:txBody>
          <a:bodyPr wrap="square">
            <a:spAutoFit/>
          </a:bodyPr>
          <a:lstStyle/>
          <a:p>
            <a:r>
              <a:rPr lang="en-US" b="1" dirty="0" smtClean="0"/>
              <a:t>Steering </a:t>
            </a:r>
            <a:r>
              <a:rPr lang="en-US" b="1" dirty="0"/>
              <a:t>column</a:t>
            </a:r>
            <a:r>
              <a:rPr lang="en-US" dirty="0"/>
              <a:t>: Connects the steering wheel to the steering gear, often containing universal joints and collapsible features for safety</a:t>
            </a:r>
            <a:r>
              <a:rPr lang="en-US" dirty="0" smtClean="0"/>
              <a:t>.</a:t>
            </a:r>
          </a:p>
        </p:txBody>
      </p:sp>
      <p:sp>
        <p:nvSpPr>
          <p:cNvPr id="5" name="Rectangle 4"/>
          <p:cNvSpPr/>
          <p:nvPr/>
        </p:nvSpPr>
        <p:spPr>
          <a:xfrm>
            <a:off x="792525" y="2524055"/>
            <a:ext cx="11163686" cy="646331"/>
          </a:xfrm>
          <a:prstGeom prst="rect">
            <a:avLst/>
          </a:prstGeom>
        </p:spPr>
        <p:txBody>
          <a:bodyPr wrap="square">
            <a:spAutoFit/>
          </a:bodyPr>
          <a:lstStyle/>
          <a:p>
            <a:r>
              <a:rPr lang="en-US" dirty="0" smtClean="0"/>
              <a:t>It </a:t>
            </a:r>
            <a:r>
              <a:rPr lang="en-US" dirty="0"/>
              <a:t>is a crucial link between the driver's input and the vehicle's wheels, and it also houses components like the turn signal switch and can include a collapsible safety feature for collision</a:t>
            </a:r>
          </a:p>
        </p:txBody>
      </p:sp>
      <p:sp>
        <p:nvSpPr>
          <p:cNvPr id="6" name="Rectangle 5"/>
          <p:cNvSpPr/>
          <p:nvPr/>
        </p:nvSpPr>
        <p:spPr>
          <a:xfrm>
            <a:off x="756193" y="3220791"/>
            <a:ext cx="11008411" cy="2862322"/>
          </a:xfrm>
          <a:prstGeom prst="rect">
            <a:avLst/>
          </a:prstGeom>
        </p:spPr>
        <p:txBody>
          <a:bodyPr wrap="square">
            <a:spAutoFit/>
          </a:bodyPr>
          <a:lstStyle/>
          <a:p>
            <a:r>
              <a:rPr lang="en-US" b="1" dirty="0"/>
              <a:t>Connection</a:t>
            </a:r>
            <a:r>
              <a:rPr lang="en-US" dirty="0"/>
              <a:t>: The steering column houses a steering shaft that runs from the steering wheel at the top to the steering gear (like a rack and pinion) at the bottom.</a:t>
            </a:r>
          </a:p>
          <a:p>
            <a:r>
              <a:rPr lang="en-US" dirty="0" smtClean="0"/>
              <a:t>Function: It translates the rotational movement of the steering wheel into the directional movement of the wheels.</a:t>
            </a:r>
          </a:p>
          <a:p>
            <a:r>
              <a:rPr lang="en-US" b="1" dirty="0" smtClean="0"/>
              <a:t>Components</a:t>
            </a:r>
            <a:r>
              <a:rPr lang="en-US" dirty="0"/>
              <a:t>: It can also contain other parts, such as the turn signal switch, which uses a cam to activate and cancel the signal.</a:t>
            </a:r>
          </a:p>
          <a:p>
            <a:r>
              <a:rPr lang="en-US" b="1" dirty="0"/>
              <a:t>Safety</a:t>
            </a:r>
            <a:r>
              <a:rPr lang="en-US" dirty="0"/>
              <a:t>: Modern steering columns are designed with a safety feature that allows them to collapse in a frontal impact, which helps prevent serious injury to the driver.</a:t>
            </a:r>
          </a:p>
          <a:p>
            <a:r>
              <a:rPr lang="en-US" b="1" dirty="0"/>
              <a:t>Adjustability</a:t>
            </a:r>
            <a:r>
              <a:rPr lang="en-US" dirty="0"/>
              <a:t>: Some steering columns can be adjusted to allow the driver to change the tilt or height of the steering wheel for a more comfortable driving position</a:t>
            </a:r>
          </a:p>
        </p:txBody>
      </p:sp>
    </p:spTree>
    <p:custDataLst>
      <p:tags r:id="rId1"/>
    </p:custDataLst>
    <p:extLst>
      <p:ext uri="{BB962C8B-B14F-4D97-AF65-F5344CB8AC3E}">
        <p14:creationId xmlns:p14="http://schemas.microsoft.com/office/powerpoint/2010/main" val="2972586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56193" y="1044036"/>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44106" y="613351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23279" y="148797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smtClean="0">
                <a:latin typeface="Times New Roman" panose="02020603050405020304" pitchFamily="18" charset="0"/>
                <a:ea typeface="Calibri" panose="020F0502020204030204" pitchFamily="34" charset="0"/>
                <a:cs typeface="Arial" panose="020B0604020202020204" pitchFamily="34" charset="0"/>
              </a:rPr>
              <a:t>Common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792525" y="1877724"/>
            <a:ext cx="10818630" cy="646331"/>
          </a:xfrm>
          <a:prstGeom prst="rect">
            <a:avLst/>
          </a:prstGeom>
        </p:spPr>
        <p:txBody>
          <a:bodyPr wrap="square">
            <a:spAutoFit/>
          </a:bodyPr>
          <a:lstStyle/>
          <a:p>
            <a:r>
              <a:rPr lang="en-US" b="1" dirty="0" smtClean="0"/>
              <a:t>Steering </a:t>
            </a:r>
            <a:r>
              <a:rPr lang="en-US" b="1" dirty="0"/>
              <a:t>column</a:t>
            </a:r>
            <a:r>
              <a:rPr lang="en-US" dirty="0"/>
              <a:t>: Connects the steering wheel to the steering gear, often containing universal joints and collapsible features for safety</a:t>
            </a:r>
            <a:r>
              <a:rPr lang="en-US" dirty="0" smtClean="0"/>
              <a:t>.</a:t>
            </a:r>
          </a:p>
        </p:txBody>
      </p:sp>
      <p:pic>
        <p:nvPicPr>
          <p:cNvPr id="7" name="Picture 6"/>
          <p:cNvPicPr>
            <a:picLocks noChangeAspect="1"/>
          </p:cNvPicPr>
          <p:nvPr/>
        </p:nvPicPr>
        <p:blipFill>
          <a:blip r:embed="rId5"/>
          <a:stretch>
            <a:fillRect/>
          </a:stretch>
        </p:blipFill>
        <p:spPr>
          <a:xfrm>
            <a:off x="8391974" y="2987372"/>
            <a:ext cx="3486600" cy="2913096"/>
          </a:xfrm>
          <a:prstGeom prst="rect">
            <a:avLst/>
          </a:prstGeom>
        </p:spPr>
      </p:pic>
      <p:pic>
        <p:nvPicPr>
          <p:cNvPr id="8" name="Picture 7"/>
          <p:cNvPicPr>
            <a:picLocks noChangeAspect="1"/>
          </p:cNvPicPr>
          <p:nvPr/>
        </p:nvPicPr>
        <p:blipFill>
          <a:blip r:embed="rId6"/>
          <a:stretch>
            <a:fillRect/>
          </a:stretch>
        </p:blipFill>
        <p:spPr>
          <a:xfrm>
            <a:off x="2472906" y="2725947"/>
            <a:ext cx="3971026" cy="3079630"/>
          </a:xfrm>
          <a:prstGeom prst="rect">
            <a:avLst/>
          </a:prstGeom>
        </p:spPr>
      </p:pic>
    </p:spTree>
    <p:custDataLst>
      <p:tags r:id="rId1"/>
    </p:custDataLst>
    <p:extLst>
      <p:ext uri="{BB962C8B-B14F-4D97-AF65-F5344CB8AC3E}">
        <p14:creationId xmlns:p14="http://schemas.microsoft.com/office/powerpoint/2010/main" val="35956391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56193" y="1044036"/>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44106" y="613351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23279" y="1487977"/>
            <a:ext cx="7738787" cy="331245"/>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smtClean="0">
                <a:latin typeface="Times New Roman" panose="02020603050405020304" pitchFamily="18" charset="0"/>
                <a:ea typeface="Calibri" panose="020F0502020204030204" pitchFamily="34" charset="0"/>
                <a:cs typeface="Arial" panose="020B0604020202020204" pitchFamily="34" charset="0"/>
              </a:rPr>
              <a:t>Function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644106" y="1819222"/>
            <a:ext cx="10475399" cy="2585323"/>
          </a:xfrm>
          <a:prstGeom prst="rect">
            <a:avLst/>
          </a:prstGeom>
        </p:spPr>
        <p:txBody>
          <a:bodyPr wrap="square">
            <a:spAutoFit/>
          </a:bodyPr>
          <a:lstStyle/>
          <a:p>
            <a:r>
              <a:rPr lang="en-US" b="1" dirty="0"/>
              <a:t>Steering shaft</a:t>
            </a:r>
            <a:r>
              <a:rPr lang="en-US" dirty="0"/>
              <a:t>: The shaft runs through the column and is the main component for transmitting motion from the steering wheel to the steering gear.</a:t>
            </a:r>
          </a:p>
          <a:p>
            <a:r>
              <a:rPr lang="en-US" b="1" dirty="0"/>
              <a:t>Steering gear</a:t>
            </a:r>
            <a:r>
              <a:rPr lang="en-US" dirty="0"/>
              <a:t>: The shaft connects to the steering gear (either a rack and pinion or steering box) at the other end, which converts the rotational motion into the linear movement of the wheels.</a:t>
            </a:r>
          </a:p>
          <a:p>
            <a:r>
              <a:rPr lang="en-US" b="1" dirty="0"/>
              <a:t>Housing</a:t>
            </a:r>
            <a:r>
              <a:rPr lang="en-US" dirty="0"/>
              <a:t>: The column is a tube-like housing that protects the steering shaft and often contains other components.</a:t>
            </a:r>
          </a:p>
          <a:p>
            <a:r>
              <a:rPr lang="en-US" b="1" dirty="0"/>
              <a:t>Universal joints</a:t>
            </a:r>
            <a:r>
              <a:rPr lang="en-US" dirty="0"/>
              <a:t>: These joints allow the column to deviate from a straight line, which helps position the steering wheel correctly for the driver.</a:t>
            </a:r>
          </a:p>
          <a:p>
            <a:r>
              <a:rPr lang="en-US" b="1" dirty="0"/>
              <a:t>Safety features</a:t>
            </a:r>
            <a:r>
              <a:rPr lang="en-US" dirty="0"/>
              <a:t>: In a collision, the column is designed to collapse to prevent it from impaling the drive</a:t>
            </a:r>
          </a:p>
        </p:txBody>
      </p:sp>
      <p:sp>
        <p:nvSpPr>
          <p:cNvPr id="6" name="Rectangle 5"/>
          <p:cNvSpPr/>
          <p:nvPr/>
        </p:nvSpPr>
        <p:spPr>
          <a:xfrm>
            <a:off x="644106" y="4570417"/>
            <a:ext cx="11061939" cy="1200329"/>
          </a:xfrm>
          <a:prstGeom prst="rect">
            <a:avLst/>
          </a:prstGeom>
        </p:spPr>
        <p:txBody>
          <a:bodyPr wrap="square">
            <a:spAutoFit/>
          </a:bodyPr>
          <a:lstStyle/>
          <a:p>
            <a:r>
              <a:rPr lang="en-US" b="1" dirty="0"/>
              <a:t>Controls</a:t>
            </a:r>
            <a:r>
              <a:rPr lang="en-US" dirty="0"/>
              <a:t>: The steering column assembly houses various controls, including turn signal switches and, in some models, the ignition.</a:t>
            </a:r>
          </a:p>
          <a:p>
            <a:r>
              <a:rPr lang="en-US" b="1" dirty="0"/>
              <a:t>Tilt adjustment</a:t>
            </a:r>
            <a:r>
              <a:rPr lang="en-US" dirty="0"/>
              <a:t>: Many steering columns have a tilt adjustment, which allows the driver to change the angle of the steering wheel for </a:t>
            </a:r>
            <a:r>
              <a:rPr lang="en-US" dirty="0" smtClean="0"/>
              <a:t>comfort</a:t>
            </a:r>
            <a:endParaRPr lang="en-US" dirty="0"/>
          </a:p>
        </p:txBody>
      </p:sp>
    </p:spTree>
    <p:custDataLst>
      <p:tags r:id="rId1"/>
    </p:custDataLst>
    <p:extLst>
      <p:ext uri="{BB962C8B-B14F-4D97-AF65-F5344CB8AC3E}">
        <p14:creationId xmlns:p14="http://schemas.microsoft.com/office/powerpoint/2010/main" val="2220909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56193" y="1044036"/>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44106" y="613351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23279" y="148797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smtClean="0">
                <a:latin typeface="Times New Roman" panose="02020603050405020304" pitchFamily="18" charset="0"/>
                <a:ea typeface="Calibri" panose="020F0502020204030204" pitchFamily="34" charset="0"/>
                <a:cs typeface="Arial" panose="020B0604020202020204" pitchFamily="34" charset="0"/>
              </a:rPr>
              <a:t>Common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792525" y="1877724"/>
            <a:ext cx="10818630" cy="646331"/>
          </a:xfrm>
          <a:prstGeom prst="rect">
            <a:avLst/>
          </a:prstGeom>
        </p:spPr>
        <p:txBody>
          <a:bodyPr wrap="square">
            <a:spAutoFit/>
          </a:bodyPr>
          <a:lstStyle/>
          <a:p>
            <a:r>
              <a:rPr lang="en-US" b="1" dirty="0" smtClean="0"/>
              <a:t>Steering </a:t>
            </a:r>
            <a:r>
              <a:rPr lang="en-US" b="1" dirty="0"/>
              <a:t>gear</a:t>
            </a:r>
            <a:r>
              <a:rPr lang="en-US" dirty="0"/>
              <a:t>: The mechanism that converts the rotary motion of the steering wheel into linear motion. Common types are rack and pinion and recirculating ball</a:t>
            </a:r>
            <a:r>
              <a:rPr lang="en-US" dirty="0" smtClean="0"/>
              <a:t>.</a:t>
            </a:r>
          </a:p>
        </p:txBody>
      </p:sp>
      <p:sp>
        <p:nvSpPr>
          <p:cNvPr id="5" name="Rectangle 4"/>
          <p:cNvSpPr/>
          <p:nvPr/>
        </p:nvSpPr>
        <p:spPr>
          <a:xfrm>
            <a:off x="792525" y="2597625"/>
            <a:ext cx="10456320" cy="646331"/>
          </a:xfrm>
          <a:prstGeom prst="rect">
            <a:avLst/>
          </a:prstGeom>
        </p:spPr>
        <p:txBody>
          <a:bodyPr wrap="square">
            <a:spAutoFit/>
          </a:bodyPr>
          <a:lstStyle/>
          <a:p>
            <a:r>
              <a:rPr lang="en-US" dirty="0"/>
              <a:t>It is the central part of the steering system, providing mechanical advantage so the driver can steer with less effort. The most common type of steering gear is the rack-and-pinion system</a:t>
            </a:r>
          </a:p>
        </p:txBody>
      </p:sp>
      <p:sp>
        <p:nvSpPr>
          <p:cNvPr id="6" name="Rectangle 5"/>
          <p:cNvSpPr/>
          <p:nvPr/>
        </p:nvSpPr>
        <p:spPr>
          <a:xfrm>
            <a:off x="792525" y="3317526"/>
            <a:ext cx="1608133" cy="369332"/>
          </a:xfrm>
          <a:prstGeom prst="rect">
            <a:avLst/>
          </a:prstGeom>
        </p:spPr>
        <p:txBody>
          <a:bodyPr wrap="none">
            <a:spAutoFit/>
          </a:bodyPr>
          <a:lstStyle/>
          <a:p>
            <a:r>
              <a:rPr lang="en-US" b="1" dirty="0"/>
              <a:t>How it works</a:t>
            </a:r>
          </a:p>
        </p:txBody>
      </p:sp>
      <p:sp>
        <p:nvSpPr>
          <p:cNvPr id="7" name="Rectangle 6"/>
          <p:cNvSpPr/>
          <p:nvPr/>
        </p:nvSpPr>
        <p:spPr>
          <a:xfrm>
            <a:off x="792525" y="3816554"/>
            <a:ext cx="11155060" cy="2308324"/>
          </a:xfrm>
          <a:prstGeom prst="rect">
            <a:avLst/>
          </a:prstGeom>
        </p:spPr>
        <p:txBody>
          <a:bodyPr wrap="square">
            <a:spAutoFit/>
          </a:bodyPr>
          <a:lstStyle/>
          <a:p>
            <a:r>
              <a:rPr lang="en-US" b="1" dirty="0"/>
              <a:t>Converts motion</a:t>
            </a:r>
            <a:r>
              <a:rPr lang="en-US" dirty="0"/>
              <a:t>: The steering gear's primary function is to change the steering wheel's circular motion into the side-to-side movement of the wheels</a:t>
            </a:r>
            <a:r>
              <a:rPr lang="en-US" dirty="0" smtClean="0"/>
              <a:t>.</a:t>
            </a:r>
          </a:p>
          <a:p>
            <a:endParaRPr lang="en-US" dirty="0"/>
          </a:p>
          <a:p>
            <a:r>
              <a:rPr lang="en-US" b="1" dirty="0"/>
              <a:t>Provides leverage</a:t>
            </a:r>
            <a:r>
              <a:rPr lang="en-US" dirty="0"/>
              <a:t>: It multiplies the driver's input, making it easier to turn the wheels, especially when a car is stationary or moving at low speeds</a:t>
            </a:r>
            <a:r>
              <a:rPr lang="en-US" dirty="0" smtClean="0"/>
              <a:t>.</a:t>
            </a:r>
          </a:p>
          <a:p>
            <a:endParaRPr lang="en-US" dirty="0"/>
          </a:p>
          <a:p>
            <a:r>
              <a:rPr lang="en-US" b="1" dirty="0"/>
              <a:t>Connects to wheels</a:t>
            </a:r>
            <a:r>
              <a:rPr lang="en-US" dirty="0"/>
              <a:t>: The steering gear transmits this motion to the front wheels via a series of linkage components, such as tie rods</a:t>
            </a:r>
          </a:p>
        </p:txBody>
      </p:sp>
    </p:spTree>
    <p:custDataLst>
      <p:tags r:id="rId1"/>
    </p:custDataLst>
    <p:extLst>
      <p:ext uri="{BB962C8B-B14F-4D97-AF65-F5344CB8AC3E}">
        <p14:creationId xmlns:p14="http://schemas.microsoft.com/office/powerpoint/2010/main" val="255877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56193" y="1044036"/>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44106" y="613351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23279" y="148797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smtClean="0">
                <a:latin typeface="Times New Roman" panose="02020603050405020304" pitchFamily="18" charset="0"/>
                <a:ea typeface="Calibri" panose="020F0502020204030204" pitchFamily="34" charset="0"/>
                <a:cs typeface="Arial" panose="020B0604020202020204" pitchFamily="34" charset="0"/>
              </a:rPr>
              <a:t>Common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792525" y="1877724"/>
            <a:ext cx="10818630" cy="646331"/>
          </a:xfrm>
          <a:prstGeom prst="rect">
            <a:avLst/>
          </a:prstGeom>
        </p:spPr>
        <p:txBody>
          <a:bodyPr wrap="square">
            <a:spAutoFit/>
          </a:bodyPr>
          <a:lstStyle/>
          <a:p>
            <a:r>
              <a:rPr lang="en-US" b="1" dirty="0" smtClean="0"/>
              <a:t>Steering </a:t>
            </a:r>
            <a:r>
              <a:rPr lang="en-US" b="1" dirty="0"/>
              <a:t>gear</a:t>
            </a:r>
            <a:r>
              <a:rPr lang="en-US" dirty="0"/>
              <a:t>: The mechanism that converts the rotary motion of the steering wheel into linear motion. Common types are rack and pinion and recirculating ball</a:t>
            </a:r>
            <a:r>
              <a:rPr lang="en-US" dirty="0" smtClean="0"/>
              <a:t>.</a:t>
            </a:r>
          </a:p>
        </p:txBody>
      </p:sp>
      <p:sp>
        <p:nvSpPr>
          <p:cNvPr id="8" name="Rectangle 7"/>
          <p:cNvSpPr/>
          <p:nvPr/>
        </p:nvSpPr>
        <p:spPr>
          <a:xfrm>
            <a:off x="756193" y="2665141"/>
            <a:ext cx="3775393" cy="369332"/>
          </a:xfrm>
          <a:prstGeom prst="rect">
            <a:avLst/>
          </a:prstGeom>
        </p:spPr>
        <p:txBody>
          <a:bodyPr wrap="none">
            <a:spAutoFit/>
          </a:bodyPr>
          <a:lstStyle/>
          <a:p>
            <a:r>
              <a:rPr lang="en-US" b="1" dirty="0"/>
              <a:t>Common types of steering gears</a:t>
            </a:r>
          </a:p>
        </p:txBody>
      </p:sp>
      <p:sp>
        <p:nvSpPr>
          <p:cNvPr id="9" name="Rectangle 8"/>
          <p:cNvSpPr/>
          <p:nvPr/>
        </p:nvSpPr>
        <p:spPr>
          <a:xfrm>
            <a:off x="792524" y="3034473"/>
            <a:ext cx="10473573" cy="2031325"/>
          </a:xfrm>
          <a:prstGeom prst="rect">
            <a:avLst/>
          </a:prstGeom>
        </p:spPr>
        <p:txBody>
          <a:bodyPr wrap="square">
            <a:spAutoFit/>
          </a:bodyPr>
          <a:lstStyle/>
          <a:p>
            <a:r>
              <a:rPr lang="en-US" b="1" dirty="0"/>
              <a:t>Rack-and-pinion: </a:t>
            </a:r>
            <a:r>
              <a:rPr lang="en-US" dirty="0"/>
              <a:t>This is the most common type in modern cars and is known for being direct and precise. It uses a pinion gear at the end of the steering column that meshes with a toothed rack. When the steering wheel turns, the pinion moves the rack left or right</a:t>
            </a:r>
            <a:r>
              <a:rPr lang="en-US" dirty="0" smtClean="0"/>
              <a:t>.</a:t>
            </a:r>
          </a:p>
          <a:p>
            <a:endParaRPr lang="en-US" dirty="0"/>
          </a:p>
          <a:p>
            <a:r>
              <a:rPr lang="en-US" b="1" dirty="0"/>
              <a:t>Recirculating ball: </a:t>
            </a:r>
            <a:r>
              <a:rPr lang="en-US" dirty="0"/>
              <a:t>This older system is often found in larger vehicles like trucks and some older cars. It uses a worm gear connected to the steering column that turns a sector gear. Ball bearings are used to reduce friction between the worm and the </a:t>
            </a:r>
            <a:r>
              <a:rPr lang="en-US" dirty="0" smtClean="0"/>
              <a:t>gear</a:t>
            </a:r>
            <a:endParaRPr lang="en-US" dirty="0"/>
          </a:p>
        </p:txBody>
      </p:sp>
      <p:pic>
        <p:nvPicPr>
          <p:cNvPr id="10" name="Picture 9"/>
          <p:cNvPicPr>
            <a:picLocks noChangeAspect="1"/>
          </p:cNvPicPr>
          <p:nvPr/>
        </p:nvPicPr>
        <p:blipFill>
          <a:blip r:embed="rId5"/>
          <a:stretch>
            <a:fillRect/>
          </a:stretch>
        </p:blipFill>
        <p:spPr>
          <a:xfrm>
            <a:off x="8262066" y="4749110"/>
            <a:ext cx="2390775" cy="1914525"/>
          </a:xfrm>
          <a:prstGeom prst="rect">
            <a:avLst/>
          </a:prstGeom>
        </p:spPr>
      </p:pic>
    </p:spTree>
    <p:custDataLst>
      <p:tags r:id="rId1"/>
    </p:custDataLst>
    <p:extLst>
      <p:ext uri="{BB962C8B-B14F-4D97-AF65-F5344CB8AC3E}">
        <p14:creationId xmlns:p14="http://schemas.microsoft.com/office/powerpoint/2010/main" val="2042194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56193" y="1044036"/>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44106" y="613351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23279" y="148797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smtClean="0">
                <a:latin typeface="Times New Roman" panose="02020603050405020304" pitchFamily="18" charset="0"/>
                <a:ea typeface="Calibri" panose="020F0502020204030204" pitchFamily="34" charset="0"/>
                <a:cs typeface="Arial" panose="020B0604020202020204" pitchFamily="34" charset="0"/>
              </a:rPr>
              <a:t>Common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9" name="Rectangle 8"/>
          <p:cNvSpPr/>
          <p:nvPr/>
        </p:nvSpPr>
        <p:spPr>
          <a:xfrm>
            <a:off x="644106" y="1877724"/>
            <a:ext cx="10473573" cy="923330"/>
          </a:xfrm>
          <a:prstGeom prst="rect">
            <a:avLst/>
          </a:prstGeom>
        </p:spPr>
        <p:txBody>
          <a:bodyPr wrap="square">
            <a:spAutoFit/>
          </a:bodyPr>
          <a:lstStyle/>
          <a:p>
            <a:r>
              <a:rPr lang="en-US" b="1" dirty="0"/>
              <a:t>Rack-and-pinion: </a:t>
            </a:r>
            <a:r>
              <a:rPr lang="en-US" dirty="0"/>
              <a:t>This is the most common type in modern cars and is known for being direct and precise. It uses a pinion gear at the end of the steering column that meshes with a toothed rack. When the steering wheel turns, the pinion moves the rack left or right</a:t>
            </a:r>
            <a:r>
              <a:rPr lang="en-US" dirty="0" smtClean="0"/>
              <a:t>.</a:t>
            </a:r>
            <a:endParaRPr lang="en-US" dirty="0"/>
          </a:p>
        </p:txBody>
      </p:sp>
      <p:pic>
        <p:nvPicPr>
          <p:cNvPr id="5" name="Picture 4"/>
          <p:cNvPicPr>
            <a:picLocks noChangeAspect="1"/>
          </p:cNvPicPr>
          <p:nvPr/>
        </p:nvPicPr>
        <p:blipFill>
          <a:blip r:embed="rId5"/>
          <a:stretch>
            <a:fillRect/>
          </a:stretch>
        </p:blipFill>
        <p:spPr>
          <a:xfrm>
            <a:off x="1052423" y="3058422"/>
            <a:ext cx="3882169" cy="2647950"/>
          </a:xfrm>
          <a:prstGeom prst="rect">
            <a:avLst/>
          </a:prstGeom>
        </p:spPr>
      </p:pic>
      <p:pic>
        <p:nvPicPr>
          <p:cNvPr id="6" name="Picture 5"/>
          <p:cNvPicPr>
            <a:picLocks noChangeAspect="1"/>
          </p:cNvPicPr>
          <p:nvPr/>
        </p:nvPicPr>
        <p:blipFill>
          <a:blip r:embed="rId6"/>
          <a:stretch>
            <a:fillRect/>
          </a:stretch>
        </p:blipFill>
        <p:spPr>
          <a:xfrm>
            <a:off x="5471241" y="2801054"/>
            <a:ext cx="5581650" cy="3762375"/>
          </a:xfrm>
          <a:prstGeom prst="rect">
            <a:avLst/>
          </a:prstGeom>
        </p:spPr>
      </p:pic>
    </p:spTree>
    <p:custDataLst>
      <p:tags r:id="rId1"/>
    </p:custDataLst>
    <p:extLst>
      <p:ext uri="{BB962C8B-B14F-4D97-AF65-F5344CB8AC3E}">
        <p14:creationId xmlns:p14="http://schemas.microsoft.com/office/powerpoint/2010/main" val="742242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56193" y="1044036"/>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44106" y="613351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23279" y="148797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smtClean="0">
                <a:latin typeface="Times New Roman" panose="02020603050405020304" pitchFamily="18" charset="0"/>
                <a:ea typeface="Calibri" panose="020F0502020204030204" pitchFamily="34" charset="0"/>
                <a:cs typeface="Arial" panose="020B0604020202020204" pitchFamily="34" charset="0"/>
              </a:rPr>
              <a:t>Common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9" name="Rectangle 8"/>
          <p:cNvSpPr/>
          <p:nvPr/>
        </p:nvSpPr>
        <p:spPr>
          <a:xfrm>
            <a:off x="644106" y="1877724"/>
            <a:ext cx="10473573" cy="923330"/>
          </a:xfrm>
          <a:prstGeom prst="rect">
            <a:avLst/>
          </a:prstGeom>
        </p:spPr>
        <p:txBody>
          <a:bodyPr wrap="square">
            <a:spAutoFit/>
          </a:bodyPr>
          <a:lstStyle/>
          <a:p>
            <a:r>
              <a:rPr lang="en-US" b="1" dirty="0" smtClean="0"/>
              <a:t>Recirculating </a:t>
            </a:r>
            <a:r>
              <a:rPr lang="en-US" b="1" dirty="0"/>
              <a:t>ball: </a:t>
            </a:r>
            <a:r>
              <a:rPr lang="en-US" dirty="0"/>
              <a:t>This older system is often found in larger vehicles like trucks and some older cars. It uses a worm gear connected to the steering column that turns a sector gear. Ball bearings are used to reduce friction between the worm and the </a:t>
            </a:r>
            <a:r>
              <a:rPr lang="en-US" dirty="0" smtClean="0"/>
              <a:t>gear</a:t>
            </a:r>
            <a:endParaRPr lang="en-US" dirty="0"/>
          </a:p>
        </p:txBody>
      </p:sp>
      <p:pic>
        <p:nvPicPr>
          <p:cNvPr id="10" name="Picture 9"/>
          <p:cNvPicPr>
            <a:picLocks noChangeAspect="1"/>
          </p:cNvPicPr>
          <p:nvPr/>
        </p:nvPicPr>
        <p:blipFill>
          <a:blip r:embed="rId5"/>
          <a:stretch>
            <a:fillRect/>
          </a:stretch>
        </p:blipFill>
        <p:spPr>
          <a:xfrm>
            <a:off x="895107" y="3101464"/>
            <a:ext cx="3312145" cy="2652355"/>
          </a:xfrm>
          <a:prstGeom prst="rect">
            <a:avLst/>
          </a:prstGeom>
        </p:spPr>
      </p:pic>
      <p:pic>
        <p:nvPicPr>
          <p:cNvPr id="4" name="Picture 3"/>
          <p:cNvPicPr>
            <a:picLocks noChangeAspect="1"/>
          </p:cNvPicPr>
          <p:nvPr/>
        </p:nvPicPr>
        <p:blipFill>
          <a:blip r:embed="rId6"/>
          <a:stretch>
            <a:fillRect/>
          </a:stretch>
        </p:blipFill>
        <p:spPr>
          <a:xfrm>
            <a:off x="5698915" y="3157599"/>
            <a:ext cx="3367447" cy="3182816"/>
          </a:xfrm>
          <a:prstGeom prst="rect">
            <a:avLst/>
          </a:prstGeom>
        </p:spPr>
      </p:pic>
    </p:spTree>
    <p:custDataLst>
      <p:tags r:id="rId1"/>
    </p:custDataLst>
    <p:extLst>
      <p:ext uri="{BB962C8B-B14F-4D97-AF65-F5344CB8AC3E}">
        <p14:creationId xmlns:p14="http://schemas.microsoft.com/office/powerpoint/2010/main" val="40576661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56193" y="1044036"/>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44106" y="613351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23279" y="148797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smtClean="0">
                <a:latin typeface="Times New Roman" panose="02020603050405020304" pitchFamily="18" charset="0"/>
                <a:ea typeface="Calibri" panose="020F0502020204030204" pitchFamily="34" charset="0"/>
                <a:cs typeface="Arial" panose="020B0604020202020204" pitchFamily="34" charset="0"/>
              </a:rPr>
              <a:t>Common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792525" y="1877724"/>
            <a:ext cx="10818630" cy="646331"/>
          </a:xfrm>
          <a:prstGeom prst="rect">
            <a:avLst/>
          </a:prstGeom>
        </p:spPr>
        <p:txBody>
          <a:bodyPr wrap="square">
            <a:spAutoFit/>
          </a:bodyPr>
          <a:lstStyle/>
          <a:p>
            <a:r>
              <a:rPr lang="en-US" b="1" dirty="0" smtClean="0"/>
              <a:t>Linkage</a:t>
            </a:r>
            <a:r>
              <a:rPr lang="en-US" dirty="0"/>
              <a:t>: A series of rods, arms, and tie rods that connect the steering gear to the steering knuckles on the wheels, transmitting the movement to turn them</a:t>
            </a:r>
          </a:p>
        </p:txBody>
      </p:sp>
      <p:sp>
        <p:nvSpPr>
          <p:cNvPr id="5" name="Rectangle 4"/>
          <p:cNvSpPr/>
          <p:nvPr/>
        </p:nvSpPr>
        <p:spPr>
          <a:xfrm>
            <a:off x="792524" y="2528293"/>
            <a:ext cx="10715113" cy="923330"/>
          </a:xfrm>
          <a:prstGeom prst="rect">
            <a:avLst/>
          </a:prstGeom>
        </p:spPr>
        <p:txBody>
          <a:bodyPr wrap="square">
            <a:spAutoFit/>
          </a:bodyPr>
          <a:lstStyle/>
          <a:p>
            <a:r>
              <a:rPr lang="en-US" dirty="0"/>
              <a:t> It is a critical part of the steering system, made up of various rods, levers, and joints like the tie rods, ball joints, and arms, which translate the driver's steering wheel input into directional movement of the wheels</a:t>
            </a:r>
          </a:p>
        </p:txBody>
      </p:sp>
      <p:pic>
        <p:nvPicPr>
          <p:cNvPr id="6" name="Picture 5"/>
          <p:cNvPicPr>
            <a:picLocks noChangeAspect="1"/>
          </p:cNvPicPr>
          <p:nvPr/>
        </p:nvPicPr>
        <p:blipFill>
          <a:blip r:embed="rId5"/>
          <a:stretch>
            <a:fillRect/>
          </a:stretch>
        </p:blipFill>
        <p:spPr>
          <a:xfrm>
            <a:off x="4658265" y="3490687"/>
            <a:ext cx="4252822" cy="2763464"/>
          </a:xfrm>
          <a:prstGeom prst="rect">
            <a:avLst/>
          </a:prstGeom>
        </p:spPr>
      </p:pic>
    </p:spTree>
    <p:custDataLst>
      <p:tags r:id="rId1"/>
    </p:custDataLst>
    <p:extLst>
      <p:ext uri="{BB962C8B-B14F-4D97-AF65-F5344CB8AC3E}">
        <p14:creationId xmlns:p14="http://schemas.microsoft.com/office/powerpoint/2010/main" val="2576269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56193" y="1044036"/>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44106" y="613351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23279" y="148797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smtClean="0">
                <a:latin typeface="Times New Roman" panose="02020603050405020304" pitchFamily="18" charset="0"/>
                <a:ea typeface="Calibri" panose="020F0502020204030204" pitchFamily="34" charset="0"/>
                <a:cs typeface="Arial" panose="020B0604020202020204" pitchFamily="34" charset="0"/>
              </a:rPr>
              <a:t>Common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756193" y="1804154"/>
            <a:ext cx="10818630" cy="646331"/>
          </a:xfrm>
          <a:prstGeom prst="rect">
            <a:avLst/>
          </a:prstGeom>
        </p:spPr>
        <p:txBody>
          <a:bodyPr wrap="square">
            <a:spAutoFit/>
          </a:bodyPr>
          <a:lstStyle/>
          <a:p>
            <a:r>
              <a:rPr lang="en-US" b="1" dirty="0" smtClean="0"/>
              <a:t>Linkage</a:t>
            </a:r>
            <a:r>
              <a:rPr lang="en-US" dirty="0"/>
              <a:t>: A series of rods, arms, and tie rods that connect the steering gear to the steering knuckles on the wheels, transmitting the movement to turn them</a:t>
            </a:r>
          </a:p>
        </p:txBody>
      </p:sp>
      <p:sp>
        <p:nvSpPr>
          <p:cNvPr id="7" name="Rectangle 6"/>
          <p:cNvSpPr/>
          <p:nvPr/>
        </p:nvSpPr>
        <p:spPr>
          <a:xfrm>
            <a:off x="756193" y="2450485"/>
            <a:ext cx="2044149" cy="369332"/>
          </a:xfrm>
          <a:prstGeom prst="rect">
            <a:avLst/>
          </a:prstGeom>
        </p:spPr>
        <p:txBody>
          <a:bodyPr wrap="none">
            <a:spAutoFit/>
          </a:bodyPr>
          <a:lstStyle/>
          <a:p>
            <a:r>
              <a:rPr lang="en-US" b="1" dirty="0"/>
              <a:t>Key components</a:t>
            </a:r>
          </a:p>
        </p:txBody>
      </p:sp>
      <p:sp>
        <p:nvSpPr>
          <p:cNvPr id="8" name="Rectangle 7"/>
          <p:cNvSpPr/>
          <p:nvPr/>
        </p:nvSpPr>
        <p:spPr>
          <a:xfrm>
            <a:off x="756193" y="2840232"/>
            <a:ext cx="10818630" cy="2308324"/>
          </a:xfrm>
          <a:prstGeom prst="rect">
            <a:avLst/>
          </a:prstGeom>
        </p:spPr>
        <p:txBody>
          <a:bodyPr wrap="square">
            <a:spAutoFit/>
          </a:bodyPr>
          <a:lstStyle/>
          <a:p>
            <a:r>
              <a:rPr lang="en-US" b="1" dirty="0"/>
              <a:t>Tie rods</a:t>
            </a:r>
            <a:r>
              <a:rPr lang="en-US" dirty="0"/>
              <a:t>: Connect the steering gear to the steering arms on the wheels. They are often connected to the steering arms by tie rod ends, which have a ball joint-like socket.</a:t>
            </a:r>
          </a:p>
          <a:p>
            <a:r>
              <a:rPr lang="en-US" b="1" dirty="0"/>
              <a:t>Ball joints</a:t>
            </a:r>
            <a:r>
              <a:rPr lang="en-US" dirty="0"/>
              <a:t>: Allow the wheels to move up and down while pivoting in different directions.</a:t>
            </a:r>
          </a:p>
          <a:p>
            <a:r>
              <a:rPr lang="en-US" b="1" dirty="0"/>
              <a:t>Control arms</a:t>
            </a:r>
            <a:r>
              <a:rPr lang="en-US" dirty="0"/>
              <a:t>: Part of the suspension that connects the wheels to the vehicle's body.</a:t>
            </a:r>
          </a:p>
          <a:p>
            <a:r>
              <a:rPr lang="en-US" b="1" dirty="0"/>
              <a:t>Steering arms</a:t>
            </a:r>
            <a:r>
              <a:rPr lang="en-US" dirty="0"/>
              <a:t>: Attached to the steering knuckles, these arms pivot the wheels when they are pushed or pulled by the linkage.</a:t>
            </a:r>
          </a:p>
          <a:p>
            <a:r>
              <a:rPr lang="en-US" b="1" dirty="0"/>
              <a:t>Pitman arm, idler arm, and center link</a:t>
            </a:r>
            <a:r>
              <a:rPr lang="en-US" dirty="0"/>
              <a:t>: These components are part of the older "parallelogram" steering system, which uses a series of arms and rods to transfer motion to the wheel</a:t>
            </a:r>
          </a:p>
        </p:txBody>
      </p:sp>
    </p:spTree>
    <p:custDataLst>
      <p:tags r:id="rId1"/>
    </p:custDataLst>
    <p:extLst>
      <p:ext uri="{BB962C8B-B14F-4D97-AF65-F5344CB8AC3E}">
        <p14:creationId xmlns:p14="http://schemas.microsoft.com/office/powerpoint/2010/main" val="25787429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56193" y="1044036"/>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44106" y="613351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23279" y="148797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smtClean="0">
                <a:latin typeface="Times New Roman" panose="02020603050405020304" pitchFamily="18" charset="0"/>
                <a:ea typeface="Calibri" panose="020F0502020204030204" pitchFamily="34" charset="0"/>
                <a:cs typeface="Arial" panose="020B0604020202020204" pitchFamily="34" charset="0"/>
              </a:rPr>
              <a:t>Common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756193" y="1804154"/>
            <a:ext cx="10818630" cy="646331"/>
          </a:xfrm>
          <a:prstGeom prst="rect">
            <a:avLst/>
          </a:prstGeom>
        </p:spPr>
        <p:txBody>
          <a:bodyPr wrap="square">
            <a:spAutoFit/>
          </a:bodyPr>
          <a:lstStyle/>
          <a:p>
            <a:r>
              <a:rPr lang="en-US" b="1" dirty="0" smtClean="0"/>
              <a:t>Linkage</a:t>
            </a:r>
            <a:r>
              <a:rPr lang="en-US" dirty="0"/>
              <a:t>: A series of rods, arms, and tie rods that connect the steering gear to the steering knuckles on the wheels, transmitting the movement to turn them</a:t>
            </a:r>
          </a:p>
        </p:txBody>
      </p:sp>
      <p:sp>
        <p:nvSpPr>
          <p:cNvPr id="7" name="Rectangle 6"/>
          <p:cNvSpPr/>
          <p:nvPr/>
        </p:nvSpPr>
        <p:spPr>
          <a:xfrm>
            <a:off x="756193" y="2450485"/>
            <a:ext cx="2044149" cy="369332"/>
          </a:xfrm>
          <a:prstGeom prst="rect">
            <a:avLst/>
          </a:prstGeom>
        </p:spPr>
        <p:txBody>
          <a:bodyPr wrap="none">
            <a:spAutoFit/>
          </a:bodyPr>
          <a:lstStyle/>
          <a:p>
            <a:r>
              <a:rPr lang="en-US" b="1" dirty="0"/>
              <a:t>Key components</a:t>
            </a:r>
          </a:p>
        </p:txBody>
      </p:sp>
      <p:pic>
        <p:nvPicPr>
          <p:cNvPr id="5" name="Picture 4"/>
          <p:cNvPicPr>
            <a:picLocks noChangeAspect="1"/>
          </p:cNvPicPr>
          <p:nvPr/>
        </p:nvPicPr>
        <p:blipFill>
          <a:blip r:embed="rId5"/>
          <a:stretch>
            <a:fillRect/>
          </a:stretch>
        </p:blipFill>
        <p:spPr>
          <a:xfrm>
            <a:off x="756193" y="2892144"/>
            <a:ext cx="7965113" cy="3241375"/>
          </a:xfrm>
          <a:prstGeom prst="rect">
            <a:avLst/>
          </a:prstGeom>
        </p:spPr>
      </p:pic>
    </p:spTree>
    <p:custDataLst>
      <p:tags r:id="rId1"/>
    </p:custDataLst>
    <p:extLst>
      <p:ext uri="{BB962C8B-B14F-4D97-AF65-F5344CB8AC3E}">
        <p14:creationId xmlns:p14="http://schemas.microsoft.com/office/powerpoint/2010/main" val="1470489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56193" y="1044036"/>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44106" y="613351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23279" y="148797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smtClean="0">
                <a:latin typeface="Times New Roman" panose="02020603050405020304" pitchFamily="18" charset="0"/>
                <a:ea typeface="Calibri" panose="020F0502020204030204" pitchFamily="34" charset="0"/>
                <a:cs typeface="Arial" panose="020B0604020202020204" pitchFamily="34" charset="0"/>
              </a:rPr>
              <a:t>Common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756193" y="1804154"/>
            <a:ext cx="10818630" cy="646331"/>
          </a:xfrm>
          <a:prstGeom prst="rect">
            <a:avLst/>
          </a:prstGeom>
        </p:spPr>
        <p:txBody>
          <a:bodyPr wrap="square">
            <a:spAutoFit/>
          </a:bodyPr>
          <a:lstStyle/>
          <a:p>
            <a:r>
              <a:rPr lang="en-US" b="1" dirty="0" smtClean="0"/>
              <a:t>Linkage</a:t>
            </a:r>
            <a:r>
              <a:rPr lang="en-US" dirty="0"/>
              <a:t>: A series of rods, arms, and tie rods that connect the steering gear to the steering knuckles on the wheels, transmitting the movement to turn them</a:t>
            </a:r>
          </a:p>
        </p:txBody>
      </p:sp>
      <p:sp>
        <p:nvSpPr>
          <p:cNvPr id="6" name="Rectangle 5"/>
          <p:cNvSpPr/>
          <p:nvPr/>
        </p:nvSpPr>
        <p:spPr>
          <a:xfrm>
            <a:off x="756193" y="2450485"/>
            <a:ext cx="1608133" cy="369332"/>
          </a:xfrm>
          <a:prstGeom prst="rect">
            <a:avLst/>
          </a:prstGeom>
        </p:spPr>
        <p:txBody>
          <a:bodyPr wrap="none">
            <a:spAutoFit/>
          </a:bodyPr>
          <a:lstStyle/>
          <a:p>
            <a:r>
              <a:rPr lang="en-US" b="1" dirty="0"/>
              <a:t>How it works</a:t>
            </a:r>
          </a:p>
        </p:txBody>
      </p:sp>
      <p:sp>
        <p:nvSpPr>
          <p:cNvPr id="8" name="Rectangle 7"/>
          <p:cNvSpPr/>
          <p:nvPr/>
        </p:nvSpPr>
        <p:spPr>
          <a:xfrm>
            <a:off x="756192" y="2901865"/>
            <a:ext cx="10958479" cy="2585323"/>
          </a:xfrm>
          <a:prstGeom prst="rect">
            <a:avLst/>
          </a:prstGeom>
        </p:spPr>
        <p:txBody>
          <a:bodyPr wrap="square">
            <a:spAutoFit/>
          </a:bodyPr>
          <a:lstStyle/>
          <a:p>
            <a:pPr marL="342900" indent="-342900">
              <a:buFont typeface="+mj-lt"/>
              <a:buAutoNum type="arabicPeriod"/>
            </a:pPr>
            <a:r>
              <a:rPr lang="en-US" dirty="0"/>
              <a:t>When the driver turns the steering wheel, the motion is sent to the steering gear</a:t>
            </a:r>
            <a:r>
              <a:rPr lang="en-US" dirty="0" smtClean="0"/>
              <a:t>.</a:t>
            </a:r>
          </a:p>
          <a:p>
            <a:endParaRPr lang="en-US" dirty="0"/>
          </a:p>
          <a:p>
            <a:r>
              <a:rPr lang="en-US" dirty="0" smtClean="0"/>
              <a:t>2. The </a:t>
            </a:r>
            <a:r>
              <a:rPr lang="en-US" dirty="0"/>
              <a:t>steering gear pushes or pulls on the linkage, causing parts like the tie rods to move</a:t>
            </a:r>
            <a:r>
              <a:rPr lang="en-US" dirty="0" smtClean="0"/>
              <a:t>.</a:t>
            </a:r>
          </a:p>
          <a:p>
            <a:endParaRPr lang="en-US" dirty="0"/>
          </a:p>
          <a:p>
            <a:r>
              <a:rPr lang="en-US" dirty="0" smtClean="0"/>
              <a:t>3. This </a:t>
            </a:r>
            <a:r>
              <a:rPr lang="en-US" dirty="0"/>
              <a:t>movement is transferred through the linkage to the steering arms on the wheels, which pivots them left or right</a:t>
            </a:r>
            <a:r>
              <a:rPr lang="en-US" dirty="0" smtClean="0"/>
              <a:t>.</a:t>
            </a:r>
          </a:p>
          <a:p>
            <a:endParaRPr lang="en-US" dirty="0"/>
          </a:p>
          <a:p>
            <a:r>
              <a:rPr lang="en-US" dirty="0" smtClean="0"/>
              <a:t>4. The </a:t>
            </a:r>
            <a:r>
              <a:rPr lang="en-US" dirty="0"/>
              <a:t>linkage is designed with pivot points, like ball joints, to allow the wheels to move up and down over the road while still turning correctly</a:t>
            </a:r>
          </a:p>
        </p:txBody>
      </p:sp>
    </p:spTree>
    <p:custDataLst>
      <p:tags r:id="rId1"/>
    </p:custDataLst>
    <p:extLst>
      <p:ext uri="{BB962C8B-B14F-4D97-AF65-F5344CB8AC3E}">
        <p14:creationId xmlns:p14="http://schemas.microsoft.com/office/powerpoint/2010/main" val="30692039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56193" y="1044036"/>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44106" y="613351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23279" y="148797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smtClean="0">
                <a:latin typeface="Times New Roman" panose="02020603050405020304" pitchFamily="18" charset="0"/>
                <a:ea typeface="Calibri" panose="020F0502020204030204" pitchFamily="34" charset="0"/>
                <a:cs typeface="Arial" panose="020B0604020202020204" pitchFamily="34" charset="0"/>
              </a:rPr>
              <a:t>Common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756193" y="1804154"/>
            <a:ext cx="10818630" cy="646331"/>
          </a:xfrm>
          <a:prstGeom prst="rect">
            <a:avLst/>
          </a:prstGeom>
        </p:spPr>
        <p:txBody>
          <a:bodyPr wrap="square">
            <a:spAutoFit/>
          </a:bodyPr>
          <a:lstStyle/>
          <a:p>
            <a:r>
              <a:rPr lang="en-US" b="1" dirty="0" smtClean="0"/>
              <a:t>Linkage</a:t>
            </a:r>
            <a:r>
              <a:rPr lang="en-US" dirty="0"/>
              <a:t>: A series of rods, arms, and tie rods that connect the steering gear to the steering knuckles on the wheels, transmitting the movement to turn them</a:t>
            </a:r>
          </a:p>
        </p:txBody>
      </p:sp>
      <p:sp>
        <p:nvSpPr>
          <p:cNvPr id="6" name="Rectangle 5"/>
          <p:cNvSpPr/>
          <p:nvPr/>
        </p:nvSpPr>
        <p:spPr>
          <a:xfrm>
            <a:off x="756193" y="2450485"/>
            <a:ext cx="1608133" cy="369332"/>
          </a:xfrm>
          <a:prstGeom prst="rect">
            <a:avLst/>
          </a:prstGeom>
        </p:spPr>
        <p:txBody>
          <a:bodyPr wrap="none">
            <a:spAutoFit/>
          </a:bodyPr>
          <a:lstStyle/>
          <a:p>
            <a:r>
              <a:rPr lang="en-US" b="1" dirty="0"/>
              <a:t>How it works</a:t>
            </a:r>
          </a:p>
        </p:txBody>
      </p:sp>
      <p:pic>
        <p:nvPicPr>
          <p:cNvPr id="5" name="em1O8mz7sF0"/>
          <p:cNvPicPr>
            <a:picLocks noRot="1" noChangeAspect="1"/>
          </p:cNvPicPr>
          <p:nvPr>
            <a:videoFile r:link="rId4"/>
          </p:nvPr>
        </p:nvPicPr>
        <p:blipFill>
          <a:blip r:embed="rId6"/>
          <a:stretch>
            <a:fillRect/>
          </a:stretch>
        </p:blipFill>
        <p:spPr>
          <a:xfrm>
            <a:off x="3479514" y="3006127"/>
            <a:ext cx="4572000" cy="2571750"/>
          </a:xfrm>
          <a:prstGeom prst="rect">
            <a:avLst/>
          </a:prstGeom>
        </p:spPr>
      </p:pic>
    </p:spTree>
    <p:custDataLst>
      <p:tags r:id="rId1"/>
    </p:custDataLst>
    <p:extLst>
      <p:ext uri="{BB962C8B-B14F-4D97-AF65-F5344CB8AC3E}">
        <p14:creationId xmlns:p14="http://schemas.microsoft.com/office/powerpoint/2010/main" val="1022908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76963" y="966587"/>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97458"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876963" y="128312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smtClean="0">
                <a:latin typeface="Times New Roman" panose="02020603050405020304" pitchFamily="18" charset="0"/>
                <a:ea typeface="Calibri" panose="020F0502020204030204" pitchFamily="34" charset="0"/>
                <a:cs typeface="Arial" panose="020B0604020202020204" pitchFamily="34" charset="0"/>
              </a:rPr>
              <a:t>Power Steering Types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876962" y="1563563"/>
            <a:ext cx="10751445" cy="923330"/>
          </a:xfrm>
          <a:prstGeom prst="rect">
            <a:avLst/>
          </a:prstGeom>
        </p:spPr>
        <p:txBody>
          <a:bodyPr wrap="square">
            <a:spAutoFit/>
          </a:bodyPr>
          <a:lstStyle/>
          <a:p>
            <a:r>
              <a:rPr lang="en-US" dirty="0" smtClean="0"/>
              <a:t>Vehicles </a:t>
            </a:r>
            <a:r>
              <a:rPr lang="en-US" dirty="0"/>
              <a:t>use power steering systems, either </a:t>
            </a:r>
            <a:r>
              <a:rPr lang="en-US" b="1" dirty="0"/>
              <a:t>hydraulic or electric</a:t>
            </a:r>
            <a:r>
              <a:rPr lang="en-US" dirty="0"/>
              <a:t>, to assist the driver, or other specialized systems like four-wheel steering or steer-by-wire for enhanced maneuverability or advanced </a:t>
            </a:r>
            <a:r>
              <a:rPr lang="en-US" dirty="0" smtClean="0"/>
              <a:t>control</a:t>
            </a:r>
            <a:endParaRPr lang="en-US" dirty="0"/>
          </a:p>
        </p:txBody>
      </p:sp>
      <p:sp>
        <p:nvSpPr>
          <p:cNvPr id="5" name="Rectangle 4"/>
          <p:cNvSpPr/>
          <p:nvPr/>
        </p:nvSpPr>
        <p:spPr>
          <a:xfrm>
            <a:off x="876961" y="2516214"/>
            <a:ext cx="10751445" cy="646331"/>
          </a:xfrm>
          <a:prstGeom prst="rect">
            <a:avLst/>
          </a:prstGeom>
        </p:spPr>
        <p:txBody>
          <a:bodyPr wrap="square">
            <a:spAutoFit/>
          </a:bodyPr>
          <a:lstStyle/>
          <a:p>
            <a:r>
              <a:rPr lang="en-US" b="1" dirty="0"/>
              <a:t>Hydraulic Power Steering (HPS): </a:t>
            </a:r>
            <a:r>
              <a:rPr lang="en-US" dirty="0"/>
              <a:t>An engine-driven pump creates hydraulic pressure to help the driver turn the wheel. This system is common in older vehicles but requires the pump to run constantly</a:t>
            </a:r>
          </a:p>
        </p:txBody>
      </p:sp>
      <p:sp>
        <p:nvSpPr>
          <p:cNvPr id="6" name="Rectangle 5"/>
          <p:cNvSpPr/>
          <p:nvPr/>
        </p:nvSpPr>
        <p:spPr>
          <a:xfrm>
            <a:off x="876960" y="3191866"/>
            <a:ext cx="10880843" cy="646331"/>
          </a:xfrm>
          <a:prstGeom prst="rect">
            <a:avLst/>
          </a:prstGeom>
        </p:spPr>
        <p:txBody>
          <a:bodyPr wrap="square">
            <a:spAutoFit/>
          </a:bodyPr>
          <a:lstStyle/>
          <a:p>
            <a:r>
              <a:rPr lang="en-US" b="1" dirty="0"/>
              <a:t>Electric Power Steering (EPS): </a:t>
            </a:r>
            <a:r>
              <a:rPr lang="en-US" dirty="0"/>
              <a:t>A motor provides assistance, but only when the steering wheel is turned, making it more efficient</a:t>
            </a:r>
          </a:p>
        </p:txBody>
      </p:sp>
      <p:sp>
        <p:nvSpPr>
          <p:cNvPr id="7" name="Rectangle 6"/>
          <p:cNvSpPr/>
          <p:nvPr/>
        </p:nvSpPr>
        <p:spPr>
          <a:xfrm>
            <a:off x="876960" y="3993878"/>
            <a:ext cx="11131010" cy="646331"/>
          </a:xfrm>
          <a:prstGeom prst="rect">
            <a:avLst/>
          </a:prstGeom>
        </p:spPr>
        <p:txBody>
          <a:bodyPr wrap="square">
            <a:spAutoFit/>
          </a:bodyPr>
          <a:lstStyle/>
          <a:p>
            <a:r>
              <a:rPr lang="en-US" dirty="0"/>
              <a:t>Pros: More fuel-efficient, allows for variable assistance based on speed, and doesn't have the risk of hydraulic fluid leaks</a:t>
            </a:r>
          </a:p>
        </p:txBody>
      </p:sp>
      <p:sp>
        <p:nvSpPr>
          <p:cNvPr id="8" name="Rectangle 7"/>
          <p:cNvSpPr/>
          <p:nvPr/>
        </p:nvSpPr>
        <p:spPr>
          <a:xfrm>
            <a:off x="875491" y="4764688"/>
            <a:ext cx="10364727" cy="923330"/>
          </a:xfrm>
          <a:prstGeom prst="rect">
            <a:avLst/>
          </a:prstGeom>
        </p:spPr>
        <p:txBody>
          <a:bodyPr wrap="square">
            <a:spAutoFit/>
          </a:bodyPr>
          <a:lstStyle/>
          <a:p>
            <a:r>
              <a:rPr lang="en-US" b="1" dirty="0"/>
              <a:t>Steer-by-Wire</a:t>
            </a:r>
            <a:r>
              <a:rPr lang="en-US" dirty="0"/>
              <a:t>: A high-tech system where the steering wheel is not mechanically linked to the wheels. It uses electronic signals to control the wheels, but the mechanical linkage is still used as a fail-safe in most road-legal vehicle</a:t>
            </a:r>
          </a:p>
        </p:txBody>
      </p:sp>
    </p:spTree>
    <p:custDataLst>
      <p:tags r:id="rId1"/>
    </p:custDataLst>
    <p:extLst>
      <p:ext uri="{BB962C8B-B14F-4D97-AF65-F5344CB8AC3E}">
        <p14:creationId xmlns:p14="http://schemas.microsoft.com/office/powerpoint/2010/main" val="8700183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76963" y="966587"/>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97458"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876963" y="1283127"/>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smtClean="0">
                <a:latin typeface="Times New Roman" panose="02020603050405020304" pitchFamily="18" charset="0"/>
                <a:ea typeface="Calibri" panose="020F0502020204030204" pitchFamily="34" charset="0"/>
                <a:cs typeface="Arial" panose="020B0604020202020204" pitchFamily="34" charset="0"/>
              </a:rPr>
              <a:t>Power Steering Types</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9" name="Rectangle 8"/>
          <p:cNvSpPr/>
          <p:nvPr/>
        </p:nvSpPr>
        <p:spPr>
          <a:xfrm>
            <a:off x="1110567" y="1730947"/>
            <a:ext cx="1787669" cy="369332"/>
          </a:xfrm>
          <a:prstGeom prst="rect">
            <a:avLst/>
          </a:prstGeom>
        </p:spPr>
        <p:txBody>
          <a:bodyPr wrap="none">
            <a:spAutoFit/>
          </a:bodyPr>
          <a:lstStyle/>
          <a:p>
            <a:r>
              <a:rPr lang="en-US" b="1" dirty="0"/>
              <a:t>Other systems</a:t>
            </a:r>
          </a:p>
        </p:txBody>
      </p:sp>
      <p:sp>
        <p:nvSpPr>
          <p:cNvPr id="10" name="Rectangle 9"/>
          <p:cNvSpPr/>
          <p:nvPr/>
        </p:nvSpPr>
        <p:spPr>
          <a:xfrm>
            <a:off x="1110567" y="2190565"/>
            <a:ext cx="10414324" cy="1477328"/>
          </a:xfrm>
          <a:prstGeom prst="rect">
            <a:avLst/>
          </a:prstGeom>
        </p:spPr>
        <p:txBody>
          <a:bodyPr wrap="square">
            <a:spAutoFit/>
          </a:bodyPr>
          <a:lstStyle/>
          <a:p>
            <a:r>
              <a:rPr lang="en-US" b="1" dirty="0"/>
              <a:t>Four-Wheel Steering: </a:t>
            </a:r>
            <a:r>
              <a:rPr lang="en-US" dirty="0"/>
              <a:t>Steers both the front and rear wheels to improve maneuverability at low speeds and stability at high speeds</a:t>
            </a:r>
            <a:r>
              <a:rPr lang="en-US" dirty="0" smtClean="0"/>
              <a:t>.</a:t>
            </a:r>
          </a:p>
          <a:p>
            <a:endParaRPr lang="en-US" dirty="0"/>
          </a:p>
          <a:p>
            <a:r>
              <a:rPr lang="en-US" b="1" dirty="0"/>
              <a:t>Manual Steering: </a:t>
            </a:r>
            <a:r>
              <a:rPr lang="en-US" dirty="0"/>
              <a:t>The driver provides all the force to turn the wheels without any power assistance. This is a simple and direct system, but requires significant physical </a:t>
            </a:r>
            <a:r>
              <a:rPr lang="en-US" dirty="0" smtClean="0"/>
              <a:t>effort</a:t>
            </a:r>
            <a:endParaRPr lang="en-US" dirty="0"/>
          </a:p>
        </p:txBody>
      </p:sp>
      <p:pic>
        <p:nvPicPr>
          <p:cNvPr id="11" name="Picture 10"/>
          <p:cNvPicPr>
            <a:picLocks noChangeAspect="1"/>
          </p:cNvPicPr>
          <p:nvPr/>
        </p:nvPicPr>
        <p:blipFill>
          <a:blip r:embed="rId5"/>
          <a:stretch>
            <a:fillRect/>
          </a:stretch>
        </p:blipFill>
        <p:spPr>
          <a:xfrm>
            <a:off x="7824158" y="3890513"/>
            <a:ext cx="3410967" cy="2204319"/>
          </a:xfrm>
          <a:prstGeom prst="rect">
            <a:avLst/>
          </a:prstGeom>
        </p:spPr>
      </p:pic>
    </p:spTree>
    <p:custDataLst>
      <p:tags r:id="rId1"/>
    </p:custDataLst>
    <p:extLst>
      <p:ext uri="{BB962C8B-B14F-4D97-AF65-F5344CB8AC3E}">
        <p14:creationId xmlns:p14="http://schemas.microsoft.com/office/powerpoint/2010/main" val="41726362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30314" y="1044036"/>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26854" y="604725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40532" y="1414407"/>
            <a:ext cx="11156887" cy="523220"/>
          </a:xfrm>
          <a:prstGeom prst="rect">
            <a:avLst/>
          </a:prstGeom>
        </p:spPr>
        <p:txBody>
          <a:bodyPr wrap="square">
            <a:spAutoFit/>
          </a:bodyPr>
          <a:lstStyle/>
          <a:p>
            <a:r>
              <a:rPr lang="en-US" sz="1400" b="1" dirty="0"/>
              <a:t>Hydraulic Power Steering (HPS): </a:t>
            </a:r>
            <a:r>
              <a:rPr lang="en-US" sz="1400" dirty="0"/>
              <a:t>An engine-driven pump creates hydraulic pressure to help the driver turn the wheel. This system is common in older vehicles but requires the pump to run constantly</a:t>
            </a:r>
            <a:endParaRPr lang="en-US" sz="1400" dirty="0"/>
          </a:p>
        </p:txBody>
      </p:sp>
      <p:sp>
        <p:nvSpPr>
          <p:cNvPr id="4" name="Rectangle 3"/>
          <p:cNvSpPr/>
          <p:nvPr/>
        </p:nvSpPr>
        <p:spPr>
          <a:xfrm>
            <a:off x="540531" y="2005785"/>
            <a:ext cx="11286283" cy="923330"/>
          </a:xfrm>
          <a:prstGeom prst="rect">
            <a:avLst/>
          </a:prstGeom>
        </p:spPr>
        <p:txBody>
          <a:bodyPr wrap="square">
            <a:spAutoFit/>
          </a:bodyPr>
          <a:lstStyle/>
          <a:p>
            <a:r>
              <a:rPr lang="en-US" dirty="0"/>
              <a:t>A hydraulic power steering system uses a belt-driven pump to pressurize hydraulic fluid, which is then directed by a rotary valve to a cylinder that helps move the steering rack, making steering lighter and more responsive</a:t>
            </a:r>
          </a:p>
        </p:txBody>
      </p:sp>
      <p:sp>
        <p:nvSpPr>
          <p:cNvPr id="5" name="Rectangle 4"/>
          <p:cNvSpPr/>
          <p:nvPr/>
        </p:nvSpPr>
        <p:spPr>
          <a:xfrm>
            <a:off x="540530" y="2997273"/>
            <a:ext cx="11286283" cy="646331"/>
          </a:xfrm>
          <a:prstGeom prst="rect">
            <a:avLst/>
          </a:prstGeom>
        </p:spPr>
        <p:txBody>
          <a:bodyPr wrap="square">
            <a:spAutoFit/>
          </a:bodyPr>
          <a:lstStyle/>
          <a:p>
            <a:r>
              <a:rPr lang="en-US" dirty="0"/>
              <a:t>This system provides variable assistance, delivering more support at low speeds and less at higher speeds, though it also has drawbacks like reduced fuel efficiency and the need for regular maintenance</a:t>
            </a:r>
          </a:p>
        </p:txBody>
      </p:sp>
      <p:sp>
        <p:nvSpPr>
          <p:cNvPr id="6" name="Rectangle 5"/>
          <p:cNvSpPr/>
          <p:nvPr/>
        </p:nvSpPr>
        <p:spPr>
          <a:xfrm>
            <a:off x="540530" y="3672740"/>
            <a:ext cx="1608133" cy="369332"/>
          </a:xfrm>
          <a:prstGeom prst="rect">
            <a:avLst/>
          </a:prstGeom>
        </p:spPr>
        <p:txBody>
          <a:bodyPr wrap="none">
            <a:spAutoFit/>
          </a:bodyPr>
          <a:lstStyle/>
          <a:p>
            <a:r>
              <a:rPr lang="en-US" b="1" dirty="0"/>
              <a:t>How it works</a:t>
            </a:r>
          </a:p>
        </p:txBody>
      </p:sp>
      <p:sp>
        <p:nvSpPr>
          <p:cNvPr id="7" name="Rectangle 6"/>
          <p:cNvSpPr/>
          <p:nvPr/>
        </p:nvSpPr>
        <p:spPr>
          <a:xfrm>
            <a:off x="540529" y="3988761"/>
            <a:ext cx="11286283" cy="1754326"/>
          </a:xfrm>
          <a:prstGeom prst="rect">
            <a:avLst/>
          </a:prstGeom>
        </p:spPr>
        <p:txBody>
          <a:bodyPr wrap="square">
            <a:spAutoFit/>
          </a:bodyPr>
          <a:lstStyle/>
          <a:p>
            <a:r>
              <a:rPr lang="en-US" b="1" dirty="0"/>
              <a:t>Pump</a:t>
            </a:r>
            <a:r>
              <a:rPr lang="en-US" dirty="0"/>
              <a:t>: An engine-driven pump pressurizes power steering fluid. The pump's speed is directly tied to the engine's speed, so higher engine RPMs mean more hydraulic pressure.</a:t>
            </a:r>
          </a:p>
          <a:p>
            <a:r>
              <a:rPr lang="en-US" b="1" dirty="0"/>
              <a:t>Valve</a:t>
            </a:r>
            <a:r>
              <a:rPr lang="en-US" dirty="0"/>
              <a:t>: When the driver turns the steering wheel, a rotary valve is activated. This valve directs the high-pressure fluid to one side of a hydraulic cylinder.</a:t>
            </a:r>
          </a:p>
          <a:p>
            <a:r>
              <a:rPr lang="en-US" b="1" dirty="0"/>
              <a:t>Cylinder</a:t>
            </a:r>
            <a:r>
              <a:rPr lang="en-US" dirty="0"/>
              <a:t>: The pressurized fluid moves a piston inside the cylinder, which is attached to the steering rack. This hydraulic force assists the physical effort required to turn the wheels.</a:t>
            </a:r>
          </a:p>
        </p:txBody>
      </p:sp>
    </p:spTree>
    <p:custDataLst>
      <p:tags r:id="rId1"/>
    </p:custDataLst>
    <p:extLst>
      <p:ext uri="{BB962C8B-B14F-4D97-AF65-F5344CB8AC3E}">
        <p14:creationId xmlns:p14="http://schemas.microsoft.com/office/powerpoint/2010/main" val="22129985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30314" y="1044036"/>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26854" y="604725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40532" y="1414407"/>
            <a:ext cx="11156887" cy="523220"/>
          </a:xfrm>
          <a:prstGeom prst="rect">
            <a:avLst/>
          </a:prstGeom>
        </p:spPr>
        <p:txBody>
          <a:bodyPr wrap="square">
            <a:spAutoFit/>
          </a:bodyPr>
          <a:lstStyle/>
          <a:p>
            <a:r>
              <a:rPr lang="en-US" sz="1400" b="1" dirty="0"/>
              <a:t>Hydraulic Power Steering (HPS): </a:t>
            </a:r>
            <a:r>
              <a:rPr lang="en-US" sz="1400" dirty="0"/>
              <a:t>An engine-driven pump creates hydraulic pressure to help the driver turn the wheel. This system is common in older vehicles but requires the pump to run constantly</a:t>
            </a:r>
            <a:endParaRPr lang="en-US" sz="1400" dirty="0"/>
          </a:p>
        </p:txBody>
      </p:sp>
      <p:sp>
        <p:nvSpPr>
          <p:cNvPr id="6" name="Rectangle 5"/>
          <p:cNvSpPr/>
          <p:nvPr/>
        </p:nvSpPr>
        <p:spPr>
          <a:xfrm>
            <a:off x="540532" y="1938666"/>
            <a:ext cx="1608133" cy="369332"/>
          </a:xfrm>
          <a:prstGeom prst="rect">
            <a:avLst/>
          </a:prstGeom>
        </p:spPr>
        <p:txBody>
          <a:bodyPr wrap="none">
            <a:spAutoFit/>
          </a:bodyPr>
          <a:lstStyle/>
          <a:p>
            <a:r>
              <a:rPr lang="en-US" b="1" dirty="0"/>
              <a:t>How it works</a:t>
            </a:r>
          </a:p>
        </p:txBody>
      </p:sp>
      <p:sp>
        <p:nvSpPr>
          <p:cNvPr id="8" name="Rectangle 7"/>
          <p:cNvSpPr/>
          <p:nvPr/>
        </p:nvSpPr>
        <p:spPr>
          <a:xfrm>
            <a:off x="540532" y="2268373"/>
            <a:ext cx="11303536" cy="1200329"/>
          </a:xfrm>
          <a:prstGeom prst="rect">
            <a:avLst/>
          </a:prstGeom>
        </p:spPr>
        <p:txBody>
          <a:bodyPr wrap="square">
            <a:spAutoFit/>
          </a:bodyPr>
          <a:lstStyle/>
          <a:p>
            <a:r>
              <a:rPr lang="en-US" b="1" dirty="0"/>
              <a:t>Assistance</a:t>
            </a:r>
            <a:r>
              <a:rPr lang="en-US" dirty="0"/>
              <a:t>: The system provides more assistance at low speeds (e.g., parking) for easier steering and less assistance at high speeds for better control. The valve returns some fluid to the reservoir to prevent the steering from feeling too sensitive at high speeds.</a:t>
            </a:r>
          </a:p>
          <a:p>
            <a:r>
              <a:rPr lang="en-US" b="1" dirty="0"/>
              <a:t>Fluid flow</a:t>
            </a:r>
            <a:r>
              <a:rPr lang="en-US" dirty="0"/>
              <a:t>: After the fluid has pushed the piston, it returns to the reservoir in a continuous cycle</a:t>
            </a:r>
          </a:p>
        </p:txBody>
      </p:sp>
      <p:sp>
        <p:nvSpPr>
          <p:cNvPr id="9" name="Rectangle 8"/>
          <p:cNvSpPr/>
          <p:nvPr/>
        </p:nvSpPr>
        <p:spPr>
          <a:xfrm>
            <a:off x="540531" y="3468377"/>
            <a:ext cx="11156888" cy="2585323"/>
          </a:xfrm>
          <a:prstGeom prst="rect">
            <a:avLst/>
          </a:prstGeom>
        </p:spPr>
        <p:txBody>
          <a:bodyPr wrap="square">
            <a:spAutoFit/>
          </a:bodyPr>
          <a:lstStyle/>
          <a:p>
            <a:r>
              <a:rPr lang="en-US" b="1" dirty="0"/>
              <a:t>Advantages</a:t>
            </a:r>
          </a:p>
          <a:p>
            <a:r>
              <a:rPr lang="en-US" dirty="0"/>
              <a:t>Responsive and light steering: Provides significant assistance, especially at low speeds, making the vehicle easier to maneuver.</a:t>
            </a:r>
          </a:p>
          <a:p>
            <a:r>
              <a:rPr lang="en-US" dirty="0"/>
              <a:t>Proven technology: It is a long-established and robust system. </a:t>
            </a:r>
          </a:p>
          <a:p>
            <a:r>
              <a:rPr lang="en-US" b="1" dirty="0"/>
              <a:t>Disadvantages</a:t>
            </a:r>
          </a:p>
          <a:p>
            <a:r>
              <a:rPr lang="en-US" dirty="0"/>
              <a:t>Fuel efficiency: The engine is constantly working to power the hydraulic pump, which can negatively impact fuel economy.</a:t>
            </a:r>
          </a:p>
          <a:p>
            <a:r>
              <a:rPr lang="en-US" dirty="0"/>
              <a:t>Maintenance: Requires regular maintenance, including checking and replacing the hydraulic fluid.</a:t>
            </a:r>
          </a:p>
          <a:p>
            <a:r>
              <a:rPr lang="en-US" dirty="0"/>
              <a:t>Complexity: Has more components than some newer electric power steering systems</a:t>
            </a:r>
          </a:p>
        </p:txBody>
      </p:sp>
    </p:spTree>
    <p:custDataLst>
      <p:tags r:id="rId1"/>
    </p:custDataLst>
    <p:extLst>
      <p:ext uri="{BB962C8B-B14F-4D97-AF65-F5344CB8AC3E}">
        <p14:creationId xmlns:p14="http://schemas.microsoft.com/office/powerpoint/2010/main" val="3024002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30314" y="1044036"/>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26854" y="604725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40532" y="1414407"/>
            <a:ext cx="11156887" cy="523220"/>
          </a:xfrm>
          <a:prstGeom prst="rect">
            <a:avLst/>
          </a:prstGeom>
        </p:spPr>
        <p:txBody>
          <a:bodyPr wrap="square">
            <a:spAutoFit/>
          </a:bodyPr>
          <a:lstStyle/>
          <a:p>
            <a:r>
              <a:rPr lang="en-US" sz="1400" b="1" dirty="0"/>
              <a:t>Hydraulic Power Steering (HPS): </a:t>
            </a:r>
            <a:r>
              <a:rPr lang="en-US" sz="1400" dirty="0"/>
              <a:t>An engine-driven pump creates hydraulic pressure to help the driver turn the wheel. This system is common in older vehicles but requires the pump to run constantly</a:t>
            </a:r>
            <a:endParaRPr lang="en-US" sz="1400" dirty="0"/>
          </a:p>
        </p:txBody>
      </p:sp>
      <p:sp>
        <p:nvSpPr>
          <p:cNvPr id="6" name="Rectangle 5"/>
          <p:cNvSpPr/>
          <p:nvPr/>
        </p:nvSpPr>
        <p:spPr>
          <a:xfrm>
            <a:off x="540532" y="1938666"/>
            <a:ext cx="1608133" cy="369332"/>
          </a:xfrm>
          <a:prstGeom prst="rect">
            <a:avLst/>
          </a:prstGeom>
        </p:spPr>
        <p:txBody>
          <a:bodyPr wrap="none">
            <a:spAutoFit/>
          </a:bodyPr>
          <a:lstStyle/>
          <a:p>
            <a:r>
              <a:rPr lang="en-US" b="1" dirty="0"/>
              <a:t>How it works</a:t>
            </a:r>
          </a:p>
        </p:txBody>
      </p:sp>
      <p:pic>
        <p:nvPicPr>
          <p:cNvPr id="4" name="Picture 3"/>
          <p:cNvPicPr>
            <a:picLocks noChangeAspect="1"/>
          </p:cNvPicPr>
          <p:nvPr/>
        </p:nvPicPr>
        <p:blipFill>
          <a:blip r:embed="rId5"/>
          <a:stretch>
            <a:fillRect/>
          </a:stretch>
        </p:blipFill>
        <p:spPr>
          <a:xfrm>
            <a:off x="6722854" y="1937627"/>
            <a:ext cx="4434421" cy="4434421"/>
          </a:xfrm>
          <a:prstGeom prst="rect">
            <a:avLst/>
          </a:prstGeom>
        </p:spPr>
      </p:pic>
    </p:spTree>
    <p:custDataLst>
      <p:tags r:id="rId1"/>
    </p:custDataLst>
    <p:extLst>
      <p:ext uri="{BB962C8B-B14F-4D97-AF65-F5344CB8AC3E}">
        <p14:creationId xmlns:p14="http://schemas.microsoft.com/office/powerpoint/2010/main" val="12775306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56193" y="979584"/>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506084"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825204" y="1361142"/>
            <a:ext cx="7738787" cy="523220"/>
          </a:xfrm>
          <a:prstGeom prst="rect">
            <a:avLst/>
          </a:prstGeom>
        </p:spPr>
        <p:txBody>
          <a:bodyPr wrap="square">
            <a:spAutoFit/>
          </a:bodyPr>
          <a:lstStyle/>
          <a:p>
            <a:r>
              <a:rPr lang="en-US" sz="1400" b="1" dirty="0"/>
              <a:t>Electric Power Steering (EPS): </a:t>
            </a:r>
            <a:r>
              <a:rPr lang="en-US" sz="1400" dirty="0"/>
              <a:t>A motor provides assistance, but only when the steering wheel is turned, making it more efficient</a:t>
            </a:r>
            <a:endParaRPr lang="en-US" sz="1400" dirty="0"/>
          </a:p>
        </p:txBody>
      </p:sp>
      <p:sp>
        <p:nvSpPr>
          <p:cNvPr id="4" name="Rectangle 3"/>
          <p:cNvSpPr/>
          <p:nvPr/>
        </p:nvSpPr>
        <p:spPr>
          <a:xfrm>
            <a:off x="825204" y="1884362"/>
            <a:ext cx="10561664" cy="1477328"/>
          </a:xfrm>
          <a:prstGeom prst="rect">
            <a:avLst/>
          </a:prstGeom>
        </p:spPr>
        <p:txBody>
          <a:bodyPr wrap="square">
            <a:spAutoFit/>
          </a:bodyPr>
          <a:lstStyle/>
          <a:p>
            <a:r>
              <a:rPr lang="en-US" dirty="0"/>
              <a:t>Electric Power Steering (EPS) uses an electric motor to assist the driver's steering effort, unlike hydraulic systems that use a pump and fluid. This system is more energy-efficient because the motor only draws power when the driver is steering and allows for customizable steering feel. Key components include an electronic control unit (ECU), a torque sensor to measure driver input, and a steering angle </a:t>
            </a:r>
            <a:r>
              <a:rPr lang="en-US" dirty="0" smtClean="0"/>
              <a:t>sensor</a:t>
            </a:r>
            <a:endParaRPr lang="en-US" dirty="0"/>
          </a:p>
        </p:txBody>
      </p:sp>
      <p:sp>
        <p:nvSpPr>
          <p:cNvPr id="5" name="Rectangle 4"/>
          <p:cNvSpPr/>
          <p:nvPr/>
        </p:nvSpPr>
        <p:spPr>
          <a:xfrm>
            <a:off x="825204" y="3462313"/>
            <a:ext cx="1608133" cy="369332"/>
          </a:xfrm>
          <a:prstGeom prst="rect">
            <a:avLst/>
          </a:prstGeom>
        </p:spPr>
        <p:txBody>
          <a:bodyPr wrap="none">
            <a:spAutoFit/>
          </a:bodyPr>
          <a:lstStyle/>
          <a:p>
            <a:r>
              <a:rPr lang="en-US" b="1" dirty="0"/>
              <a:t>How it works</a:t>
            </a:r>
          </a:p>
        </p:txBody>
      </p:sp>
      <p:sp>
        <p:nvSpPr>
          <p:cNvPr id="6" name="Rectangle 5"/>
          <p:cNvSpPr/>
          <p:nvPr/>
        </p:nvSpPr>
        <p:spPr>
          <a:xfrm>
            <a:off x="756193" y="3920932"/>
            <a:ext cx="11036116" cy="2031325"/>
          </a:xfrm>
          <a:prstGeom prst="rect">
            <a:avLst/>
          </a:prstGeom>
        </p:spPr>
        <p:txBody>
          <a:bodyPr wrap="square">
            <a:spAutoFit/>
          </a:bodyPr>
          <a:lstStyle/>
          <a:p>
            <a:r>
              <a:rPr lang="en-US" dirty="0"/>
              <a:t>Steering input: When the driver turns the steering wheel, a torque sensor detects the force being applied.</a:t>
            </a:r>
          </a:p>
          <a:p>
            <a:r>
              <a:rPr lang="en-US" dirty="0"/>
              <a:t>ECU processing: The electronic control unit (ECU) receives signals from the torque sensor and a vehicle speed sensor.</a:t>
            </a:r>
          </a:p>
          <a:p>
            <a:r>
              <a:rPr lang="en-US" dirty="0"/>
              <a:t>Motor assistance: Based on the driver's input and vehicle speed, the ECU tells the electric motor how much assistance to provide to help turn the wheels.</a:t>
            </a:r>
          </a:p>
          <a:p>
            <a:r>
              <a:rPr lang="en-US" dirty="0"/>
              <a:t>Variable assist: The amount of assistance changes with speed, making it easier to maneuver at low speeds (like parking) and providing more resistance for stability at high speeds</a:t>
            </a:r>
          </a:p>
        </p:txBody>
      </p:sp>
    </p:spTree>
    <p:custDataLst>
      <p:tags r:id="rId1"/>
    </p:custDataLst>
    <p:extLst>
      <p:ext uri="{BB962C8B-B14F-4D97-AF65-F5344CB8AC3E}">
        <p14:creationId xmlns:p14="http://schemas.microsoft.com/office/powerpoint/2010/main" val="37925113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56193" y="979584"/>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506084"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825204" y="1361142"/>
            <a:ext cx="7738787" cy="523220"/>
          </a:xfrm>
          <a:prstGeom prst="rect">
            <a:avLst/>
          </a:prstGeom>
        </p:spPr>
        <p:txBody>
          <a:bodyPr wrap="square">
            <a:spAutoFit/>
          </a:bodyPr>
          <a:lstStyle/>
          <a:p>
            <a:r>
              <a:rPr lang="en-US" sz="1400" b="1" dirty="0"/>
              <a:t>Electric Power Steering (EPS): </a:t>
            </a:r>
            <a:r>
              <a:rPr lang="en-US" sz="1400" dirty="0"/>
              <a:t>A motor provides assistance, but only when the steering wheel is turned, making it more efficient</a:t>
            </a:r>
            <a:endParaRPr lang="en-US" sz="1400" dirty="0"/>
          </a:p>
        </p:txBody>
      </p:sp>
      <p:sp>
        <p:nvSpPr>
          <p:cNvPr id="7" name="Rectangle 6"/>
          <p:cNvSpPr/>
          <p:nvPr/>
        </p:nvSpPr>
        <p:spPr>
          <a:xfrm>
            <a:off x="825204" y="1895549"/>
            <a:ext cx="1595309" cy="369332"/>
          </a:xfrm>
          <a:prstGeom prst="rect">
            <a:avLst/>
          </a:prstGeom>
        </p:spPr>
        <p:txBody>
          <a:bodyPr wrap="none">
            <a:spAutoFit/>
          </a:bodyPr>
          <a:lstStyle/>
          <a:p>
            <a:r>
              <a:rPr lang="en-US" b="1" dirty="0"/>
              <a:t>Components</a:t>
            </a:r>
          </a:p>
        </p:txBody>
      </p:sp>
      <p:sp>
        <p:nvSpPr>
          <p:cNvPr id="8" name="Rectangle 7"/>
          <p:cNvSpPr/>
          <p:nvPr/>
        </p:nvSpPr>
        <p:spPr>
          <a:xfrm>
            <a:off x="825204" y="2276068"/>
            <a:ext cx="6096000" cy="2862322"/>
          </a:xfrm>
          <a:prstGeom prst="rect">
            <a:avLst/>
          </a:prstGeom>
        </p:spPr>
        <p:txBody>
          <a:bodyPr>
            <a:spAutoFit/>
          </a:bodyPr>
          <a:lstStyle/>
          <a:p>
            <a:r>
              <a:rPr lang="en-US" b="1" dirty="0"/>
              <a:t>Electric motor</a:t>
            </a:r>
            <a:r>
              <a:rPr lang="en-US" dirty="0"/>
              <a:t>: Provides the rotational force to assist the steering.</a:t>
            </a:r>
          </a:p>
          <a:p>
            <a:r>
              <a:rPr lang="en-US" b="1" dirty="0"/>
              <a:t>Electronic Control Unit (ECU): </a:t>
            </a:r>
            <a:r>
              <a:rPr lang="en-US" dirty="0"/>
              <a:t>The "brain" of the system that reads sensor data and controls the motor.</a:t>
            </a:r>
          </a:p>
          <a:p>
            <a:r>
              <a:rPr lang="en-US" b="1" dirty="0"/>
              <a:t>Torque sensor</a:t>
            </a:r>
            <a:r>
              <a:rPr lang="en-US" dirty="0"/>
              <a:t>: Measures the force the driver applies to the steering wheel.</a:t>
            </a:r>
          </a:p>
          <a:p>
            <a:r>
              <a:rPr lang="en-US" b="1" dirty="0"/>
              <a:t>Steering angle sensor</a:t>
            </a:r>
            <a:r>
              <a:rPr lang="en-US" dirty="0"/>
              <a:t>: Monitors the position and rotation of the steering wheel.</a:t>
            </a:r>
          </a:p>
          <a:p>
            <a:r>
              <a:rPr lang="en-US" b="1" dirty="0"/>
              <a:t>Reduction gear</a:t>
            </a:r>
            <a:r>
              <a:rPr lang="en-US" dirty="0"/>
              <a:t>: Works with the motor to help turn the steering rack's </a:t>
            </a:r>
            <a:r>
              <a:rPr lang="en-US" dirty="0" smtClean="0"/>
              <a:t>gear</a:t>
            </a:r>
            <a:endParaRPr lang="en-US" dirty="0"/>
          </a:p>
        </p:txBody>
      </p:sp>
      <p:pic>
        <p:nvPicPr>
          <p:cNvPr id="9" name="Picture 8"/>
          <p:cNvPicPr>
            <a:picLocks noChangeAspect="1"/>
          </p:cNvPicPr>
          <p:nvPr/>
        </p:nvPicPr>
        <p:blipFill>
          <a:blip r:embed="rId5"/>
          <a:stretch>
            <a:fillRect/>
          </a:stretch>
        </p:blipFill>
        <p:spPr>
          <a:xfrm>
            <a:off x="7315200" y="2264880"/>
            <a:ext cx="4088921" cy="3851247"/>
          </a:xfrm>
          <a:prstGeom prst="rect">
            <a:avLst/>
          </a:prstGeom>
        </p:spPr>
      </p:pic>
      <p:pic>
        <p:nvPicPr>
          <p:cNvPr id="10" name="Picture 9"/>
          <p:cNvPicPr>
            <a:picLocks noChangeAspect="1"/>
          </p:cNvPicPr>
          <p:nvPr/>
        </p:nvPicPr>
        <p:blipFill>
          <a:blip r:embed="rId6"/>
          <a:stretch>
            <a:fillRect/>
          </a:stretch>
        </p:blipFill>
        <p:spPr>
          <a:xfrm>
            <a:off x="4855054" y="4770155"/>
            <a:ext cx="2533650" cy="1809750"/>
          </a:xfrm>
          <a:prstGeom prst="rect">
            <a:avLst/>
          </a:prstGeom>
        </p:spPr>
      </p:pic>
    </p:spTree>
    <p:custDataLst>
      <p:tags r:id="rId1"/>
    </p:custDataLst>
    <p:extLst>
      <p:ext uri="{BB962C8B-B14F-4D97-AF65-F5344CB8AC3E}">
        <p14:creationId xmlns:p14="http://schemas.microsoft.com/office/powerpoint/2010/main" val="30568962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56193" y="979584"/>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506084"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825204" y="1361142"/>
            <a:ext cx="7738787" cy="523220"/>
          </a:xfrm>
          <a:prstGeom prst="rect">
            <a:avLst/>
          </a:prstGeom>
        </p:spPr>
        <p:txBody>
          <a:bodyPr wrap="square">
            <a:spAutoFit/>
          </a:bodyPr>
          <a:lstStyle/>
          <a:p>
            <a:r>
              <a:rPr lang="en-US" sz="1400" b="1" dirty="0"/>
              <a:t>Electric Power Steering (EPS): </a:t>
            </a:r>
            <a:r>
              <a:rPr lang="en-US" sz="1400" dirty="0"/>
              <a:t>A motor provides assistance, but only when the steering wheel is turned, making it more efficient</a:t>
            </a:r>
            <a:endParaRPr lang="en-US" sz="1400" dirty="0"/>
          </a:p>
        </p:txBody>
      </p:sp>
      <p:sp>
        <p:nvSpPr>
          <p:cNvPr id="7" name="Rectangle 6"/>
          <p:cNvSpPr/>
          <p:nvPr/>
        </p:nvSpPr>
        <p:spPr>
          <a:xfrm>
            <a:off x="825204" y="1895549"/>
            <a:ext cx="1595309" cy="369332"/>
          </a:xfrm>
          <a:prstGeom prst="rect">
            <a:avLst/>
          </a:prstGeom>
        </p:spPr>
        <p:txBody>
          <a:bodyPr wrap="none">
            <a:spAutoFit/>
          </a:bodyPr>
          <a:lstStyle/>
          <a:p>
            <a:r>
              <a:rPr lang="en-US" b="1" dirty="0"/>
              <a:t>Components</a:t>
            </a:r>
          </a:p>
        </p:txBody>
      </p:sp>
      <p:sp>
        <p:nvSpPr>
          <p:cNvPr id="8" name="Rectangle 7"/>
          <p:cNvSpPr/>
          <p:nvPr/>
        </p:nvSpPr>
        <p:spPr>
          <a:xfrm>
            <a:off x="825204" y="2276068"/>
            <a:ext cx="6096000" cy="2862322"/>
          </a:xfrm>
          <a:prstGeom prst="rect">
            <a:avLst/>
          </a:prstGeom>
        </p:spPr>
        <p:txBody>
          <a:bodyPr>
            <a:spAutoFit/>
          </a:bodyPr>
          <a:lstStyle/>
          <a:p>
            <a:r>
              <a:rPr lang="en-US" b="1" dirty="0"/>
              <a:t>Electric motor</a:t>
            </a:r>
            <a:r>
              <a:rPr lang="en-US" dirty="0"/>
              <a:t>: Provides the rotational force to assist the steering.</a:t>
            </a:r>
          </a:p>
          <a:p>
            <a:r>
              <a:rPr lang="en-US" b="1" dirty="0"/>
              <a:t>Electronic Control Unit (ECU): </a:t>
            </a:r>
            <a:r>
              <a:rPr lang="en-US" dirty="0"/>
              <a:t>The "brain" of the system that reads sensor data and controls the motor.</a:t>
            </a:r>
          </a:p>
          <a:p>
            <a:r>
              <a:rPr lang="en-US" b="1" dirty="0"/>
              <a:t>Torque sensor</a:t>
            </a:r>
            <a:r>
              <a:rPr lang="en-US" dirty="0"/>
              <a:t>: Measures the force the driver applies to the steering wheel.</a:t>
            </a:r>
          </a:p>
          <a:p>
            <a:r>
              <a:rPr lang="en-US" b="1" dirty="0"/>
              <a:t>Steering angle sensor</a:t>
            </a:r>
            <a:r>
              <a:rPr lang="en-US" dirty="0"/>
              <a:t>: Monitors the position and rotation of the steering wheel.</a:t>
            </a:r>
          </a:p>
          <a:p>
            <a:r>
              <a:rPr lang="en-US" b="1" dirty="0"/>
              <a:t>Reduction gear</a:t>
            </a:r>
            <a:r>
              <a:rPr lang="en-US" dirty="0"/>
              <a:t>: Works with the motor to help turn the steering rack's </a:t>
            </a:r>
            <a:r>
              <a:rPr lang="en-US" dirty="0" smtClean="0"/>
              <a:t>gear</a:t>
            </a:r>
            <a:endParaRPr lang="en-US" dirty="0"/>
          </a:p>
        </p:txBody>
      </p:sp>
      <p:pic>
        <p:nvPicPr>
          <p:cNvPr id="4" name="Picture 3"/>
          <p:cNvPicPr>
            <a:picLocks noChangeAspect="1"/>
          </p:cNvPicPr>
          <p:nvPr/>
        </p:nvPicPr>
        <p:blipFill>
          <a:blip r:embed="rId5"/>
          <a:stretch>
            <a:fillRect/>
          </a:stretch>
        </p:blipFill>
        <p:spPr>
          <a:xfrm>
            <a:off x="8178201" y="1792138"/>
            <a:ext cx="2857500" cy="1600200"/>
          </a:xfrm>
          <a:prstGeom prst="rect">
            <a:avLst/>
          </a:prstGeom>
        </p:spPr>
      </p:pic>
      <p:sp>
        <p:nvSpPr>
          <p:cNvPr id="5" name="Rectangle 4"/>
          <p:cNvSpPr/>
          <p:nvPr/>
        </p:nvSpPr>
        <p:spPr>
          <a:xfrm>
            <a:off x="8345966" y="3400737"/>
            <a:ext cx="1925527" cy="307777"/>
          </a:xfrm>
          <a:prstGeom prst="rect">
            <a:avLst/>
          </a:prstGeom>
        </p:spPr>
        <p:txBody>
          <a:bodyPr wrap="none">
            <a:spAutoFit/>
          </a:bodyPr>
          <a:lstStyle/>
          <a:p>
            <a:r>
              <a:rPr lang="en-US" sz="1400" dirty="0"/>
              <a:t>Steering angle sensor</a:t>
            </a:r>
          </a:p>
        </p:txBody>
      </p:sp>
      <p:pic>
        <p:nvPicPr>
          <p:cNvPr id="6" name="Picture 5"/>
          <p:cNvPicPr>
            <a:picLocks noChangeAspect="1"/>
          </p:cNvPicPr>
          <p:nvPr/>
        </p:nvPicPr>
        <p:blipFill>
          <a:blip r:embed="rId6"/>
          <a:stretch>
            <a:fillRect/>
          </a:stretch>
        </p:blipFill>
        <p:spPr>
          <a:xfrm>
            <a:off x="8345966" y="3975339"/>
            <a:ext cx="2143125" cy="2133600"/>
          </a:xfrm>
          <a:prstGeom prst="rect">
            <a:avLst/>
          </a:prstGeom>
        </p:spPr>
      </p:pic>
    </p:spTree>
    <p:custDataLst>
      <p:tags r:id="rId1"/>
    </p:custDataLst>
    <p:extLst>
      <p:ext uri="{BB962C8B-B14F-4D97-AF65-F5344CB8AC3E}">
        <p14:creationId xmlns:p14="http://schemas.microsoft.com/office/powerpoint/2010/main" val="17553455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92623" y="1044036"/>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014985" y="148797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smtClean="0">
                <a:latin typeface="Times New Roman" panose="02020603050405020304" pitchFamily="18" charset="0"/>
                <a:ea typeface="Calibri" panose="020F0502020204030204" pitchFamily="34" charset="0"/>
                <a:cs typeface="Arial" panose="020B0604020202020204" pitchFamily="34" charset="0"/>
              </a:rPr>
              <a:t>Electrical steering system</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pic>
        <p:nvPicPr>
          <p:cNvPr id="5" name="Picture 4"/>
          <p:cNvPicPr>
            <a:picLocks noChangeAspect="1"/>
          </p:cNvPicPr>
          <p:nvPr/>
        </p:nvPicPr>
        <p:blipFill>
          <a:blip r:embed="rId5"/>
          <a:stretch>
            <a:fillRect/>
          </a:stretch>
        </p:blipFill>
        <p:spPr>
          <a:xfrm>
            <a:off x="7225161" y="1646065"/>
            <a:ext cx="4591050" cy="4844631"/>
          </a:xfrm>
          <a:prstGeom prst="rect">
            <a:avLst/>
          </a:prstGeom>
        </p:spPr>
      </p:pic>
      <p:sp>
        <p:nvSpPr>
          <p:cNvPr id="6" name="Rectangle 5"/>
          <p:cNvSpPr/>
          <p:nvPr/>
        </p:nvSpPr>
        <p:spPr>
          <a:xfrm>
            <a:off x="1129161" y="2003352"/>
            <a:ext cx="5306145" cy="2031325"/>
          </a:xfrm>
          <a:prstGeom prst="rect">
            <a:avLst/>
          </a:prstGeom>
        </p:spPr>
        <p:txBody>
          <a:bodyPr wrap="square">
            <a:spAutoFit/>
          </a:bodyPr>
          <a:lstStyle/>
          <a:p>
            <a:r>
              <a:rPr lang="en-US" dirty="0"/>
              <a:t>The Electronic Control Module (ECM) in an electric steering system (also known as the EPS Control Module or ECU) acts as the system's "brain". Its primary function is to calculate and provide the precise amount of steering assistance needed at any given moment, based on data from various sensors and other vehicle systems</a:t>
            </a:r>
          </a:p>
        </p:txBody>
      </p:sp>
    </p:spTree>
    <p:custDataLst>
      <p:tags r:id="rId1"/>
    </p:custDataLst>
    <p:extLst>
      <p:ext uri="{BB962C8B-B14F-4D97-AF65-F5344CB8AC3E}">
        <p14:creationId xmlns:p14="http://schemas.microsoft.com/office/powerpoint/2010/main" val="12452604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92623" y="1044036"/>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014985" y="148797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smtClean="0">
                <a:latin typeface="Times New Roman" panose="02020603050405020304" pitchFamily="18" charset="0"/>
                <a:ea typeface="Calibri" panose="020F0502020204030204" pitchFamily="34" charset="0"/>
                <a:cs typeface="Arial" panose="020B0604020202020204" pitchFamily="34" charset="0"/>
              </a:rPr>
              <a:t>Electrical steering system</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pic>
        <p:nvPicPr>
          <p:cNvPr id="4" name="Picture 3"/>
          <p:cNvPicPr>
            <a:picLocks noChangeAspect="1"/>
          </p:cNvPicPr>
          <p:nvPr/>
        </p:nvPicPr>
        <p:blipFill>
          <a:blip r:embed="rId5"/>
          <a:stretch>
            <a:fillRect/>
          </a:stretch>
        </p:blipFill>
        <p:spPr>
          <a:xfrm>
            <a:off x="1092623" y="1804154"/>
            <a:ext cx="7096965" cy="3463056"/>
          </a:xfrm>
          <a:prstGeom prst="rect">
            <a:avLst/>
          </a:prstGeom>
        </p:spPr>
      </p:pic>
    </p:spTree>
    <p:custDataLst>
      <p:tags r:id="rId1"/>
    </p:custDataLst>
    <p:extLst>
      <p:ext uri="{BB962C8B-B14F-4D97-AF65-F5344CB8AC3E}">
        <p14:creationId xmlns:p14="http://schemas.microsoft.com/office/powerpoint/2010/main" val="35755937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92623" y="1044036"/>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26854" y="5986870"/>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014985" y="148797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smtClean="0">
                <a:latin typeface="Times New Roman" panose="02020603050405020304" pitchFamily="18" charset="0"/>
                <a:ea typeface="Calibri" panose="020F0502020204030204" pitchFamily="34" charset="0"/>
                <a:cs typeface="Arial" panose="020B0604020202020204" pitchFamily="34" charset="0"/>
              </a:rPr>
              <a:t>Electrical steering system</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pic>
        <p:nvPicPr>
          <p:cNvPr id="5" name="Picture 4"/>
          <p:cNvPicPr>
            <a:picLocks noChangeAspect="1"/>
          </p:cNvPicPr>
          <p:nvPr/>
        </p:nvPicPr>
        <p:blipFill>
          <a:blip r:embed="rId5"/>
          <a:stretch>
            <a:fillRect/>
          </a:stretch>
        </p:blipFill>
        <p:spPr>
          <a:xfrm>
            <a:off x="4865299" y="1414407"/>
            <a:ext cx="6899740" cy="5400135"/>
          </a:xfrm>
          <a:prstGeom prst="rect">
            <a:avLst/>
          </a:prstGeom>
        </p:spPr>
      </p:pic>
      <p:pic>
        <p:nvPicPr>
          <p:cNvPr id="6" name="Picture 5"/>
          <p:cNvPicPr>
            <a:picLocks noChangeAspect="1"/>
          </p:cNvPicPr>
          <p:nvPr/>
        </p:nvPicPr>
        <p:blipFill>
          <a:blip r:embed="rId6"/>
          <a:stretch>
            <a:fillRect/>
          </a:stretch>
        </p:blipFill>
        <p:spPr>
          <a:xfrm>
            <a:off x="1014985" y="1984075"/>
            <a:ext cx="3746796" cy="3397388"/>
          </a:xfrm>
          <a:prstGeom prst="rect">
            <a:avLst/>
          </a:prstGeom>
        </p:spPr>
      </p:pic>
    </p:spTree>
    <p:custDataLst>
      <p:tags r:id="rId1"/>
    </p:custDataLst>
    <p:extLst>
      <p:ext uri="{BB962C8B-B14F-4D97-AF65-F5344CB8AC3E}">
        <p14:creationId xmlns:p14="http://schemas.microsoft.com/office/powerpoint/2010/main" val="9116912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92623" y="1044036"/>
            <a:ext cx="10018643" cy="370371"/>
          </a:xfrm>
          <a:prstGeom prst="rect">
            <a:avLst/>
          </a:prstGeom>
          <a:noFill/>
        </p:spPr>
        <p:txBody>
          <a:bodyPr wrap="square" rtlCol="0">
            <a:noAutofit/>
          </a:bodyPr>
          <a:lstStyle/>
          <a:p>
            <a:r>
              <a:rPr lang="en-US" b="1" dirty="0"/>
              <a:t>Chapter 9</a:t>
            </a:r>
            <a:r>
              <a:rPr lang="en-US" b="1" dirty="0" smtClean="0"/>
              <a:t> Inspection and Service Steering System Components </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26854" y="5986870"/>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014985" y="148797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smtClean="0">
                <a:latin typeface="Times New Roman" panose="02020603050405020304" pitchFamily="18" charset="0"/>
                <a:ea typeface="Calibri" panose="020F0502020204030204" pitchFamily="34" charset="0"/>
                <a:cs typeface="Arial" panose="020B0604020202020204" pitchFamily="34" charset="0"/>
              </a:rPr>
              <a:t>Electrical steering system</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pic>
        <p:nvPicPr>
          <p:cNvPr id="4" name="Fkgp64e-nNQ"/>
          <p:cNvPicPr>
            <a:picLocks noRot="1" noChangeAspect="1"/>
          </p:cNvPicPr>
          <p:nvPr>
            <a:videoFile r:link="rId4"/>
          </p:nvPr>
        </p:nvPicPr>
        <p:blipFill>
          <a:blip r:embed="rId6"/>
          <a:stretch>
            <a:fillRect/>
          </a:stretch>
        </p:blipFill>
        <p:spPr>
          <a:xfrm>
            <a:off x="1388854" y="2219890"/>
            <a:ext cx="6400799" cy="3600449"/>
          </a:xfrm>
          <a:prstGeom prst="rect">
            <a:avLst/>
          </a:prstGeom>
        </p:spPr>
      </p:pic>
    </p:spTree>
    <p:custDataLst>
      <p:tags r:id="rId1"/>
    </p:custDataLst>
    <p:extLst>
      <p:ext uri="{BB962C8B-B14F-4D97-AF65-F5344CB8AC3E}">
        <p14:creationId xmlns:p14="http://schemas.microsoft.com/office/powerpoint/2010/main" val="10103989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92696" y="1527335"/>
            <a:ext cx="10018643" cy="4086802"/>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0"/>
              </a:spcAft>
              <a:buClrTx/>
              <a:buSzPct val="100000"/>
              <a:buFont typeface="Courier New" panose="02070309020205020404" pitchFamily="49" charset="0"/>
              <a:buChar char="o"/>
              <a:tabLst/>
              <a:defRPr/>
            </a:pPr>
            <a:endPar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2" name="TextBox 1">
            <a:extLst>
              <a:ext uri="{FF2B5EF4-FFF2-40B4-BE49-F238E27FC236}">
                <a16:creationId xmlns:a16="http://schemas.microsoft.com/office/drawing/2014/main" id="{736D334A-8353-F612-C4E0-A0790F8E500E}"/>
              </a:ext>
            </a:extLst>
          </p:cNvPr>
          <p:cNvSpPr txBox="1"/>
          <p:nvPr/>
        </p:nvSpPr>
        <p:spPr>
          <a:xfrm>
            <a:off x="3677478" y="3309126"/>
            <a:ext cx="441297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THANK YOU</a:t>
            </a:r>
          </a:p>
        </p:txBody>
      </p:sp>
    </p:spTree>
    <p:custDataLst>
      <p:tags r:id="rId1"/>
    </p:custDataLst>
    <p:extLst>
      <p:ext uri="{BB962C8B-B14F-4D97-AF65-F5344CB8AC3E}">
        <p14:creationId xmlns:p14="http://schemas.microsoft.com/office/powerpoint/2010/main" val="1855877690"/>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Q4MGY0NjJhMzczNGQ0NjZmYzYxODFkYTNkOWQ4NTQifQ=="/>
</p:tagLst>
</file>

<file path=ppt/tags/tag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23075"/>
  <p:tag name="KSO_WM_CHIP_COLORING" val="1"/>
</p:tagLst>
</file>

<file path=ppt/tags/tag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4*i*1"/>
  <p:tag name="KSO_WM_BEAUTIFY_FLAG" val="#wm#"/>
  <p:tag name="KSO_WM_TAG_VERSION" val="1.0"/>
  <p:tag name="KSO_WM_CHIP_GROUPID" val="62cb92ed67e1b3ac3a0df933"/>
  <p:tag name="KSO_WM_CHIP_XID" val="62cb92f267e1b3ac3a0dfd51"/>
  <p:tag name="KSO_WM_UNIT_DEC_AREA_ID" val="a11a73839daf4afd8c8eecb70bd8d2c5"/>
  <p:tag name="KSO_WM_CHIP_FILLAREA_FILL_RULE" val="{&quot;fill_align&quot;:&quot;cm&quot;,&quot;fill_effect&quot;:[],&quot;fill_mode&quot;:&quot;adaptive&quot;,&quot;sacle_strategy&quot;:&quot;stretch&quot;}"/>
  <p:tag name="KSO_WM_UNIT_DEC_SUPPORTCHANGEPIC" val="0"/>
  <p:tag name="KSO_WM_UNIT_DEC_CHANGEPICRESERVED" val="1"/>
  <p:tag name="KSO_WM_ASSEMBLE_CHIP_INDEX" val="74db68e000024515aa2d711777418aa1"/>
</p:tagLst>
</file>

<file path=ppt/tags/tag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6*i*1"/>
  <p:tag name="KSO_WM_BEAUTIFY_FLAG" val="#wm#"/>
  <p:tag name="KSO_WM_TAG_VERSION" val="1.0"/>
  <p:tag name="KSO_WM_CHIP_GROUPID" val="62cb92ed67e1b3ac3a0df933"/>
  <p:tag name="KSO_WM_CHIP_XID" val="62cb92f267e1b3ac3a0dfc96"/>
  <p:tag name="KSO_WM_UNIT_DEC_AREA_ID" val="9fcaac9ea3384a638db80c6bdc5589bd"/>
  <p:tag name="KSO_WM_CHIP_FILLAREA_FILL_RULE" val="{&quot;fill_align&quot;:&quot;lt&quot;,&quot;fill_effect&quot;:[],&quot;fill_mode&quot;:&quot;adaptive&quot;,&quot;sacle_strategy&quot;:&quot;stretch&quot;}"/>
  <p:tag name="KSO_WM_UNIT_DEC_SUPPORTCHANGEPIC" val="0"/>
  <p:tag name="KSO_WM_UNIT_DEC_CHANGEPICRESERVED" val="1"/>
  <p:tag name="KSO_WM_ASSEMBLE_CHIP_INDEX" val="fc0d64f86cd3483cab8a5ed4c0ff90c2"/>
</p:tagLst>
</file>

<file path=ppt/tags/tag1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8*i*1"/>
  <p:tag name="KSO_WM_BEAUTIFY_FLAG" val="#wm#"/>
  <p:tag name="KSO_WM_TAG_VERSION" val="1.0"/>
  <p:tag name="KSO_WM_CHIP_GROUPID" val="62cb92ed67e1b3ac3a0df933"/>
  <p:tag name="KSO_WM_CHIP_XID" val="62cb92f267e1b3ac3a0dfcb7"/>
  <p:tag name="KSO_WM_UNIT_DEC_AREA_ID" val="0b6e32bb8e9b4cd59a73ec1ab58588a3"/>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6252d6d1848c46529fc1ac4283ac4f73"/>
</p:tagLst>
</file>

<file path=ppt/tags/tag11.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15*i*1"/>
  <p:tag name="KSO_WM_BEAUTIFY_FLAG" val="#wm#"/>
  <p:tag name="KSO_WM_TAG_VERSION" val="1.0"/>
  <p:tag name="KSO_WM_CHIP_GROUPID" val="62cb92ed67e1b3ac3a0df933"/>
  <p:tag name="KSO_WM_CHIP_XID" val="62cb92f267e1b3ac3a0dfd31"/>
  <p:tag name="KSO_WM_UNIT_DEC_AREA_ID" val="cedfc75459a64b91839f7c4e93fc4ab0"/>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2307ef49eb7844ab8170517694ba29cf"/>
</p:tagLst>
</file>

<file path=ppt/tags/tag1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7*i*1"/>
  <p:tag name="KSO_WM_BEAUTIFY_FLAG" val="#wm#"/>
  <p:tag name="KSO_WM_TAG_VERSION" val="1.0"/>
  <p:tag name="KSO_WM_CHIP_GROUPID" val="62cb92ed67e1b3ac3a0df933"/>
  <p:tag name="KSO_WM_CHIP_XID" val="62cb92f267e1b3ac3a0dfcb1"/>
  <p:tag name="KSO_WM_UNIT_DEC_AREA_ID" val="d0ce6c47bdc440d196dfdadc5c19a3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b4fe2c4d5bb440eb7542455658eee6d"/>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19.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2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i*1"/>
  <p:tag name="KSO_WM_BEAUTIFY_FLAG" val="#wm#"/>
  <p:tag name="KSO_WM_TAG_VERSION" val="1.0"/>
  <p:tag name="KSO_WM_CHIP_GROUPID" val="62cb92ed67e1b3ac3a0df933"/>
  <p:tag name="KSO_WM_CHIP_XID" val="62cb92f267e1b3ac3a0dfbd8"/>
  <p:tag name="KSO_WM_UNIT_DEC_AREA_ID" val="353a2ba7688d4d109d88d8fbf076f1be"/>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c821e70711df4ae0a04b6ba18360b869"/>
</p:tagLst>
</file>

<file path=ppt/tags/tag27.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4*i*1"/>
  <p:tag name="KSO_WM_BEAUTIFY_FLAG" val="#wm#"/>
  <p:tag name="KSO_WM_TAG_VERSION" val="1.0"/>
  <p:tag name="KSO_WM_CHIP_GROUPID" val="62cb92ed67e1b3ac3a0df933"/>
  <p:tag name="KSO_WM_CHIP_XID" val="62cb92f267e1b3ac3a0dfbcb"/>
  <p:tag name="KSO_WM_UNIT_DEC_AREA_ID" val="4ab4fedb6c6640b484a0fdb113c32716"/>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0b2380889160463abab291528e337d23"/>
</p:tagLst>
</file>

<file path=ppt/tags/tag28.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3*i*1"/>
  <p:tag name="KSO_WM_BEAUTIFY_FLAG" val="#wm#"/>
  <p:tag name="KSO_WM_TAG_VERSION" val="1.0"/>
  <p:tag name="KSO_WM_CHIP_GROUPID" val="62cb92ed67e1b3ac3a0df933"/>
  <p:tag name="KSO_WM_CHIP_XID" val="62cb92f267e1b3ac3a0dfbc7"/>
  <p:tag name="KSO_WM_UNIT_DEC_AREA_ID" val="f51db6bba423479a96c7def23f363aa5"/>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46eb048d58f74aaaaaf7557c2b39a70c"/>
</p:tagLst>
</file>

<file path=ppt/tags/tag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UNIT_DEFAULT_FONT" val="60;66;2"/>
  <p:tag name="KSO_WM_UNIT_BLOCK" val="0"/>
  <p:tag name="KSO_WM_UNIT_DEC_AREA_ID" val="e5577524724345448ce6d9c2ce3939e0"/>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15"/>
  <p:tag name="KSO_WM_UNIT_TEXT_FILL_FORE_SCHEMECOLOR_INDEX" val="13"/>
  <p:tag name="KSO_WM_UNIT_TEXT_FILL_TYPE" val="1"/>
  <p:tag name="KSO_WM_TEMPLATE_ASSEMBLE_XID" val="63156d2459d53ee3cde2290b"/>
  <p:tag name="KSO_WM_TEMPLATE_ASSEMBLE_GROUPID" val="62cb92ed67e1b3ac3a0df933"/>
</p:tagLst>
</file>

<file path=ppt/tags/tag3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为了演示发布的良好效果，请言简意赅地阐述您的观点。"/>
  <p:tag name="KSO_WM_UNIT_NOCLEAR" val="0"/>
  <p:tag name="KSO_WM_UNIT_VALUE" val="76"/>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UNIT_DEFAULT_FONT" val="14;14;2"/>
  <p:tag name="KSO_WM_UNIT_BLOCK" val="0"/>
  <p:tag name="KSO_WM_UNIT_DEC_AREA_ID" val="35127bff71ec4a98b1f1a512400e582e"/>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5"/>
  <p:tag name="KSO_WM_UNIT_TEXT_FILL_FORE_SCHEMECOLOR_INDEX" val="13"/>
  <p:tag name="KSO_WM_UNIT_TEXT_FILL_TYPE" val="1"/>
  <p:tag name="KSO_WM_TEMPLATE_ASSEMBLE_XID" val="63156d2459d53ee3cde2290b"/>
  <p:tag name="KSO_WM_TEMPLATE_ASSEMBLE_GROUPID" val="62cb92ed67e1b3ac3a0df933"/>
</p:tagLst>
</file>

<file path=ppt/tags/tag3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3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3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4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4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6*i*1"/>
  <p:tag name="KSO_WM_BEAUTIFY_FLAG" val="#wm#"/>
  <p:tag name="KSO_WM_TAG_VERSION" val="1.0"/>
  <p:tag name="KSO_WM_CHIP_GROUPID" val="62cb92ed67e1b3ac3a0df933"/>
  <p:tag name="KSO_WM_CHIP_XID" val="62cb92f267e1b3ac3a0df99b"/>
  <p:tag name="KSO_WM_UNIT_DEC_AREA_ID" val="7ae053233a014cf5b087ba4b069db752"/>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4d0fe025b92a4121b116f65108e5c0b7"/>
</p:tagLst>
</file>

<file path=ppt/tags/tag5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7*i*1"/>
  <p:tag name="KSO_WM_BEAUTIFY_FLAG" val="#wm#"/>
  <p:tag name="KSO_WM_TAG_VERSION" val="1.0"/>
  <p:tag name="KSO_WM_CHIP_GROUPID" val="62cb92ed67e1b3ac3a0df933"/>
  <p:tag name="KSO_WM_CHIP_XID" val="62cb92f267e1b3ac3a0df93d"/>
  <p:tag name="KSO_WM_UNIT_DEC_AREA_ID" val="7aac52c509324246a2139159652c9dce"/>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26a1af26a8d74008b1380f22ba29d46f"/>
</p:tagLst>
</file>

<file path=ppt/tags/tag56.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8*i*1"/>
  <p:tag name="KSO_WM_BEAUTIFY_FLAG" val="#wm#"/>
  <p:tag name="KSO_WM_TAG_VERSION" val="1.0"/>
  <p:tag name="KSO_WM_CHIP_GROUPID" val="62cb92ed67e1b3ac3a0df933"/>
  <p:tag name="KSO_WM_CHIP_XID" val="62cb92f267e1b3ac3a0df990"/>
  <p:tag name="KSO_WM_UNIT_DEC_AREA_ID" val="b20fbc8bd01f4b7ebdd46d90e2647b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68a292b1c74438a8be59c5e124aa1e5"/>
</p:tagLst>
</file>

<file path=ppt/tags/tag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6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6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7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7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1.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82.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83.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0*i*1"/>
  <p:tag name="KSO_WM_BEAUTIFY_FLAG" val="#wm#"/>
  <p:tag name="KSO_WM_TAG_VERSION" val="1.0"/>
  <p:tag name="KSO_WM_CHIP_GROUPID" val="62cb92ed67e1b3ac3a0df933"/>
  <p:tag name="KSO_WM_CHIP_XID" val="62cb92f267e1b3ac3a0dfaaf"/>
  <p:tag name="KSO_WM_UNIT_DEC_AREA_ID" val="511aa335ee7d4245a08946cb05b9faa4"/>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6cad2575e594576b80f3f7814fb0824"/>
</p:tagLst>
</file>

<file path=ppt/tags/tag89.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2*i*1"/>
  <p:tag name="KSO_WM_BEAUTIFY_FLAG" val="#wm#"/>
  <p:tag name="KSO_WM_TAG_VERSION" val="1.0"/>
  <p:tag name="KSO_WM_CHIP_GROUPID" val="62cb92ed67e1b3ac3a0df933"/>
  <p:tag name="KSO_WM_CHIP_XID" val="62cb92f267e1b3ac3a0dfa9c"/>
  <p:tag name="KSO_WM_UNIT_DEC_AREA_ID" val="cd0b699e343a426dbd8923da658f7258"/>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46079dca97b54b6f8f260c458203cdd5"/>
</p:tagLst>
</file>

<file path=ppt/tags/tag90.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1*i*1"/>
  <p:tag name="KSO_WM_BEAUTIFY_FLAG" val="#wm#"/>
  <p:tag name="KSO_WM_TAG_VERSION" val="1.0"/>
  <p:tag name="KSO_WM_CHIP_GROUPID" val="62cb92ed67e1b3ac3a0df933"/>
  <p:tag name="KSO_WM_CHIP_XID" val="62cb92f267e1b3ac3a0dfa7d"/>
  <p:tag name="KSO_WM_UNIT_DEC_AREA_ID" val="61fe8ffa078a456db36c7c5a609a0b36"/>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a3844cc6be254379824c635ec2fa7326"/>
</p:tagLst>
</file>

<file path=ppt/tags/tag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4.xml><?xml version="1.0" encoding="utf-8"?>
<p:tagLst xmlns:a="http://schemas.openxmlformats.org/drawingml/2006/main" xmlns:r="http://schemas.openxmlformats.org/officeDocument/2006/relationships" xmlns:p="http://schemas.openxmlformats.org/presentationml/2006/main">
  <p:tag name="KSO_WM_UNIT_DEFAULT_FONT" val="66;74;2"/>
  <p:tag name="KSO_WM_UNIT_BLOCK" val="0"/>
  <p:tag name="KSO_WM_UNIT_DEC_AREA_ID" val="024cb455de114c8590873753d08ef7c9"/>
  <p:tag name="KSO_WM_UNIT_ISCONTENTSTITLE" val="0"/>
  <p:tag name="KSO_WM_UNIT_ISNUMDGMTITLE" val="0"/>
  <p:tag name="KSO_WM_UNIT_PRESET_TEXT" val="感谢各位的观看"/>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5.xml><?xml version="1.0" encoding="utf-8"?>
<p:tagLst xmlns:a="http://schemas.openxmlformats.org/drawingml/2006/main" xmlns:r="http://schemas.openxmlformats.org/officeDocument/2006/relationships" xmlns:p="http://schemas.openxmlformats.org/presentationml/2006/main">
  <p:tag name="KSO_WM_UNIT_DEFAULT_FONT" val="16;18;2"/>
  <p:tag name="KSO_WM_UNIT_BLOCK" val="0"/>
  <p:tag name="KSO_WM_UNIT_DEC_AREA_ID" val="59dd0d01bf8d46bc94fd640b0712b633"/>
  <p:tag name="KSO_WM_UNIT_SUBTYPE" val="a"/>
  <p:tag name="KSO_WM_UNIT_PRESET_TEXT" val="点击此处添加正文，文字是您思想的提炼，为了演示发布的良好效果，请言简意赅地阐述您的观点。"/>
  <p:tag name="KSO_WM_UNIT_NOCLEAR" val="0"/>
  <p:tag name="KSO_WM_UNIT_VALUE" val="68"/>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6.xml><?xml version="1.0" encoding="utf-8"?>
<p:tagLst xmlns:a="http://schemas.openxmlformats.org/drawingml/2006/main" xmlns:r="http://schemas.openxmlformats.org/officeDocument/2006/relationships" xmlns:p="http://schemas.openxmlformats.org/presentationml/2006/main">
  <p:tag name="KSO_WM_UNIT_DEFAULT_FONT" val="20;22;2"/>
  <p:tag name="KSO_WM_UNIT_BLOCK" val="0"/>
  <p:tag name="KSO_WM_UNIT_DEC_AREA_ID" val="c54f68c39bda4efea42a2b1659b9e2ea"/>
  <p:tag name="KSO_WM_UNIT_ISCONTENTSTITLE" val="0"/>
  <p:tag name="KSO_WM_UNIT_ISNUMDGMTITLE" val="0"/>
  <p:tag name="KSO_WM_UNIT_PRESET_TEXT" val="单击此处添加副标题"/>
  <p:tag name="KSO_WM_UNIT_NOCLEAR" val="0"/>
  <p:tag name="KSO_WM_UNIT_VALUE" val="31"/>
  <p:tag name="KSO_WM_UNIT_HIGHLIGHT" val="0"/>
  <p:tag name="KSO_WM_UNIT_COMPATIBLE" val="0"/>
  <p:tag name="KSO_WM_UNIT_DIAGRAM_ISNUMVISUAL" val="0"/>
  <p:tag name="KSO_WM_UNIT_DIAGRAM_ISREFERUNIT" val="0"/>
  <p:tag name="KSO_WM_UNIT_TYPE" val="b"/>
  <p:tag name="KSO_WM_UNIT_INDEX" val="1"/>
  <p:tag name="KSO_WM_UNIT_ID" val="custom20223075_1*b*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 name="KSO_WM_SLIDE_BACKGROUND_TYPE" val="general"/>
</p:tagLst>
</file>

<file path=ppt/tags/tag98.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 name="KSO_WM_SLIDE_BACKGROUND_TYPE" val="general"/>
</p:tagLst>
</file>

<file path=ppt/tags/tag9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 name="KSO_WM_SLIDE_BACKGROUND_TYPE" val="general"/>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1.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3.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5ce45d99c9346cabff41e6ef0eb7af0"/>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6537d4269ae34ae59ff37b0111906262"/>
  <p:tag name="KSO_WM_SLIDE_BACKGROUND_TYPE" val="frame"/>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bg20220522_2*i*1"/>
  <p:tag name="KSO_WM_UNIT_LAYERLEVEL" val="1"/>
  <p:tag name="KSO_WM_TAG_VERSION" val="1.0"/>
  <p:tag name="KSO_WM_BEAUTIFY_FLAG" val="#wm#"/>
  <p:tag name="KSO_WM_UNIT_BK_DARK_LIGHT" val="2"/>
  <p:tag name="KSO_WM_UNIT_SUBTYPE" val="h"/>
  <p:tag name="KSO_WM_UNIT_TYPE" val="i"/>
  <p:tag name="KSO_WM_UNIT_INDEX" val="1"/>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9f"/>
</p:tagLst>
</file>

<file path=ppt/tags/tag10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42cf1ad8d3b4eb0bc92d6509446e45a"/>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d066acbe25924c35ba7e4d0e178721a0"/>
  <p:tag name="KSO_WM_SLIDE_BACKGROUND_TYPE" val="frame"/>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9.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0.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1.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2.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2039976cc11543efbf63e0c103feb90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eb60c42fd64e447c9b8f4cd9ce8e4ce2"/>
  <p:tag name="KSO_WM_SLIDE_BACKGROUND_TYPE" val="leftRight"/>
</p:tagLst>
</file>

<file path=ppt/tags/tag11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bg20220522_3*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0"/>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20.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2ad48e2b17a4f77b87a10486738724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a3575a3699ba4e9590b75c31e722b4ff"/>
  <p:tag name="KSO_WM_SLIDE_BACKGROUND_TYPE" val="topBottom"/>
</p:tagLst>
</file>

<file path=ppt/tags/tag12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bg20220522_4*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1"/>
</p:tagLst>
</file>

<file path=ppt/tags/tag12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e58b3c5437b14b488da16b18285e6cbb"/>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49d04b894b834011bbf293d67fba658e"/>
  <p:tag name="KSO_WM_SLIDE_BACKGROUND_TYPE" val="topBottom"/>
</p:tagLst>
</file>

<file path=ppt/tags/tag12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9.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f00e2266f384317bf6fac64cc483ba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2e98fb069d54a89a4b8b1732f73ed81"/>
  <p:tag name="KSO_WM_SLIDE_BACKGROUND_TYPE" val="bottomTop"/>
</p:tagLst>
</file>

<file path=ppt/tags/tag13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bg20220522_5*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2"/>
</p:tagLst>
</file>

<file path=ppt/tags/tag13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bb42711b180428ea5bd2cfefbce329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36697363c1ad4851b9c268ca0b1630f5"/>
  <p:tag name="KSO_WM_SLIDE_BACKGROUND_TYPE" val="navigation"/>
</p:tagLst>
</file>

<file path=ppt/tags/tag13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bg20220522_6*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3"/>
</p:tagLst>
</file>

<file path=ppt/tags/tag13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2b1a7f510dda4678a34427de5d8de730"/>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1bf646edba524302864a0e38be5e443b"/>
  <p:tag name="KSO_WM_SLIDE_BACKGROUND_TYPE" val="navigation"/>
</p:tagLst>
</file>

<file path=ppt/tags/tag14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a69f6163a09d4335b371cbcbaaa3e57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dcb46b93d9964b6e9394b5aded1e27e0"/>
  <p:tag name="KSO_WM_SLIDE_BACKGROUND_TYPE" val="belt"/>
</p:tagLst>
</file>

<file path=ppt/tags/tag14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bg20220522_7*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4"/>
</p:tagLst>
</file>

<file path=ppt/tags/tag15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a4ccf5ccfb9b44a896f37319a9a629a5"/>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f530d658cf74450e8cb5f979b7fa71d8"/>
  <p:tag name="KSO_WM_SLIDE_BACKGROUND_TYPE" val="belt"/>
</p:tagLst>
</file>

<file path=ppt/tags/tag151.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2.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3.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4.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5.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5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5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5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3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3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3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3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3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3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3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3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3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3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4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4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4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4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4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heme/theme1.xml><?xml version="1.0" encoding="utf-8"?>
<a:theme xmlns:a="http://schemas.openxmlformats.org/drawingml/2006/main" name="2_Office 主题​​">
  <a:themeElements>
    <a:clrScheme name="">
      <a:dk1>
        <a:srgbClr val="000000"/>
      </a:dk1>
      <a:lt1>
        <a:srgbClr val="FFFFFF"/>
      </a:lt1>
      <a:dk2>
        <a:srgbClr val="D88D7B"/>
      </a:dk2>
      <a:lt2>
        <a:srgbClr val="FFFFFF"/>
      </a:lt2>
      <a:accent1>
        <a:srgbClr val="FE7959"/>
      </a:accent1>
      <a:accent2>
        <a:srgbClr val="FE935E"/>
      </a:accent2>
      <a:accent3>
        <a:srgbClr val="FFAD63"/>
      </a:accent3>
      <a:accent4>
        <a:srgbClr val="FFA965"/>
      </a:accent4>
      <a:accent5>
        <a:srgbClr val="FF8864"/>
      </a:accent5>
      <a:accent6>
        <a:srgbClr val="FF6763"/>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1026</TotalTime>
  <Words>3220</Words>
  <Application>Microsoft Office PowerPoint</Application>
  <PresentationFormat>Widescreen</PresentationFormat>
  <Paragraphs>263</Paragraphs>
  <Slides>30</Slides>
  <Notes>0</Notes>
  <HiddenSlides>0</HiddenSlides>
  <MMClips>2</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微软雅黑</vt:lpstr>
      <vt:lpstr>宋体</vt:lpstr>
      <vt:lpstr>Arial</vt:lpstr>
      <vt:lpstr>Calibri</vt:lpstr>
      <vt:lpstr>Courier New</vt:lpstr>
      <vt:lpstr>Times New Roman</vt:lpstr>
      <vt:lpstr>Wingdings</vt:lpstr>
      <vt:lpstr>汉仪文黑-55简</vt:lpstr>
      <vt:lpstr>汉仪文黑-85简</vt:lpstr>
      <vt:lpstr>2_Office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Su Jiajing</dc:creator>
  <cp:lastModifiedBy>Ibrahim Siraj</cp:lastModifiedBy>
  <cp:revision>225</cp:revision>
  <dcterms:created xsi:type="dcterms:W3CDTF">2019-06-19T02:08:00Z</dcterms:created>
  <dcterms:modified xsi:type="dcterms:W3CDTF">2025-11-25T08:23:31Z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A05E1846C5A840C580943081378365C3_11</vt:lpwstr>
  </property>
</Properties>
</file>