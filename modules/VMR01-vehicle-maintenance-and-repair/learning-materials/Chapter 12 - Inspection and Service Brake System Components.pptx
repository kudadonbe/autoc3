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33"/>
  </p:notesMasterIdLst>
  <p:sldIdLst>
    <p:sldId id="265" r:id="rId2"/>
    <p:sldId id="267" r:id="rId3"/>
    <p:sldId id="337" r:id="rId4"/>
    <p:sldId id="338" r:id="rId5"/>
    <p:sldId id="332" r:id="rId6"/>
    <p:sldId id="353" r:id="rId7"/>
    <p:sldId id="333" r:id="rId8"/>
    <p:sldId id="334" r:id="rId9"/>
    <p:sldId id="340" r:id="rId10"/>
    <p:sldId id="341" r:id="rId11"/>
    <p:sldId id="342" r:id="rId12"/>
    <p:sldId id="343" r:id="rId13"/>
    <p:sldId id="344" r:id="rId14"/>
    <p:sldId id="345" r:id="rId15"/>
    <p:sldId id="346" r:id="rId16"/>
    <p:sldId id="354" r:id="rId17"/>
    <p:sldId id="339" r:id="rId18"/>
    <p:sldId id="347" r:id="rId19"/>
    <p:sldId id="348" r:id="rId20"/>
    <p:sldId id="349" r:id="rId21"/>
    <p:sldId id="350" r:id="rId22"/>
    <p:sldId id="351" r:id="rId23"/>
    <p:sldId id="352" r:id="rId24"/>
    <p:sldId id="355" r:id="rId25"/>
    <p:sldId id="356" r:id="rId26"/>
    <p:sldId id="357" r:id="rId27"/>
    <p:sldId id="358" r:id="rId28"/>
    <p:sldId id="359" r:id="rId29"/>
    <p:sldId id="360" r:id="rId30"/>
    <p:sldId id="336" r:id="rId31"/>
    <p:sldId id="295" r:id="rId32"/>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2026/4/23</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2026/4/23</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15.emf"/><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slideLayout" Target="../slideLayouts/slideLayout1.xml"/><Relationship Id="rId4" Type="http://schemas.openxmlformats.org/officeDocument/2006/relationships/tags" Target="../tags/tag165.xml"/></Relationships>
</file>

<file path=ppt/slides/_rels/slide4.xml.rels><?xml version="1.0" encoding="UTF-8" standalone="yes"?>
<Relationships xmlns="http://schemas.openxmlformats.org/package/2006/relationships"><Relationship Id="rId8" Type="http://schemas.openxmlformats.org/officeDocument/2006/relationships/hyperlink" Target="https://www.google.com/search?q=Anti-lock+braking+system+(ABS)&amp;sca_esv=fcc2a34eb259c0b4&amp;rlz=1C1GCEU_enMV1103MV1103&amp;sxsrf=AE3TifO8a_9rYahUFk-BRMySbur30XmwsA:1763278708077&amp;ei=dH8ZafG-BNmPseMP5KXfoAo&amp;ved=2ahUKEwix7eKulvaQAxViUGcHHU5vLKQQgK4QegQIAxAF&amp;uact=5&amp;oq=what+are+the+types+of+car+brake+systems&amp;gs_lp=Egxnd3Mtd2l6LXNlcnAiJ3doYXQgYXJlIHRoZSB0eXBlcyBvZiBjYXIgYnJha2Ugc3lzdGVtczIGEAAYFhgeMgYQABgWGB4yCxAAGIAEGIYDGIoFMgsQABiABBiGAxiKBTILEAAYgAQYhgMYigUyCBAAGIAEGKIEMggQABiABBiiBDIIEAAYgAQYogQyCBAAGIAEGKIEMggQABiABBiiBEjwU1C2BVjDT3ABeAGQAQCYAZIDoAG2OqoBCzMuMTEuMTMuNi4xuAEDyAEA-AEBmAIjoAKaPsICChAAGLADGNYEGEfCAgQQIxgnwgIFEAAYgATCAgoQIxjwBRgnGJ4GwgILEAAYgAQYkQIYigXCAgoQABiABBgUGIcCwgIIEAAYFhgKGB7CAgYQABgNGB7CAggQABgIGA0YHpgDAIgGAZAGCJIHCzEuMTQuMTAuOS4xoAfejgKyBwswLjE0LjEwLjkuMbgHkD7CBwgyLTQuMzAuMcgHhwM&amp;sclient=gws-wiz-serp&amp;mstk=AUtExfBV63j-nstzf2jD2HRPjSquB5ejPSiUV1APe_kTVmcH8kuBhTs2fuIFpwK51-JFJyr67Vm8zlSfwfZcPQEl7QkGmg632XapGHga3woSRijPho81KhNeYnvIbLmZjJEQJ2C5ACLwIZxiZFLvH_wiCvuNdDppVIBjPnGzMFGELQV-8NR2-a8JOVaXuGwMIUtkR3phslaR5yoPfv-TpbGfVEvzDyzFOroP_loh5vD9StuoE_vsRtqXE1el1PCZv4lb0qXX7Mav79AXBapdxs2dU2kA&amp;csui=3" TargetMode="External"/><Relationship Id="rId3" Type="http://schemas.openxmlformats.org/officeDocument/2006/relationships/tags" Target="../tags/tag168.xml"/><Relationship Id="rId7" Type="http://schemas.openxmlformats.org/officeDocument/2006/relationships/hyperlink" Target="https://www.google.com/search?q=Drum+brakes&amp;sca_esv=fcc2a34eb259c0b4&amp;rlz=1C1GCEU_enMV1103MV1103&amp;sxsrf=AE3TifO8a_9rYahUFk-BRMySbur30XmwsA:1763278708077&amp;ei=dH8ZafG-BNmPseMP5KXfoAo&amp;ved=2ahUKEwix7eKulvaQAxViUGcHHU5vLKQQgK4QegQIAxAD&amp;uact=5&amp;oq=what+are+the+types+of+car+brake+systems&amp;gs_lp=Egxnd3Mtd2l6LXNlcnAiJ3doYXQgYXJlIHRoZSB0eXBlcyBvZiBjYXIgYnJha2Ugc3lzdGVtczIGEAAYFhgeMgYQABgWGB4yCxAAGIAEGIYDGIoFMgsQABiABBiGAxiKBTILEAAYgAQYhgMYigUyCBAAGIAEGKIEMggQABiABBiiBDIIEAAYgAQYogQyCBAAGIAEGKIEMggQABiABBiiBEjwU1C2BVjDT3ABeAGQAQCYAZIDoAG2OqoBCzMuMTEuMTMuNi4xuAEDyAEA-AEBmAIjoAKaPsICChAAGLADGNYEGEfCAgQQIxgnwgIFEAAYgATCAgoQIxjwBRgnGJ4GwgILEAAYgAQYkQIYigXCAgoQABiABBgUGIcCwgIIEAAYFhgKGB7CAgYQABgNGB7CAggQABgIGA0YHpgDAIgGAZAGCJIHCzEuMTQuMTAuOS4xoAfejgKyBwswLjE0LjEwLjkuMbgHkD7CBwgyLTQuMzAuMcgHhwM&amp;sclient=gws-wiz-serp&amp;mstk=AUtExfBV63j-nstzf2jD2HRPjSquB5ejPSiUV1APe_kTVmcH8kuBhTs2fuIFpwK51-JFJyr67Vm8zlSfwfZcPQEl7QkGmg632XapGHga3woSRijPho81KhNeYnvIbLmZjJEQJ2C5ACLwIZxiZFLvH_wiCvuNdDppVIBjPnGzMFGELQV-8NR2-a8JOVaXuGwMIUtkR3phslaR5yoPfv-TpbGfVEvzDyzFOroP_loh5vD9StuoE_vsRtqXE1el1PCZv4lb0qXX7Mav79AXBapdxs2dU2kA&amp;csui=3" TargetMode="Externa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hyperlink" Target="https://www.google.com/search?q=Disc+brakes&amp;sca_esv=fcc2a34eb259c0b4&amp;rlz=1C1GCEU_enMV1103MV1103&amp;sxsrf=AE3TifO8a_9rYahUFk-BRMySbur30XmwsA:1763278708077&amp;ei=dH8ZafG-BNmPseMP5KXfoAo&amp;ved=2ahUKEwix7eKulvaQAxViUGcHHU5vLKQQgK4QegQIAxAB&amp;uact=5&amp;oq=what+are+the+types+of+car+brake+systems&amp;gs_lp=Egxnd3Mtd2l6LXNlcnAiJ3doYXQgYXJlIHRoZSB0eXBlcyBvZiBjYXIgYnJha2Ugc3lzdGVtczIGEAAYFhgeMgYQABgWGB4yCxAAGIAEGIYDGIoFMgsQABiABBiGAxiKBTILEAAYgAQYhgMYigUyCBAAGIAEGKIEMggQABiABBiiBDIIEAAYgAQYogQyCBAAGIAEGKIEMggQABiABBiiBEjwU1C2BVjDT3ABeAGQAQCYAZIDoAG2OqoBCzMuMTEuMTMuNi4xuAEDyAEA-AEBmAIjoAKaPsICChAAGLADGNYEGEfCAgQQIxgnwgIFEAAYgATCAgoQIxjwBRgnGJ4GwgILEAAYgAQYkQIYigXCAgoQABiABBgUGIcCwgIIEAAYFhgKGB7CAgYQABgNGB7CAggQABgIGA0YHpgDAIgGAZAGCJIHCzEuMTQuMTAuOS4xoAfejgKyBwswLjE0LjEwLjkuMbgHkD7CBwgyLTQuMzAuMcgHhwM&amp;sclient=gws-wiz-serp&amp;mstk=AUtExfBV63j-nstzf2jD2HRPjSquB5ejPSiUV1APe_kTVmcH8kuBhTs2fuIFpwK51-JFJyr67Vm8zlSfwfZcPQEl7QkGmg632XapGHga3woSRijPho81KhNeYnvIbLmZjJEQJ2C5ACLwIZxiZFLvH_wiCvuNdDppVIBjPnGzMFGELQV-8NR2-a8JOVaXuGwMIUtkR3phslaR5yoPfv-TpbGfVEvzDyzFOroP_loh5vD9StuoE_vsRtqXE1el1PCZv4lb0qXX7Mav79AXBapdxs2dU2kA&amp;csui=3" TargetMode="External"/><Relationship Id="rId5" Type="http://schemas.openxmlformats.org/officeDocument/2006/relationships/slideLayout" Target="../slideLayouts/slideLayout1.xml"/><Relationship Id="rId4" Type="http://schemas.openxmlformats.org/officeDocument/2006/relationships/tags" Target="../tags/tag169.xml"/><Relationship Id="rId9" Type="http://schemas.openxmlformats.org/officeDocument/2006/relationships/hyperlink" Target="https://www.google.com/search?q=Regenerative+braking&amp;sca_esv=fcc2a34eb259c0b4&amp;rlz=1C1GCEU_enMV1103MV1103&amp;sxsrf=AE3TifO8a_9rYahUFk-BRMySbur30XmwsA:1763278708077&amp;ei=dH8ZafG-BNmPseMP5KXfoAo&amp;ved=2ahUKEwix7eKulvaQAxViUGcHHU5vLKQQgK4QegQIAxAH&amp;uact=5&amp;oq=what+are+the+types+of+car+brake+systems&amp;gs_lp=Egxnd3Mtd2l6LXNlcnAiJ3doYXQgYXJlIHRoZSB0eXBlcyBvZiBjYXIgYnJha2Ugc3lzdGVtczIGEAAYFhgeMgYQABgWGB4yCxAAGIAEGIYDGIoFMgsQABiABBiGAxiKBTILEAAYgAQYhgMYigUyCBAAGIAEGKIEMggQABiABBiiBDIIEAAYgAQYogQyCBAAGIAEGKIEMggQABiABBiiBEjwU1C2BVjDT3ABeAGQAQCYAZIDoAG2OqoBCzMuMTEuMTMuNi4xuAEDyAEA-AEBmAIjoAKaPsICChAAGLADGNYEGEfCAgQQIxgnwgIFEAAYgATCAgoQIxjwBRgnGJ4GwgILEAAYgAQYkQIYigXCAgoQABiABBgUGIcCwgIIEAAYFhgKGB7CAgYQABgNGB7CAggQABgIGA0YHpgDAIgGAZAGCJIHCzEuMTQuMTAuOS4xoAfejgKyBwswLjE0LjEwLjkuMbgHkD7CBwgyLTQuMzAuMcgHhwM&amp;sclient=gws-wiz-serp&amp;mstk=AUtExfBV63j-nstzf2jD2HRPjSquB5ejPSiUV1APe_kTVmcH8kuBhTs2fuIFpwK51-JFJyr67Vm8zlSfwfZcPQEl7QkGmg632XapGHga3woSRijPho81KhNeYnvIbLmZjJEQJ2C5ACLwIZxiZFLvH_wiCvuNdDppVIBjPnGzMFGELQV-8NR2-a8JOVaXuGwMIUtkR3phslaR5yoPfv-TpbGfVEvzDyzFOroP_loh5vD9StuoE_vsRtqXE1el1PCZv4lb0qXX7Mav79AXBapdxs2dU2kA&amp;csui=3" TargetMode="External"/></Relationships>
</file>

<file path=ppt/slides/_rels/slide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image" Target="../media/image17.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5" Type="http://schemas.openxmlformats.org/officeDocument/2006/relationships/image" Target="../media/image21.png"/><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5" Type="http://schemas.openxmlformats.org/officeDocument/2006/relationships/image" Target="../media/image25.png"/><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tags" Target="../tags/tag206.xml"/><Relationship Id="rId5" Type="http://schemas.openxmlformats.org/officeDocument/2006/relationships/image" Target="../media/image30.png"/><Relationship Id="rId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 Id="rId5" Type="http://schemas.openxmlformats.org/officeDocument/2006/relationships/image" Target="../media/image31.png"/><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5" Type="http://schemas.openxmlformats.org/officeDocument/2006/relationships/image" Target="../media/image32.png"/><Relationship Id="rId4"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33.png"/><Relationship Id="rId4"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tags" Target="../tags/tag223.xml"/><Relationship Id="rId7" Type="http://schemas.openxmlformats.org/officeDocument/2006/relationships/image" Target="../media/image38.png"/><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5" Type="http://schemas.openxmlformats.org/officeDocument/2006/relationships/image" Target="../media/image39.png"/><Relationship Id="rId4"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image" Target="../media/image40.jpeg"/><Relationship Id="rId5" Type="http://schemas.openxmlformats.org/officeDocument/2006/relationships/slideLayout" Target="../slideLayouts/slideLayout1.xml"/><Relationship Id="rId4" Type="http://schemas.openxmlformats.org/officeDocument/2006/relationships/video" Target="https://www.youtube.com/embed/bGKJOICWmFQ" TargetMode="External"/></Relationships>
</file>

<file path=ppt/slides/_rels/slide26.xml.rels><?xml version="1.0" encoding="UTF-8" standalone="yes"?>
<Relationships xmlns="http://schemas.openxmlformats.org/package/2006/relationships"><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 Id="rId5" Type="http://schemas.openxmlformats.org/officeDocument/2006/relationships/image" Target="../media/image41.png"/><Relationship Id="rId4"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5" Type="http://schemas.openxmlformats.org/officeDocument/2006/relationships/image" Target="../media/image42.png"/><Relationship Id="rId4"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5" Type="http://schemas.openxmlformats.org/officeDocument/2006/relationships/image" Target="../media/image42.png"/><Relationship Id="rId4"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image" Target="../media/image43.jpeg"/><Relationship Id="rId5" Type="http://schemas.openxmlformats.org/officeDocument/2006/relationships/slideLayout" Target="../slideLayouts/slideLayout1.xml"/><Relationship Id="rId4" Type="http://schemas.openxmlformats.org/officeDocument/2006/relationships/video" Target="https://www.youtube.com/embed/98DXe3uKwfc" TargetMode="External"/></Relationships>
</file>

<file path=ppt/slides/_rels/slide30.xml.rels><?xml version="1.0" encoding="UTF-8" standalone="yes"?>
<Relationships xmlns="http://schemas.openxmlformats.org/package/2006/relationships"><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 Id="rId4"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9.xml"/><Relationship Id="rId1" Type="http://schemas.openxmlformats.org/officeDocument/2006/relationships/tags" Target="../tags/tag2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smtClean="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21344" y="1371600"/>
            <a:ext cx="10018643" cy="3929637"/>
          </a:xfrm>
          <a:prstGeom prst="rect">
            <a:avLst/>
          </a:prstGeom>
          <a:noFill/>
        </p:spPr>
        <p:txBody>
          <a:bodyPr wrap="square" rtlCol="0">
            <a:noAutofit/>
          </a:bodyPr>
          <a:lstStyle/>
          <a:p>
            <a:endParaRPr lang="en-US" altLang="zh-CN" sz="2400" b="1" cap="all" spc="100" dirty="0">
              <a:latin typeface="Times New Roman" panose="02020603050405020304" pitchFamily="18" charset="0"/>
              <a:ea typeface="微软雅黑" panose="020B0503020204020204" charset="-122"/>
            </a:endParaRPr>
          </a:p>
        </p:txBody>
      </p:sp>
      <p:sp>
        <p:nvSpPr>
          <p:cNvPr id="22" name="文本框 21"/>
          <p:cNvSpPr txBox="1"/>
          <p:nvPr>
            <p:custDataLst>
              <p:tags r:id="rId3"/>
            </p:custDataLst>
          </p:nvPr>
        </p:nvSpPr>
        <p:spPr>
          <a:xfrm>
            <a:off x="1524001" y="714895"/>
            <a:ext cx="8719930" cy="656706"/>
          </a:xfrm>
          <a:prstGeom prst="rect">
            <a:avLst/>
          </a:prstGeom>
          <a:noFill/>
        </p:spPr>
        <p:txBody>
          <a:bodyPr wrap="square" rtlCol="0" anchor="ctr" anchorCtr="0">
            <a:normAutofit/>
          </a:bodyPr>
          <a:lstStyle/>
          <a:p>
            <a:pPr algn="ctr">
              <a:lnSpc>
                <a:spcPct val="107000"/>
              </a:lnSpc>
              <a:spcAft>
                <a:spcPts val="800"/>
              </a:spcAft>
            </a:pPr>
            <a:r>
              <a:rPr lang="en-US" sz="2800" b="1" kern="100" dirty="0" smtClean="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AUTOMOTIVE ENGINE PRACTICE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15" name="Picture 14"/>
          <p:cNvPicPr>
            <a:picLocks noChangeAspect="1"/>
          </p:cNvPicPr>
          <p:nvPr/>
        </p:nvPicPr>
        <p:blipFill>
          <a:blip r:embed="rId5"/>
          <a:stretch>
            <a:fillRect/>
          </a:stretch>
        </p:blipFill>
        <p:spPr>
          <a:xfrm>
            <a:off x="1524001" y="1476445"/>
            <a:ext cx="7777941" cy="3783014"/>
          </a:xfrm>
          <a:prstGeom prst="rect">
            <a:avLst/>
          </a:prstGeom>
        </p:spPr>
      </p:pic>
    </p:spTree>
    <p:custDataLst>
      <p:tags r:id="rId1"/>
    </p:custDataLst>
    <p:extLst>
      <p:ext uri="{BB962C8B-B14F-4D97-AF65-F5344CB8AC3E}">
        <p14:creationId xmlns:p14="http://schemas.microsoft.com/office/powerpoint/2010/main" val="36990830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687844" y="104774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687844" y="5383021"/>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1687844" y="1516101"/>
            <a:ext cx="10018643" cy="370371"/>
          </a:xfrm>
          <a:prstGeom prst="rect">
            <a:avLst/>
          </a:prstGeom>
          <a:noFill/>
        </p:spPr>
        <p:txBody>
          <a:bodyPr wrap="square" rtlCol="0">
            <a:noAutofit/>
          </a:bodyPr>
          <a:lstStyle/>
          <a:p>
            <a:r>
              <a:rPr lang="en-US" b="1" dirty="0" smtClean="0"/>
              <a:t>What is car brake system</a:t>
            </a:r>
          </a:p>
        </p:txBody>
      </p:sp>
      <p:sp>
        <p:nvSpPr>
          <p:cNvPr id="2" name="Rectangle 1"/>
          <p:cNvSpPr/>
          <p:nvPr/>
        </p:nvSpPr>
        <p:spPr>
          <a:xfrm>
            <a:off x="1687844" y="1915595"/>
            <a:ext cx="8948526" cy="646331"/>
          </a:xfrm>
          <a:prstGeom prst="rect">
            <a:avLst/>
          </a:prstGeom>
        </p:spPr>
        <p:txBody>
          <a:bodyPr wrap="square">
            <a:spAutoFit/>
          </a:bodyPr>
          <a:lstStyle/>
          <a:p>
            <a:r>
              <a:rPr lang="en-US" dirty="0">
                <a:solidFill>
                  <a:srgbClr val="0A0A0A"/>
                </a:solidFill>
                <a:latin typeface="Google Sans"/>
              </a:rPr>
              <a:t>A car's brake system is </a:t>
            </a:r>
            <a:r>
              <a:rPr lang="en-US" dirty="0"/>
              <a:t>a crucial safety feature that uses friction to slow down or stop the vehicle by converting its kinetic energy into thermal energy</a:t>
            </a:r>
          </a:p>
        </p:txBody>
      </p:sp>
      <p:sp>
        <p:nvSpPr>
          <p:cNvPr id="4" name="Rectangle 3"/>
          <p:cNvSpPr/>
          <p:nvPr/>
        </p:nvSpPr>
        <p:spPr>
          <a:xfrm>
            <a:off x="1687844" y="2780428"/>
            <a:ext cx="8706986" cy="646331"/>
          </a:xfrm>
          <a:prstGeom prst="rect">
            <a:avLst/>
          </a:prstGeom>
        </p:spPr>
        <p:txBody>
          <a:bodyPr wrap="square">
            <a:spAutoFit/>
          </a:bodyPr>
          <a:lstStyle/>
          <a:p>
            <a:r>
              <a:rPr lang="en-US" dirty="0">
                <a:solidFill>
                  <a:srgbClr val="0A0A0A"/>
                </a:solidFill>
                <a:latin typeface="Google Sans"/>
              </a:rPr>
              <a:t> It works by using hydraulic pressure to force brake pads against a spinning rotor (disc brakes) or brake shoes against a drum (drum brakes), which slows the wheels.</a:t>
            </a:r>
            <a:endParaRPr lang="en-US" dirty="0"/>
          </a:p>
        </p:txBody>
      </p:sp>
      <p:sp>
        <p:nvSpPr>
          <p:cNvPr id="6" name="Rectangle 5"/>
          <p:cNvSpPr/>
          <p:nvPr/>
        </p:nvSpPr>
        <p:spPr>
          <a:xfrm>
            <a:off x="1826867" y="3594858"/>
            <a:ext cx="8719930" cy="646331"/>
          </a:xfrm>
          <a:prstGeom prst="rect">
            <a:avLst/>
          </a:prstGeom>
        </p:spPr>
        <p:txBody>
          <a:bodyPr wrap="square">
            <a:spAutoFit/>
          </a:bodyPr>
          <a:lstStyle/>
          <a:p>
            <a:r>
              <a:rPr lang="en-US" dirty="0">
                <a:solidFill>
                  <a:srgbClr val="0A0A0A"/>
                </a:solidFill>
                <a:latin typeface="Google Sans"/>
              </a:rPr>
              <a:t>This system is operated by the driver pressing the brake pedal, which activates a master cylinder that pushes hydraulic fluid through lines to the individual brakes</a:t>
            </a:r>
            <a:endParaRPr lang="en-US" dirty="0"/>
          </a:p>
        </p:txBody>
      </p:sp>
    </p:spTree>
    <p:custDataLst>
      <p:tags r:id="rId1"/>
    </p:custDataLst>
    <p:extLst>
      <p:ext uri="{BB962C8B-B14F-4D97-AF65-F5344CB8AC3E}">
        <p14:creationId xmlns:p14="http://schemas.microsoft.com/office/powerpoint/2010/main" val="3009184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4" y="864894"/>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45641" y="6090387"/>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5" name="文本框 22"/>
          <p:cNvSpPr txBox="1"/>
          <p:nvPr>
            <p:custDataLst>
              <p:tags r:id="rId4"/>
            </p:custDataLst>
          </p:nvPr>
        </p:nvSpPr>
        <p:spPr>
          <a:xfrm>
            <a:off x="747564" y="1237305"/>
            <a:ext cx="10018643" cy="370371"/>
          </a:xfrm>
          <a:prstGeom prst="rect">
            <a:avLst/>
          </a:prstGeom>
          <a:noFill/>
        </p:spPr>
        <p:txBody>
          <a:bodyPr wrap="square" rtlCol="0">
            <a:noAutofit/>
          </a:bodyPr>
          <a:lstStyle/>
          <a:p>
            <a:r>
              <a:rPr lang="en-US" b="1" dirty="0" smtClean="0"/>
              <a:t>Main types of car brake system</a:t>
            </a:r>
          </a:p>
        </p:txBody>
      </p:sp>
      <p:sp>
        <p:nvSpPr>
          <p:cNvPr id="7" name="Rectangle 6"/>
          <p:cNvSpPr/>
          <p:nvPr/>
        </p:nvSpPr>
        <p:spPr>
          <a:xfrm>
            <a:off x="546337" y="1820045"/>
            <a:ext cx="10351697" cy="369332"/>
          </a:xfrm>
          <a:prstGeom prst="rect">
            <a:avLst/>
          </a:prstGeom>
        </p:spPr>
        <p:txBody>
          <a:bodyPr wrap="square">
            <a:spAutoFit/>
          </a:bodyPr>
          <a:lstStyle/>
          <a:p>
            <a:r>
              <a:rPr lang="en-US" dirty="0" smtClean="0">
                <a:solidFill>
                  <a:srgbClr val="001D35"/>
                </a:solidFill>
                <a:latin typeface="Google Sans"/>
              </a:rPr>
              <a:t>Disc </a:t>
            </a:r>
            <a:r>
              <a:rPr lang="en-US" dirty="0">
                <a:solidFill>
                  <a:srgbClr val="001D35"/>
                </a:solidFill>
                <a:latin typeface="Google Sans"/>
              </a:rPr>
              <a:t>brakes, drum brakes, anti-lock braking systems (ABS), and regenerative braking</a:t>
            </a:r>
            <a:endParaRPr lang="en-US" dirty="0"/>
          </a:p>
        </p:txBody>
      </p:sp>
      <p:sp>
        <p:nvSpPr>
          <p:cNvPr id="8" name="Rectangle 7"/>
          <p:cNvSpPr/>
          <p:nvPr/>
        </p:nvSpPr>
        <p:spPr>
          <a:xfrm>
            <a:off x="546337" y="2231192"/>
            <a:ext cx="11254597" cy="923330"/>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hlinkClick r:id="rId6"/>
              </a:rPr>
              <a:t>Disc brakes</a:t>
            </a:r>
            <a:r>
              <a:rPr lang="en-US" b="1" dirty="0">
                <a:solidFill>
                  <a:srgbClr val="0A0A0A"/>
                </a:solidFill>
                <a:latin typeface="Google Sans"/>
              </a:rPr>
              <a:t>:</a:t>
            </a:r>
            <a:r>
              <a:rPr lang="en-US" dirty="0">
                <a:solidFill>
                  <a:srgbClr val="0A0A0A"/>
                </a:solidFill>
                <a:latin typeface="Google Sans"/>
              </a:rPr>
              <a:t> A caliper uses pads to squeeze a rotating disc, creating friction to stop the wheel. They are known for providing strong stopping power and better cooling, making them common on the front wheels of most vehicles.</a:t>
            </a:r>
            <a:endParaRPr lang="en-US" b="0" i="0" dirty="0">
              <a:solidFill>
                <a:srgbClr val="0A0A0A"/>
              </a:solidFill>
              <a:effectLst/>
              <a:latin typeface="Google Sans"/>
            </a:endParaRPr>
          </a:p>
        </p:txBody>
      </p:sp>
      <p:sp>
        <p:nvSpPr>
          <p:cNvPr id="9" name="Rectangle 8"/>
          <p:cNvSpPr/>
          <p:nvPr/>
        </p:nvSpPr>
        <p:spPr>
          <a:xfrm>
            <a:off x="546337" y="3225928"/>
            <a:ext cx="11013057"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hlinkClick r:id="rId7"/>
              </a:rPr>
              <a:t>Drum brakes</a:t>
            </a:r>
            <a:r>
              <a:rPr lang="en-US" b="1" dirty="0">
                <a:solidFill>
                  <a:srgbClr val="0A0A0A"/>
                </a:solidFill>
                <a:latin typeface="Google Sans"/>
              </a:rPr>
              <a:t>:</a:t>
            </a:r>
            <a:r>
              <a:rPr lang="en-US" dirty="0">
                <a:solidFill>
                  <a:srgbClr val="0A0A0A"/>
                </a:solidFill>
                <a:latin typeface="Google Sans"/>
              </a:rPr>
              <a:t> Brake shoes push outward against the inside of a rotating drum, which is attached to the wheel. These are often more cost-effective and are frequently used on the rear wheels of some vehicles.</a:t>
            </a:r>
            <a:endParaRPr lang="en-US" b="0" i="0" dirty="0">
              <a:solidFill>
                <a:srgbClr val="0A0A0A"/>
              </a:solidFill>
              <a:effectLst/>
              <a:latin typeface="Google Sans"/>
            </a:endParaRPr>
          </a:p>
        </p:txBody>
      </p:sp>
      <p:sp>
        <p:nvSpPr>
          <p:cNvPr id="10" name="Rectangle 9"/>
          <p:cNvSpPr/>
          <p:nvPr/>
        </p:nvSpPr>
        <p:spPr>
          <a:xfrm>
            <a:off x="546337" y="3897210"/>
            <a:ext cx="10607617" cy="646331"/>
          </a:xfrm>
          <a:prstGeom prst="rect">
            <a:avLst/>
          </a:prstGeom>
        </p:spPr>
        <p:txBody>
          <a:bodyPr wrap="square">
            <a:spAutoFit/>
          </a:bodyPr>
          <a:lstStyle/>
          <a:p>
            <a:r>
              <a:rPr lang="en-US" b="1" dirty="0">
                <a:solidFill>
                  <a:srgbClr val="0A0A0A"/>
                </a:solidFill>
                <a:latin typeface="Google Sans"/>
                <a:hlinkClick r:id="rId8"/>
              </a:rPr>
              <a:t>Anti-lock braking system (ABS)</a:t>
            </a:r>
            <a:r>
              <a:rPr lang="en-US" b="1" dirty="0">
                <a:solidFill>
                  <a:srgbClr val="0A0A0A"/>
                </a:solidFill>
                <a:latin typeface="Google Sans"/>
              </a:rPr>
              <a:t>:</a:t>
            </a:r>
            <a:r>
              <a:rPr lang="en-US" dirty="0">
                <a:solidFill>
                  <a:srgbClr val="0A0A0A"/>
                </a:solidFill>
                <a:latin typeface="Google Sans"/>
              </a:rPr>
              <a:t> This is a safety feature that prevents wheels from locking up during hard braking, helping the driver maintain steering control and reducing skidding</a:t>
            </a:r>
            <a:endParaRPr lang="en-US" dirty="0"/>
          </a:p>
        </p:txBody>
      </p:sp>
      <p:sp>
        <p:nvSpPr>
          <p:cNvPr id="11" name="Rectangle 10"/>
          <p:cNvSpPr/>
          <p:nvPr/>
        </p:nvSpPr>
        <p:spPr>
          <a:xfrm>
            <a:off x="546337" y="4772774"/>
            <a:ext cx="11108196" cy="646331"/>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hlinkClick r:id="rId9"/>
              </a:rPr>
              <a:t>Regenerative braking</a:t>
            </a:r>
            <a:r>
              <a:rPr lang="en-US" b="1" dirty="0">
                <a:solidFill>
                  <a:srgbClr val="0A0A0A"/>
                </a:solidFill>
                <a:latin typeface="Google Sans"/>
              </a:rPr>
              <a:t>:</a:t>
            </a:r>
            <a:r>
              <a:rPr lang="en-US" dirty="0">
                <a:solidFill>
                  <a:srgbClr val="0A0A0A"/>
                </a:solidFill>
                <a:latin typeface="Google Sans"/>
              </a:rPr>
              <a:t> Found in electric and hybrid vehicles, this system uses the motor to slow the vehicle and convert the kinetic energy back into electricity to recharge the battery.</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16683553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342788" y="910022"/>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368062" y="6081760"/>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342788" y="1238425"/>
            <a:ext cx="3608680" cy="369332"/>
          </a:xfrm>
          <a:prstGeom prst="rect">
            <a:avLst/>
          </a:prstGeom>
        </p:spPr>
        <p:txBody>
          <a:bodyPr wrap="none">
            <a:spAutoFit/>
          </a:bodyPr>
          <a:lstStyle/>
          <a:p>
            <a:r>
              <a:rPr lang="en-US" b="1" dirty="0"/>
              <a:t>Main types of car brake system</a:t>
            </a:r>
          </a:p>
        </p:txBody>
      </p:sp>
      <p:pic>
        <p:nvPicPr>
          <p:cNvPr id="5" name="Picture 4"/>
          <p:cNvPicPr>
            <a:picLocks noChangeAspect="1"/>
          </p:cNvPicPr>
          <p:nvPr/>
        </p:nvPicPr>
        <p:blipFill>
          <a:blip r:embed="rId5"/>
          <a:stretch>
            <a:fillRect/>
          </a:stretch>
        </p:blipFill>
        <p:spPr>
          <a:xfrm>
            <a:off x="741871" y="1572852"/>
            <a:ext cx="10334446" cy="4508908"/>
          </a:xfrm>
          <a:prstGeom prst="rect">
            <a:avLst/>
          </a:prstGeom>
        </p:spPr>
      </p:pic>
    </p:spTree>
    <p:custDataLst>
      <p:tags r:id="rId1"/>
    </p:custDataLst>
    <p:extLst>
      <p:ext uri="{BB962C8B-B14F-4D97-AF65-F5344CB8AC3E}">
        <p14:creationId xmlns:p14="http://schemas.microsoft.com/office/powerpoint/2010/main" val="33208650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342788" y="910022"/>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76350" y="606968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p:cNvPicPr>
            <a:picLocks noChangeAspect="1"/>
          </p:cNvPicPr>
          <p:nvPr/>
        </p:nvPicPr>
        <p:blipFill>
          <a:blip r:embed="rId5"/>
          <a:stretch>
            <a:fillRect/>
          </a:stretch>
        </p:blipFill>
        <p:spPr>
          <a:xfrm>
            <a:off x="1587731" y="1457783"/>
            <a:ext cx="5926182" cy="4402690"/>
          </a:xfrm>
          <a:prstGeom prst="rect">
            <a:avLst/>
          </a:prstGeom>
        </p:spPr>
      </p:pic>
    </p:spTree>
    <p:custDataLst>
      <p:tags r:id="rId1"/>
    </p:custDataLst>
    <p:extLst>
      <p:ext uri="{BB962C8B-B14F-4D97-AF65-F5344CB8AC3E}">
        <p14:creationId xmlns:p14="http://schemas.microsoft.com/office/powerpoint/2010/main" val="33352428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23611" y="877636"/>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865516" y="59954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023611" y="1206039"/>
            <a:ext cx="5288627" cy="369332"/>
          </a:xfrm>
          <a:prstGeom prst="rect">
            <a:avLst/>
          </a:prstGeom>
        </p:spPr>
        <p:txBody>
          <a:bodyPr wrap="none">
            <a:spAutoFit/>
          </a:bodyPr>
          <a:lstStyle/>
          <a:p>
            <a:r>
              <a:rPr lang="en-US" b="1" dirty="0">
                <a:solidFill>
                  <a:srgbClr val="0A0A0A"/>
                </a:solidFill>
                <a:latin typeface="Google Sans"/>
              </a:rPr>
              <a:t>Primary Braking Mechanisms (Service Brakes)</a:t>
            </a:r>
            <a:endParaRPr lang="en-US" dirty="0"/>
          </a:p>
        </p:txBody>
      </p:sp>
      <p:sp>
        <p:nvSpPr>
          <p:cNvPr id="4" name="Rectangle 3"/>
          <p:cNvSpPr/>
          <p:nvPr/>
        </p:nvSpPr>
        <p:spPr>
          <a:xfrm>
            <a:off x="945972" y="1653480"/>
            <a:ext cx="10018643" cy="1754326"/>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Disc Brakes:</a:t>
            </a:r>
            <a:r>
              <a:rPr lang="en-US" dirty="0">
                <a:solidFill>
                  <a:srgbClr val="0A0A0A"/>
                </a:solidFill>
                <a:latin typeface="Google Sans"/>
              </a:rPr>
              <a:t> The standard for most modern passenger vehicles, especially on the front wheels due to their superior performance and heat dissipation.</a:t>
            </a:r>
          </a:p>
          <a:p>
            <a:pPr marL="742950" lvl="1" indent="-285750">
              <a:buFont typeface="Arial" panose="020B0604020202020204" pitchFamily="34" charset="0"/>
              <a:buChar char="•"/>
            </a:pPr>
            <a:r>
              <a:rPr lang="en-US" b="1" dirty="0">
                <a:solidFill>
                  <a:srgbClr val="0A0A0A"/>
                </a:solidFill>
                <a:latin typeface="Google Sans"/>
              </a:rPr>
              <a:t>Components:</a:t>
            </a:r>
            <a:r>
              <a:rPr lang="en-US" dirty="0">
                <a:solidFill>
                  <a:srgbClr val="0A0A0A"/>
                </a:solidFill>
                <a:latin typeface="Google Sans"/>
              </a:rPr>
              <a:t> A rotor (disc) that rotates with the wheel, a caliper that houses brake pads, and pistons that press the pads against both sides of the rotor when the brake is applied.</a:t>
            </a:r>
          </a:p>
          <a:p>
            <a:pPr marL="742950" lvl="1" indent="-285750">
              <a:buFont typeface="Arial" panose="020B0604020202020204" pitchFamily="34" charset="0"/>
              <a:buChar char="•"/>
            </a:pPr>
            <a:r>
              <a:rPr lang="en-US" b="1" dirty="0">
                <a:solidFill>
                  <a:srgbClr val="0A0A0A"/>
                </a:solidFill>
                <a:latin typeface="Google Sans"/>
              </a:rPr>
              <a:t>Advantage:</a:t>
            </a:r>
            <a:r>
              <a:rPr lang="en-US" dirty="0">
                <a:solidFill>
                  <a:srgbClr val="0A0A0A"/>
                </a:solidFill>
                <a:latin typeface="Google Sans"/>
              </a:rPr>
              <a:t> Better cooling, which reduces the risk of "brake fade" during heavy or continuous use.</a:t>
            </a:r>
            <a:endParaRPr lang="en-US" b="0" i="0" dirty="0">
              <a:solidFill>
                <a:srgbClr val="0A0A0A"/>
              </a:solidFill>
              <a:effectLst/>
              <a:latin typeface="Google Sans"/>
            </a:endParaRPr>
          </a:p>
        </p:txBody>
      </p:sp>
      <p:sp>
        <p:nvSpPr>
          <p:cNvPr id="5" name="Rectangle 4"/>
          <p:cNvSpPr/>
          <p:nvPr/>
        </p:nvSpPr>
        <p:spPr>
          <a:xfrm>
            <a:off x="904590" y="3813279"/>
            <a:ext cx="10564483" cy="1477328"/>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Drum Brakes:</a:t>
            </a:r>
            <a:r>
              <a:rPr lang="en-US" dirty="0">
                <a:solidFill>
                  <a:srgbClr val="0A0A0A"/>
                </a:solidFill>
                <a:latin typeface="Google Sans"/>
              </a:rPr>
              <a:t> Often used on the rear wheels of some vehicles due to their lower cost and simpler design</a:t>
            </a:r>
            <a:r>
              <a:rPr lang="en-US" dirty="0" smtClean="0">
                <a:solidFill>
                  <a:srgbClr val="0A0A0A"/>
                </a:solidFill>
                <a:latin typeface="Google Sans"/>
              </a:rPr>
              <a:t>. </a:t>
            </a:r>
            <a:r>
              <a:rPr lang="en-US" b="1" dirty="0" smtClean="0">
                <a:solidFill>
                  <a:srgbClr val="0A0A0A"/>
                </a:solidFill>
                <a:latin typeface="Google Sans"/>
              </a:rPr>
              <a:t>Components</a:t>
            </a:r>
            <a:r>
              <a:rPr lang="en-US" b="1" dirty="0">
                <a:solidFill>
                  <a:srgbClr val="0A0A0A"/>
                </a:solidFill>
                <a:latin typeface="Google Sans"/>
              </a:rPr>
              <a:t>:</a:t>
            </a:r>
            <a:r>
              <a:rPr lang="en-US" dirty="0">
                <a:solidFill>
                  <a:srgbClr val="0A0A0A"/>
                </a:solidFill>
                <a:latin typeface="Google Sans"/>
              </a:rPr>
              <a:t> A hollow brake drum, brake shoes, and wheel cylinders. When activated, the wheel cylinders force the brake shoes outward against the inner surface of the spinning drum.</a:t>
            </a:r>
          </a:p>
          <a:p>
            <a:pPr>
              <a:buFont typeface="Arial" panose="020B0604020202020204" pitchFamily="34" charset="0"/>
              <a:buChar char="•"/>
            </a:pPr>
            <a:r>
              <a:rPr lang="en-US" b="1" dirty="0">
                <a:solidFill>
                  <a:srgbClr val="0A0A0A"/>
                </a:solidFill>
                <a:latin typeface="Google Sans"/>
              </a:rPr>
              <a:t>Advantage:</a:t>
            </a:r>
            <a:r>
              <a:rPr lang="en-US" dirty="0">
                <a:solidFill>
                  <a:srgbClr val="0A0A0A"/>
                </a:solidFill>
                <a:latin typeface="Google Sans"/>
              </a:rPr>
              <a:t> Cost-effective and good for emergency/parking brake integration, as they can be mechanically locked in place</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9320698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713953"/>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21745" y="6099684"/>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1177510" y="1066530"/>
            <a:ext cx="4596130" cy="369332"/>
          </a:xfrm>
          <a:prstGeom prst="rect">
            <a:avLst/>
          </a:prstGeom>
        </p:spPr>
        <p:txBody>
          <a:bodyPr wrap="none">
            <a:spAutoFit/>
          </a:bodyPr>
          <a:lstStyle/>
          <a:p>
            <a:r>
              <a:rPr lang="en-US" b="1" dirty="0">
                <a:solidFill>
                  <a:srgbClr val="0A0A0A"/>
                </a:solidFill>
                <a:latin typeface="Google Sans"/>
              </a:rPr>
              <a:t>Key Components of a Car Brake System</a:t>
            </a:r>
            <a:endParaRPr lang="en-US" dirty="0"/>
          </a:p>
        </p:txBody>
      </p:sp>
      <p:sp>
        <p:nvSpPr>
          <p:cNvPr id="4" name="Rectangle 3"/>
          <p:cNvSpPr/>
          <p:nvPr/>
        </p:nvSpPr>
        <p:spPr>
          <a:xfrm>
            <a:off x="506337" y="1502571"/>
            <a:ext cx="11360987" cy="4524315"/>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Brake Pedal:</a:t>
            </a:r>
            <a:r>
              <a:rPr lang="en-US" dirty="0">
                <a:solidFill>
                  <a:srgbClr val="0A0A0A"/>
                </a:solidFill>
                <a:latin typeface="Google Sans"/>
              </a:rPr>
              <a:t> The driver's input point, connected to the master cylinder.</a:t>
            </a:r>
          </a:p>
          <a:p>
            <a:pPr>
              <a:buFont typeface="Arial" panose="020B0604020202020204" pitchFamily="34" charset="0"/>
              <a:buChar char="•"/>
            </a:pPr>
            <a:r>
              <a:rPr lang="en-US" b="1" dirty="0">
                <a:solidFill>
                  <a:srgbClr val="0A0A0A"/>
                </a:solidFill>
                <a:latin typeface="Google Sans"/>
              </a:rPr>
              <a:t>Master Cylinder:</a:t>
            </a:r>
            <a:r>
              <a:rPr lang="en-US" dirty="0">
                <a:solidFill>
                  <a:srgbClr val="0A0A0A"/>
                </a:solidFill>
                <a:latin typeface="Google Sans"/>
              </a:rPr>
              <a:t> Converts the force from the brake pedal into hydraulic pressure. Modern systems often use a tandem master cylinder for safety redundancy with two separate circuits.</a:t>
            </a:r>
          </a:p>
          <a:p>
            <a:pPr>
              <a:buFont typeface="Arial" panose="020B0604020202020204" pitchFamily="34" charset="0"/>
              <a:buChar char="•"/>
            </a:pPr>
            <a:r>
              <a:rPr lang="en-US" b="1" dirty="0">
                <a:solidFill>
                  <a:srgbClr val="0A0A0A"/>
                </a:solidFill>
                <a:latin typeface="Google Sans"/>
              </a:rPr>
              <a:t>Brake Fluid &amp; Lines:</a:t>
            </a:r>
            <a:r>
              <a:rPr lang="en-US" dirty="0">
                <a:solidFill>
                  <a:srgbClr val="0A0A0A"/>
                </a:solidFill>
                <a:latin typeface="Google Sans"/>
              </a:rPr>
              <a:t> The incompressible fluid (usually ethylene glycol-based) transmits the hydraulic pressure through lines and hoses to the wheel units.</a:t>
            </a:r>
          </a:p>
          <a:p>
            <a:pPr>
              <a:buFont typeface="Arial" panose="020B0604020202020204" pitchFamily="34" charset="0"/>
              <a:buChar char="•"/>
            </a:pPr>
            <a:r>
              <a:rPr lang="en-US" b="1" dirty="0">
                <a:solidFill>
                  <a:srgbClr val="0A0A0A"/>
                </a:solidFill>
                <a:latin typeface="Google Sans"/>
              </a:rPr>
              <a:t>Brake Booster (Servo):</a:t>
            </a:r>
            <a:r>
              <a:rPr lang="en-US" dirty="0">
                <a:solidFill>
                  <a:srgbClr val="0A0A0A"/>
                </a:solidFill>
                <a:latin typeface="Google Sans"/>
              </a:rPr>
              <a:t> Uses engine vacuum or a separate pump to amplify the force applied by the driver to the pedal, making braking easier.</a:t>
            </a:r>
          </a:p>
          <a:p>
            <a:pPr>
              <a:buFont typeface="Arial" panose="020B0604020202020204" pitchFamily="34" charset="0"/>
              <a:buChar char="•"/>
            </a:pPr>
            <a:r>
              <a:rPr lang="en-US" b="1" dirty="0">
                <a:solidFill>
                  <a:srgbClr val="0A0A0A"/>
                </a:solidFill>
                <a:latin typeface="Google Sans"/>
              </a:rPr>
              <a:t>Brake Calipers:</a:t>
            </a:r>
            <a:r>
              <a:rPr lang="en-US" dirty="0">
                <a:solidFill>
                  <a:srgbClr val="0A0A0A"/>
                </a:solidFill>
                <a:latin typeface="Google Sans"/>
              </a:rPr>
              <a:t> Found in disc brake systems, they house the brake pads and pistons. When hydraulic pressure is applied, the piston(s) push the pads against the rotor.</a:t>
            </a:r>
          </a:p>
          <a:p>
            <a:pPr>
              <a:buFont typeface="Arial" panose="020B0604020202020204" pitchFamily="34" charset="0"/>
              <a:buChar char="•"/>
            </a:pPr>
            <a:r>
              <a:rPr lang="en-US" b="1" dirty="0">
                <a:solidFill>
                  <a:srgbClr val="0A0A0A"/>
                </a:solidFill>
                <a:latin typeface="Google Sans"/>
              </a:rPr>
              <a:t>Brake Pads:</a:t>
            </a:r>
            <a:r>
              <a:rPr lang="en-US" dirty="0">
                <a:solidFill>
                  <a:srgbClr val="0A0A0A"/>
                </a:solidFill>
                <a:latin typeface="Google Sans"/>
              </a:rPr>
              <a:t> Friction material that presses against the rotor (disc) to create friction and heat, which slows the wheel's rotation.</a:t>
            </a:r>
          </a:p>
          <a:p>
            <a:pPr>
              <a:buFont typeface="Arial" panose="020B0604020202020204" pitchFamily="34" charset="0"/>
              <a:buChar char="•"/>
            </a:pPr>
            <a:r>
              <a:rPr lang="en-US" b="1" dirty="0">
                <a:solidFill>
                  <a:srgbClr val="0A0A0A"/>
                </a:solidFill>
                <a:latin typeface="Google Sans"/>
              </a:rPr>
              <a:t>Brake Rotors (Discs):</a:t>
            </a:r>
            <a:r>
              <a:rPr lang="en-US" dirty="0">
                <a:solidFill>
                  <a:srgbClr val="0A0A0A"/>
                </a:solidFill>
                <a:latin typeface="Google Sans"/>
              </a:rPr>
              <a:t> Metal discs that rotate with the wheel. The brake pads clamp down on them to generate the necessary stopping force.</a:t>
            </a:r>
          </a:p>
          <a:p>
            <a:pPr>
              <a:buFont typeface="Arial" panose="020B0604020202020204" pitchFamily="34" charset="0"/>
              <a:buChar char="•"/>
            </a:pPr>
            <a:r>
              <a:rPr lang="en-US" b="1" dirty="0">
                <a:solidFill>
                  <a:srgbClr val="0A0A0A"/>
                </a:solidFill>
                <a:latin typeface="Google Sans"/>
              </a:rPr>
              <a:t>Brake Shoes &amp; Drums:</a:t>
            </a:r>
            <a:r>
              <a:rPr lang="en-US" dirty="0">
                <a:solidFill>
                  <a:srgbClr val="0A0A0A"/>
                </a:solidFill>
                <a:latin typeface="Google Sans"/>
              </a:rPr>
              <a:t> Used in drum brake systems (often on rear wheels), where curved brake shoes are forced against the inner surface of a rotating drum.</a:t>
            </a:r>
          </a:p>
          <a:p>
            <a:pPr>
              <a:buFont typeface="Arial" panose="020B0604020202020204" pitchFamily="34" charset="0"/>
              <a:buChar char="•"/>
            </a:pPr>
            <a:r>
              <a:rPr lang="en-US" b="1" dirty="0">
                <a:solidFill>
                  <a:srgbClr val="0A0A0A"/>
                </a:solidFill>
                <a:latin typeface="Google Sans"/>
              </a:rPr>
              <a:t>Parking Brake:</a:t>
            </a:r>
            <a:r>
              <a:rPr lang="en-US" dirty="0">
                <a:solidFill>
                  <a:srgbClr val="0A0A0A"/>
                </a:solidFill>
                <a:latin typeface="Google Sans"/>
              </a:rPr>
              <a:t> A separate, typically mechanical, system for holding the vehicle stationary.</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2956850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505540" cy="369332"/>
          </a:xfrm>
          <a:prstGeom prst="rect">
            <a:avLst/>
          </a:prstGeom>
        </p:spPr>
        <p:txBody>
          <a:bodyPr wrap="none">
            <a:spAutoFit/>
          </a:bodyPr>
          <a:lstStyle/>
          <a:p>
            <a:r>
              <a:rPr lang="en-US" b="1" dirty="0">
                <a:solidFill>
                  <a:srgbClr val="0A0A0A"/>
                </a:solidFill>
                <a:latin typeface="Google Sans"/>
              </a:rPr>
              <a:t>Brake Pedal</a:t>
            </a:r>
            <a:endParaRPr lang="en-US" dirty="0"/>
          </a:p>
        </p:txBody>
      </p:sp>
      <p:sp>
        <p:nvSpPr>
          <p:cNvPr id="5" name="Rectangle 4"/>
          <p:cNvSpPr/>
          <p:nvPr/>
        </p:nvSpPr>
        <p:spPr>
          <a:xfrm>
            <a:off x="1177509" y="1766091"/>
            <a:ext cx="9369287" cy="646331"/>
          </a:xfrm>
          <a:prstGeom prst="rect">
            <a:avLst/>
          </a:prstGeom>
        </p:spPr>
        <p:txBody>
          <a:bodyPr wrap="square">
            <a:spAutoFit/>
          </a:bodyPr>
          <a:lstStyle/>
          <a:p>
            <a:r>
              <a:rPr lang="en-US" dirty="0"/>
              <a:t>The </a:t>
            </a:r>
            <a:r>
              <a:rPr lang="en-US" b="1" dirty="0">
                <a:solidFill>
                  <a:srgbClr val="0A0A0A"/>
                </a:solidFill>
                <a:latin typeface="Google Sans"/>
              </a:rPr>
              <a:t>brake pedal</a:t>
            </a:r>
            <a:r>
              <a:rPr lang="en-US" dirty="0">
                <a:solidFill>
                  <a:srgbClr val="0A0A0A"/>
                </a:solidFill>
                <a:latin typeface="Google Sans"/>
              </a:rPr>
              <a:t> is </a:t>
            </a:r>
            <a:r>
              <a:rPr lang="en-US" dirty="0"/>
              <a:t>the foot-operated lever in a vehicle that a driver presses to activate the braking system and cause the vehicle to slow down or stop</a:t>
            </a:r>
          </a:p>
        </p:txBody>
      </p:sp>
      <p:pic>
        <p:nvPicPr>
          <p:cNvPr id="7" name="Picture 6"/>
          <p:cNvPicPr>
            <a:picLocks noChangeAspect="1"/>
          </p:cNvPicPr>
          <p:nvPr/>
        </p:nvPicPr>
        <p:blipFill>
          <a:blip r:embed="rId5"/>
          <a:stretch>
            <a:fillRect/>
          </a:stretch>
        </p:blipFill>
        <p:spPr>
          <a:xfrm>
            <a:off x="1307530" y="2930506"/>
            <a:ext cx="5774757" cy="2348860"/>
          </a:xfrm>
          <a:prstGeom prst="rect">
            <a:avLst/>
          </a:prstGeom>
        </p:spPr>
      </p:pic>
    </p:spTree>
    <p:custDataLst>
      <p:tags r:id="rId1"/>
    </p:custDataLst>
    <p:extLst>
      <p:ext uri="{BB962C8B-B14F-4D97-AF65-F5344CB8AC3E}">
        <p14:creationId xmlns:p14="http://schemas.microsoft.com/office/powerpoint/2010/main" val="2073644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915909" cy="369332"/>
          </a:xfrm>
          <a:prstGeom prst="rect">
            <a:avLst/>
          </a:prstGeom>
        </p:spPr>
        <p:txBody>
          <a:bodyPr wrap="none">
            <a:spAutoFit/>
          </a:bodyPr>
          <a:lstStyle/>
          <a:p>
            <a:r>
              <a:rPr lang="en-US" b="1" dirty="0">
                <a:solidFill>
                  <a:srgbClr val="0A0A0A"/>
                </a:solidFill>
                <a:latin typeface="Google Sans"/>
              </a:rPr>
              <a:t>Master Cylinder</a:t>
            </a:r>
            <a:endParaRPr lang="en-US" dirty="0"/>
          </a:p>
        </p:txBody>
      </p:sp>
      <p:pic>
        <p:nvPicPr>
          <p:cNvPr id="6" name="Picture 5"/>
          <p:cNvPicPr>
            <a:picLocks noChangeAspect="1"/>
          </p:cNvPicPr>
          <p:nvPr/>
        </p:nvPicPr>
        <p:blipFill>
          <a:blip r:embed="rId5"/>
          <a:stretch>
            <a:fillRect/>
          </a:stretch>
        </p:blipFill>
        <p:spPr>
          <a:xfrm>
            <a:off x="304092" y="1919070"/>
            <a:ext cx="5715000" cy="3571875"/>
          </a:xfrm>
          <a:prstGeom prst="rect">
            <a:avLst/>
          </a:prstGeom>
        </p:spPr>
      </p:pic>
      <p:pic>
        <p:nvPicPr>
          <p:cNvPr id="2" name="Picture 1"/>
          <p:cNvPicPr>
            <a:picLocks noChangeAspect="1"/>
          </p:cNvPicPr>
          <p:nvPr/>
        </p:nvPicPr>
        <p:blipFill>
          <a:blip r:embed="rId6"/>
          <a:stretch>
            <a:fillRect/>
          </a:stretch>
        </p:blipFill>
        <p:spPr>
          <a:xfrm>
            <a:off x="6266117" y="1908149"/>
            <a:ext cx="4740919" cy="3215941"/>
          </a:xfrm>
          <a:prstGeom prst="rect">
            <a:avLst/>
          </a:prstGeom>
        </p:spPr>
      </p:pic>
    </p:spTree>
    <p:custDataLst>
      <p:tags r:id="rId1"/>
    </p:custDataLst>
    <p:extLst>
      <p:ext uri="{BB962C8B-B14F-4D97-AF65-F5344CB8AC3E}">
        <p14:creationId xmlns:p14="http://schemas.microsoft.com/office/powerpoint/2010/main" val="40276831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2698175" cy="369332"/>
          </a:xfrm>
          <a:prstGeom prst="rect">
            <a:avLst/>
          </a:prstGeom>
        </p:spPr>
        <p:txBody>
          <a:bodyPr wrap="none">
            <a:spAutoFit/>
          </a:bodyPr>
          <a:lstStyle/>
          <a:p>
            <a:r>
              <a:rPr lang="en-US" b="1" dirty="0">
                <a:solidFill>
                  <a:srgbClr val="0A0A0A"/>
                </a:solidFill>
                <a:latin typeface="Google Sans"/>
              </a:rPr>
              <a:t>Brake Booster (Servo):</a:t>
            </a:r>
            <a:endParaRPr lang="en-US" dirty="0"/>
          </a:p>
        </p:txBody>
      </p:sp>
      <p:pic>
        <p:nvPicPr>
          <p:cNvPr id="5" name="Picture 4"/>
          <p:cNvPicPr>
            <a:picLocks noChangeAspect="1"/>
          </p:cNvPicPr>
          <p:nvPr/>
        </p:nvPicPr>
        <p:blipFill>
          <a:blip r:embed="rId5"/>
          <a:stretch>
            <a:fillRect/>
          </a:stretch>
        </p:blipFill>
        <p:spPr>
          <a:xfrm>
            <a:off x="7145218" y="1701089"/>
            <a:ext cx="3749011" cy="3614413"/>
          </a:xfrm>
          <a:prstGeom prst="rect">
            <a:avLst/>
          </a:prstGeom>
        </p:spPr>
      </p:pic>
      <p:sp>
        <p:nvSpPr>
          <p:cNvPr id="2" name="Rectangle 1"/>
          <p:cNvSpPr/>
          <p:nvPr/>
        </p:nvSpPr>
        <p:spPr>
          <a:xfrm>
            <a:off x="1245683" y="1701089"/>
            <a:ext cx="4844566" cy="2031325"/>
          </a:xfrm>
          <a:prstGeom prst="rect">
            <a:avLst/>
          </a:prstGeom>
        </p:spPr>
        <p:txBody>
          <a:bodyPr wrap="square">
            <a:spAutoFit/>
          </a:bodyPr>
          <a:lstStyle/>
          <a:p>
            <a:r>
              <a:rPr lang="en-US" dirty="0">
                <a:solidFill>
                  <a:srgbClr val="0A0A0A"/>
                </a:solidFill>
                <a:latin typeface="Google Sans"/>
              </a:rPr>
              <a:t>A brake booster (also called a brake servo) is </a:t>
            </a:r>
            <a:r>
              <a:rPr lang="en-US" dirty="0"/>
              <a:t>a device that multiplies the force you apply to the brake pedal</a:t>
            </a:r>
            <a:r>
              <a:rPr lang="en-US" dirty="0">
                <a:solidFill>
                  <a:srgbClr val="0A0A0A"/>
                </a:solidFill>
                <a:latin typeface="Google Sans"/>
              </a:rPr>
              <a:t>, making it much easier to stop your vehicle. It sits between your brake pedal and the master cylinder, effectively bridging the mechanical force of your foot with the hydraulic system of the brakes.</a:t>
            </a:r>
            <a:endParaRPr lang="en-US" dirty="0"/>
          </a:p>
        </p:txBody>
      </p:sp>
    </p:spTree>
    <p:custDataLst>
      <p:tags r:id="rId1"/>
    </p:custDataLst>
    <p:extLst>
      <p:ext uri="{BB962C8B-B14F-4D97-AF65-F5344CB8AC3E}">
        <p14:creationId xmlns:p14="http://schemas.microsoft.com/office/powerpoint/2010/main" val="40356733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672253" cy="369332"/>
          </a:xfrm>
          <a:prstGeom prst="rect">
            <a:avLst/>
          </a:prstGeom>
        </p:spPr>
        <p:txBody>
          <a:bodyPr wrap="none">
            <a:spAutoFit/>
          </a:bodyPr>
          <a:lstStyle/>
          <a:p>
            <a:r>
              <a:rPr lang="en-US" b="1" dirty="0" smtClean="0">
                <a:solidFill>
                  <a:srgbClr val="0A0A0A"/>
                </a:solidFill>
                <a:latin typeface="Google Sans"/>
              </a:rPr>
              <a:t>Brake Caliper</a:t>
            </a:r>
            <a:endParaRPr lang="en-US" dirty="0"/>
          </a:p>
        </p:txBody>
      </p:sp>
      <p:pic>
        <p:nvPicPr>
          <p:cNvPr id="6" name="Picture 5"/>
          <p:cNvPicPr>
            <a:picLocks noChangeAspect="1"/>
          </p:cNvPicPr>
          <p:nvPr/>
        </p:nvPicPr>
        <p:blipFill>
          <a:blip r:embed="rId5"/>
          <a:stretch>
            <a:fillRect/>
          </a:stretch>
        </p:blipFill>
        <p:spPr>
          <a:xfrm>
            <a:off x="1245684" y="1847643"/>
            <a:ext cx="6742904" cy="3220318"/>
          </a:xfrm>
          <a:prstGeom prst="rect">
            <a:avLst/>
          </a:prstGeom>
        </p:spPr>
      </p:pic>
    </p:spTree>
    <p:custDataLst>
      <p:tags r:id="rId1"/>
    </p:custDataLst>
    <p:extLst>
      <p:ext uri="{BB962C8B-B14F-4D97-AF65-F5344CB8AC3E}">
        <p14:creationId xmlns:p14="http://schemas.microsoft.com/office/powerpoint/2010/main" val="25166957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313180" cy="369332"/>
          </a:xfrm>
          <a:prstGeom prst="rect">
            <a:avLst/>
          </a:prstGeom>
        </p:spPr>
        <p:txBody>
          <a:bodyPr wrap="none">
            <a:spAutoFit/>
          </a:bodyPr>
          <a:lstStyle/>
          <a:p>
            <a:r>
              <a:rPr lang="en-US" b="1" dirty="0" smtClean="0">
                <a:solidFill>
                  <a:srgbClr val="0A0A0A"/>
                </a:solidFill>
                <a:latin typeface="Google Sans"/>
              </a:rPr>
              <a:t>Brake Pad</a:t>
            </a:r>
            <a:endParaRPr lang="en-US" dirty="0"/>
          </a:p>
        </p:txBody>
      </p:sp>
      <p:pic>
        <p:nvPicPr>
          <p:cNvPr id="2" name="Picture 1"/>
          <p:cNvPicPr>
            <a:picLocks noChangeAspect="1"/>
          </p:cNvPicPr>
          <p:nvPr/>
        </p:nvPicPr>
        <p:blipFill>
          <a:blip r:embed="rId5"/>
          <a:stretch>
            <a:fillRect/>
          </a:stretch>
        </p:blipFill>
        <p:spPr>
          <a:xfrm>
            <a:off x="1245683" y="1784839"/>
            <a:ext cx="3856667" cy="3224174"/>
          </a:xfrm>
          <a:prstGeom prst="rect">
            <a:avLst/>
          </a:prstGeom>
        </p:spPr>
      </p:pic>
      <p:pic>
        <p:nvPicPr>
          <p:cNvPr id="5" name="Picture 4"/>
          <p:cNvPicPr>
            <a:picLocks noChangeAspect="1"/>
          </p:cNvPicPr>
          <p:nvPr/>
        </p:nvPicPr>
        <p:blipFill>
          <a:blip r:embed="rId6"/>
          <a:stretch>
            <a:fillRect/>
          </a:stretch>
        </p:blipFill>
        <p:spPr>
          <a:xfrm>
            <a:off x="5408762" y="1824084"/>
            <a:ext cx="6241762" cy="3184929"/>
          </a:xfrm>
          <a:prstGeom prst="rect">
            <a:avLst/>
          </a:prstGeom>
        </p:spPr>
      </p:pic>
    </p:spTree>
    <p:custDataLst>
      <p:tags r:id="rId1"/>
    </p:custDataLst>
    <p:extLst>
      <p:ext uri="{BB962C8B-B14F-4D97-AF65-F5344CB8AC3E}">
        <p14:creationId xmlns:p14="http://schemas.microsoft.com/office/powerpoint/2010/main" val="2347903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377300" cy="369332"/>
          </a:xfrm>
          <a:prstGeom prst="rect">
            <a:avLst/>
          </a:prstGeom>
        </p:spPr>
        <p:txBody>
          <a:bodyPr wrap="none">
            <a:spAutoFit/>
          </a:bodyPr>
          <a:lstStyle/>
          <a:p>
            <a:r>
              <a:rPr lang="en-US" b="1" dirty="0" smtClean="0">
                <a:solidFill>
                  <a:srgbClr val="0A0A0A"/>
                </a:solidFill>
                <a:latin typeface="Google Sans"/>
              </a:rPr>
              <a:t>Brake Disc</a:t>
            </a:r>
          </a:p>
        </p:txBody>
      </p:sp>
      <p:pic>
        <p:nvPicPr>
          <p:cNvPr id="6" name="Picture 5"/>
          <p:cNvPicPr>
            <a:picLocks noChangeAspect="1"/>
          </p:cNvPicPr>
          <p:nvPr/>
        </p:nvPicPr>
        <p:blipFill>
          <a:blip r:embed="rId5"/>
          <a:stretch>
            <a:fillRect/>
          </a:stretch>
        </p:blipFill>
        <p:spPr>
          <a:xfrm>
            <a:off x="1315349" y="2006181"/>
            <a:ext cx="4352206" cy="2914650"/>
          </a:xfrm>
          <a:prstGeom prst="rect">
            <a:avLst/>
          </a:prstGeom>
        </p:spPr>
      </p:pic>
    </p:spTree>
    <p:custDataLst>
      <p:tags r:id="rId1"/>
    </p:custDataLst>
    <p:extLst>
      <p:ext uri="{BB962C8B-B14F-4D97-AF65-F5344CB8AC3E}">
        <p14:creationId xmlns:p14="http://schemas.microsoft.com/office/powerpoint/2010/main" val="4194557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245683" y="1331757"/>
            <a:ext cx="1492716" cy="369332"/>
          </a:xfrm>
          <a:prstGeom prst="rect">
            <a:avLst/>
          </a:prstGeom>
        </p:spPr>
        <p:txBody>
          <a:bodyPr wrap="none">
            <a:spAutoFit/>
          </a:bodyPr>
          <a:lstStyle/>
          <a:p>
            <a:r>
              <a:rPr lang="en-US" b="1" dirty="0" smtClean="0">
                <a:solidFill>
                  <a:srgbClr val="0A0A0A"/>
                </a:solidFill>
                <a:latin typeface="Google Sans"/>
              </a:rPr>
              <a:t>Brake Drum</a:t>
            </a:r>
          </a:p>
        </p:txBody>
      </p:sp>
      <p:pic>
        <p:nvPicPr>
          <p:cNvPr id="2" name="Picture 1"/>
          <p:cNvPicPr>
            <a:picLocks noChangeAspect="1"/>
          </p:cNvPicPr>
          <p:nvPr/>
        </p:nvPicPr>
        <p:blipFill>
          <a:blip r:embed="rId5"/>
          <a:stretch>
            <a:fillRect/>
          </a:stretch>
        </p:blipFill>
        <p:spPr>
          <a:xfrm>
            <a:off x="1245683" y="2179612"/>
            <a:ext cx="3695700" cy="2409825"/>
          </a:xfrm>
          <a:prstGeom prst="rect">
            <a:avLst/>
          </a:prstGeom>
        </p:spPr>
      </p:pic>
      <p:pic>
        <p:nvPicPr>
          <p:cNvPr id="5" name="Picture 4"/>
          <p:cNvPicPr>
            <a:picLocks noChangeAspect="1"/>
          </p:cNvPicPr>
          <p:nvPr/>
        </p:nvPicPr>
        <p:blipFill>
          <a:blip r:embed="rId6"/>
          <a:stretch>
            <a:fillRect/>
          </a:stretch>
        </p:blipFill>
        <p:spPr>
          <a:xfrm>
            <a:off x="5130800" y="1621903"/>
            <a:ext cx="5755736" cy="3899140"/>
          </a:xfrm>
          <a:prstGeom prst="rect">
            <a:avLst/>
          </a:prstGeom>
        </p:spPr>
      </p:pic>
    </p:spTree>
    <p:custDataLst>
      <p:tags r:id="rId1"/>
    </p:custDataLst>
    <p:extLst>
      <p:ext uri="{BB962C8B-B14F-4D97-AF65-F5344CB8AC3E}">
        <p14:creationId xmlns:p14="http://schemas.microsoft.com/office/powerpoint/2010/main" val="5010128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472185" y="1062821"/>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601166" y="6288794"/>
            <a:ext cx="6096000" cy="461665"/>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By Ibrahim </a:t>
            </a:r>
            <a:r>
              <a:rPr lang="en-US" altLang="zh-CN" sz="1200" cap="all" spc="100" dirty="0" err="1">
                <a:solidFill>
                  <a:srgbClr val="00B050"/>
                </a:solidFill>
                <a:latin typeface="微软雅黑" panose="020B0503020204020204" charset="-122"/>
                <a:ea typeface="微软雅黑" panose="020B0503020204020204" charset="-122"/>
              </a:rPr>
              <a:t>siraj</a:t>
            </a:r>
            <a:endParaRPr lang="en-US" altLang="zh-CN" sz="12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200" cap="all" spc="100" dirty="0">
                <a:solidFill>
                  <a:srgbClr val="00B050"/>
                </a:solidFill>
                <a:latin typeface="微软雅黑" panose="020B0503020204020204" charset="-122"/>
                <a:ea typeface="微软雅黑" panose="020B0503020204020204" charset="-122"/>
              </a:rPr>
              <a:t>Maldives polytechnic</a:t>
            </a:r>
          </a:p>
        </p:txBody>
      </p:sp>
      <p:pic>
        <p:nvPicPr>
          <p:cNvPr id="4" name="Picture 3"/>
          <p:cNvPicPr>
            <a:picLocks noChangeAspect="1"/>
          </p:cNvPicPr>
          <p:nvPr/>
        </p:nvPicPr>
        <p:blipFill>
          <a:blip r:embed="rId5"/>
          <a:stretch>
            <a:fillRect/>
          </a:stretch>
        </p:blipFill>
        <p:spPr>
          <a:xfrm>
            <a:off x="7750383" y="1617003"/>
            <a:ext cx="3971925" cy="3740001"/>
          </a:xfrm>
          <a:prstGeom prst="rect">
            <a:avLst/>
          </a:prstGeom>
        </p:spPr>
      </p:pic>
      <p:pic>
        <p:nvPicPr>
          <p:cNvPr id="5" name="Picture 4"/>
          <p:cNvPicPr>
            <a:picLocks noChangeAspect="1"/>
          </p:cNvPicPr>
          <p:nvPr/>
        </p:nvPicPr>
        <p:blipFill>
          <a:blip r:embed="rId6"/>
          <a:stretch>
            <a:fillRect/>
          </a:stretch>
        </p:blipFill>
        <p:spPr>
          <a:xfrm>
            <a:off x="752025" y="1617003"/>
            <a:ext cx="6749834" cy="4408236"/>
          </a:xfrm>
          <a:prstGeom prst="rect">
            <a:avLst/>
          </a:prstGeom>
        </p:spPr>
      </p:pic>
    </p:spTree>
    <p:custDataLst>
      <p:tags r:id="rId1"/>
    </p:custDataLst>
    <p:extLst>
      <p:ext uri="{BB962C8B-B14F-4D97-AF65-F5344CB8AC3E}">
        <p14:creationId xmlns:p14="http://schemas.microsoft.com/office/powerpoint/2010/main" val="1123178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2" name="Picture 1"/>
          <p:cNvPicPr>
            <a:picLocks noChangeAspect="1"/>
          </p:cNvPicPr>
          <p:nvPr/>
        </p:nvPicPr>
        <p:blipFill>
          <a:blip r:embed="rId5"/>
          <a:stretch>
            <a:fillRect/>
          </a:stretch>
        </p:blipFill>
        <p:spPr>
          <a:xfrm>
            <a:off x="1524001" y="1354347"/>
            <a:ext cx="8862203" cy="3780166"/>
          </a:xfrm>
          <a:prstGeom prst="rect">
            <a:avLst/>
          </a:prstGeom>
        </p:spPr>
      </p:pic>
    </p:spTree>
    <p:custDataLst>
      <p:tags r:id="rId1"/>
    </p:custDataLst>
    <p:extLst>
      <p:ext uri="{BB962C8B-B14F-4D97-AF65-F5344CB8AC3E}">
        <p14:creationId xmlns:p14="http://schemas.microsoft.com/office/powerpoint/2010/main" val="307866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5" name="Rectangle 4"/>
          <p:cNvSpPr/>
          <p:nvPr/>
        </p:nvSpPr>
        <p:spPr>
          <a:xfrm>
            <a:off x="584113" y="1806234"/>
            <a:ext cx="6075479" cy="2585323"/>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What is it?</a:t>
            </a:r>
            <a:r>
              <a:rPr lang="en-US" dirty="0">
                <a:solidFill>
                  <a:srgbClr val="0A0A0A"/>
                </a:solidFill>
                <a:latin typeface="Google Sans"/>
              </a:rPr>
              <a:t> A secondary braking system that operates independently of the main hydraulic foot brakes</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Alternative Names:</a:t>
            </a:r>
            <a:r>
              <a:rPr lang="en-US" dirty="0">
                <a:solidFill>
                  <a:srgbClr val="0A0A0A"/>
                </a:solidFill>
                <a:latin typeface="Google Sans"/>
              </a:rPr>
              <a:t> Parking brake, emergency brake, or e-brake</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Primary Purpose:</a:t>
            </a:r>
            <a:r>
              <a:rPr lang="en-US" dirty="0">
                <a:solidFill>
                  <a:srgbClr val="0A0A0A"/>
                </a:solidFill>
                <a:latin typeface="Google Sans"/>
              </a:rPr>
              <a:t> To keep a vehicle stationary when parked, especially on inclines, and to serve as a backup if primary brakes fail.</a:t>
            </a:r>
            <a:endParaRPr lang="en-US" b="0" i="0" dirty="0">
              <a:solidFill>
                <a:srgbClr val="0A0A0A"/>
              </a:solidFill>
              <a:effectLst/>
              <a:latin typeface="Google Sans"/>
            </a:endParaRPr>
          </a:p>
        </p:txBody>
      </p:sp>
      <p:pic>
        <p:nvPicPr>
          <p:cNvPr id="6" name="Picture 5"/>
          <p:cNvPicPr>
            <a:picLocks noChangeAspect="1"/>
          </p:cNvPicPr>
          <p:nvPr/>
        </p:nvPicPr>
        <p:blipFill>
          <a:blip r:embed="rId5"/>
          <a:stretch>
            <a:fillRect/>
          </a:stretch>
        </p:blipFill>
        <p:spPr>
          <a:xfrm>
            <a:off x="6719978" y="1643050"/>
            <a:ext cx="4934310" cy="4784063"/>
          </a:xfrm>
          <a:prstGeom prst="rect">
            <a:avLst/>
          </a:prstGeom>
        </p:spPr>
      </p:pic>
    </p:spTree>
    <p:custDataLst>
      <p:tags r:id="rId1"/>
    </p:custDataLst>
    <p:extLst>
      <p:ext uri="{BB962C8B-B14F-4D97-AF65-F5344CB8AC3E}">
        <p14:creationId xmlns:p14="http://schemas.microsoft.com/office/powerpoint/2010/main" val="7468582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2" name="Rectangle 1"/>
          <p:cNvSpPr/>
          <p:nvPr/>
        </p:nvSpPr>
        <p:spPr>
          <a:xfrm>
            <a:off x="798380" y="1576410"/>
            <a:ext cx="3692036"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Hand Brake Main </a:t>
            </a:r>
            <a:r>
              <a:rPr lang="en-US" b="1" dirty="0">
                <a:solidFill>
                  <a:srgbClr val="0A0A0A"/>
                </a:solidFill>
                <a:latin typeface="Google Sans"/>
              </a:rPr>
              <a:t>Component</a:t>
            </a:r>
            <a:endParaRPr lang="en-US" dirty="0"/>
          </a:p>
        </p:txBody>
      </p:sp>
      <p:sp>
        <p:nvSpPr>
          <p:cNvPr id="7" name="Rectangle 6"/>
          <p:cNvSpPr/>
          <p:nvPr/>
        </p:nvSpPr>
        <p:spPr>
          <a:xfrm>
            <a:off x="713118" y="1977111"/>
            <a:ext cx="5233752" cy="3693319"/>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Handbrake Lever/Switch:</a:t>
            </a:r>
            <a:r>
              <a:rPr lang="en-US" dirty="0">
                <a:solidFill>
                  <a:srgbClr val="0A0A0A"/>
                </a:solidFill>
                <a:latin typeface="Google Sans"/>
              </a:rPr>
              <a:t> The driver interface (lever, pedal, or button).</a:t>
            </a:r>
          </a:p>
          <a:p>
            <a:pPr>
              <a:buFont typeface="Arial" panose="020B0604020202020204" pitchFamily="34" charset="0"/>
              <a:buChar char="•"/>
            </a:pPr>
            <a:r>
              <a:rPr lang="en-US" b="1" dirty="0">
                <a:solidFill>
                  <a:srgbClr val="0A0A0A"/>
                </a:solidFill>
                <a:latin typeface="Google Sans"/>
              </a:rPr>
              <a:t>Cable Assembly:</a:t>
            </a:r>
            <a:r>
              <a:rPr lang="en-US" dirty="0">
                <a:solidFill>
                  <a:srgbClr val="0A0A0A"/>
                </a:solidFill>
                <a:latin typeface="Google Sans"/>
              </a:rPr>
              <a:t> Flexible steel cables that transmit physical force to the rear wheels.</a:t>
            </a:r>
          </a:p>
          <a:p>
            <a:pPr>
              <a:buFont typeface="Arial" panose="020B0604020202020204" pitchFamily="34" charset="0"/>
              <a:buChar char="•"/>
            </a:pPr>
            <a:r>
              <a:rPr lang="en-US" b="1" dirty="0">
                <a:solidFill>
                  <a:srgbClr val="0A0A0A"/>
                </a:solidFill>
                <a:latin typeface="Google Sans"/>
              </a:rPr>
              <a:t>Equalizer Yoke:</a:t>
            </a:r>
            <a:r>
              <a:rPr lang="en-US" dirty="0">
                <a:solidFill>
                  <a:srgbClr val="0A0A0A"/>
                </a:solidFill>
                <a:latin typeface="Google Sans"/>
              </a:rPr>
              <a:t> A mechanism that ensures equal braking force is distributed to both rear wheels.</a:t>
            </a:r>
          </a:p>
          <a:p>
            <a:pPr>
              <a:buFont typeface="Arial" panose="020B0604020202020204" pitchFamily="34" charset="0"/>
              <a:buChar char="•"/>
            </a:pPr>
            <a:r>
              <a:rPr lang="en-US" b="1" dirty="0">
                <a:solidFill>
                  <a:srgbClr val="0A0A0A"/>
                </a:solidFill>
                <a:latin typeface="Google Sans"/>
              </a:rPr>
              <a:t>Adjusting Mechanism:</a:t>
            </a:r>
            <a:r>
              <a:rPr lang="en-US" dirty="0">
                <a:solidFill>
                  <a:srgbClr val="0A0A0A"/>
                </a:solidFill>
                <a:latin typeface="Google Sans"/>
              </a:rPr>
              <a:t> Nuts or bolts used to maintain proper cable tension as components wear.</a:t>
            </a:r>
          </a:p>
          <a:p>
            <a:pPr>
              <a:buFont typeface="Arial" panose="020B0604020202020204" pitchFamily="34" charset="0"/>
              <a:buChar char="•"/>
            </a:pPr>
            <a:r>
              <a:rPr lang="en-US" b="1" dirty="0">
                <a:solidFill>
                  <a:srgbClr val="0A0A0A"/>
                </a:solidFill>
                <a:latin typeface="Google Sans"/>
              </a:rPr>
              <a:t>Rear Brake Interface:</a:t>
            </a:r>
            <a:r>
              <a:rPr lang="en-US" dirty="0">
                <a:solidFill>
                  <a:srgbClr val="0A0A0A"/>
                </a:solidFill>
                <a:latin typeface="Google Sans"/>
              </a:rPr>
              <a:t> Connects to either drum brakes (brake shoes) or disc brakes (calipers/auxiliary drums).</a:t>
            </a:r>
            <a:endParaRPr lang="en-US" b="0" i="0" dirty="0">
              <a:solidFill>
                <a:srgbClr val="0A0A0A"/>
              </a:solidFill>
              <a:effectLst/>
              <a:latin typeface="Google Sans"/>
            </a:endParaRPr>
          </a:p>
        </p:txBody>
      </p:sp>
      <p:pic>
        <p:nvPicPr>
          <p:cNvPr id="8" name="Picture 7"/>
          <p:cNvPicPr>
            <a:picLocks noChangeAspect="1"/>
          </p:cNvPicPr>
          <p:nvPr/>
        </p:nvPicPr>
        <p:blipFill>
          <a:blip r:embed="rId5"/>
          <a:stretch>
            <a:fillRect/>
          </a:stretch>
        </p:blipFill>
        <p:spPr>
          <a:xfrm>
            <a:off x="5805577" y="1248007"/>
            <a:ext cx="6022675" cy="4829024"/>
          </a:xfrm>
          <a:prstGeom prst="rect">
            <a:avLst/>
          </a:prstGeom>
        </p:spPr>
      </p:pic>
    </p:spTree>
    <p:custDataLst>
      <p:tags r:id="rId1"/>
    </p:custDataLst>
    <p:extLst>
      <p:ext uri="{BB962C8B-B14F-4D97-AF65-F5344CB8AC3E}">
        <p14:creationId xmlns:p14="http://schemas.microsoft.com/office/powerpoint/2010/main" val="3699603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2" name="Rectangle 1"/>
          <p:cNvSpPr/>
          <p:nvPr/>
        </p:nvSpPr>
        <p:spPr>
          <a:xfrm>
            <a:off x="798380" y="1576410"/>
            <a:ext cx="5547352" cy="646331"/>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Hand Brake How </a:t>
            </a:r>
            <a:r>
              <a:rPr lang="en-US" b="1" dirty="0">
                <a:solidFill>
                  <a:srgbClr val="0A0A0A"/>
                </a:solidFill>
                <a:latin typeface="Google Sans"/>
              </a:rPr>
              <a:t>It Works (Mechanical System</a:t>
            </a:r>
            <a:endParaRPr lang="en-US" dirty="0"/>
          </a:p>
          <a:p>
            <a:pPr marL="285750" indent="-285750">
              <a:buFont typeface="Wingdings" panose="05000000000000000000" pitchFamily="2" charset="2"/>
              <a:buChar char="Ø"/>
            </a:pPr>
            <a:endParaRPr lang="en-US" dirty="0"/>
          </a:p>
        </p:txBody>
      </p:sp>
      <p:sp>
        <p:nvSpPr>
          <p:cNvPr id="6" name="Rectangle 5"/>
          <p:cNvSpPr/>
          <p:nvPr/>
        </p:nvSpPr>
        <p:spPr>
          <a:xfrm>
            <a:off x="882768" y="2127980"/>
            <a:ext cx="5828583" cy="2862322"/>
          </a:xfrm>
          <a:prstGeom prst="rect">
            <a:avLst/>
          </a:prstGeom>
        </p:spPr>
        <p:txBody>
          <a:bodyPr wrap="square">
            <a:spAutoFit/>
          </a:bodyPr>
          <a:lstStyle/>
          <a:p>
            <a:pPr>
              <a:buFont typeface="+mj-lt"/>
              <a:buAutoNum type="arabicPeriod"/>
            </a:pPr>
            <a:r>
              <a:rPr lang="en-US" b="1" dirty="0">
                <a:solidFill>
                  <a:srgbClr val="0A0A0A"/>
                </a:solidFill>
                <a:latin typeface="Google Sans"/>
              </a:rPr>
              <a:t>Engagement:</a:t>
            </a:r>
            <a:r>
              <a:rPr lang="en-US" dirty="0">
                <a:solidFill>
                  <a:srgbClr val="0A0A0A"/>
                </a:solidFill>
                <a:latin typeface="Google Sans"/>
              </a:rPr>
              <a:t> Pulling the lever creates tension in the cable assembly.</a:t>
            </a:r>
          </a:p>
          <a:p>
            <a:pPr>
              <a:buFont typeface="+mj-lt"/>
              <a:buAutoNum type="arabicPeriod"/>
            </a:pPr>
            <a:r>
              <a:rPr lang="en-US" b="1" dirty="0">
                <a:solidFill>
                  <a:srgbClr val="0A0A0A"/>
                </a:solidFill>
                <a:latin typeface="Google Sans"/>
              </a:rPr>
              <a:t>Force Multiplication:</a:t>
            </a:r>
            <a:r>
              <a:rPr lang="en-US" dirty="0">
                <a:solidFill>
                  <a:srgbClr val="0A0A0A"/>
                </a:solidFill>
                <a:latin typeface="Google Sans"/>
              </a:rPr>
              <a:t> The cable often passes through an intermediate lever to increase the pulling force.</a:t>
            </a:r>
          </a:p>
          <a:p>
            <a:pPr>
              <a:buFont typeface="+mj-lt"/>
              <a:buAutoNum type="arabicPeriod"/>
            </a:pPr>
            <a:r>
              <a:rPr lang="en-US" b="1" dirty="0">
                <a:solidFill>
                  <a:srgbClr val="0A0A0A"/>
                </a:solidFill>
                <a:latin typeface="Google Sans"/>
              </a:rPr>
              <a:t>Application:</a:t>
            </a:r>
            <a:r>
              <a:rPr lang="en-US" dirty="0">
                <a:solidFill>
                  <a:srgbClr val="0A0A0A"/>
                </a:solidFill>
                <a:latin typeface="Google Sans"/>
              </a:rPr>
              <a:t> The cables pull on a lever at the rear wheels, forcing friction material (pads or shoes) against the disc or drum.</a:t>
            </a:r>
          </a:p>
          <a:p>
            <a:pPr>
              <a:buFont typeface="+mj-lt"/>
              <a:buAutoNum type="arabicPeriod"/>
            </a:pPr>
            <a:r>
              <a:rPr lang="en-US" b="1" dirty="0">
                <a:solidFill>
                  <a:srgbClr val="0A0A0A"/>
                </a:solidFill>
                <a:latin typeface="Google Sans"/>
              </a:rPr>
              <a:t>Locking:</a:t>
            </a:r>
            <a:r>
              <a:rPr lang="en-US" dirty="0">
                <a:solidFill>
                  <a:srgbClr val="0A0A0A"/>
                </a:solidFill>
                <a:latin typeface="Google Sans"/>
              </a:rPr>
              <a:t> A spring-loaded pawl engages with a ratchet plate to hold the lever in the "on" position</a:t>
            </a:r>
            <a:endParaRPr lang="en-US" b="0" i="0" dirty="0">
              <a:solidFill>
                <a:srgbClr val="0A0A0A"/>
              </a:solidFill>
              <a:effectLst/>
              <a:latin typeface="Google Sans"/>
            </a:endParaRPr>
          </a:p>
        </p:txBody>
      </p:sp>
      <p:pic>
        <p:nvPicPr>
          <p:cNvPr id="9" name="Picture 8"/>
          <p:cNvPicPr>
            <a:picLocks noChangeAspect="1"/>
          </p:cNvPicPr>
          <p:nvPr/>
        </p:nvPicPr>
        <p:blipFill>
          <a:blip r:embed="rId5"/>
          <a:stretch>
            <a:fillRect/>
          </a:stretch>
        </p:blipFill>
        <p:spPr>
          <a:xfrm>
            <a:off x="6809118" y="1331757"/>
            <a:ext cx="4827917" cy="5355970"/>
          </a:xfrm>
          <a:prstGeom prst="rect">
            <a:avLst/>
          </a:prstGeom>
        </p:spPr>
      </p:pic>
    </p:spTree>
    <p:custDataLst>
      <p:tags r:id="rId1"/>
    </p:custDataLst>
    <p:extLst>
      <p:ext uri="{BB962C8B-B14F-4D97-AF65-F5344CB8AC3E}">
        <p14:creationId xmlns:p14="http://schemas.microsoft.com/office/powerpoint/2010/main" val="24648976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2" name="Rectangle 1"/>
          <p:cNvSpPr/>
          <p:nvPr/>
        </p:nvSpPr>
        <p:spPr>
          <a:xfrm>
            <a:off x="798380" y="1576410"/>
            <a:ext cx="6269665"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Hand Brake </a:t>
            </a:r>
            <a:r>
              <a:rPr lang="en-US" b="1" dirty="0"/>
              <a:t>Modern Electronic Parking Brakes (EPB)</a:t>
            </a:r>
            <a:endParaRPr lang="en-US" dirty="0"/>
          </a:p>
        </p:txBody>
      </p:sp>
      <p:sp>
        <p:nvSpPr>
          <p:cNvPr id="5" name="Rectangle 4"/>
          <p:cNvSpPr/>
          <p:nvPr/>
        </p:nvSpPr>
        <p:spPr>
          <a:xfrm>
            <a:off x="1089804" y="2137083"/>
            <a:ext cx="5647426" cy="3693319"/>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The Switch:</a:t>
            </a:r>
            <a:r>
              <a:rPr lang="en-US" dirty="0">
                <a:solidFill>
                  <a:srgbClr val="0A0A0A"/>
                </a:solidFill>
                <a:latin typeface="Google Sans"/>
              </a:rPr>
              <a:t> Replaces the heavy lever with a dashboard or console button</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The Motor:</a:t>
            </a:r>
            <a:r>
              <a:rPr lang="en-US" dirty="0">
                <a:solidFill>
                  <a:srgbClr val="0A0A0A"/>
                </a:solidFill>
                <a:latin typeface="Google Sans"/>
              </a:rPr>
              <a:t> Uses electric actuator motors located on the rear calipers to apply pressure</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The Brain:</a:t>
            </a:r>
            <a:r>
              <a:rPr lang="en-US" dirty="0">
                <a:solidFill>
                  <a:srgbClr val="0A0A0A"/>
                </a:solidFill>
                <a:latin typeface="Google Sans"/>
              </a:rPr>
              <a:t> Controlled by the Electronic Control Unit (ECU) or ABS module, which checks ignition and pedal states before engaging or releasing</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Benefits:</a:t>
            </a:r>
            <a:r>
              <a:rPr lang="en-US" dirty="0">
                <a:solidFill>
                  <a:srgbClr val="0A0A0A"/>
                </a:solidFill>
                <a:latin typeface="Google Sans"/>
              </a:rPr>
              <a:t> Saves cabin space, eliminates cable wear, and offers features like "Auto-Hold" or "Hill Start Assist"</a:t>
            </a:r>
            <a:endParaRPr lang="en-US" b="0" i="0" dirty="0">
              <a:solidFill>
                <a:srgbClr val="0A0A0A"/>
              </a:solidFill>
              <a:effectLst/>
              <a:latin typeface="Google Sans"/>
            </a:endParaRPr>
          </a:p>
        </p:txBody>
      </p:sp>
      <p:pic>
        <p:nvPicPr>
          <p:cNvPr id="7" name="Picture 6"/>
          <p:cNvPicPr>
            <a:picLocks noChangeAspect="1"/>
          </p:cNvPicPr>
          <p:nvPr/>
        </p:nvPicPr>
        <p:blipFill>
          <a:blip r:embed="rId5"/>
          <a:stretch>
            <a:fillRect/>
          </a:stretch>
        </p:blipFill>
        <p:spPr>
          <a:xfrm>
            <a:off x="7068045" y="1331757"/>
            <a:ext cx="4705710" cy="2843428"/>
          </a:xfrm>
          <a:prstGeom prst="rect">
            <a:avLst/>
          </a:prstGeom>
        </p:spPr>
      </p:pic>
      <p:pic>
        <p:nvPicPr>
          <p:cNvPr id="8" name="Picture 7"/>
          <p:cNvPicPr>
            <a:picLocks noChangeAspect="1"/>
          </p:cNvPicPr>
          <p:nvPr/>
        </p:nvPicPr>
        <p:blipFill>
          <a:blip r:embed="rId6"/>
          <a:stretch>
            <a:fillRect/>
          </a:stretch>
        </p:blipFill>
        <p:spPr>
          <a:xfrm>
            <a:off x="8484978" y="4410344"/>
            <a:ext cx="3022660" cy="2093472"/>
          </a:xfrm>
          <a:prstGeom prst="rect">
            <a:avLst/>
          </a:prstGeom>
        </p:spPr>
      </p:pic>
    </p:spTree>
    <p:custDataLst>
      <p:tags r:id="rId1"/>
    </p:custDataLst>
    <p:extLst>
      <p:ext uri="{BB962C8B-B14F-4D97-AF65-F5344CB8AC3E}">
        <p14:creationId xmlns:p14="http://schemas.microsoft.com/office/powerpoint/2010/main" val="19901752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2" name="Rectangle 1"/>
          <p:cNvSpPr/>
          <p:nvPr/>
        </p:nvSpPr>
        <p:spPr>
          <a:xfrm>
            <a:off x="798380" y="1576410"/>
            <a:ext cx="5560048"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Hand Brake </a:t>
            </a:r>
            <a:r>
              <a:rPr lang="en-US" b="1" dirty="0"/>
              <a:t>Common Types of Parking Brakes</a:t>
            </a:r>
            <a:endParaRPr lang="en-US" dirty="0"/>
          </a:p>
        </p:txBody>
      </p:sp>
      <p:sp>
        <p:nvSpPr>
          <p:cNvPr id="6" name="Rectangle 5"/>
          <p:cNvSpPr/>
          <p:nvPr/>
        </p:nvSpPr>
        <p:spPr>
          <a:xfrm>
            <a:off x="946422" y="2083234"/>
            <a:ext cx="6558559" cy="2585323"/>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Center Lever:</a:t>
            </a:r>
            <a:r>
              <a:rPr lang="en-US" dirty="0">
                <a:solidFill>
                  <a:srgbClr val="0A0A0A"/>
                </a:solidFill>
                <a:latin typeface="Google Sans"/>
              </a:rPr>
              <a:t> The classic "stick" between front seats</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Foot Pedal:</a:t>
            </a:r>
            <a:r>
              <a:rPr lang="en-US" dirty="0">
                <a:solidFill>
                  <a:srgbClr val="0A0A0A"/>
                </a:solidFill>
                <a:latin typeface="Google Sans"/>
              </a:rPr>
              <a:t> A small pedal on the far left of the </a:t>
            </a:r>
            <a:r>
              <a:rPr lang="en-US" dirty="0" err="1">
                <a:solidFill>
                  <a:srgbClr val="0A0A0A"/>
                </a:solidFill>
                <a:latin typeface="Google Sans"/>
              </a:rPr>
              <a:t>footwell</a:t>
            </a:r>
            <a:r>
              <a:rPr lang="en-US" dirty="0">
                <a:solidFill>
                  <a:srgbClr val="0A0A0A"/>
                </a:solidFill>
                <a:latin typeface="Google Sans"/>
              </a:rPr>
              <a:t>, common in older or automatic vehicles</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Stick Lever:</a:t>
            </a:r>
            <a:r>
              <a:rPr lang="en-US" dirty="0">
                <a:solidFill>
                  <a:srgbClr val="0A0A0A"/>
                </a:solidFill>
                <a:latin typeface="Google Sans"/>
              </a:rPr>
              <a:t> A pull-type handle found under the dashboard in older models</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Push Button:</a:t>
            </a:r>
            <a:r>
              <a:rPr lang="en-US" dirty="0">
                <a:solidFill>
                  <a:srgbClr val="0A0A0A"/>
                </a:solidFill>
                <a:latin typeface="Google Sans"/>
              </a:rPr>
              <a:t> The modern electronic standard.</a:t>
            </a:r>
            <a:endParaRPr lang="en-US" b="0" i="0" dirty="0">
              <a:solidFill>
                <a:srgbClr val="0A0A0A"/>
              </a:solidFill>
              <a:effectLst/>
              <a:latin typeface="Google Sans"/>
            </a:endParaRPr>
          </a:p>
        </p:txBody>
      </p:sp>
      <p:pic>
        <p:nvPicPr>
          <p:cNvPr id="9" name="Picture 8"/>
          <p:cNvPicPr>
            <a:picLocks noChangeAspect="1"/>
          </p:cNvPicPr>
          <p:nvPr/>
        </p:nvPicPr>
        <p:blipFill>
          <a:blip r:embed="rId5"/>
          <a:stretch>
            <a:fillRect/>
          </a:stretch>
        </p:blipFill>
        <p:spPr>
          <a:xfrm>
            <a:off x="8576778" y="1189059"/>
            <a:ext cx="2619375" cy="1743075"/>
          </a:xfrm>
          <a:prstGeom prst="rect">
            <a:avLst/>
          </a:prstGeom>
        </p:spPr>
      </p:pic>
      <p:pic>
        <p:nvPicPr>
          <p:cNvPr id="10" name="Picture 9"/>
          <p:cNvPicPr>
            <a:picLocks noChangeAspect="1"/>
          </p:cNvPicPr>
          <p:nvPr/>
        </p:nvPicPr>
        <p:blipFill>
          <a:blip r:embed="rId6"/>
          <a:stretch>
            <a:fillRect/>
          </a:stretch>
        </p:blipFill>
        <p:spPr>
          <a:xfrm>
            <a:off x="8576778" y="2932134"/>
            <a:ext cx="2619375" cy="1743075"/>
          </a:xfrm>
          <a:prstGeom prst="rect">
            <a:avLst/>
          </a:prstGeom>
        </p:spPr>
      </p:pic>
      <p:pic>
        <p:nvPicPr>
          <p:cNvPr id="11" name="Picture 10"/>
          <p:cNvPicPr>
            <a:picLocks noChangeAspect="1"/>
          </p:cNvPicPr>
          <p:nvPr/>
        </p:nvPicPr>
        <p:blipFill>
          <a:blip r:embed="rId7"/>
          <a:stretch>
            <a:fillRect/>
          </a:stretch>
        </p:blipFill>
        <p:spPr>
          <a:xfrm>
            <a:off x="8576777" y="4668557"/>
            <a:ext cx="2619375" cy="1965156"/>
          </a:xfrm>
          <a:prstGeom prst="rect">
            <a:avLst/>
          </a:prstGeom>
        </p:spPr>
      </p:pic>
    </p:spTree>
    <p:custDataLst>
      <p:tags r:id="rId1"/>
    </p:custDataLst>
    <p:extLst>
      <p:ext uri="{BB962C8B-B14F-4D97-AF65-F5344CB8AC3E}">
        <p14:creationId xmlns:p14="http://schemas.microsoft.com/office/powerpoint/2010/main" val="38820725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796112" y="1147091"/>
            <a:ext cx="3198311" cy="369332"/>
          </a:xfrm>
          <a:prstGeom prst="rect">
            <a:avLst/>
          </a:prstGeom>
        </p:spPr>
        <p:txBody>
          <a:bodyPr wrap="none">
            <a:spAutoFit/>
          </a:bodyPr>
          <a:lstStyle/>
          <a:p>
            <a:r>
              <a:rPr lang="en-US" b="1" dirty="0">
                <a:solidFill>
                  <a:srgbClr val="0A0A0A"/>
                </a:solidFill>
                <a:latin typeface="Google Sans"/>
              </a:rPr>
              <a:t>Introduction to Handbrakes</a:t>
            </a:r>
            <a:endParaRPr lang="en-US" dirty="0"/>
          </a:p>
        </p:txBody>
      </p:sp>
      <p:sp>
        <p:nvSpPr>
          <p:cNvPr id="2" name="Rectangle 1"/>
          <p:cNvSpPr/>
          <p:nvPr/>
        </p:nvSpPr>
        <p:spPr>
          <a:xfrm>
            <a:off x="798380" y="1576410"/>
            <a:ext cx="453842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Hand Brake </a:t>
            </a:r>
            <a:r>
              <a:rPr lang="en-US" b="1" dirty="0"/>
              <a:t>Best Practices for Usage</a:t>
            </a:r>
            <a:endParaRPr lang="en-US" dirty="0"/>
          </a:p>
        </p:txBody>
      </p:sp>
      <p:sp>
        <p:nvSpPr>
          <p:cNvPr id="5" name="Rectangle 4"/>
          <p:cNvSpPr/>
          <p:nvPr/>
        </p:nvSpPr>
        <p:spPr>
          <a:xfrm>
            <a:off x="1177509" y="2005729"/>
            <a:ext cx="9700399" cy="2585323"/>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Always Engage:</a:t>
            </a:r>
            <a:r>
              <a:rPr lang="en-US" dirty="0">
                <a:solidFill>
                  <a:srgbClr val="0A0A0A"/>
                </a:solidFill>
                <a:latin typeface="Google Sans"/>
              </a:rPr>
              <a:t> Use the parking brake every time you park to reduce strain on the transmission's parking pawl</a:t>
            </a:r>
            <a:r>
              <a:rPr lang="en-US" dirty="0" smtClean="0">
                <a:solidFill>
                  <a:srgbClr val="0A0A0A"/>
                </a:solidFill>
                <a:latin typeface="Google Sans"/>
              </a:rPr>
              <a:t>.</a:t>
            </a:r>
            <a:r>
              <a:rPr lang="en-US" dirty="0"/>
              <a:t>  a small, finger-like metal pin that locks the transmission output shaft. </a:t>
            </a:r>
            <a:endParaRPr lang="en-US" dirty="0" smtClean="0">
              <a:solidFill>
                <a:srgbClr val="0A0A0A"/>
              </a:solidFill>
              <a:latin typeface="Google Sans"/>
            </a:endParaRP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Proper Technique:</a:t>
            </a:r>
            <a:r>
              <a:rPr lang="en-US" dirty="0">
                <a:solidFill>
                  <a:srgbClr val="0A0A0A"/>
                </a:solidFill>
                <a:latin typeface="Google Sans"/>
              </a:rPr>
              <a:t> When applying a manual lever, it is best practice to hold the release button to prevent excessive wear on the ratchet teeth</a:t>
            </a:r>
            <a:r>
              <a:rPr lang="en-US" dirty="0" smtClean="0">
                <a:solidFill>
                  <a:srgbClr val="0A0A0A"/>
                </a:solidFill>
                <a:latin typeface="Google Sans"/>
              </a:rPr>
              <a:t>.</a:t>
            </a:r>
          </a:p>
          <a:p>
            <a:pPr>
              <a:buFont typeface="Arial" panose="020B0604020202020204" pitchFamily="34" charset="0"/>
              <a:buChar char="•"/>
            </a:pPr>
            <a:endParaRPr lang="en-US" dirty="0">
              <a:solidFill>
                <a:srgbClr val="0A0A0A"/>
              </a:solidFill>
              <a:latin typeface="Google Sans"/>
            </a:endParaRPr>
          </a:p>
          <a:p>
            <a:pPr>
              <a:buFont typeface="Arial" panose="020B0604020202020204" pitchFamily="34" charset="0"/>
              <a:buChar char="•"/>
            </a:pPr>
            <a:r>
              <a:rPr lang="en-US" b="1" dirty="0">
                <a:solidFill>
                  <a:srgbClr val="0A0A0A"/>
                </a:solidFill>
                <a:latin typeface="Google Sans"/>
              </a:rPr>
              <a:t>Hill Starts:</a:t>
            </a:r>
            <a:r>
              <a:rPr lang="en-US" dirty="0">
                <a:solidFill>
                  <a:srgbClr val="0A0A0A"/>
                </a:solidFill>
                <a:latin typeface="Google Sans"/>
              </a:rPr>
              <a:t> Use it to prevent rollback on steep inclines while transitioning from the brake to the accelerator.</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2284678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01898" y="1085567"/>
            <a:ext cx="323037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How brake system works</a:t>
            </a:r>
            <a:endParaRPr lang="en-US" dirty="0"/>
          </a:p>
        </p:txBody>
      </p:sp>
      <p:sp>
        <p:nvSpPr>
          <p:cNvPr id="6" name="Rectangle 5"/>
          <p:cNvSpPr/>
          <p:nvPr/>
        </p:nvSpPr>
        <p:spPr>
          <a:xfrm>
            <a:off x="901898" y="1401850"/>
            <a:ext cx="6714010" cy="5078313"/>
          </a:xfrm>
          <a:prstGeom prst="rect">
            <a:avLst/>
          </a:prstGeom>
        </p:spPr>
        <p:txBody>
          <a:bodyPr wrap="square">
            <a:spAutoFit/>
          </a:bodyPr>
          <a:lstStyle/>
          <a:p>
            <a:pPr>
              <a:buFont typeface="+mj-lt"/>
              <a:buAutoNum type="arabicPeriod"/>
            </a:pPr>
            <a:r>
              <a:rPr lang="en-US" b="1" dirty="0">
                <a:solidFill>
                  <a:srgbClr val="0A0A0A"/>
                </a:solidFill>
                <a:latin typeface="Google Sans"/>
              </a:rPr>
              <a:t>Input Force</a:t>
            </a:r>
            <a:r>
              <a:rPr lang="en-US" dirty="0">
                <a:solidFill>
                  <a:srgbClr val="0A0A0A"/>
                </a:solidFill>
                <a:latin typeface="Google Sans"/>
              </a:rPr>
              <a:t>: When you press the brake pedal, a pushrod connected to it moves a piston inside the master cylinder</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Pressure Generation</a:t>
            </a:r>
            <a:r>
              <a:rPr lang="en-US" dirty="0">
                <a:solidFill>
                  <a:srgbClr val="0A0A0A"/>
                </a:solidFill>
                <a:latin typeface="Google Sans"/>
              </a:rPr>
              <a:t>: As the piston moves, it compresses the brake fluid within the cylinder's bore, creating high hydraulic pressure</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Pressure Transmission</a:t>
            </a:r>
            <a:r>
              <a:rPr lang="en-US" dirty="0">
                <a:solidFill>
                  <a:srgbClr val="0A0A0A"/>
                </a:solidFill>
                <a:latin typeface="Google Sans"/>
              </a:rPr>
              <a:t>: This pressurized fluid travels through brake lines to the slave cylinders (calipers or drum wheel cylinders) at each wheel</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Braking Action</a:t>
            </a:r>
            <a:r>
              <a:rPr lang="en-US" dirty="0">
                <a:solidFill>
                  <a:srgbClr val="0A0A0A"/>
                </a:solidFill>
                <a:latin typeface="Google Sans"/>
              </a:rPr>
              <a:t>: The hydraulic pressure forces the brake pads or shoes against the rotating rotors or drums, creating the friction needed to slow the wheels</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Return</a:t>
            </a:r>
            <a:r>
              <a:rPr lang="en-US" dirty="0">
                <a:solidFill>
                  <a:srgbClr val="0A0A0A"/>
                </a:solidFill>
                <a:latin typeface="Google Sans"/>
              </a:rPr>
              <a:t>: Once the pedal is released, internal return springs push the pistons back to their resting position, allowing the fluid to return to the reservoir.</a:t>
            </a:r>
            <a:endParaRPr lang="en-US" b="0" i="0" dirty="0">
              <a:solidFill>
                <a:srgbClr val="0A0A0A"/>
              </a:solidFill>
              <a:effectLst/>
              <a:latin typeface="Google Sans"/>
            </a:endParaRPr>
          </a:p>
        </p:txBody>
      </p:sp>
      <p:pic>
        <p:nvPicPr>
          <p:cNvPr id="7" name="Picture 6"/>
          <p:cNvPicPr>
            <a:picLocks noChangeAspect="1"/>
          </p:cNvPicPr>
          <p:nvPr/>
        </p:nvPicPr>
        <p:blipFill>
          <a:blip r:embed="rId5"/>
          <a:stretch>
            <a:fillRect/>
          </a:stretch>
        </p:blipFill>
        <p:spPr>
          <a:xfrm>
            <a:off x="7615908" y="1454899"/>
            <a:ext cx="4274442" cy="4801268"/>
          </a:xfrm>
          <a:prstGeom prst="rect">
            <a:avLst/>
          </a:prstGeom>
        </p:spPr>
      </p:pic>
    </p:spTree>
    <p:custDataLst>
      <p:tags r:id="rId1"/>
    </p:custDataLst>
    <p:extLst>
      <p:ext uri="{BB962C8B-B14F-4D97-AF65-F5344CB8AC3E}">
        <p14:creationId xmlns:p14="http://schemas.microsoft.com/office/powerpoint/2010/main" val="899177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01898" y="1085567"/>
            <a:ext cx="323037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How brake system works</a:t>
            </a:r>
            <a:endParaRPr lang="en-US" dirty="0"/>
          </a:p>
        </p:txBody>
      </p:sp>
      <p:pic>
        <p:nvPicPr>
          <p:cNvPr id="5" name="bGKJOICWmFQ"/>
          <p:cNvPicPr>
            <a:picLocks noRot="1" noChangeAspect="1"/>
          </p:cNvPicPr>
          <p:nvPr>
            <a:videoFile r:link="rId4"/>
          </p:nvPr>
        </p:nvPicPr>
        <p:blipFill>
          <a:blip r:embed="rId6"/>
          <a:stretch>
            <a:fillRect/>
          </a:stretch>
        </p:blipFill>
        <p:spPr>
          <a:xfrm>
            <a:off x="1614831" y="1721778"/>
            <a:ext cx="7936493" cy="3875113"/>
          </a:xfrm>
          <a:prstGeom prst="rect">
            <a:avLst/>
          </a:prstGeom>
        </p:spPr>
      </p:pic>
    </p:spTree>
    <p:custDataLst>
      <p:tags r:id="rId1"/>
    </p:custDataLst>
    <p:extLst>
      <p:ext uri="{BB962C8B-B14F-4D97-AF65-F5344CB8AC3E}">
        <p14:creationId xmlns:p14="http://schemas.microsoft.com/office/powerpoint/2010/main" val="14216225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18524" y="1300262"/>
            <a:ext cx="358085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ABS Anti lock Brake System</a:t>
            </a:r>
            <a:endParaRPr lang="en-US" dirty="0"/>
          </a:p>
        </p:txBody>
      </p:sp>
      <p:sp>
        <p:nvSpPr>
          <p:cNvPr id="4" name="Rectangle 3"/>
          <p:cNvSpPr/>
          <p:nvPr/>
        </p:nvSpPr>
        <p:spPr>
          <a:xfrm>
            <a:off x="1095377" y="1721849"/>
            <a:ext cx="5713741" cy="3970318"/>
          </a:xfrm>
          <a:prstGeom prst="rect">
            <a:avLst/>
          </a:prstGeom>
        </p:spPr>
        <p:txBody>
          <a:bodyPr wrap="square">
            <a:spAutoFit/>
          </a:bodyPr>
          <a:lstStyle/>
          <a:p>
            <a:pPr>
              <a:buFont typeface="+mj-lt"/>
              <a:buAutoNum type="arabicPeriod"/>
            </a:pPr>
            <a:r>
              <a:rPr lang="en-US" b="1" dirty="0">
                <a:solidFill>
                  <a:srgbClr val="0A0A0A"/>
                </a:solidFill>
                <a:latin typeface="Google Sans"/>
              </a:rPr>
              <a:t>Monitoring</a:t>
            </a:r>
            <a:r>
              <a:rPr lang="en-US" dirty="0">
                <a:solidFill>
                  <a:srgbClr val="0A0A0A"/>
                </a:solidFill>
                <a:latin typeface="Google Sans"/>
              </a:rPr>
              <a:t>: Speed sensors at each wheel send real-time data to an </a:t>
            </a:r>
            <a:r>
              <a:rPr lang="en-US" b="1" dirty="0">
                <a:solidFill>
                  <a:srgbClr val="0A0A0A"/>
                </a:solidFill>
                <a:latin typeface="Google Sans"/>
              </a:rPr>
              <a:t>Electronic Control Unit (ECU</a:t>
            </a:r>
            <a:r>
              <a:rPr lang="en-US" b="1" dirty="0" smtClean="0">
                <a:solidFill>
                  <a:srgbClr val="0A0A0A"/>
                </a:solidFill>
                <a:latin typeface="Google Sans"/>
              </a:rPr>
              <a:t>)</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Detection</a:t>
            </a:r>
            <a:r>
              <a:rPr lang="en-US" dirty="0">
                <a:solidFill>
                  <a:srgbClr val="0A0A0A"/>
                </a:solidFill>
                <a:latin typeface="Google Sans"/>
              </a:rPr>
              <a:t>: If the ECU detects a wheel is decelerating much faster than the others (indicating it's about to lock), it signals the ABS modulator</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Pressure Reduction</a:t>
            </a:r>
            <a:r>
              <a:rPr lang="en-US" dirty="0">
                <a:solidFill>
                  <a:srgbClr val="0A0A0A"/>
                </a:solidFill>
                <a:latin typeface="Google Sans"/>
              </a:rPr>
              <a:t>: A hydraulic valve in the brake line temporarily reduces pressure to that wheel, allowing it to start spinning again</a:t>
            </a:r>
            <a:r>
              <a:rPr lang="en-US" dirty="0" smtClean="0">
                <a:solidFill>
                  <a:srgbClr val="0A0A0A"/>
                </a:solidFill>
                <a:latin typeface="Google Sans"/>
              </a:rPr>
              <a:t>.</a:t>
            </a:r>
          </a:p>
          <a:p>
            <a:pPr>
              <a:buFont typeface="+mj-lt"/>
              <a:buAutoNum type="arabicPeriod"/>
            </a:pPr>
            <a:endParaRPr lang="en-US" dirty="0">
              <a:solidFill>
                <a:srgbClr val="0A0A0A"/>
              </a:solidFill>
              <a:latin typeface="Google Sans"/>
            </a:endParaRPr>
          </a:p>
          <a:p>
            <a:pPr>
              <a:buFont typeface="+mj-lt"/>
              <a:buAutoNum type="arabicPeriod"/>
            </a:pPr>
            <a:r>
              <a:rPr lang="en-US" b="1" dirty="0">
                <a:solidFill>
                  <a:srgbClr val="0A0A0A"/>
                </a:solidFill>
                <a:latin typeface="Google Sans"/>
              </a:rPr>
              <a:t>Pressure Reapplication</a:t>
            </a:r>
            <a:r>
              <a:rPr lang="en-US" dirty="0">
                <a:solidFill>
                  <a:srgbClr val="0A0A0A"/>
                </a:solidFill>
                <a:latin typeface="Google Sans"/>
              </a:rPr>
              <a:t>: Once the wheel regains traction, a pump restores hydraulic pressure. This cycle can happen up to </a:t>
            </a:r>
            <a:r>
              <a:rPr lang="en-US" b="1" dirty="0">
                <a:solidFill>
                  <a:srgbClr val="0A0A0A"/>
                </a:solidFill>
                <a:latin typeface="Google Sans"/>
              </a:rPr>
              <a:t>15–20 times per second</a:t>
            </a:r>
            <a:endParaRPr lang="en-US" b="0" i="0" dirty="0">
              <a:solidFill>
                <a:srgbClr val="0A0A0A"/>
              </a:solidFill>
              <a:effectLst/>
              <a:latin typeface="Google Sans"/>
            </a:endParaRPr>
          </a:p>
        </p:txBody>
      </p:sp>
      <p:pic>
        <p:nvPicPr>
          <p:cNvPr id="6" name="Picture 5"/>
          <p:cNvPicPr>
            <a:picLocks noChangeAspect="1"/>
          </p:cNvPicPr>
          <p:nvPr/>
        </p:nvPicPr>
        <p:blipFill>
          <a:blip r:embed="rId5"/>
          <a:stretch>
            <a:fillRect/>
          </a:stretch>
        </p:blipFill>
        <p:spPr>
          <a:xfrm>
            <a:off x="7223761" y="1407627"/>
            <a:ext cx="4754880" cy="5019486"/>
          </a:xfrm>
          <a:prstGeom prst="rect">
            <a:avLst/>
          </a:prstGeom>
        </p:spPr>
      </p:pic>
    </p:spTree>
    <p:custDataLst>
      <p:tags r:id="rId1"/>
    </p:custDataLst>
    <p:extLst>
      <p:ext uri="{BB962C8B-B14F-4D97-AF65-F5344CB8AC3E}">
        <p14:creationId xmlns:p14="http://schemas.microsoft.com/office/powerpoint/2010/main" val="1768244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18524" y="1300262"/>
            <a:ext cx="358085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ABS Anti lock Brake System</a:t>
            </a:r>
            <a:endParaRPr lang="en-US" dirty="0"/>
          </a:p>
        </p:txBody>
      </p:sp>
      <p:sp>
        <p:nvSpPr>
          <p:cNvPr id="5" name="Rectangle 4"/>
          <p:cNvSpPr/>
          <p:nvPr/>
        </p:nvSpPr>
        <p:spPr>
          <a:xfrm>
            <a:off x="1237288" y="1780797"/>
            <a:ext cx="2668231" cy="369332"/>
          </a:xfrm>
          <a:prstGeom prst="rect">
            <a:avLst/>
          </a:prstGeom>
        </p:spPr>
        <p:txBody>
          <a:bodyPr wrap="none">
            <a:spAutoFit/>
          </a:bodyPr>
          <a:lstStyle/>
          <a:p>
            <a:r>
              <a:rPr lang="en-US" b="1" dirty="0">
                <a:solidFill>
                  <a:srgbClr val="0A0A0A"/>
                </a:solidFill>
                <a:latin typeface="Google Sans"/>
              </a:rPr>
              <a:t>Typical Configurations</a:t>
            </a:r>
            <a:endParaRPr lang="en-US" dirty="0"/>
          </a:p>
        </p:txBody>
      </p:sp>
      <p:sp>
        <p:nvSpPr>
          <p:cNvPr id="7" name="Rectangle 6"/>
          <p:cNvSpPr/>
          <p:nvPr/>
        </p:nvSpPr>
        <p:spPr>
          <a:xfrm>
            <a:off x="1177510" y="2406399"/>
            <a:ext cx="6096000" cy="2862322"/>
          </a:xfrm>
          <a:prstGeom prst="rect">
            <a:avLst/>
          </a:prstGeom>
        </p:spPr>
        <p:txBody>
          <a:bodyPr>
            <a:spAutoFit/>
          </a:bodyPr>
          <a:lstStyle/>
          <a:p>
            <a:pPr>
              <a:buFont typeface="Arial" panose="020B0604020202020204" pitchFamily="34" charset="0"/>
              <a:buChar char="•"/>
            </a:pPr>
            <a:r>
              <a:rPr lang="en-US" b="1" dirty="0">
                <a:solidFill>
                  <a:srgbClr val="0A0A0A"/>
                </a:solidFill>
                <a:latin typeface="Google Sans"/>
              </a:rPr>
              <a:t>Four-Channel, Four-Sensor</a:t>
            </a:r>
            <a:r>
              <a:rPr lang="en-US" dirty="0">
                <a:solidFill>
                  <a:srgbClr val="0A0A0A"/>
                </a:solidFill>
                <a:latin typeface="Google Sans"/>
              </a:rPr>
              <a:t>: The most advanced and common setup in modern cars. It has a sensor and independent control valve for each wheel, offering the best steering control.</a:t>
            </a:r>
          </a:p>
          <a:p>
            <a:pPr>
              <a:buFont typeface="Arial" panose="020B0604020202020204" pitchFamily="34" charset="0"/>
              <a:buChar char="•"/>
            </a:pPr>
            <a:r>
              <a:rPr lang="en-US" b="1" dirty="0">
                <a:solidFill>
                  <a:srgbClr val="0A0A0A"/>
                </a:solidFill>
                <a:latin typeface="Google Sans"/>
              </a:rPr>
              <a:t>Three-Channel</a:t>
            </a:r>
            <a:r>
              <a:rPr lang="en-US" dirty="0">
                <a:solidFill>
                  <a:srgbClr val="0A0A0A"/>
                </a:solidFill>
                <a:latin typeface="Google Sans"/>
              </a:rPr>
              <a:t>: Often found in older pickup trucks. It has independent sensors and valves for the front wheels but controls the rear wheels together.</a:t>
            </a:r>
          </a:p>
          <a:p>
            <a:pPr>
              <a:buFont typeface="Arial" panose="020B0604020202020204" pitchFamily="34" charset="0"/>
              <a:buChar char="•"/>
            </a:pPr>
            <a:r>
              <a:rPr lang="en-US" b="1" dirty="0">
                <a:solidFill>
                  <a:srgbClr val="0A0A0A"/>
                </a:solidFill>
                <a:latin typeface="Google Sans"/>
              </a:rPr>
              <a:t>One-Channel</a:t>
            </a:r>
            <a:r>
              <a:rPr lang="en-US" dirty="0">
                <a:solidFill>
                  <a:srgbClr val="0A0A0A"/>
                </a:solidFill>
                <a:latin typeface="Google Sans"/>
              </a:rPr>
              <a:t>: Used in some older trucks and vans. It only monitors and controls the rear wheels as a single unit to prevent the back end from sliding out.</a:t>
            </a:r>
            <a:endParaRPr lang="en-US" b="0" i="0" dirty="0">
              <a:solidFill>
                <a:srgbClr val="0A0A0A"/>
              </a:solidFill>
              <a:effectLst/>
              <a:latin typeface="Google Sans"/>
            </a:endParaRPr>
          </a:p>
        </p:txBody>
      </p:sp>
      <p:pic>
        <p:nvPicPr>
          <p:cNvPr id="8" name="Picture 7"/>
          <p:cNvPicPr>
            <a:picLocks noChangeAspect="1"/>
          </p:cNvPicPr>
          <p:nvPr/>
        </p:nvPicPr>
        <p:blipFill>
          <a:blip r:embed="rId5"/>
          <a:stretch>
            <a:fillRect/>
          </a:stretch>
        </p:blipFill>
        <p:spPr>
          <a:xfrm>
            <a:off x="7427248" y="2108621"/>
            <a:ext cx="4552950" cy="3160100"/>
          </a:xfrm>
          <a:prstGeom prst="rect">
            <a:avLst/>
          </a:prstGeom>
        </p:spPr>
      </p:pic>
    </p:spTree>
    <p:custDataLst>
      <p:tags r:id="rId1"/>
    </p:custDataLst>
    <p:extLst>
      <p:ext uri="{BB962C8B-B14F-4D97-AF65-F5344CB8AC3E}">
        <p14:creationId xmlns:p14="http://schemas.microsoft.com/office/powerpoint/2010/main" val="33234333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18524" y="1300262"/>
            <a:ext cx="358085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ABS Anti lock Brake System</a:t>
            </a:r>
            <a:endParaRPr lang="en-US" dirty="0"/>
          </a:p>
        </p:txBody>
      </p:sp>
      <p:sp>
        <p:nvSpPr>
          <p:cNvPr id="5" name="Rectangle 4"/>
          <p:cNvSpPr/>
          <p:nvPr/>
        </p:nvSpPr>
        <p:spPr>
          <a:xfrm>
            <a:off x="1177510" y="1669594"/>
            <a:ext cx="3531736" cy="369332"/>
          </a:xfrm>
          <a:prstGeom prst="rect">
            <a:avLst/>
          </a:prstGeom>
        </p:spPr>
        <p:txBody>
          <a:bodyPr wrap="none">
            <a:spAutoFit/>
          </a:bodyPr>
          <a:lstStyle/>
          <a:p>
            <a:r>
              <a:rPr lang="en-US" b="1" dirty="0"/>
              <a:t>Common Symptoms of Failure</a:t>
            </a:r>
            <a:endParaRPr lang="en-US" dirty="0"/>
          </a:p>
        </p:txBody>
      </p:sp>
      <p:pic>
        <p:nvPicPr>
          <p:cNvPr id="8" name="Picture 7"/>
          <p:cNvPicPr>
            <a:picLocks noChangeAspect="1"/>
          </p:cNvPicPr>
          <p:nvPr/>
        </p:nvPicPr>
        <p:blipFill>
          <a:blip r:embed="rId5"/>
          <a:stretch>
            <a:fillRect/>
          </a:stretch>
        </p:blipFill>
        <p:spPr>
          <a:xfrm>
            <a:off x="7427248" y="2108621"/>
            <a:ext cx="4552950" cy="3160100"/>
          </a:xfrm>
          <a:prstGeom prst="rect">
            <a:avLst/>
          </a:prstGeom>
        </p:spPr>
      </p:pic>
      <p:sp>
        <p:nvSpPr>
          <p:cNvPr id="4" name="Rectangle 3"/>
          <p:cNvSpPr/>
          <p:nvPr/>
        </p:nvSpPr>
        <p:spPr>
          <a:xfrm>
            <a:off x="1177510" y="2131476"/>
            <a:ext cx="5631608" cy="3416320"/>
          </a:xfrm>
          <a:prstGeom prst="rect">
            <a:avLst/>
          </a:prstGeom>
        </p:spPr>
        <p:txBody>
          <a:bodyPr wrap="square">
            <a:spAutoFit/>
          </a:bodyPr>
          <a:lstStyle/>
          <a:p>
            <a:pPr>
              <a:buFont typeface="Arial" panose="020B0604020202020204" pitchFamily="34" charset="0"/>
              <a:buChar char="•"/>
            </a:pPr>
            <a:r>
              <a:rPr lang="en-US" b="1" dirty="0">
                <a:solidFill>
                  <a:srgbClr val="0A0A0A"/>
                </a:solidFill>
                <a:latin typeface="Google Sans"/>
              </a:rPr>
              <a:t>ABS Warning Light</a:t>
            </a:r>
            <a:r>
              <a:rPr lang="en-US" dirty="0">
                <a:solidFill>
                  <a:srgbClr val="0A0A0A"/>
                </a:solidFill>
                <a:latin typeface="Google Sans"/>
              </a:rPr>
              <a:t>: The most direct indicator that the ECU has detected a fault and disabled the anti-lock feature.</a:t>
            </a:r>
          </a:p>
          <a:p>
            <a:pPr>
              <a:buFont typeface="Arial" panose="020B0604020202020204" pitchFamily="34" charset="0"/>
              <a:buChar char="•"/>
            </a:pPr>
            <a:r>
              <a:rPr lang="en-US" b="1" dirty="0">
                <a:solidFill>
                  <a:srgbClr val="0A0A0A"/>
                </a:solidFill>
                <a:latin typeface="Google Sans"/>
              </a:rPr>
              <a:t>Wheel Locking</a:t>
            </a:r>
            <a:r>
              <a:rPr lang="en-US" dirty="0">
                <a:solidFill>
                  <a:srgbClr val="0A0A0A"/>
                </a:solidFill>
                <a:latin typeface="Google Sans"/>
              </a:rPr>
              <a:t>: If you brake hard and the wheels skid instead of pulsing, the system is not functioning.</a:t>
            </a:r>
          </a:p>
          <a:p>
            <a:pPr>
              <a:buFont typeface="Arial" panose="020B0604020202020204" pitchFamily="34" charset="0"/>
              <a:buChar char="•"/>
            </a:pPr>
            <a:r>
              <a:rPr lang="en-US" b="1" dirty="0">
                <a:solidFill>
                  <a:srgbClr val="0A0A0A"/>
                </a:solidFill>
                <a:latin typeface="Google Sans"/>
              </a:rPr>
              <a:t>Unusual Brake Pedal Feel</a:t>
            </a:r>
            <a:r>
              <a:rPr lang="en-US" dirty="0">
                <a:solidFill>
                  <a:srgbClr val="0A0A0A"/>
                </a:solidFill>
                <a:latin typeface="Google Sans"/>
              </a:rPr>
              <a:t>: A "mushy" or unresponsive pedal, or unexpected pulsing during light braking, can signal a faulty ABS module or sensor.</a:t>
            </a:r>
          </a:p>
          <a:p>
            <a:pPr>
              <a:buFont typeface="Arial" panose="020B0604020202020204" pitchFamily="34" charset="0"/>
              <a:buChar char="•"/>
            </a:pPr>
            <a:r>
              <a:rPr lang="en-US" b="1" dirty="0">
                <a:solidFill>
                  <a:srgbClr val="0A0A0A"/>
                </a:solidFill>
                <a:latin typeface="Google Sans"/>
              </a:rPr>
              <a:t>Speedometer Glitches</a:t>
            </a:r>
            <a:r>
              <a:rPr lang="en-US" dirty="0">
                <a:solidFill>
                  <a:srgbClr val="0A0A0A"/>
                </a:solidFill>
                <a:latin typeface="Google Sans"/>
              </a:rPr>
              <a:t>: Since the ABS module uses wheel speed sensors, a failure can sometimes cause erratic speedometer readings</a:t>
            </a:r>
            <a:endParaRPr lang="en-US" b="0" i="0" dirty="0">
              <a:solidFill>
                <a:srgbClr val="0A0A0A"/>
              </a:solidFill>
              <a:effectLst/>
              <a:latin typeface="Google Sans"/>
            </a:endParaRPr>
          </a:p>
        </p:txBody>
      </p:sp>
    </p:spTree>
    <p:custDataLst>
      <p:tags r:id="rId1"/>
    </p:custDataLst>
    <p:extLst>
      <p:ext uri="{BB962C8B-B14F-4D97-AF65-F5344CB8AC3E}">
        <p14:creationId xmlns:p14="http://schemas.microsoft.com/office/powerpoint/2010/main" val="5730283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77510" y="818688"/>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713118" y="6427113"/>
            <a:ext cx="6096000" cy="430887"/>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By Ibrahim </a:t>
            </a:r>
            <a:r>
              <a:rPr lang="en-US" altLang="zh-CN" sz="1100" cap="all" spc="100" dirty="0" err="1">
                <a:solidFill>
                  <a:srgbClr val="00B050"/>
                </a:solidFill>
                <a:latin typeface="微软雅黑" panose="020B0503020204020204" charset="-122"/>
                <a:ea typeface="微软雅黑" panose="020B0503020204020204" charset="-122"/>
              </a:rPr>
              <a:t>siraj</a:t>
            </a:r>
            <a:endParaRPr lang="en-US" altLang="zh-CN" sz="1100"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sz="1100"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918524" y="1300262"/>
            <a:ext cx="3580852" cy="369332"/>
          </a:xfrm>
          <a:prstGeom prst="rect">
            <a:avLst/>
          </a:prstGeom>
        </p:spPr>
        <p:txBody>
          <a:bodyPr wrap="none">
            <a:spAutoFit/>
          </a:bodyPr>
          <a:lstStyle/>
          <a:p>
            <a:pPr marL="285750" indent="-285750">
              <a:buFont typeface="Wingdings" panose="05000000000000000000" pitchFamily="2" charset="2"/>
              <a:buChar char="Ø"/>
            </a:pPr>
            <a:r>
              <a:rPr lang="en-US" b="1" dirty="0" smtClean="0">
                <a:solidFill>
                  <a:srgbClr val="0A0A0A"/>
                </a:solidFill>
                <a:latin typeface="Google Sans"/>
              </a:rPr>
              <a:t>ABS Anti lock Brake System</a:t>
            </a:r>
            <a:endParaRPr lang="en-US" dirty="0"/>
          </a:p>
        </p:txBody>
      </p:sp>
      <p:pic>
        <p:nvPicPr>
          <p:cNvPr id="6" name="98DXe3uKwfc"/>
          <p:cNvPicPr>
            <a:picLocks noRot="1" noChangeAspect="1"/>
          </p:cNvPicPr>
          <p:nvPr>
            <a:videoFile r:link="rId4"/>
          </p:nvPr>
        </p:nvPicPr>
        <p:blipFill>
          <a:blip r:embed="rId6"/>
          <a:stretch>
            <a:fillRect/>
          </a:stretch>
        </p:blipFill>
        <p:spPr>
          <a:xfrm>
            <a:off x="2479963" y="2281943"/>
            <a:ext cx="6356466" cy="3575512"/>
          </a:xfrm>
          <a:prstGeom prst="rect">
            <a:avLst/>
          </a:prstGeom>
        </p:spPr>
      </p:pic>
    </p:spTree>
    <p:custDataLst>
      <p:tags r:id="rId1"/>
    </p:custDataLst>
    <p:extLst>
      <p:ext uri="{BB962C8B-B14F-4D97-AF65-F5344CB8AC3E}">
        <p14:creationId xmlns:p14="http://schemas.microsoft.com/office/powerpoint/2010/main" val="3340556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14985" y="877636"/>
            <a:ext cx="10018643" cy="370371"/>
          </a:xfrm>
          <a:prstGeom prst="rect">
            <a:avLst/>
          </a:prstGeom>
          <a:noFill/>
        </p:spPr>
        <p:txBody>
          <a:bodyPr wrap="square" rtlCol="0">
            <a:noAutofit/>
          </a:bodyPr>
          <a:lstStyle/>
          <a:p>
            <a:r>
              <a:rPr lang="en-US" b="1" dirty="0" smtClean="0"/>
              <a:t>Chapter 12 Inspection and Service Brake System Components</a:t>
            </a:r>
          </a:p>
        </p:txBody>
      </p:sp>
      <p:sp>
        <p:nvSpPr>
          <p:cNvPr id="22" name="文本框 21"/>
          <p:cNvSpPr txBox="1"/>
          <p:nvPr>
            <p:custDataLst>
              <p:tags r:id="rId3"/>
            </p:custDataLst>
          </p:nvPr>
        </p:nvSpPr>
        <p:spPr>
          <a:xfrm>
            <a:off x="1826867" y="550272"/>
            <a:ext cx="8719930" cy="697735"/>
          </a:xfrm>
          <a:prstGeom prst="rect">
            <a:avLst/>
          </a:prstGeom>
          <a:noFill/>
        </p:spPr>
        <p:txBody>
          <a:bodyPr wrap="square" rtlCol="0" anchor="ctr" anchorCtr="0">
            <a:normAutofit/>
          </a:bodyPr>
          <a:lstStyle/>
          <a:p>
            <a:pPr lvl="0" algn="ctr">
              <a:lnSpc>
                <a:spcPct val="107000"/>
              </a:lnSpc>
              <a:spcAft>
                <a:spcPts val="800"/>
              </a:spcAft>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a:p>
            <a:pPr algn="ctr">
              <a:lnSpc>
                <a:spcPct val="107000"/>
              </a:lnSpc>
              <a:spcAft>
                <a:spcPts val="800"/>
              </a:spcAft>
            </a:pP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014985" y="59868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4" name="Rectangle 3"/>
          <p:cNvSpPr/>
          <p:nvPr/>
        </p:nvSpPr>
        <p:spPr>
          <a:xfrm>
            <a:off x="1014985" y="1206039"/>
            <a:ext cx="4390946" cy="369332"/>
          </a:xfrm>
          <a:prstGeom prst="rect">
            <a:avLst/>
          </a:prstGeom>
        </p:spPr>
        <p:txBody>
          <a:bodyPr wrap="none">
            <a:spAutoFit/>
          </a:bodyPr>
          <a:lstStyle/>
          <a:p>
            <a:r>
              <a:rPr lang="en-US" b="1" dirty="0">
                <a:solidFill>
                  <a:srgbClr val="0A0A0A"/>
                </a:solidFill>
                <a:latin typeface="Google Sans"/>
              </a:rPr>
              <a:t>Common Brake Issues and Symptoms</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633976707"/>
              </p:ext>
            </p:extLst>
          </p:nvPr>
        </p:nvGraphicFramePr>
        <p:xfrm>
          <a:off x="1108793" y="1575368"/>
          <a:ext cx="9631093" cy="4084137"/>
        </p:xfrm>
        <a:graphic>
          <a:graphicData uri="http://schemas.openxmlformats.org/drawingml/2006/table">
            <a:tbl>
              <a:tblPr firstRow="1" firstCol="1" bandRow="1">
                <a:tableStyleId>{5C22544A-7EE6-4342-B048-85BDC9FD1C3A}</a:tableStyleId>
              </a:tblPr>
              <a:tblGrid>
                <a:gridCol w="2172404">
                  <a:extLst>
                    <a:ext uri="{9D8B030D-6E8A-4147-A177-3AD203B41FA5}">
                      <a16:colId xmlns:a16="http://schemas.microsoft.com/office/drawing/2014/main" val="2302840072"/>
                    </a:ext>
                  </a:extLst>
                </a:gridCol>
                <a:gridCol w="3327105">
                  <a:extLst>
                    <a:ext uri="{9D8B030D-6E8A-4147-A177-3AD203B41FA5}">
                      <a16:colId xmlns:a16="http://schemas.microsoft.com/office/drawing/2014/main" val="684301987"/>
                    </a:ext>
                  </a:extLst>
                </a:gridCol>
                <a:gridCol w="4131584">
                  <a:extLst>
                    <a:ext uri="{9D8B030D-6E8A-4147-A177-3AD203B41FA5}">
                      <a16:colId xmlns:a16="http://schemas.microsoft.com/office/drawing/2014/main" val="534831713"/>
                    </a:ext>
                  </a:extLst>
                </a:gridCol>
              </a:tblGrid>
              <a:tr h="436319">
                <a:tc>
                  <a:txBody>
                    <a:bodyPr/>
                    <a:lstStyle/>
                    <a:p>
                      <a:pPr marL="0" marR="0" algn="ctr">
                        <a:lnSpc>
                          <a:spcPct val="107000"/>
                        </a:lnSpc>
                        <a:spcBef>
                          <a:spcPts val="0"/>
                        </a:spcBef>
                        <a:spcAft>
                          <a:spcPts val="0"/>
                        </a:spcAft>
                      </a:pPr>
                      <a:r>
                        <a:rPr lang="en-US" sz="1050">
                          <a:effectLst/>
                        </a:rPr>
                        <a:t>Issue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050">
                          <a:effectLst/>
                        </a:rPr>
                        <a:t>Symptoms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050">
                          <a:effectLst/>
                        </a:rPr>
                        <a:t>Primary Causes</a:t>
                      </a:r>
                      <a:endParaRPr lang="en-US" sz="1100">
                        <a:effectLst/>
                      </a:endParaRPr>
                    </a:p>
                    <a:p>
                      <a:pPr marL="0" marR="0" indent="457200" algn="ctr">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80371802"/>
                  </a:ext>
                </a:extLst>
              </a:tr>
              <a:tr h="547908">
                <a:tc>
                  <a:txBody>
                    <a:bodyPr/>
                    <a:lstStyle/>
                    <a:p>
                      <a:pPr marL="0" marR="0">
                        <a:lnSpc>
                          <a:spcPct val="107000"/>
                        </a:lnSpc>
                        <a:spcBef>
                          <a:spcPts val="0"/>
                        </a:spcBef>
                        <a:spcAft>
                          <a:spcPts val="0"/>
                        </a:spcAft>
                      </a:pPr>
                      <a:r>
                        <a:rPr lang="en-US" sz="900">
                          <a:effectLst/>
                        </a:rPr>
                        <a:t>Worn Brake Pads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900">
                          <a:effectLst/>
                        </a:rPr>
                        <a:t>High-pitched squealing or screeching sound when braking. A deep grinding sound indicates metal-on-metal contact, meaning the pads are completely gone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900">
                          <a:effectLst/>
                        </a:rPr>
                        <a:t>Normal wear and tear over time; aggressive driving habits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0650461"/>
                  </a:ext>
                </a:extLst>
              </a:tr>
              <a:tr h="442562">
                <a:tc>
                  <a:txBody>
                    <a:bodyPr/>
                    <a:lstStyle/>
                    <a:p>
                      <a:pPr marL="0" marR="0">
                        <a:lnSpc>
                          <a:spcPts val="1350"/>
                        </a:lnSpc>
                        <a:spcBef>
                          <a:spcPts val="0"/>
                        </a:spcBef>
                        <a:spcAft>
                          <a:spcPts val="0"/>
                        </a:spcAft>
                      </a:pPr>
                      <a:r>
                        <a:rPr lang="en-US" sz="900">
                          <a:effectLst/>
                        </a:rPr>
                        <a:t>Soft or Spongy Brake Pedal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The brake pedal feels "mushy," sinks to the floor, or requires excessive pressure to stop the car.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Air in the brake lines, low brake fluid, a fluid leak, or a faulty master cylinder.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8460420"/>
                  </a:ext>
                </a:extLst>
              </a:tr>
              <a:tr h="223257">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1171532"/>
                  </a:ext>
                </a:extLst>
              </a:tr>
              <a:tr h="442562">
                <a:tc>
                  <a:txBody>
                    <a:bodyPr/>
                    <a:lstStyle/>
                    <a:p>
                      <a:pPr marL="0" marR="0">
                        <a:lnSpc>
                          <a:spcPts val="1350"/>
                        </a:lnSpc>
                        <a:spcBef>
                          <a:spcPts val="0"/>
                        </a:spcBef>
                        <a:spcAft>
                          <a:spcPts val="0"/>
                        </a:spcAft>
                      </a:pPr>
                      <a:r>
                        <a:rPr lang="en-US" sz="900">
                          <a:effectLst/>
                        </a:rPr>
                        <a:t>Hard Brake Pedal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Takes a great deal of effort or pressure to push the pedal down and achieve normal braking.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A failure in the power brake booster system, a vacuum hose leak, or seized calipers.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6520528"/>
                  </a:ext>
                </a:extLst>
              </a:tr>
              <a:tr h="442562">
                <a:tc>
                  <a:txBody>
                    <a:bodyPr/>
                    <a:lstStyle/>
                    <a:p>
                      <a:pPr marL="0" marR="0">
                        <a:lnSpc>
                          <a:spcPts val="1350"/>
                        </a:lnSpc>
                        <a:spcBef>
                          <a:spcPts val="0"/>
                        </a:spcBef>
                        <a:spcAft>
                          <a:spcPts val="0"/>
                        </a:spcAft>
                      </a:pPr>
                      <a:r>
                        <a:rPr lang="en-US" sz="900">
                          <a:effectLst/>
                        </a:rPr>
                        <a:t>Vibration/Pulsation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A shaking, juddering, or pulsating sensation in the brake pedal or steering wheel when braking.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Warped or uneven brake rotors (discs) caused by excessive heat buildup.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8103"/>
                  </a:ext>
                </a:extLst>
              </a:tr>
              <a:tr h="442562">
                <a:tc>
                  <a:txBody>
                    <a:bodyPr/>
                    <a:lstStyle/>
                    <a:p>
                      <a:pPr marL="0" marR="0">
                        <a:lnSpc>
                          <a:spcPts val="1350"/>
                        </a:lnSpc>
                        <a:spcBef>
                          <a:spcPts val="0"/>
                        </a:spcBef>
                        <a:spcAft>
                          <a:spcPts val="0"/>
                        </a:spcAft>
                      </a:pPr>
                      <a:r>
                        <a:rPr lang="en-US" sz="900">
                          <a:effectLst/>
                        </a:rPr>
                        <a:t>Car Pulling to One Side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The vehicle veers left or right when the brakes are applied.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Uneven brake pad wear, a stuck brake caliper, a collapsed brake line, or contaminated brake fluid on one side.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129470"/>
                  </a:ext>
                </a:extLst>
              </a:tr>
              <a:tr h="442562">
                <a:tc>
                  <a:txBody>
                    <a:bodyPr/>
                    <a:lstStyle/>
                    <a:p>
                      <a:pPr marL="0" marR="0">
                        <a:lnSpc>
                          <a:spcPts val="1350"/>
                        </a:lnSpc>
                        <a:spcBef>
                          <a:spcPts val="0"/>
                        </a:spcBef>
                        <a:spcAft>
                          <a:spcPts val="0"/>
                        </a:spcAft>
                      </a:pPr>
                      <a:r>
                        <a:rPr lang="en-US" sz="900">
                          <a:effectLst/>
                        </a:rPr>
                        <a:t>Burning Smell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dirty="0">
                          <a:effectLst/>
                        </a:rPr>
                        <a:t>A sharp, pungent chemical odor, especially after heavy braking.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Overheated brakes (brake fade) from excessive use, or a stuck caliper causing a pad to drag continuously on the rotor.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4874310"/>
                  </a:ext>
                </a:extLst>
              </a:tr>
              <a:tr h="442562">
                <a:tc>
                  <a:txBody>
                    <a:bodyPr/>
                    <a:lstStyle/>
                    <a:p>
                      <a:pPr marL="0" marR="0">
                        <a:lnSpc>
                          <a:spcPts val="1350"/>
                        </a:lnSpc>
                        <a:spcBef>
                          <a:spcPts val="0"/>
                        </a:spcBef>
                        <a:spcAft>
                          <a:spcPts val="0"/>
                        </a:spcAft>
                      </a:pPr>
                      <a:r>
                        <a:rPr lang="en-US" sz="900">
                          <a:effectLst/>
                        </a:rPr>
                        <a:t>Brake Warning Light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dirty="0">
                          <a:effectLst/>
                        </a:rPr>
                        <a:t>An illuminated brake system or ABS (Anti-lock Braking System) light on the dashboard.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Low brake fluid levels, worn brake pads (if equipped with a sensor), or a problem with the ABS module/sensors.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1263140"/>
                  </a:ext>
                </a:extLst>
              </a:tr>
              <a:tr h="221281">
                <a:tc>
                  <a:txBody>
                    <a:bodyPr/>
                    <a:lstStyle/>
                    <a:p>
                      <a:pPr marL="0" marR="0">
                        <a:lnSpc>
                          <a:spcPts val="1350"/>
                        </a:lnSpc>
                        <a:spcBef>
                          <a:spcPts val="0"/>
                        </a:spcBef>
                        <a:spcAft>
                          <a:spcPts val="0"/>
                        </a:spcAft>
                      </a:pPr>
                      <a:r>
                        <a:rPr lang="en-US" sz="900">
                          <a:effectLst/>
                        </a:rPr>
                        <a:t>Increased Stopping Distance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a:effectLst/>
                        </a:rPr>
                        <a:t>The car takes longer than usual to come to a stop.</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ts val="1350"/>
                        </a:lnSpc>
                        <a:spcBef>
                          <a:spcPts val="0"/>
                        </a:spcBef>
                        <a:spcAft>
                          <a:spcPts val="0"/>
                        </a:spcAft>
                      </a:pPr>
                      <a:r>
                        <a:rPr lang="en-US" sz="900" dirty="0">
                          <a:effectLst/>
                        </a:rPr>
                        <a:t>Severely worn brake pads or rotors, or low brake fluid pressure.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52453308"/>
                  </a:ext>
                </a:extLst>
              </a:tr>
            </a:tbl>
          </a:graphicData>
        </a:graphic>
      </p:graphicFrame>
    </p:spTree>
    <p:custDataLst>
      <p:tags r:id="rId1"/>
    </p:custDataLst>
    <p:extLst>
      <p:ext uri="{BB962C8B-B14F-4D97-AF65-F5344CB8AC3E}">
        <p14:creationId xmlns:p14="http://schemas.microsoft.com/office/powerpoint/2010/main" val="12908368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0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0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1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2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2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3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3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3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4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4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24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24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24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3997</TotalTime>
  <Words>1354</Words>
  <Application>Microsoft Office PowerPoint</Application>
  <PresentationFormat>Widescreen</PresentationFormat>
  <Paragraphs>263</Paragraphs>
  <Slides>31</Slides>
  <Notes>0</Notes>
  <HiddenSlides>0</HiddenSlides>
  <MMClips>2</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微软雅黑</vt:lpstr>
      <vt:lpstr>宋体</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236</cp:revision>
  <dcterms:created xsi:type="dcterms:W3CDTF">2019-06-19T02:08:00Z</dcterms:created>
  <dcterms:modified xsi:type="dcterms:W3CDTF">2026-04-25T09:38:50Z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