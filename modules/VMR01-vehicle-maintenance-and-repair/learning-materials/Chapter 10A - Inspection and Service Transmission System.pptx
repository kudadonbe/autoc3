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25"/>
  </p:notesMasterIdLst>
  <p:sldIdLst>
    <p:sldId id="348" r:id="rId2"/>
    <p:sldId id="351" r:id="rId3"/>
    <p:sldId id="361" r:id="rId4"/>
    <p:sldId id="363" r:id="rId5"/>
    <p:sldId id="362" r:id="rId6"/>
    <p:sldId id="352" r:id="rId7"/>
    <p:sldId id="364" r:id="rId8"/>
    <p:sldId id="366" r:id="rId9"/>
    <p:sldId id="367" r:id="rId10"/>
    <p:sldId id="357" r:id="rId11"/>
    <p:sldId id="358" r:id="rId12"/>
    <p:sldId id="353" r:id="rId13"/>
    <p:sldId id="354" r:id="rId14"/>
    <p:sldId id="355" r:id="rId15"/>
    <p:sldId id="356" r:id="rId16"/>
    <p:sldId id="359" r:id="rId17"/>
    <p:sldId id="360" r:id="rId18"/>
    <p:sldId id="368" r:id="rId19"/>
    <p:sldId id="370" r:id="rId20"/>
    <p:sldId id="369" r:id="rId21"/>
    <p:sldId id="372" r:id="rId22"/>
    <p:sldId id="371" r:id="rId23"/>
    <p:sldId id="295" r:id="rId24"/>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5" d="100"/>
          <a:sy n="115" d="100"/>
        </p:scale>
        <p:origin x="498"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2026/5/9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2026/5/9</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2026/5/9</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image" Target="../media/image15.png"/><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5" Type="http://schemas.openxmlformats.org/officeDocument/2006/relationships/image" Target="../media/image17.png"/><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5" Type="http://schemas.openxmlformats.org/officeDocument/2006/relationships/image" Target="../media/image18.png"/><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6.xml"/><Relationship Id="rId7" Type="http://schemas.openxmlformats.org/officeDocument/2006/relationships/image" Target="../media/image22.jpeg"/><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image" Target="../media/image21.png"/><Relationship Id="rId5" Type="http://schemas.openxmlformats.org/officeDocument/2006/relationships/slideLayout" Target="../slideLayouts/slideLayout1.xml"/><Relationship Id="rId4" Type="http://schemas.openxmlformats.org/officeDocument/2006/relationships/video" Target="https://www.youtube.com/embed/devo3kdSPQY" TargetMode="External"/></Relationships>
</file>

<file path=ppt/slides/_rels/slide8.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2.xml"/><Relationship Id="rId7" Type="http://schemas.openxmlformats.org/officeDocument/2006/relationships/image" Target="../media/image26.png"/><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5" Type="http://schemas.openxmlformats.org/officeDocument/2006/relationships/image" Target="../media/image27.pn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image" Target="../media/image30.jpeg"/><Relationship Id="rId5" Type="http://schemas.openxmlformats.org/officeDocument/2006/relationships/slideLayout" Target="../slideLayouts/slideLayout1.xml"/><Relationship Id="rId4" Type="http://schemas.openxmlformats.org/officeDocument/2006/relationships/video" Target="https://www.youtube.com/embed/wCu9W9xNwtI" TargetMode="External"/></Relationships>
</file>

<file path=ppt/slides/_rels/slide14.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5" Type="http://schemas.openxmlformats.org/officeDocument/2006/relationships/image" Target="../media/image31.png"/><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5" Type="http://schemas.openxmlformats.org/officeDocument/2006/relationships/image" Target="../media/image32.png"/><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5" Type="http://schemas.openxmlformats.org/officeDocument/2006/relationships/image" Target="../media/image33.png"/><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tags" Target="../tags/tag218.xml"/><Relationship Id="rId7" Type="http://schemas.openxmlformats.org/officeDocument/2006/relationships/image" Target="../media/image34.jpeg"/><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image" Target="../media/image33.png"/><Relationship Id="rId5" Type="http://schemas.openxmlformats.org/officeDocument/2006/relationships/slideLayout" Target="../slideLayouts/slideLayout1.xml"/><Relationship Id="rId4" Type="http://schemas.openxmlformats.org/officeDocument/2006/relationships/video" Target="https://www.youtube.com/embed/a9sFb81w41Y" TargetMode="External"/></Relationships>
</file>

<file path=ppt/slides/_rels/slide22.xml.rels><?xml version="1.0" encoding="UTF-8" standalone="yes"?>
<Relationships xmlns="http://schemas.openxmlformats.org/package/2006/relationships"><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 Id="rId5" Type="http://schemas.openxmlformats.org/officeDocument/2006/relationships/image" Target="../media/image35.png"/><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3.xml"/><Relationship Id="rId1" Type="http://schemas.openxmlformats.org/officeDocument/2006/relationships/tags" Target="../tags/tag2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79251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a:t>
            </a:r>
            <a:r>
              <a:rPr lang="en-US" b="1" dirty="0" smtClean="0"/>
              <a:t>Transmission </a:t>
            </a:r>
            <a:endParaRPr lang="en-US" b="1" dirty="0" smtClean="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854" y="6202530"/>
            <a:ext cx="6096000"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7" name="Rectangle 6"/>
          <p:cNvSpPr/>
          <p:nvPr/>
        </p:nvSpPr>
        <p:spPr>
          <a:xfrm>
            <a:off x="747565" y="1194101"/>
            <a:ext cx="3516797" cy="369332"/>
          </a:xfrm>
          <a:prstGeom prst="rect">
            <a:avLst/>
          </a:prstGeom>
        </p:spPr>
        <p:txBody>
          <a:bodyPr wrap="none">
            <a:spAutoFit/>
          </a:bodyPr>
          <a:lstStyle/>
          <a:p>
            <a:pPr marL="285750" indent="-285750">
              <a:buFont typeface="Wingdings" panose="05000000000000000000" pitchFamily="2" charset="2"/>
              <a:buChar char="Ø"/>
            </a:pPr>
            <a:r>
              <a:rPr lang="en-US" b="1" dirty="0" smtClean="0"/>
              <a:t>A Car Transmission System</a:t>
            </a:r>
            <a:endParaRPr lang="en-US" b="1" dirty="0"/>
          </a:p>
        </p:txBody>
      </p:sp>
      <p:pic>
        <p:nvPicPr>
          <p:cNvPr id="6" name="Picture 5"/>
          <p:cNvPicPr>
            <a:picLocks noChangeAspect="1"/>
          </p:cNvPicPr>
          <p:nvPr/>
        </p:nvPicPr>
        <p:blipFill>
          <a:blip r:embed="rId5"/>
          <a:stretch>
            <a:fillRect/>
          </a:stretch>
        </p:blipFill>
        <p:spPr>
          <a:xfrm>
            <a:off x="3390181" y="3459153"/>
            <a:ext cx="5883215" cy="1682190"/>
          </a:xfrm>
          <a:prstGeom prst="rect">
            <a:avLst/>
          </a:prstGeom>
        </p:spPr>
      </p:pic>
      <p:sp>
        <p:nvSpPr>
          <p:cNvPr id="2" name="Rectangle 1"/>
          <p:cNvSpPr/>
          <p:nvPr/>
        </p:nvSpPr>
        <p:spPr>
          <a:xfrm>
            <a:off x="993096" y="1522958"/>
            <a:ext cx="4160113" cy="369332"/>
          </a:xfrm>
          <a:prstGeom prst="rect">
            <a:avLst/>
          </a:prstGeom>
        </p:spPr>
        <p:txBody>
          <a:bodyPr wrap="none">
            <a:spAutoFit/>
          </a:bodyPr>
          <a:lstStyle/>
          <a:p>
            <a:r>
              <a:rPr lang="en-US" b="1" dirty="0"/>
              <a:t>Purpose of the transmission system</a:t>
            </a:r>
          </a:p>
        </p:txBody>
      </p:sp>
      <p:sp>
        <p:nvSpPr>
          <p:cNvPr id="4" name="Rectangle 3"/>
          <p:cNvSpPr/>
          <p:nvPr/>
        </p:nvSpPr>
        <p:spPr>
          <a:xfrm>
            <a:off x="993096" y="1850776"/>
            <a:ext cx="10353909" cy="1200329"/>
          </a:xfrm>
          <a:prstGeom prst="rect">
            <a:avLst/>
          </a:prstGeom>
        </p:spPr>
        <p:txBody>
          <a:bodyPr wrap="square">
            <a:spAutoFit/>
          </a:bodyPr>
          <a:lstStyle/>
          <a:p>
            <a:r>
              <a:rPr lang="en-US" dirty="0"/>
              <a:t>The purpose of a vehicle transmission system is to transfer power from the engine to the driving wheels, managing speed and torque through gear ratios to ensure efficient movement. It allows the engine to operate within an optimal RPM range, providing high torque for starting/climbing and lower torque for high-speed</a:t>
            </a:r>
          </a:p>
        </p:txBody>
      </p:sp>
    </p:spTree>
    <p:custDataLst>
      <p:tags r:id="rId1"/>
    </p:custDataLst>
    <p:extLst>
      <p:ext uri="{BB962C8B-B14F-4D97-AF65-F5344CB8AC3E}">
        <p14:creationId xmlns:p14="http://schemas.microsoft.com/office/powerpoint/2010/main" val="30943346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a:t>
            </a:r>
            <a:r>
              <a:rPr lang="en-US" b="1" dirty="0" smtClean="0"/>
              <a:t>Transmission </a:t>
            </a:r>
            <a:endParaRPr lang="en-US" b="1" dirty="0" smtClean="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854" y="6202530"/>
            <a:ext cx="6096000"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7" name="Rectangle 6"/>
          <p:cNvSpPr/>
          <p:nvPr/>
        </p:nvSpPr>
        <p:spPr>
          <a:xfrm>
            <a:off x="747565" y="1194101"/>
            <a:ext cx="3516797" cy="369332"/>
          </a:xfrm>
          <a:prstGeom prst="rect">
            <a:avLst/>
          </a:prstGeom>
        </p:spPr>
        <p:txBody>
          <a:bodyPr wrap="none">
            <a:spAutoFit/>
          </a:bodyPr>
          <a:lstStyle/>
          <a:p>
            <a:pPr marL="285750" indent="-285750">
              <a:buFont typeface="Wingdings" panose="05000000000000000000" pitchFamily="2" charset="2"/>
              <a:buChar char="Ø"/>
            </a:pPr>
            <a:r>
              <a:rPr lang="en-US" b="1" dirty="0" smtClean="0"/>
              <a:t>A Car Transmission System</a:t>
            </a:r>
            <a:endParaRPr lang="en-US" b="1" dirty="0"/>
          </a:p>
        </p:txBody>
      </p:sp>
      <p:sp>
        <p:nvSpPr>
          <p:cNvPr id="2" name="Rectangle 1"/>
          <p:cNvSpPr/>
          <p:nvPr/>
        </p:nvSpPr>
        <p:spPr>
          <a:xfrm>
            <a:off x="993096" y="1522958"/>
            <a:ext cx="4014753" cy="369332"/>
          </a:xfrm>
          <a:prstGeom prst="rect">
            <a:avLst/>
          </a:prstGeom>
        </p:spPr>
        <p:txBody>
          <a:bodyPr wrap="none">
            <a:spAutoFit/>
          </a:bodyPr>
          <a:lstStyle/>
          <a:p>
            <a:r>
              <a:rPr lang="en-US" b="1" dirty="0" smtClean="0"/>
              <a:t>How the Torque and Speed change</a:t>
            </a:r>
            <a:endParaRPr lang="en-US" b="1" dirty="0"/>
          </a:p>
        </p:txBody>
      </p:sp>
      <p:sp>
        <p:nvSpPr>
          <p:cNvPr id="5" name="Rectangle 4"/>
          <p:cNvSpPr/>
          <p:nvPr/>
        </p:nvSpPr>
        <p:spPr>
          <a:xfrm>
            <a:off x="993096" y="2016084"/>
            <a:ext cx="6096000" cy="2031325"/>
          </a:xfrm>
          <a:prstGeom prst="rect">
            <a:avLst/>
          </a:prstGeom>
        </p:spPr>
        <p:txBody>
          <a:bodyPr>
            <a:spAutoFit/>
          </a:bodyPr>
          <a:lstStyle/>
          <a:p>
            <a:r>
              <a:rPr lang="en-US" dirty="0"/>
              <a:t>Torque and speed generally have an inverse relationship in mechanical systems: as torque increases, speed decreases, and vice versa, provided power remains constant </a:t>
            </a:r>
            <a:r>
              <a:rPr lang="en-US" dirty="0" smtClean="0"/>
              <a:t>(</a:t>
            </a:r>
            <a:r>
              <a:rPr lang="en-US" dirty="0"/>
              <a:t>P = T </a:t>
            </a:r>
            <a:r>
              <a:rPr lang="en-US" dirty="0" smtClean="0"/>
              <a:t>times x </a:t>
            </a:r>
            <a:r>
              <a:rPr lang="el-GR" dirty="0" smtClean="0"/>
              <a:t>ώ</a:t>
            </a:r>
            <a:r>
              <a:rPr lang="en-US" dirty="0" smtClean="0"/>
              <a:t> omega). </a:t>
            </a:r>
            <a:r>
              <a:rPr lang="en-US" dirty="0"/>
              <a:t>Mechanical systems like gears, belts, or pulleys are used to manipulate this trade-off, where a higher gear ratio increases torque but reduces speed.</a:t>
            </a:r>
          </a:p>
        </p:txBody>
      </p:sp>
      <p:pic>
        <p:nvPicPr>
          <p:cNvPr id="8" name="Picture 7"/>
          <p:cNvPicPr>
            <a:picLocks noChangeAspect="1"/>
          </p:cNvPicPr>
          <p:nvPr/>
        </p:nvPicPr>
        <p:blipFill>
          <a:blip r:embed="rId5"/>
          <a:stretch>
            <a:fillRect/>
          </a:stretch>
        </p:blipFill>
        <p:spPr>
          <a:xfrm>
            <a:off x="7751384" y="1809379"/>
            <a:ext cx="2924809" cy="2924809"/>
          </a:xfrm>
          <a:prstGeom prst="rect">
            <a:avLst/>
          </a:prstGeom>
        </p:spPr>
      </p:pic>
    </p:spTree>
    <p:custDataLst>
      <p:tags r:id="rId1"/>
    </p:custDataLst>
    <p:extLst>
      <p:ext uri="{BB962C8B-B14F-4D97-AF65-F5344CB8AC3E}">
        <p14:creationId xmlns:p14="http://schemas.microsoft.com/office/powerpoint/2010/main" val="21926602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a:t>
            </a:r>
            <a:r>
              <a:rPr lang="en-US" b="1" dirty="0" smtClean="0"/>
              <a:t>Transmission </a:t>
            </a:r>
            <a:endParaRPr lang="en-US" b="1" dirty="0" smtClean="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854" y="6202530"/>
            <a:ext cx="6096000"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7" name="Rectangle 6"/>
          <p:cNvSpPr/>
          <p:nvPr/>
        </p:nvSpPr>
        <p:spPr>
          <a:xfrm>
            <a:off x="747565" y="1194101"/>
            <a:ext cx="3516797" cy="369332"/>
          </a:xfrm>
          <a:prstGeom prst="rect">
            <a:avLst/>
          </a:prstGeom>
        </p:spPr>
        <p:txBody>
          <a:bodyPr wrap="none">
            <a:spAutoFit/>
          </a:bodyPr>
          <a:lstStyle/>
          <a:p>
            <a:pPr marL="285750" indent="-285750">
              <a:buFont typeface="Wingdings" panose="05000000000000000000" pitchFamily="2" charset="2"/>
              <a:buChar char="Ø"/>
            </a:pPr>
            <a:r>
              <a:rPr lang="en-US" b="1" dirty="0" smtClean="0"/>
              <a:t>A Car Transmission System</a:t>
            </a:r>
            <a:endParaRPr lang="en-US" b="1" dirty="0"/>
          </a:p>
        </p:txBody>
      </p:sp>
      <p:sp>
        <p:nvSpPr>
          <p:cNvPr id="2" name="Rectangle 1"/>
          <p:cNvSpPr/>
          <p:nvPr/>
        </p:nvSpPr>
        <p:spPr>
          <a:xfrm>
            <a:off x="993096" y="1522958"/>
            <a:ext cx="5237396" cy="369332"/>
          </a:xfrm>
          <a:prstGeom prst="rect">
            <a:avLst/>
          </a:prstGeom>
        </p:spPr>
        <p:txBody>
          <a:bodyPr wrap="none">
            <a:spAutoFit/>
          </a:bodyPr>
          <a:lstStyle/>
          <a:p>
            <a:r>
              <a:rPr lang="en-US" b="1" dirty="0" smtClean="0"/>
              <a:t>Why Transmission system needed for vehicle </a:t>
            </a:r>
            <a:endParaRPr lang="en-US" b="1" dirty="0"/>
          </a:p>
        </p:txBody>
      </p:sp>
      <p:sp>
        <p:nvSpPr>
          <p:cNvPr id="4" name="Rectangle 3"/>
          <p:cNvSpPr/>
          <p:nvPr/>
        </p:nvSpPr>
        <p:spPr>
          <a:xfrm>
            <a:off x="993096" y="1892290"/>
            <a:ext cx="7107108" cy="369332"/>
          </a:xfrm>
          <a:prstGeom prst="rect">
            <a:avLst/>
          </a:prstGeom>
        </p:spPr>
        <p:txBody>
          <a:bodyPr wrap="square">
            <a:spAutoFit/>
          </a:bodyPr>
          <a:lstStyle/>
          <a:p>
            <a:r>
              <a:rPr lang="en-US" dirty="0"/>
              <a:t> Internal combustion engines have a narrow useful RPM range</a:t>
            </a:r>
          </a:p>
        </p:txBody>
      </p:sp>
      <p:sp>
        <p:nvSpPr>
          <p:cNvPr id="6" name="Rectangle 5"/>
          <p:cNvSpPr/>
          <p:nvPr/>
        </p:nvSpPr>
        <p:spPr>
          <a:xfrm>
            <a:off x="1098430" y="2431600"/>
            <a:ext cx="7208808" cy="1477328"/>
          </a:xfrm>
          <a:prstGeom prst="rect">
            <a:avLst/>
          </a:prstGeom>
        </p:spPr>
        <p:txBody>
          <a:bodyPr wrap="square">
            <a:spAutoFit/>
          </a:bodyPr>
          <a:lstStyle/>
          <a:p>
            <a:r>
              <a:rPr lang="en-US" dirty="0"/>
              <a:t>A transmission system is essential for a vehicle to transfer engine power to the wheels efficiently, adapting to varied speeds and loads. By using gears, it allows the engine to operate within its optimal RPM range—providing high torque for acceleration and low RPMs for high-speed cruising—without stalling or </a:t>
            </a:r>
            <a:r>
              <a:rPr lang="en-US" dirty="0" smtClean="0"/>
              <a:t>overworking</a:t>
            </a:r>
            <a:endParaRPr lang="en-US" dirty="0"/>
          </a:p>
        </p:txBody>
      </p:sp>
      <p:pic>
        <p:nvPicPr>
          <p:cNvPr id="9" name="Picture 8"/>
          <p:cNvPicPr>
            <a:picLocks noChangeAspect="1"/>
          </p:cNvPicPr>
          <p:nvPr/>
        </p:nvPicPr>
        <p:blipFill>
          <a:blip r:embed="rId5"/>
          <a:stretch>
            <a:fillRect/>
          </a:stretch>
        </p:blipFill>
        <p:spPr>
          <a:xfrm>
            <a:off x="9004718" y="2088422"/>
            <a:ext cx="2561037" cy="2543963"/>
          </a:xfrm>
          <a:prstGeom prst="rect">
            <a:avLst/>
          </a:prstGeom>
        </p:spPr>
      </p:pic>
      <p:sp>
        <p:nvSpPr>
          <p:cNvPr id="10" name="Rectangle 9"/>
          <p:cNvSpPr/>
          <p:nvPr/>
        </p:nvSpPr>
        <p:spPr>
          <a:xfrm>
            <a:off x="1098429" y="4068527"/>
            <a:ext cx="8278484" cy="1200329"/>
          </a:xfrm>
          <a:prstGeom prst="rect">
            <a:avLst/>
          </a:prstGeom>
        </p:spPr>
        <p:txBody>
          <a:bodyPr wrap="square">
            <a:spAutoFit/>
          </a:bodyPr>
          <a:lstStyle/>
          <a:p>
            <a:r>
              <a:rPr lang="en-US" b="1" dirty="0"/>
              <a:t>The Solution: </a:t>
            </a:r>
            <a:r>
              <a:rPr lang="en-US" dirty="0"/>
              <a:t>Transmissions match engine power output to driving conditions</a:t>
            </a:r>
            <a:r>
              <a:rPr lang="en-US" dirty="0" smtClean="0"/>
              <a:t>.</a:t>
            </a:r>
          </a:p>
          <a:p>
            <a:r>
              <a:rPr lang="en-US" b="1" dirty="0" smtClean="0"/>
              <a:t>Starting</a:t>
            </a:r>
            <a:r>
              <a:rPr lang="en-US" b="1" dirty="0"/>
              <a:t>: </a:t>
            </a:r>
            <a:r>
              <a:rPr lang="en-US" dirty="0"/>
              <a:t>High torque, low vehicle speed</a:t>
            </a:r>
            <a:r>
              <a:rPr lang="en-US" dirty="0" smtClean="0"/>
              <a:t>.</a:t>
            </a:r>
          </a:p>
          <a:p>
            <a:r>
              <a:rPr lang="en-US" b="1" dirty="0" smtClean="0"/>
              <a:t>Cruising</a:t>
            </a:r>
            <a:r>
              <a:rPr lang="en-US" b="1" dirty="0"/>
              <a:t>: </a:t>
            </a:r>
            <a:r>
              <a:rPr lang="en-US" dirty="0"/>
              <a:t>Low torque, high vehicle speed</a:t>
            </a:r>
            <a:r>
              <a:rPr lang="en-US" dirty="0" smtClean="0"/>
              <a:t>.</a:t>
            </a:r>
          </a:p>
          <a:p>
            <a:r>
              <a:rPr lang="en-US" b="1" dirty="0" smtClean="0"/>
              <a:t>Neutral/Reverse</a:t>
            </a:r>
            <a:r>
              <a:rPr lang="en-US" b="1" dirty="0"/>
              <a:t>: </a:t>
            </a:r>
            <a:r>
              <a:rPr lang="en-US" dirty="0"/>
              <a:t>Allows the car to idle stationary or back up.</a:t>
            </a:r>
          </a:p>
        </p:txBody>
      </p:sp>
    </p:spTree>
    <p:custDataLst>
      <p:tags r:id="rId1"/>
    </p:custDataLst>
    <p:extLst>
      <p:ext uri="{BB962C8B-B14F-4D97-AF65-F5344CB8AC3E}">
        <p14:creationId xmlns:p14="http://schemas.microsoft.com/office/powerpoint/2010/main" val="16784494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85589" y="666756"/>
            <a:ext cx="10018643" cy="370371"/>
          </a:xfrm>
          <a:prstGeom prst="rect">
            <a:avLst/>
          </a:prstGeom>
          <a:noFill/>
        </p:spPr>
        <p:txBody>
          <a:bodyPr wrap="square" rtlCol="0">
            <a:noAutofit/>
          </a:bodyPr>
          <a:lstStyle/>
          <a:p>
            <a:r>
              <a:rPr lang="en-US" b="1" dirty="0" smtClean="0"/>
              <a:t>Chapter 10 Inspection and Service </a:t>
            </a:r>
            <a:r>
              <a:rPr lang="en-US" b="1" dirty="0" smtClean="0"/>
              <a:t>Transmission </a:t>
            </a:r>
            <a:endParaRPr lang="en-US" b="1" dirty="0" smtClean="0"/>
          </a:p>
        </p:txBody>
      </p:sp>
      <p:sp>
        <p:nvSpPr>
          <p:cNvPr id="22" name="文本框 21"/>
          <p:cNvSpPr txBox="1"/>
          <p:nvPr>
            <p:custDataLst>
              <p:tags r:id="rId3"/>
            </p:custDataLst>
          </p:nvPr>
        </p:nvSpPr>
        <p:spPr>
          <a:xfrm>
            <a:off x="1821157" y="-44801"/>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7" y="6336109"/>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7" name="Rectangle 6"/>
          <p:cNvSpPr/>
          <p:nvPr/>
        </p:nvSpPr>
        <p:spPr>
          <a:xfrm>
            <a:off x="646979" y="979498"/>
            <a:ext cx="3516797" cy="369332"/>
          </a:xfrm>
          <a:prstGeom prst="rect">
            <a:avLst/>
          </a:prstGeom>
        </p:spPr>
        <p:txBody>
          <a:bodyPr wrap="none">
            <a:spAutoFit/>
          </a:bodyPr>
          <a:lstStyle/>
          <a:p>
            <a:pPr marL="285750" indent="-285750">
              <a:buFont typeface="Wingdings" panose="05000000000000000000" pitchFamily="2" charset="2"/>
              <a:buChar char="Ø"/>
            </a:pPr>
            <a:r>
              <a:rPr lang="en-US" b="1" dirty="0" smtClean="0"/>
              <a:t>A Car Transmission System</a:t>
            </a:r>
            <a:endParaRPr lang="en-US" b="1" dirty="0"/>
          </a:p>
        </p:txBody>
      </p:sp>
      <p:sp>
        <p:nvSpPr>
          <p:cNvPr id="2" name="Rectangle 1"/>
          <p:cNvSpPr/>
          <p:nvPr/>
        </p:nvSpPr>
        <p:spPr>
          <a:xfrm>
            <a:off x="4290955" y="997569"/>
            <a:ext cx="4720138" cy="369332"/>
          </a:xfrm>
          <a:prstGeom prst="rect">
            <a:avLst/>
          </a:prstGeom>
        </p:spPr>
        <p:txBody>
          <a:bodyPr wrap="none">
            <a:spAutoFit/>
          </a:bodyPr>
          <a:lstStyle/>
          <a:p>
            <a:r>
              <a:rPr lang="en-US" b="1" dirty="0" smtClean="0"/>
              <a:t>Common Types of Transmission systems</a:t>
            </a:r>
            <a:endParaRPr lang="en-US" b="1" dirty="0"/>
          </a:p>
        </p:txBody>
      </p:sp>
      <p:sp>
        <p:nvSpPr>
          <p:cNvPr id="4" name="Rectangle 3"/>
          <p:cNvSpPr/>
          <p:nvPr/>
        </p:nvSpPr>
        <p:spPr>
          <a:xfrm>
            <a:off x="946105" y="1494977"/>
            <a:ext cx="10863457" cy="646331"/>
          </a:xfrm>
          <a:prstGeom prst="rect">
            <a:avLst/>
          </a:prstGeom>
        </p:spPr>
        <p:txBody>
          <a:bodyPr wrap="square">
            <a:spAutoFit/>
          </a:bodyPr>
          <a:lstStyle/>
          <a:p>
            <a:r>
              <a:rPr lang="en-US" dirty="0"/>
              <a:t>Manual, Automatic, </a:t>
            </a:r>
            <a:r>
              <a:rPr lang="en-US" dirty="0" smtClean="0"/>
              <a:t>CVT (Continues Variable Transmission), DCT (Dual-Clutch Transmission ), Sequential Transmission and Auto Manual Transmission </a:t>
            </a:r>
            <a:endParaRPr lang="en-US" dirty="0"/>
          </a:p>
        </p:txBody>
      </p:sp>
      <p:sp>
        <p:nvSpPr>
          <p:cNvPr id="6" name="Rectangle 5"/>
          <p:cNvSpPr/>
          <p:nvPr/>
        </p:nvSpPr>
        <p:spPr>
          <a:xfrm>
            <a:off x="946105" y="2114718"/>
            <a:ext cx="3082960" cy="369332"/>
          </a:xfrm>
          <a:prstGeom prst="rect">
            <a:avLst/>
          </a:prstGeom>
        </p:spPr>
        <p:txBody>
          <a:bodyPr wrap="none">
            <a:spAutoFit/>
          </a:bodyPr>
          <a:lstStyle/>
          <a:p>
            <a:r>
              <a:rPr lang="en-US" b="1" dirty="0"/>
              <a:t>Manual Transmission (MT)</a:t>
            </a:r>
            <a:endParaRPr lang="en-US" b="1" dirty="0"/>
          </a:p>
        </p:txBody>
      </p:sp>
      <p:sp>
        <p:nvSpPr>
          <p:cNvPr id="9" name="Rectangle 8"/>
          <p:cNvSpPr/>
          <p:nvPr/>
        </p:nvSpPr>
        <p:spPr>
          <a:xfrm>
            <a:off x="4029065" y="2121847"/>
            <a:ext cx="5865773" cy="369332"/>
          </a:xfrm>
          <a:prstGeom prst="rect">
            <a:avLst/>
          </a:prstGeom>
        </p:spPr>
        <p:txBody>
          <a:bodyPr wrap="none">
            <a:spAutoFit/>
          </a:bodyPr>
          <a:lstStyle/>
          <a:p>
            <a:r>
              <a:rPr lang="en-US" dirty="0"/>
              <a:t>A gearbox where the driver manually selects gear ratios</a:t>
            </a:r>
          </a:p>
        </p:txBody>
      </p:sp>
      <p:sp>
        <p:nvSpPr>
          <p:cNvPr id="10" name="Rectangle 9"/>
          <p:cNvSpPr/>
          <p:nvPr/>
        </p:nvSpPr>
        <p:spPr>
          <a:xfrm>
            <a:off x="885589" y="3016725"/>
            <a:ext cx="4557786" cy="369332"/>
          </a:xfrm>
          <a:prstGeom prst="rect">
            <a:avLst/>
          </a:prstGeom>
        </p:spPr>
        <p:txBody>
          <a:bodyPr wrap="none">
            <a:spAutoFit/>
          </a:bodyPr>
          <a:lstStyle/>
          <a:p>
            <a:r>
              <a:rPr lang="en-US" b="1" dirty="0" smtClean="0"/>
              <a:t>Continues </a:t>
            </a:r>
            <a:r>
              <a:rPr lang="en-US" b="1" dirty="0"/>
              <a:t>Variable </a:t>
            </a:r>
            <a:r>
              <a:rPr lang="en-US" b="1" dirty="0" smtClean="0"/>
              <a:t>Transmission (CVT) </a:t>
            </a:r>
            <a:endParaRPr lang="en-US" b="1" dirty="0"/>
          </a:p>
        </p:txBody>
      </p:sp>
      <p:sp>
        <p:nvSpPr>
          <p:cNvPr id="11" name="Rectangle 10"/>
          <p:cNvSpPr/>
          <p:nvPr/>
        </p:nvSpPr>
        <p:spPr>
          <a:xfrm>
            <a:off x="4192531" y="2466698"/>
            <a:ext cx="7806811" cy="646331"/>
          </a:xfrm>
          <a:prstGeom prst="rect">
            <a:avLst/>
          </a:prstGeom>
        </p:spPr>
        <p:txBody>
          <a:bodyPr wrap="square">
            <a:spAutoFit/>
          </a:bodyPr>
          <a:lstStyle/>
          <a:p>
            <a:r>
              <a:rPr lang="en-US" dirty="0"/>
              <a:t>an automatic transmission that provides an infinite range of gear ratios, rather than fixed steps</a:t>
            </a:r>
          </a:p>
        </p:txBody>
      </p:sp>
      <p:sp>
        <p:nvSpPr>
          <p:cNvPr id="12" name="Rectangle 11"/>
          <p:cNvSpPr/>
          <p:nvPr/>
        </p:nvSpPr>
        <p:spPr>
          <a:xfrm>
            <a:off x="946105" y="3537469"/>
            <a:ext cx="3724161" cy="369332"/>
          </a:xfrm>
          <a:prstGeom prst="rect">
            <a:avLst/>
          </a:prstGeom>
        </p:spPr>
        <p:txBody>
          <a:bodyPr wrap="none">
            <a:spAutoFit/>
          </a:bodyPr>
          <a:lstStyle/>
          <a:p>
            <a:r>
              <a:rPr lang="en-US" b="1" dirty="0" smtClean="0"/>
              <a:t>Dual-Clutch Transmission (DCT)</a:t>
            </a:r>
            <a:endParaRPr lang="en-US" b="1" dirty="0"/>
          </a:p>
        </p:txBody>
      </p:sp>
      <p:sp>
        <p:nvSpPr>
          <p:cNvPr id="13" name="Rectangle 12"/>
          <p:cNvSpPr/>
          <p:nvPr/>
        </p:nvSpPr>
        <p:spPr>
          <a:xfrm>
            <a:off x="885589" y="3841295"/>
            <a:ext cx="6096000" cy="646331"/>
          </a:xfrm>
          <a:prstGeom prst="rect">
            <a:avLst/>
          </a:prstGeom>
        </p:spPr>
        <p:txBody>
          <a:bodyPr>
            <a:spAutoFit/>
          </a:bodyPr>
          <a:lstStyle/>
          <a:p>
            <a:r>
              <a:rPr lang="en-US" dirty="0"/>
              <a:t>an advanced automatic gearbox that uses two separate clutches to manage odd and even gears independently</a:t>
            </a:r>
          </a:p>
        </p:txBody>
      </p:sp>
      <p:pic>
        <p:nvPicPr>
          <p:cNvPr id="14" name="Picture 13"/>
          <p:cNvPicPr>
            <a:picLocks noChangeAspect="1"/>
          </p:cNvPicPr>
          <p:nvPr/>
        </p:nvPicPr>
        <p:blipFill>
          <a:blip r:embed="rId5"/>
          <a:stretch>
            <a:fillRect/>
          </a:stretch>
        </p:blipFill>
        <p:spPr>
          <a:xfrm>
            <a:off x="9011093" y="3651727"/>
            <a:ext cx="2798469" cy="2961592"/>
          </a:xfrm>
          <a:prstGeom prst="rect">
            <a:avLst/>
          </a:prstGeom>
        </p:spPr>
      </p:pic>
      <p:sp>
        <p:nvSpPr>
          <p:cNvPr id="15" name="AutoShape 2" descr="Manual Transmissio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Rectangle 17"/>
          <p:cNvSpPr/>
          <p:nvPr/>
        </p:nvSpPr>
        <p:spPr>
          <a:xfrm>
            <a:off x="908700" y="4395874"/>
            <a:ext cx="2980368" cy="369332"/>
          </a:xfrm>
          <a:prstGeom prst="rect">
            <a:avLst/>
          </a:prstGeom>
        </p:spPr>
        <p:txBody>
          <a:bodyPr wrap="none">
            <a:spAutoFit/>
          </a:bodyPr>
          <a:lstStyle/>
          <a:p>
            <a:r>
              <a:rPr lang="en-US" b="1" dirty="0" smtClean="0"/>
              <a:t>Sequential Transmission</a:t>
            </a:r>
            <a:endParaRPr lang="en-US" b="1" dirty="0"/>
          </a:p>
        </p:txBody>
      </p:sp>
      <p:sp>
        <p:nvSpPr>
          <p:cNvPr id="19" name="Rectangle 18"/>
          <p:cNvSpPr/>
          <p:nvPr/>
        </p:nvSpPr>
        <p:spPr>
          <a:xfrm>
            <a:off x="885589" y="5715816"/>
            <a:ext cx="3839577" cy="369332"/>
          </a:xfrm>
          <a:prstGeom prst="rect">
            <a:avLst/>
          </a:prstGeom>
        </p:spPr>
        <p:txBody>
          <a:bodyPr wrap="none">
            <a:spAutoFit/>
          </a:bodyPr>
          <a:lstStyle/>
          <a:p>
            <a:r>
              <a:rPr lang="en-US" b="1" dirty="0" smtClean="0"/>
              <a:t>Auto Manual Transmission (AMT)</a:t>
            </a:r>
            <a:endParaRPr lang="en-US" b="1" dirty="0"/>
          </a:p>
        </p:txBody>
      </p:sp>
      <p:sp>
        <p:nvSpPr>
          <p:cNvPr id="16" name="Rectangle 15"/>
          <p:cNvSpPr/>
          <p:nvPr/>
        </p:nvSpPr>
        <p:spPr>
          <a:xfrm>
            <a:off x="885589" y="4623060"/>
            <a:ext cx="7735610" cy="1200329"/>
          </a:xfrm>
          <a:prstGeom prst="rect">
            <a:avLst/>
          </a:prstGeom>
        </p:spPr>
        <p:txBody>
          <a:bodyPr wrap="square">
            <a:spAutoFit/>
          </a:bodyPr>
          <a:lstStyle/>
          <a:p>
            <a:r>
              <a:rPr lang="en-US" dirty="0"/>
              <a:t>type of non-synchronous gearbox—common in motorcycles and race cars—that allows for rapid gear shifts by requiring the driver to select the next or previous gear in a strict linear sequence (1-2-3-4-5-6), preventing skipped gears</a:t>
            </a:r>
          </a:p>
        </p:txBody>
      </p:sp>
      <p:sp>
        <p:nvSpPr>
          <p:cNvPr id="17" name="Rectangle 16"/>
          <p:cNvSpPr/>
          <p:nvPr/>
        </p:nvSpPr>
        <p:spPr>
          <a:xfrm>
            <a:off x="2871186" y="5944582"/>
            <a:ext cx="6453968" cy="923330"/>
          </a:xfrm>
          <a:prstGeom prst="rect">
            <a:avLst/>
          </a:prstGeom>
        </p:spPr>
        <p:txBody>
          <a:bodyPr wrap="square">
            <a:spAutoFit/>
          </a:bodyPr>
          <a:lstStyle/>
          <a:p>
            <a:r>
              <a:rPr lang="en-US" dirty="0"/>
              <a:t>type of transmission that uses a conventional manual gearbox's mechanical setup but automates the clutch and gear-shifting process via electronic sensors and actuators.</a:t>
            </a:r>
          </a:p>
        </p:txBody>
      </p:sp>
      <p:sp>
        <p:nvSpPr>
          <p:cNvPr id="24" name="Rectangle 23"/>
          <p:cNvSpPr/>
          <p:nvPr/>
        </p:nvSpPr>
        <p:spPr>
          <a:xfrm>
            <a:off x="946105" y="2474194"/>
            <a:ext cx="3373616" cy="369332"/>
          </a:xfrm>
          <a:prstGeom prst="rect">
            <a:avLst/>
          </a:prstGeom>
        </p:spPr>
        <p:txBody>
          <a:bodyPr wrap="none">
            <a:spAutoFit/>
          </a:bodyPr>
          <a:lstStyle/>
          <a:p>
            <a:r>
              <a:rPr lang="en-US" b="1" dirty="0" smtClean="0"/>
              <a:t>Automatic </a:t>
            </a:r>
            <a:r>
              <a:rPr lang="en-US" b="1" dirty="0"/>
              <a:t>Transmission </a:t>
            </a:r>
            <a:r>
              <a:rPr lang="en-US" b="1" dirty="0" smtClean="0"/>
              <a:t>(AT</a:t>
            </a:r>
            <a:r>
              <a:rPr lang="en-US" b="1" dirty="0"/>
              <a:t>)</a:t>
            </a:r>
            <a:endParaRPr lang="en-US" b="1" dirty="0"/>
          </a:p>
        </p:txBody>
      </p:sp>
      <p:sp>
        <p:nvSpPr>
          <p:cNvPr id="20" name="Rectangle 19"/>
          <p:cNvSpPr/>
          <p:nvPr/>
        </p:nvSpPr>
        <p:spPr>
          <a:xfrm>
            <a:off x="5206476" y="3025623"/>
            <a:ext cx="6096000" cy="923330"/>
          </a:xfrm>
          <a:prstGeom prst="rect">
            <a:avLst/>
          </a:prstGeom>
        </p:spPr>
        <p:txBody>
          <a:bodyPr>
            <a:spAutoFit/>
          </a:bodyPr>
          <a:lstStyle/>
          <a:p>
            <a:r>
              <a:rPr lang="en-US" dirty="0"/>
              <a:t>an automatic transmission that uses a system of pulleys and a metal belt to provide an infinite range of gear ratios rather than fixed, stepped gears.</a:t>
            </a:r>
          </a:p>
        </p:txBody>
      </p:sp>
    </p:spTree>
    <p:custDataLst>
      <p:tags r:id="rId1"/>
    </p:custDataLst>
    <p:extLst>
      <p:ext uri="{BB962C8B-B14F-4D97-AF65-F5344CB8AC3E}">
        <p14:creationId xmlns:p14="http://schemas.microsoft.com/office/powerpoint/2010/main" val="8685959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14652" y="6323299"/>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Basic Parts of </a:t>
            </a: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a Manual </a:t>
            </a:r>
            <a:r>
              <a:rPr lang="en-US" sz="1400" b="1" kern="0" dirty="0">
                <a:latin typeface="Times New Roman" panose="02020603050405020304" pitchFamily="18" charset="0"/>
                <a:ea typeface="Times New Roman" panose="02020603050405020304" pitchFamily="18" charset="0"/>
                <a:cs typeface="Arial" panose="020B0604020202020204" pitchFamily="34" charset="0"/>
              </a:rPr>
              <a:t>Transmission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47567" y="3012967"/>
            <a:ext cx="2703000" cy="1477328"/>
          </a:xfrm>
          <a:prstGeom prst="rect">
            <a:avLst/>
          </a:prstGeom>
        </p:spPr>
        <p:txBody>
          <a:bodyPr wrap="square">
            <a:spAutoFit/>
          </a:bodyPr>
          <a:lstStyle/>
          <a:p>
            <a:r>
              <a:rPr lang="en-US" b="1" dirty="0"/>
              <a:t>Clutch</a:t>
            </a:r>
            <a:r>
              <a:rPr lang="en-US" dirty="0"/>
              <a:t>: Connects and disconnects the engine from the transmission, allowing you to change gears without grinding</a:t>
            </a:r>
          </a:p>
        </p:txBody>
      </p:sp>
      <p:sp>
        <p:nvSpPr>
          <p:cNvPr id="5" name="Rectangle 4"/>
          <p:cNvSpPr/>
          <p:nvPr/>
        </p:nvSpPr>
        <p:spPr>
          <a:xfrm>
            <a:off x="747566" y="1521918"/>
            <a:ext cx="1890261" cy="1754326"/>
          </a:xfrm>
          <a:prstGeom prst="rect">
            <a:avLst/>
          </a:prstGeom>
        </p:spPr>
        <p:txBody>
          <a:bodyPr wrap="none">
            <a:spAutoFit/>
          </a:bodyPr>
          <a:lstStyle/>
          <a:p>
            <a:r>
              <a:rPr lang="en-US" dirty="0" smtClean="0"/>
              <a:t>Clutch</a:t>
            </a:r>
          </a:p>
          <a:p>
            <a:r>
              <a:rPr lang="en-US" dirty="0" smtClean="0"/>
              <a:t>Gearbox</a:t>
            </a:r>
          </a:p>
          <a:p>
            <a:r>
              <a:rPr lang="en-US" dirty="0" smtClean="0"/>
              <a:t>Shafts</a:t>
            </a:r>
          </a:p>
          <a:p>
            <a:r>
              <a:rPr lang="en-US" dirty="0" smtClean="0"/>
              <a:t>Gears</a:t>
            </a:r>
          </a:p>
          <a:p>
            <a:r>
              <a:rPr lang="en-US" dirty="0" smtClean="0"/>
              <a:t>Shift Mechanism</a:t>
            </a:r>
          </a:p>
          <a:p>
            <a:endParaRPr lang="en-US" dirty="0"/>
          </a:p>
        </p:txBody>
      </p:sp>
      <p:pic>
        <p:nvPicPr>
          <p:cNvPr id="7" name="Picture 6"/>
          <p:cNvPicPr>
            <a:picLocks noChangeAspect="1"/>
          </p:cNvPicPr>
          <p:nvPr/>
        </p:nvPicPr>
        <p:blipFill rotWithShape="1">
          <a:blip r:embed="rId5"/>
          <a:srcRect b="10180"/>
          <a:stretch/>
        </p:blipFill>
        <p:spPr>
          <a:xfrm>
            <a:off x="6149137" y="1809379"/>
            <a:ext cx="5246358" cy="4651805"/>
          </a:xfrm>
          <a:prstGeom prst="rect">
            <a:avLst/>
          </a:prstGeom>
        </p:spPr>
      </p:pic>
      <p:pic>
        <p:nvPicPr>
          <p:cNvPr id="8" name="Picture 7"/>
          <p:cNvPicPr>
            <a:picLocks noChangeAspect="1"/>
          </p:cNvPicPr>
          <p:nvPr/>
        </p:nvPicPr>
        <p:blipFill>
          <a:blip r:embed="rId6"/>
          <a:stretch>
            <a:fillRect/>
          </a:stretch>
        </p:blipFill>
        <p:spPr>
          <a:xfrm>
            <a:off x="3450567" y="3974657"/>
            <a:ext cx="2865661" cy="2178803"/>
          </a:xfrm>
          <a:prstGeom prst="rect">
            <a:avLst/>
          </a:prstGeom>
        </p:spPr>
      </p:pic>
    </p:spTree>
    <p:custDataLst>
      <p:tags r:id="rId1"/>
    </p:custDataLst>
    <p:extLst>
      <p:ext uri="{BB962C8B-B14F-4D97-AF65-F5344CB8AC3E}">
        <p14:creationId xmlns:p14="http://schemas.microsoft.com/office/powerpoint/2010/main" val="14568613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14652" y="6323299"/>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Basic Parts of </a:t>
            </a: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a Manual </a:t>
            </a:r>
            <a:r>
              <a:rPr lang="en-US" sz="1400" b="1" kern="0" dirty="0">
                <a:latin typeface="Times New Roman" panose="02020603050405020304" pitchFamily="18" charset="0"/>
                <a:ea typeface="Times New Roman" panose="02020603050405020304" pitchFamily="18" charset="0"/>
                <a:cs typeface="Arial" panose="020B0604020202020204" pitchFamily="34" charset="0"/>
              </a:rPr>
              <a:t>Transmission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47566" y="1562979"/>
            <a:ext cx="9854298" cy="923330"/>
          </a:xfrm>
          <a:prstGeom prst="rect">
            <a:avLst/>
          </a:prstGeom>
        </p:spPr>
        <p:txBody>
          <a:bodyPr wrap="square">
            <a:spAutoFit/>
          </a:bodyPr>
          <a:lstStyle/>
          <a:p>
            <a:r>
              <a:rPr lang="en-US" b="1" dirty="0"/>
              <a:t>Clutch</a:t>
            </a:r>
            <a:r>
              <a:rPr lang="en-US" dirty="0"/>
              <a:t>: Connects and disconnects the engine from the transmission, allowing you to change gears without </a:t>
            </a:r>
            <a:r>
              <a:rPr lang="en-US" dirty="0" smtClean="0"/>
              <a:t>grinding. </a:t>
            </a:r>
            <a:r>
              <a:rPr lang="en-US" dirty="0" smtClean="0"/>
              <a:t>Located </a:t>
            </a:r>
            <a:r>
              <a:rPr lang="en-US" dirty="0"/>
              <a:t>between the engine and gearbox, it enables smooth gear changes and allows the vehicle to stop without stalling by interrupting power flow to the</a:t>
            </a:r>
            <a:endParaRPr lang="en-US" dirty="0"/>
          </a:p>
        </p:txBody>
      </p:sp>
      <p:pic>
        <p:nvPicPr>
          <p:cNvPr id="9" name="Picture 8"/>
          <p:cNvPicPr>
            <a:picLocks noChangeAspect="1"/>
          </p:cNvPicPr>
          <p:nvPr/>
        </p:nvPicPr>
        <p:blipFill>
          <a:blip r:embed="rId6"/>
          <a:stretch>
            <a:fillRect/>
          </a:stretch>
        </p:blipFill>
        <p:spPr>
          <a:xfrm>
            <a:off x="6859943" y="2813673"/>
            <a:ext cx="4797372" cy="3598029"/>
          </a:xfrm>
          <a:prstGeom prst="rect">
            <a:avLst/>
          </a:prstGeom>
        </p:spPr>
      </p:pic>
      <p:pic>
        <p:nvPicPr>
          <p:cNvPr id="10" name="devo3kdSPQY"/>
          <p:cNvPicPr>
            <a:picLocks noRot="1" noChangeAspect="1"/>
          </p:cNvPicPr>
          <p:nvPr>
            <a:videoFile r:link="rId4"/>
          </p:nvPr>
        </p:nvPicPr>
        <p:blipFill>
          <a:blip r:embed="rId7"/>
          <a:stretch>
            <a:fillRect/>
          </a:stretch>
        </p:blipFill>
        <p:spPr>
          <a:xfrm>
            <a:off x="877019" y="2813673"/>
            <a:ext cx="5812107" cy="3269310"/>
          </a:xfrm>
          <a:prstGeom prst="rect">
            <a:avLst/>
          </a:prstGeom>
        </p:spPr>
      </p:pic>
    </p:spTree>
    <p:custDataLst>
      <p:tags r:id="rId1"/>
    </p:custDataLst>
    <p:extLst>
      <p:ext uri="{BB962C8B-B14F-4D97-AF65-F5344CB8AC3E}">
        <p14:creationId xmlns:p14="http://schemas.microsoft.com/office/powerpoint/2010/main" val="6739418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14652" y="6323299"/>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Basic Parts of </a:t>
            </a: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a Manual </a:t>
            </a:r>
            <a:r>
              <a:rPr lang="en-US" sz="1400" b="1" kern="0" dirty="0">
                <a:latin typeface="Times New Roman" panose="02020603050405020304" pitchFamily="18" charset="0"/>
                <a:ea typeface="Times New Roman" panose="02020603050405020304" pitchFamily="18" charset="0"/>
                <a:cs typeface="Arial" panose="020B0604020202020204" pitchFamily="34" charset="0"/>
              </a:rPr>
              <a:t>Transmission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47566" y="1562979"/>
            <a:ext cx="2402958" cy="369332"/>
          </a:xfrm>
          <a:prstGeom prst="rect">
            <a:avLst/>
          </a:prstGeom>
        </p:spPr>
        <p:txBody>
          <a:bodyPr wrap="square">
            <a:spAutoFit/>
          </a:bodyPr>
          <a:lstStyle/>
          <a:p>
            <a:r>
              <a:rPr lang="en-US" b="1" dirty="0"/>
              <a:t>Clutch</a:t>
            </a:r>
            <a:r>
              <a:rPr lang="en-US" dirty="0"/>
              <a:t>: </a:t>
            </a:r>
            <a:r>
              <a:rPr lang="en-US" dirty="0" smtClean="0"/>
              <a:t>Construction</a:t>
            </a:r>
            <a:endParaRPr lang="en-US" dirty="0"/>
          </a:p>
        </p:txBody>
      </p:sp>
      <p:pic>
        <p:nvPicPr>
          <p:cNvPr id="11" name="Picture 10"/>
          <p:cNvPicPr>
            <a:picLocks noChangeAspect="1"/>
          </p:cNvPicPr>
          <p:nvPr/>
        </p:nvPicPr>
        <p:blipFill>
          <a:blip r:embed="rId5"/>
          <a:stretch>
            <a:fillRect/>
          </a:stretch>
        </p:blipFill>
        <p:spPr>
          <a:xfrm>
            <a:off x="747565" y="2360386"/>
            <a:ext cx="3302213" cy="3200829"/>
          </a:xfrm>
          <a:prstGeom prst="rect">
            <a:avLst/>
          </a:prstGeom>
        </p:spPr>
      </p:pic>
      <p:sp>
        <p:nvSpPr>
          <p:cNvPr id="13" name="Rectangle 12"/>
          <p:cNvSpPr/>
          <p:nvPr/>
        </p:nvSpPr>
        <p:spPr>
          <a:xfrm>
            <a:off x="5092931" y="1747645"/>
            <a:ext cx="6096000" cy="923330"/>
          </a:xfrm>
          <a:prstGeom prst="rect">
            <a:avLst/>
          </a:prstGeom>
        </p:spPr>
        <p:txBody>
          <a:bodyPr>
            <a:spAutoFit/>
          </a:bodyPr>
          <a:lstStyle/>
          <a:p>
            <a:r>
              <a:rPr lang="en-US" dirty="0"/>
              <a:t>Engaged (Pedal Up): The pressure plate forces the clutch plate against the spinning flywheel, locking the engine and transmission together, allowing the car to move</a:t>
            </a:r>
          </a:p>
        </p:txBody>
      </p:sp>
      <p:sp>
        <p:nvSpPr>
          <p:cNvPr id="14" name="Rectangle 13"/>
          <p:cNvSpPr/>
          <p:nvPr/>
        </p:nvSpPr>
        <p:spPr>
          <a:xfrm>
            <a:off x="5092931" y="3183005"/>
            <a:ext cx="6096000" cy="1200329"/>
          </a:xfrm>
          <a:prstGeom prst="rect">
            <a:avLst/>
          </a:prstGeom>
        </p:spPr>
        <p:txBody>
          <a:bodyPr>
            <a:spAutoFit/>
          </a:bodyPr>
          <a:lstStyle/>
          <a:p>
            <a:r>
              <a:rPr lang="en-US" dirty="0"/>
              <a:t>Disengaged (Pedal Down): You press the pedal, pushing the release bearing against the spring. This lifts the pressure plate, separating the clutch disc from the flywheel and stopping power transmission</a:t>
            </a:r>
          </a:p>
        </p:txBody>
      </p:sp>
    </p:spTree>
    <p:custDataLst>
      <p:tags r:id="rId1"/>
    </p:custDataLst>
    <p:extLst>
      <p:ext uri="{BB962C8B-B14F-4D97-AF65-F5344CB8AC3E}">
        <p14:creationId xmlns:p14="http://schemas.microsoft.com/office/powerpoint/2010/main" val="15433128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84663" y="6182202"/>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Basic Parts of </a:t>
            </a: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a Manual </a:t>
            </a:r>
            <a:r>
              <a:rPr lang="en-US" sz="1400" b="1" kern="0" dirty="0">
                <a:latin typeface="Times New Roman" panose="02020603050405020304" pitchFamily="18" charset="0"/>
                <a:ea typeface="Times New Roman" panose="02020603050405020304" pitchFamily="18" charset="0"/>
                <a:cs typeface="Arial" panose="020B0604020202020204" pitchFamily="34" charset="0"/>
              </a:rPr>
              <a:t>Transmission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Rectangle 6"/>
          <p:cNvSpPr/>
          <p:nvPr/>
        </p:nvSpPr>
        <p:spPr>
          <a:xfrm>
            <a:off x="820190" y="1562979"/>
            <a:ext cx="7035338" cy="646331"/>
          </a:xfrm>
          <a:prstGeom prst="rect">
            <a:avLst/>
          </a:prstGeom>
        </p:spPr>
        <p:txBody>
          <a:bodyPr wrap="square">
            <a:spAutoFit/>
          </a:bodyPr>
          <a:lstStyle/>
          <a:p>
            <a:r>
              <a:rPr lang="en-US" b="1" dirty="0"/>
              <a:t>Gearbox</a:t>
            </a:r>
            <a:r>
              <a:rPr lang="en-US" dirty="0"/>
              <a:t>: The case that houses the internal components, including the gears, shafts, and bearings</a:t>
            </a:r>
          </a:p>
        </p:txBody>
      </p:sp>
      <p:sp>
        <p:nvSpPr>
          <p:cNvPr id="4" name="Rectangle 3"/>
          <p:cNvSpPr/>
          <p:nvPr/>
        </p:nvSpPr>
        <p:spPr>
          <a:xfrm>
            <a:off x="820190" y="2229737"/>
            <a:ext cx="2095510" cy="369332"/>
          </a:xfrm>
          <a:prstGeom prst="rect">
            <a:avLst/>
          </a:prstGeom>
        </p:spPr>
        <p:txBody>
          <a:bodyPr wrap="none">
            <a:spAutoFit/>
          </a:bodyPr>
          <a:lstStyle/>
          <a:p>
            <a:r>
              <a:rPr lang="en-US" dirty="0" smtClean="0"/>
              <a:t>Types of Gear Box</a:t>
            </a:r>
            <a:endParaRPr lang="en-US" dirty="0"/>
          </a:p>
        </p:txBody>
      </p:sp>
      <p:sp>
        <p:nvSpPr>
          <p:cNvPr id="11" name="Rectangle 10"/>
          <p:cNvSpPr/>
          <p:nvPr/>
        </p:nvSpPr>
        <p:spPr>
          <a:xfrm>
            <a:off x="820190" y="2536341"/>
            <a:ext cx="2525050" cy="2585323"/>
          </a:xfrm>
          <a:prstGeom prst="rect">
            <a:avLst/>
          </a:prstGeom>
        </p:spPr>
        <p:txBody>
          <a:bodyPr wrap="none">
            <a:spAutoFit/>
          </a:bodyPr>
          <a:lstStyle/>
          <a:p>
            <a:pPr marL="285750" indent="-285750">
              <a:buFont typeface="Wingdings" panose="05000000000000000000" pitchFamily="2" charset="2"/>
              <a:buChar char="Ø"/>
            </a:pPr>
            <a:r>
              <a:rPr lang="en-US" dirty="0" smtClean="0"/>
              <a:t>Sliding mesh type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smtClean="0"/>
          </a:p>
          <a:p>
            <a:pPr marL="285750" indent="-285750">
              <a:buFont typeface="Wingdings" panose="05000000000000000000" pitchFamily="2" charset="2"/>
              <a:buChar char="Ø"/>
            </a:pPr>
            <a:endParaRPr lang="en-US" dirty="0" smtClean="0"/>
          </a:p>
          <a:p>
            <a:pPr marL="285750" indent="-285750">
              <a:buFont typeface="Wingdings" panose="05000000000000000000" pitchFamily="2" charset="2"/>
              <a:buChar char="Ø"/>
            </a:pPr>
            <a:r>
              <a:rPr lang="en-US" dirty="0" smtClean="0"/>
              <a:t>Constant mesh type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smtClean="0"/>
          </a:p>
          <a:p>
            <a:pPr marL="285750" indent="-285750">
              <a:buFont typeface="Wingdings" panose="05000000000000000000" pitchFamily="2" charset="2"/>
              <a:buChar char="Ø"/>
            </a:pPr>
            <a:endParaRPr lang="en-US" dirty="0" smtClean="0"/>
          </a:p>
          <a:p>
            <a:pPr marL="285750" indent="-285750">
              <a:buFont typeface="Wingdings" panose="05000000000000000000" pitchFamily="2" charset="2"/>
              <a:buChar char="Ø"/>
            </a:pPr>
            <a:r>
              <a:rPr lang="en-US" dirty="0" smtClean="0"/>
              <a:t>Synchromesh type</a:t>
            </a:r>
            <a:endParaRPr lang="en-US" dirty="0"/>
          </a:p>
        </p:txBody>
      </p:sp>
      <p:pic>
        <p:nvPicPr>
          <p:cNvPr id="5" name="Picture 4"/>
          <p:cNvPicPr>
            <a:picLocks noChangeAspect="1"/>
          </p:cNvPicPr>
          <p:nvPr/>
        </p:nvPicPr>
        <p:blipFill>
          <a:blip r:embed="rId5"/>
          <a:stretch>
            <a:fillRect/>
          </a:stretch>
        </p:blipFill>
        <p:spPr>
          <a:xfrm>
            <a:off x="7981056" y="1302702"/>
            <a:ext cx="3921671" cy="2592733"/>
          </a:xfrm>
          <a:prstGeom prst="rect">
            <a:avLst/>
          </a:prstGeom>
        </p:spPr>
      </p:pic>
      <p:pic>
        <p:nvPicPr>
          <p:cNvPr id="6" name="Picture 5"/>
          <p:cNvPicPr>
            <a:picLocks noChangeAspect="1"/>
          </p:cNvPicPr>
          <p:nvPr/>
        </p:nvPicPr>
        <p:blipFill>
          <a:blip r:embed="rId6"/>
          <a:stretch>
            <a:fillRect/>
          </a:stretch>
        </p:blipFill>
        <p:spPr>
          <a:xfrm>
            <a:off x="6114925" y="3543941"/>
            <a:ext cx="1967089" cy="1572890"/>
          </a:xfrm>
          <a:prstGeom prst="rect">
            <a:avLst/>
          </a:prstGeom>
        </p:spPr>
      </p:pic>
      <p:pic>
        <p:nvPicPr>
          <p:cNvPr id="10" name="Picture 9"/>
          <p:cNvPicPr>
            <a:picLocks noChangeAspect="1"/>
          </p:cNvPicPr>
          <p:nvPr/>
        </p:nvPicPr>
        <p:blipFill>
          <a:blip r:embed="rId7"/>
          <a:stretch>
            <a:fillRect/>
          </a:stretch>
        </p:blipFill>
        <p:spPr>
          <a:xfrm>
            <a:off x="8468544" y="5024617"/>
            <a:ext cx="2819400" cy="1619250"/>
          </a:xfrm>
          <a:prstGeom prst="rect">
            <a:avLst/>
          </a:prstGeom>
        </p:spPr>
      </p:pic>
      <p:sp>
        <p:nvSpPr>
          <p:cNvPr id="14" name="Rectangle 13"/>
          <p:cNvSpPr/>
          <p:nvPr/>
        </p:nvSpPr>
        <p:spPr>
          <a:xfrm>
            <a:off x="3268575" y="2438851"/>
            <a:ext cx="3412088" cy="830997"/>
          </a:xfrm>
          <a:prstGeom prst="rect">
            <a:avLst/>
          </a:prstGeom>
        </p:spPr>
        <p:txBody>
          <a:bodyPr wrap="square">
            <a:spAutoFit/>
          </a:bodyPr>
          <a:lstStyle/>
          <a:p>
            <a:r>
              <a:rPr lang="en-US" sz="1200" dirty="0"/>
              <a:t>the earliest, simplest type of manual transmission,, where gear ratios are changed by physically sliding gears along a splined shaft to mesh with specific gears on a countershaft.</a:t>
            </a:r>
          </a:p>
        </p:txBody>
      </p:sp>
      <p:sp>
        <p:nvSpPr>
          <p:cNvPr id="15" name="Rectangle 14"/>
          <p:cNvSpPr/>
          <p:nvPr/>
        </p:nvSpPr>
        <p:spPr>
          <a:xfrm>
            <a:off x="3268575" y="3686304"/>
            <a:ext cx="3074036" cy="830997"/>
          </a:xfrm>
          <a:prstGeom prst="rect">
            <a:avLst/>
          </a:prstGeom>
        </p:spPr>
        <p:txBody>
          <a:bodyPr wrap="square">
            <a:spAutoFit/>
          </a:bodyPr>
          <a:lstStyle/>
          <a:p>
            <a:r>
              <a:rPr lang="en-US" sz="1200" dirty="0"/>
              <a:t>type of manual transmission where all forward gears are constantly in mesh (engaged) with their counterparts on parallel shafts</a:t>
            </a:r>
          </a:p>
        </p:txBody>
      </p:sp>
      <p:sp>
        <p:nvSpPr>
          <p:cNvPr id="16" name="Rectangle 15"/>
          <p:cNvSpPr/>
          <p:nvPr/>
        </p:nvSpPr>
        <p:spPr>
          <a:xfrm>
            <a:off x="3223492" y="4828103"/>
            <a:ext cx="2504903" cy="1200329"/>
          </a:xfrm>
          <a:prstGeom prst="rect">
            <a:avLst/>
          </a:prstGeom>
        </p:spPr>
        <p:txBody>
          <a:bodyPr wrap="square">
            <a:spAutoFit/>
          </a:bodyPr>
          <a:lstStyle/>
          <a:p>
            <a:r>
              <a:rPr lang="en-US" sz="1200" dirty="0"/>
              <a:t> type of modern manual transmission that uses specialized "synchronizer" devices to align the speeds of gears before they engage, resulting in smooth, silent, and effortless shifting.</a:t>
            </a:r>
          </a:p>
        </p:txBody>
      </p:sp>
    </p:spTree>
    <p:custDataLst>
      <p:tags r:id="rId1"/>
    </p:custDataLst>
    <p:extLst>
      <p:ext uri="{BB962C8B-B14F-4D97-AF65-F5344CB8AC3E}">
        <p14:creationId xmlns:p14="http://schemas.microsoft.com/office/powerpoint/2010/main" val="24965493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84663" y="6182202"/>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Basic Parts of </a:t>
            </a: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a Manual </a:t>
            </a:r>
            <a:r>
              <a:rPr lang="en-US" sz="1400" b="1" kern="0" dirty="0">
                <a:latin typeface="Times New Roman" panose="02020603050405020304" pitchFamily="18" charset="0"/>
                <a:ea typeface="Times New Roman" panose="02020603050405020304" pitchFamily="18" charset="0"/>
                <a:cs typeface="Arial" panose="020B0604020202020204" pitchFamily="34" charset="0"/>
              </a:rPr>
              <a:t>Transmission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9" name="Rectangle 8"/>
          <p:cNvSpPr/>
          <p:nvPr/>
        </p:nvSpPr>
        <p:spPr>
          <a:xfrm>
            <a:off x="747566" y="1397947"/>
            <a:ext cx="6096000" cy="2031325"/>
          </a:xfrm>
          <a:prstGeom prst="rect">
            <a:avLst/>
          </a:prstGeom>
        </p:spPr>
        <p:txBody>
          <a:bodyPr>
            <a:spAutoFit/>
          </a:bodyPr>
          <a:lstStyle/>
          <a:p>
            <a:r>
              <a:rPr lang="en-US" b="1" dirty="0"/>
              <a:t>Shafts</a:t>
            </a:r>
            <a:r>
              <a:rPr lang="en-US" dirty="0"/>
              <a:t>:</a:t>
            </a:r>
          </a:p>
          <a:p>
            <a:r>
              <a:rPr lang="en-US" dirty="0"/>
              <a:t>Input Shaft: Receives power from the engine via the clutch and flywheel.</a:t>
            </a:r>
          </a:p>
          <a:p>
            <a:r>
              <a:rPr lang="en-US" dirty="0"/>
              <a:t>Output Shaft: Transfers power from the transmission to the wheels.</a:t>
            </a:r>
          </a:p>
          <a:p>
            <a:r>
              <a:rPr lang="en-US" dirty="0"/>
              <a:t>Countershaft (or </a:t>
            </a:r>
            <a:r>
              <a:rPr lang="en-US" dirty="0" err="1"/>
              <a:t>Layshaft</a:t>
            </a:r>
            <a:r>
              <a:rPr lang="en-US" dirty="0"/>
              <a:t>): A shaft that holds gears and transfers power between the input and output shafts</a:t>
            </a:r>
          </a:p>
        </p:txBody>
      </p:sp>
      <p:pic>
        <p:nvPicPr>
          <p:cNvPr id="5" name="Picture 4"/>
          <p:cNvPicPr>
            <a:picLocks noChangeAspect="1"/>
          </p:cNvPicPr>
          <p:nvPr/>
        </p:nvPicPr>
        <p:blipFill>
          <a:blip r:embed="rId5"/>
          <a:stretch>
            <a:fillRect/>
          </a:stretch>
        </p:blipFill>
        <p:spPr>
          <a:xfrm>
            <a:off x="5301961" y="3492731"/>
            <a:ext cx="6076950" cy="3048000"/>
          </a:xfrm>
          <a:prstGeom prst="rect">
            <a:avLst/>
          </a:prstGeom>
        </p:spPr>
      </p:pic>
    </p:spTree>
    <p:custDataLst>
      <p:tags r:id="rId1"/>
    </p:custDataLst>
    <p:extLst>
      <p:ext uri="{BB962C8B-B14F-4D97-AF65-F5344CB8AC3E}">
        <p14:creationId xmlns:p14="http://schemas.microsoft.com/office/powerpoint/2010/main" val="8320889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14652" y="6119560"/>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Basic Parts of </a:t>
            </a: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a Manual </a:t>
            </a:r>
            <a:r>
              <a:rPr lang="en-US" sz="1400" b="1" kern="0" dirty="0">
                <a:latin typeface="Times New Roman" panose="02020603050405020304" pitchFamily="18" charset="0"/>
                <a:ea typeface="Times New Roman" panose="02020603050405020304" pitchFamily="18" charset="0"/>
                <a:cs typeface="Arial" panose="020B0604020202020204" pitchFamily="34" charset="0"/>
              </a:rPr>
              <a:t>Transmission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747565" y="1562979"/>
            <a:ext cx="6958333" cy="923330"/>
          </a:xfrm>
          <a:prstGeom prst="rect">
            <a:avLst/>
          </a:prstGeom>
        </p:spPr>
        <p:txBody>
          <a:bodyPr wrap="square">
            <a:spAutoFit/>
          </a:bodyPr>
          <a:lstStyle/>
          <a:p>
            <a:r>
              <a:rPr lang="en-US" b="1" dirty="0"/>
              <a:t>Gears</a:t>
            </a:r>
            <a:r>
              <a:rPr lang="en-US" dirty="0"/>
              <a:t>: Different-sized gears are mounted on the shafts, and their engagement at various ratios determines the vehicle's speed and torque.</a:t>
            </a:r>
          </a:p>
        </p:txBody>
      </p:sp>
      <p:pic>
        <p:nvPicPr>
          <p:cNvPr id="6" name="Picture 5"/>
          <p:cNvPicPr>
            <a:picLocks noChangeAspect="1"/>
          </p:cNvPicPr>
          <p:nvPr/>
        </p:nvPicPr>
        <p:blipFill>
          <a:blip r:embed="rId5"/>
          <a:stretch>
            <a:fillRect/>
          </a:stretch>
        </p:blipFill>
        <p:spPr>
          <a:xfrm>
            <a:off x="8790968" y="1313739"/>
            <a:ext cx="2390775" cy="1914525"/>
          </a:xfrm>
          <a:prstGeom prst="rect">
            <a:avLst/>
          </a:prstGeom>
        </p:spPr>
      </p:pic>
      <p:sp>
        <p:nvSpPr>
          <p:cNvPr id="10" name="Rectangle 9"/>
          <p:cNvSpPr/>
          <p:nvPr/>
        </p:nvSpPr>
        <p:spPr>
          <a:xfrm>
            <a:off x="747565" y="2800858"/>
            <a:ext cx="6096000" cy="2308324"/>
          </a:xfrm>
          <a:prstGeom prst="rect">
            <a:avLst/>
          </a:prstGeom>
        </p:spPr>
        <p:txBody>
          <a:bodyPr>
            <a:spAutoFit/>
          </a:bodyPr>
          <a:lstStyle/>
          <a:p>
            <a:r>
              <a:rPr lang="en-US" b="1" dirty="0"/>
              <a:t>Shift Mechanism</a:t>
            </a:r>
            <a:r>
              <a:rPr lang="en-US" dirty="0"/>
              <a:t>:</a:t>
            </a:r>
          </a:p>
          <a:p>
            <a:r>
              <a:rPr lang="en-US" b="1" dirty="0"/>
              <a:t>Gear Shift Lever (Stick Shift</a:t>
            </a:r>
            <a:r>
              <a:rPr lang="en-US" dirty="0"/>
              <a:t>): The lever the driver uses to select a gear.</a:t>
            </a:r>
          </a:p>
          <a:p>
            <a:r>
              <a:rPr lang="en-US" b="1" dirty="0"/>
              <a:t>Shift Forks</a:t>
            </a:r>
            <a:r>
              <a:rPr lang="en-US" dirty="0"/>
              <a:t>: Move the synchronizer rings to engage the chosen gear.</a:t>
            </a:r>
          </a:p>
          <a:p>
            <a:r>
              <a:rPr lang="en-US" b="1" dirty="0"/>
              <a:t>Synchronizers</a:t>
            </a:r>
            <a:r>
              <a:rPr lang="en-US" dirty="0"/>
              <a:t>: Devices that match the speed of the gears and the collar before they lock together, preventing grinding and ensuring smooth shifting</a:t>
            </a:r>
          </a:p>
        </p:txBody>
      </p:sp>
      <p:pic>
        <p:nvPicPr>
          <p:cNvPr id="11" name="Picture 10"/>
          <p:cNvPicPr>
            <a:picLocks noChangeAspect="1"/>
          </p:cNvPicPr>
          <p:nvPr/>
        </p:nvPicPr>
        <p:blipFill>
          <a:blip r:embed="rId6"/>
          <a:stretch>
            <a:fillRect/>
          </a:stretch>
        </p:blipFill>
        <p:spPr>
          <a:xfrm>
            <a:off x="7321434" y="3560444"/>
            <a:ext cx="4153955" cy="2632538"/>
          </a:xfrm>
          <a:prstGeom prst="rect">
            <a:avLst/>
          </a:prstGeom>
        </p:spPr>
      </p:pic>
    </p:spTree>
    <p:custDataLst>
      <p:tags r:id="rId1"/>
    </p:custDataLst>
    <p:extLst>
      <p:ext uri="{BB962C8B-B14F-4D97-AF65-F5344CB8AC3E}">
        <p14:creationId xmlns:p14="http://schemas.microsoft.com/office/powerpoint/2010/main" val="18508444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498027" y="866057"/>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35034"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340084" y="148364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How it works </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340084" y="2132411"/>
            <a:ext cx="11355923" cy="3754874"/>
          </a:xfrm>
          <a:prstGeom prst="rect">
            <a:avLst/>
          </a:prstGeom>
        </p:spPr>
        <p:txBody>
          <a:bodyPr wrap="square">
            <a:spAutoFit/>
          </a:bodyPr>
          <a:lstStyle/>
          <a:p>
            <a:r>
              <a:rPr lang="en-US" sz="1600" b="1" dirty="0"/>
              <a:t>Depress the clutch</a:t>
            </a:r>
            <a:r>
              <a:rPr lang="en-US" sz="1600" dirty="0"/>
              <a:t>: The driver pushes the clutch pedal down to disengage the engine from the transmission</a:t>
            </a:r>
            <a:r>
              <a:rPr lang="en-US" sz="1600" dirty="0" smtClean="0"/>
              <a:t>.</a:t>
            </a:r>
          </a:p>
          <a:p>
            <a:endParaRPr lang="en-US" sz="1600" dirty="0"/>
          </a:p>
          <a:p>
            <a:r>
              <a:rPr lang="en-US" sz="1600" b="1" dirty="0"/>
              <a:t>Move the shift lever</a:t>
            </a:r>
            <a:r>
              <a:rPr lang="en-US" sz="1600" dirty="0"/>
              <a:t>: The driver moves the shift lever to the desired gear position</a:t>
            </a:r>
            <a:r>
              <a:rPr lang="en-US" sz="1600" dirty="0" smtClean="0"/>
              <a:t>.</a:t>
            </a:r>
          </a:p>
          <a:p>
            <a:endParaRPr lang="en-US" sz="1600" dirty="0"/>
          </a:p>
          <a:p>
            <a:r>
              <a:rPr lang="en-US" sz="1600" b="1" dirty="0"/>
              <a:t>Linkage moves the fork</a:t>
            </a:r>
            <a:r>
              <a:rPr lang="en-US" sz="1600" dirty="0"/>
              <a:t>: The shift lever's movement activates the linkage to push the correct shift fork</a:t>
            </a:r>
            <a:r>
              <a:rPr lang="en-US" sz="1600" dirty="0" smtClean="0"/>
              <a:t>.</a:t>
            </a:r>
          </a:p>
          <a:p>
            <a:endParaRPr lang="en-US" sz="1600" dirty="0"/>
          </a:p>
          <a:p>
            <a:r>
              <a:rPr lang="en-US" sz="1600" b="1" dirty="0"/>
              <a:t>Collar engages the gear</a:t>
            </a:r>
            <a:r>
              <a:rPr lang="en-US" sz="1600" dirty="0"/>
              <a:t>: The shift fork pushes the synchronizer collar, which slides along the shaft</a:t>
            </a:r>
            <a:r>
              <a:rPr lang="en-US" sz="1600" dirty="0" smtClean="0"/>
              <a:t>.</a:t>
            </a:r>
          </a:p>
          <a:p>
            <a:endParaRPr lang="en-US" sz="1600" dirty="0"/>
          </a:p>
          <a:p>
            <a:r>
              <a:rPr lang="en-US" sz="1600" b="1" dirty="0"/>
              <a:t>Synchronization</a:t>
            </a:r>
            <a:r>
              <a:rPr lang="en-US" sz="1600" dirty="0"/>
              <a:t>: Before locking, the synchronizer ring (part of the collar) frictionally matches the speed of the free-spinning gear to the speed of the output shaft</a:t>
            </a:r>
            <a:r>
              <a:rPr lang="en-US" sz="1600" dirty="0" smtClean="0"/>
              <a:t>.</a:t>
            </a:r>
          </a:p>
          <a:p>
            <a:endParaRPr lang="en-US" sz="1600" dirty="0"/>
          </a:p>
          <a:p>
            <a:r>
              <a:rPr lang="en-US" sz="1600" b="1" dirty="0"/>
              <a:t>Gear engagement</a:t>
            </a:r>
            <a:r>
              <a:rPr lang="en-US" sz="1600" dirty="0"/>
              <a:t>: Once the speeds are synchronized, the collar slides further to lock onto the gear's teeth, making the gear a single unit with the output shaft</a:t>
            </a:r>
            <a:r>
              <a:rPr lang="en-US" sz="1600" dirty="0" smtClean="0"/>
              <a:t>.</a:t>
            </a:r>
          </a:p>
          <a:p>
            <a:endParaRPr lang="en-US" sz="1400" dirty="0"/>
          </a:p>
          <a:p>
            <a:r>
              <a:rPr lang="en-US" sz="1600" b="1" dirty="0"/>
              <a:t>Release the clutch</a:t>
            </a:r>
            <a:r>
              <a:rPr lang="en-US" sz="1600" dirty="0"/>
              <a:t>: The driver releases the clutch to transfer power from the engine through the newly selected </a:t>
            </a:r>
            <a:r>
              <a:rPr lang="en-US" sz="1600" dirty="0" smtClean="0"/>
              <a:t>gear</a:t>
            </a:r>
            <a:endParaRPr lang="en-US" sz="1600" dirty="0"/>
          </a:p>
        </p:txBody>
      </p:sp>
    </p:spTree>
    <p:custDataLst>
      <p:tags r:id="rId1"/>
    </p:custDataLst>
    <p:extLst>
      <p:ext uri="{BB962C8B-B14F-4D97-AF65-F5344CB8AC3E}">
        <p14:creationId xmlns:p14="http://schemas.microsoft.com/office/powerpoint/2010/main" val="28379435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84663" y="608630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Manual Transmission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pic>
        <p:nvPicPr>
          <p:cNvPr id="4" name="wCu9W9xNwtI"/>
          <p:cNvPicPr>
            <a:picLocks noRot="1" noChangeAspect="1"/>
          </p:cNvPicPr>
          <p:nvPr>
            <a:videoFile r:link="rId4"/>
          </p:nvPr>
        </p:nvPicPr>
        <p:blipFill>
          <a:blip r:embed="rId6"/>
          <a:stretch>
            <a:fillRect/>
          </a:stretch>
        </p:blipFill>
        <p:spPr>
          <a:xfrm>
            <a:off x="958734" y="2126499"/>
            <a:ext cx="7013171" cy="3584345"/>
          </a:xfrm>
          <a:prstGeom prst="rect">
            <a:avLst/>
          </a:prstGeom>
        </p:spPr>
      </p:pic>
    </p:spTree>
    <p:custDataLst>
      <p:tags r:id="rId1"/>
    </p:custDataLst>
    <p:extLst>
      <p:ext uri="{BB962C8B-B14F-4D97-AF65-F5344CB8AC3E}">
        <p14:creationId xmlns:p14="http://schemas.microsoft.com/office/powerpoint/2010/main" val="5821024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14652" y="607799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Manual Transmission Gear Ratios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840389" y="1475931"/>
            <a:ext cx="2364750" cy="369332"/>
          </a:xfrm>
          <a:prstGeom prst="rect">
            <a:avLst/>
          </a:prstGeom>
        </p:spPr>
        <p:txBody>
          <a:bodyPr wrap="none">
            <a:spAutoFit/>
          </a:bodyPr>
          <a:lstStyle/>
          <a:p>
            <a:r>
              <a:rPr lang="en-US" dirty="0"/>
              <a:t>Gear Ratio Principles</a:t>
            </a:r>
          </a:p>
        </p:txBody>
      </p:sp>
      <p:sp>
        <p:nvSpPr>
          <p:cNvPr id="5" name="Rectangle 4"/>
          <p:cNvSpPr/>
          <p:nvPr/>
        </p:nvSpPr>
        <p:spPr>
          <a:xfrm>
            <a:off x="840388" y="1809379"/>
            <a:ext cx="10955371" cy="2862322"/>
          </a:xfrm>
          <a:prstGeom prst="rect">
            <a:avLst/>
          </a:prstGeom>
        </p:spPr>
        <p:txBody>
          <a:bodyPr wrap="square">
            <a:spAutoFit/>
          </a:bodyPr>
          <a:lstStyle/>
          <a:p>
            <a:r>
              <a:rPr lang="en-US" b="1" dirty="0"/>
              <a:t>Calculation</a:t>
            </a:r>
            <a:r>
              <a:rPr lang="en-US" dirty="0"/>
              <a:t>: A gear ratio is calculated by dividing the number of teeth on the driven gear by the number of teeth on the driving gear (Ratio = Driven ÷ Drive</a:t>
            </a:r>
            <a:r>
              <a:rPr lang="en-US" dirty="0" smtClean="0"/>
              <a:t>).</a:t>
            </a:r>
          </a:p>
          <a:p>
            <a:endParaRPr lang="en-US" dirty="0"/>
          </a:p>
          <a:p>
            <a:r>
              <a:rPr lang="en-US" b="1" dirty="0"/>
              <a:t>Torque vs. Speed</a:t>
            </a:r>
            <a:r>
              <a:rPr lang="en-US" dirty="0"/>
              <a:t>: A gear ratio greater than 1:1 is a gear reduction (underdrive), which increases torque but decreases speed. A gear ratio less than 1:1 is an overdrive, which increases speed but decreases torque</a:t>
            </a:r>
            <a:r>
              <a:rPr lang="en-US" dirty="0" smtClean="0"/>
              <a:t>.</a:t>
            </a:r>
          </a:p>
          <a:p>
            <a:endParaRPr lang="en-US" dirty="0"/>
          </a:p>
          <a:p>
            <a:r>
              <a:rPr lang="en-US" b="1" dirty="0"/>
              <a:t>Overall Ratio</a:t>
            </a:r>
            <a:r>
              <a:rPr lang="en-US" dirty="0"/>
              <a:t>: The final overall gear ratio for the wheels includes both the transmission's individual gear ratio and the final drive ratio in the differential. The overall ratio for a specific gear is the product of its transmission ratio and the final drive ratio.</a:t>
            </a:r>
          </a:p>
        </p:txBody>
      </p:sp>
    </p:spTree>
    <p:custDataLst>
      <p:tags r:id="rId1"/>
    </p:custDataLst>
    <p:extLst>
      <p:ext uri="{BB962C8B-B14F-4D97-AF65-F5344CB8AC3E}">
        <p14:creationId xmlns:p14="http://schemas.microsoft.com/office/powerpoint/2010/main" val="21486182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84663" y="6077996"/>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Typical Gear Ratios (5-Speed Manual)</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47566" y="1562979"/>
            <a:ext cx="11006630" cy="646331"/>
          </a:xfrm>
          <a:prstGeom prst="rect">
            <a:avLst/>
          </a:prstGeom>
        </p:spPr>
        <p:txBody>
          <a:bodyPr wrap="square">
            <a:spAutoFit/>
          </a:bodyPr>
          <a:lstStyle/>
          <a:p>
            <a:r>
              <a:rPr lang="en-US" dirty="0"/>
              <a:t>Typical manual transmissions feature a progression of gear ratios designed to optimize performance across different driving conditions. Below are common examples:</a:t>
            </a:r>
          </a:p>
        </p:txBody>
      </p:sp>
      <p:graphicFrame>
        <p:nvGraphicFramePr>
          <p:cNvPr id="5" name="Table 4"/>
          <p:cNvGraphicFramePr>
            <a:graphicFrameLocks noGrp="1"/>
          </p:cNvGraphicFramePr>
          <p:nvPr>
            <p:extLst>
              <p:ext uri="{D42A27DB-BD31-4B8C-83A1-F6EECF244321}">
                <p14:modId xmlns:p14="http://schemas.microsoft.com/office/powerpoint/2010/main" val="744366385"/>
              </p:ext>
            </p:extLst>
          </p:nvPr>
        </p:nvGraphicFramePr>
        <p:xfrm>
          <a:off x="584663" y="2490394"/>
          <a:ext cx="10929392" cy="2928457"/>
        </p:xfrm>
        <a:graphic>
          <a:graphicData uri="http://schemas.openxmlformats.org/drawingml/2006/table">
            <a:tbl>
              <a:tblPr firstRow="1" firstCol="1" bandRow="1">
                <a:tableStyleId>{5C22544A-7EE6-4342-B048-85BDC9FD1C3A}</a:tableStyleId>
              </a:tblPr>
              <a:tblGrid>
                <a:gridCol w="1697637">
                  <a:extLst>
                    <a:ext uri="{9D8B030D-6E8A-4147-A177-3AD203B41FA5}">
                      <a16:colId xmlns:a16="http://schemas.microsoft.com/office/drawing/2014/main" val="1353383117"/>
                    </a:ext>
                  </a:extLst>
                </a:gridCol>
                <a:gridCol w="1866932">
                  <a:extLst>
                    <a:ext uri="{9D8B030D-6E8A-4147-A177-3AD203B41FA5}">
                      <a16:colId xmlns:a16="http://schemas.microsoft.com/office/drawing/2014/main" val="1822321133"/>
                    </a:ext>
                  </a:extLst>
                </a:gridCol>
                <a:gridCol w="7364823">
                  <a:extLst>
                    <a:ext uri="{9D8B030D-6E8A-4147-A177-3AD203B41FA5}">
                      <a16:colId xmlns:a16="http://schemas.microsoft.com/office/drawing/2014/main" val="1821963628"/>
                    </a:ext>
                  </a:extLst>
                </a:gridCol>
              </a:tblGrid>
              <a:tr h="94189">
                <a:tc>
                  <a:txBody>
                    <a:bodyPr/>
                    <a:lstStyle/>
                    <a:p>
                      <a:pPr marL="0" marR="0">
                        <a:lnSpc>
                          <a:spcPct val="107000"/>
                        </a:lnSpc>
                        <a:spcBef>
                          <a:spcPts val="0"/>
                        </a:spcBef>
                        <a:spcAft>
                          <a:spcPts val="800"/>
                        </a:spcAft>
                      </a:pPr>
                      <a:r>
                        <a:rPr lang="en-US" sz="1000">
                          <a:effectLst/>
                        </a:rPr>
                        <a:t>Gear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dirty="0">
                          <a:effectLst/>
                        </a:rPr>
                        <a:t>Typical Ratio</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dirty="0">
                          <a:effectLst/>
                        </a:rPr>
                        <a:t>Purpose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3030212801"/>
                  </a:ext>
                </a:extLst>
              </a:tr>
              <a:tr h="425444">
                <a:tc>
                  <a:txBody>
                    <a:bodyPr/>
                    <a:lstStyle/>
                    <a:p>
                      <a:pPr marL="0" marR="0">
                        <a:lnSpc>
                          <a:spcPct val="107000"/>
                        </a:lnSpc>
                        <a:spcBef>
                          <a:spcPts val="0"/>
                        </a:spcBef>
                        <a:spcAft>
                          <a:spcPts val="800"/>
                        </a:spcAft>
                      </a:pPr>
                      <a:r>
                        <a:rPr lang="en-US" sz="1000">
                          <a:effectLst/>
                        </a:rPr>
                        <a:t>1st Gear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~3.0:1 to 4.0:1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Provides maximum torque for starting from a standstill or climbing steep hills.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2829398227"/>
                  </a:ext>
                </a:extLst>
              </a:tr>
              <a:tr h="212723">
                <a:tc>
                  <a:txBody>
                    <a:bodyPr/>
                    <a:lstStyle/>
                    <a:p>
                      <a:pPr marL="0" marR="0">
                        <a:lnSpc>
                          <a:spcPct val="107000"/>
                        </a:lnSpc>
                        <a:spcBef>
                          <a:spcPts val="0"/>
                        </a:spcBef>
                        <a:spcAft>
                          <a:spcPts val="800"/>
                        </a:spcAft>
                      </a:pPr>
                      <a:r>
                        <a:rPr lang="en-US" sz="1000">
                          <a:effectLst/>
                        </a:rPr>
                        <a:t>2nd Gear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~1.8:1 to 2.5:1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Offers a balance of torque and speed for moderate acceleration.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1313772954"/>
                  </a:ext>
                </a:extLst>
              </a:tr>
              <a:tr h="212723">
                <a:tc>
                  <a:txBody>
                    <a:bodyPr/>
                    <a:lstStyle/>
                    <a:p>
                      <a:pPr marL="0" marR="0">
                        <a:lnSpc>
                          <a:spcPct val="107000"/>
                        </a:lnSpc>
                        <a:spcBef>
                          <a:spcPts val="0"/>
                        </a:spcBef>
                        <a:spcAft>
                          <a:spcPts val="800"/>
                        </a:spcAft>
                      </a:pPr>
                      <a:r>
                        <a:rPr lang="en-US" sz="1000">
                          <a:effectLst/>
                        </a:rPr>
                        <a:t>3rd Gear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~1.2:1 to 1.5:1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dirty="0">
                          <a:effectLst/>
                        </a:rPr>
                        <a:t>Suitable for city driving and maintaining speed on flat roads.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1629574479"/>
                  </a:ext>
                </a:extLst>
              </a:tr>
              <a:tr h="638167">
                <a:tc>
                  <a:txBody>
                    <a:bodyPr/>
                    <a:lstStyle/>
                    <a:p>
                      <a:pPr marL="0" marR="0">
                        <a:lnSpc>
                          <a:spcPct val="107000"/>
                        </a:lnSpc>
                        <a:spcBef>
                          <a:spcPts val="0"/>
                        </a:spcBef>
                        <a:spcAft>
                          <a:spcPts val="800"/>
                        </a:spcAft>
                      </a:pPr>
                      <a:r>
                        <a:rPr lang="en-US" sz="1000">
                          <a:effectLst/>
                        </a:rPr>
                        <a:t>4th Gear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~1.0:1 (Direct Drive) to 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Often a 1:1 direct drive ratio in 4-speed or some 5-speed transmissions, where the input and output shafts spin at the same speed.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2310059690"/>
                  </a:ext>
                </a:extLst>
              </a:tr>
              <a:tr h="425444">
                <a:tc>
                  <a:txBody>
                    <a:bodyPr/>
                    <a:lstStyle/>
                    <a:p>
                      <a:pPr marL="0" marR="0">
                        <a:lnSpc>
                          <a:spcPct val="107000"/>
                        </a:lnSpc>
                        <a:spcBef>
                          <a:spcPts val="0"/>
                        </a:spcBef>
                        <a:spcAft>
                          <a:spcPts val="800"/>
                        </a:spcAft>
                      </a:pPr>
                      <a:r>
                        <a:rPr lang="en-US" sz="1000">
                          <a:effectLst/>
                        </a:rPr>
                        <a:t>5th Gear (Overdrive)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~0.7:1 to 0.9:1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An overdrive gear designed for high speeds with reduced engine RPM, improving fuel efficiency during highway cruising.</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1608776750"/>
                  </a:ext>
                </a:extLst>
              </a:tr>
              <a:tr h="425444">
                <a:tc>
                  <a:txBody>
                    <a:bodyPr/>
                    <a:lstStyle/>
                    <a:p>
                      <a:pPr marL="0" marR="0">
                        <a:lnSpc>
                          <a:spcPct val="107000"/>
                        </a:lnSpc>
                        <a:spcBef>
                          <a:spcPts val="0"/>
                        </a:spcBef>
                        <a:spcAft>
                          <a:spcPts val="800"/>
                        </a:spcAft>
                      </a:pPr>
                      <a:r>
                        <a:rPr lang="en-US" sz="1000">
                          <a:effectLst/>
                        </a:rPr>
                        <a:t>Reverse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~3.0:1 to 4.0:1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Uses an idler gear to reverse the direction of rotation, offering high torque for moving backward.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276612288"/>
                  </a:ext>
                </a:extLst>
              </a:tr>
              <a:tr h="425444">
                <a:tc>
                  <a:txBody>
                    <a:bodyPr/>
                    <a:lstStyle/>
                    <a:p>
                      <a:pPr marL="0" marR="0">
                        <a:lnSpc>
                          <a:spcPct val="107000"/>
                        </a:lnSpc>
                        <a:spcBef>
                          <a:spcPts val="0"/>
                        </a:spcBef>
                        <a:spcAft>
                          <a:spcPts val="800"/>
                        </a:spcAft>
                      </a:pPr>
                      <a:r>
                        <a:rPr lang="en-US" sz="1000">
                          <a:effectLst/>
                        </a:rPr>
                        <a:t>Final Drive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~3.5:1 to 4.5:1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dirty="0">
                          <a:effectLst/>
                        </a:rPr>
                        <a:t>An additional reduction in the differential that multiplies the transmission's output torque before it reaches the wheels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537906582"/>
                  </a:ext>
                </a:extLst>
              </a:tr>
            </a:tbl>
          </a:graphicData>
        </a:graphic>
      </p:graphicFrame>
    </p:spTree>
    <p:custDataLst>
      <p:tags r:id="rId1"/>
    </p:custDataLst>
    <p:extLst>
      <p:ext uri="{BB962C8B-B14F-4D97-AF65-F5344CB8AC3E}">
        <p14:creationId xmlns:p14="http://schemas.microsoft.com/office/powerpoint/2010/main" val="30146154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84663" y="6077996"/>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Typical Gear Ratios (5-Speed Manual)</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836813" y="1645749"/>
            <a:ext cx="10759441" cy="1200329"/>
          </a:xfrm>
          <a:prstGeom prst="rect">
            <a:avLst/>
          </a:prstGeom>
        </p:spPr>
        <p:txBody>
          <a:bodyPr wrap="square">
            <a:spAutoFit/>
          </a:bodyPr>
          <a:lstStyle/>
          <a:p>
            <a:r>
              <a:rPr lang="en-US" dirty="0"/>
              <a:t>Manual transmissions are most commonly found in sports cars, enthusiast vehicles, and trucks, though they are becoming less common in new models. Examples include the Ford Mustang, Mazda Miata, Subaru BRZ, Toyota GR86, Toyota Tacoma, and Jeep Wrangler. They offer drivers a greater sense of control over the vehicle</a:t>
            </a:r>
          </a:p>
        </p:txBody>
      </p:sp>
      <p:sp>
        <p:nvSpPr>
          <p:cNvPr id="7" name="Rectangle 6"/>
          <p:cNvSpPr/>
          <p:nvPr/>
        </p:nvSpPr>
        <p:spPr>
          <a:xfrm>
            <a:off x="747566" y="2897872"/>
            <a:ext cx="6096000" cy="3139321"/>
          </a:xfrm>
          <a:prstGeom prst="rect">
            <a:avLst/>
          </a:prstGeom>
        </p:spPr>
        <p:txBody>
          <a:bodyPr>
            <a:spAutoFit/>
          </a:bodyPr>
          <a:lstStyle/>
          <a:p>
            <a:r>
              <a:rPr lang="en-US" dirty="0"/>
              <a:t>Sports cars and enthusiast vehicles</a:t>
            </a:r>
          </a:p>
          <a:p>
            <a:r>
              <a:rPr lang="en-US" dirty="0"/>
              <a:t>Acura: Integra, Integra Type S</a:t>
            </a:r>
          </a:p>
          <a:p>
            <a:r>
              <a:rPr lang="en-US" dirty="0"/>
              <a:t>BMW: M2, M3, M4, Z4</a:t>
            </a:r>
          </a:p>
          <a:p>
            <a:r>
              <a:rPr lang="en-US" dirty="0"/>
              <a:t>Cadillac: CT4-V, CT5-V</a:t>
            </a:r>
          </a:p>
          <a:p>
            <a:r>
              <a:rPr lang="en-US" dirty="0"/>
              <a:t>Honda: Civic Si, Civic Type R</a:t>
            </a:r>
          </a:p>
          <a:p>
            <a:r>
              <a:rPr lang="en-US" dirty="0"/>
              <a:t>Lotus: </a:t>
            </a:r>
            <a:r>
              <a:rPr lang="en-US" dirty="0" err="1"/>
              <a:t>Emira</a:t>
            </a:r>
            <a:endParaRPr lang="en-US" dirty="0"/>
          </a:p>
          <a:p>
            <a:r>
              <a:rPr lang="en-US" dirty="0"/>
              <a:t>Mazda: 3 Hatchback, Miata</a:t>
            </a:r>
          </a:p>
          <a:p>
            <a:r>
              <a:rPr lang="en-US" dirty="0"/>
              <a:t>Nissan: Z</a:t>
            </a:r>
          </a:p>
          <a:p>
            <a:r>
              <a:rPr lang="en-US" dirty="0"/>
              <a:t>Porsche: 718 Boxster and Cayman, 911</a:t>
            </a:r>
          </a:p>
          <a:p>
            <a:r>
              <a:rPr lang="en-US" dirty="0"/>
              <a:t>Subaru: BRZ, WRX</a:t>
            </a:r>
          </a:p>
          <a:p>
            <a:r>
              <a:rPr lang="en-US" dirty="0"/>
              <a:t>Toyota: GR86, GR Corolla, GR </a:t>
            </a:r>
            <a:r>
              <a:rPr lang="en-US" dirty="0" err="1"/>
              <a:t>Supr</a:t>
            </a:r>
            <a:endParaRPr lang="en-US" dirty="0"/>
          </a:p>
        </p:txBody>
      </p:sp>
    </p:spTree>
    <p:custDataLst>
      <p:tags r:id="rId1"/>
    </p:custDataLst>
    <p:extLst>
      <p:ext uri="{BB962C8B-B14F-4D97-AF65-F5344CB8AC3E}">
        <p14:creationId xmlns:p14="http://schemas.microsoft.com/office/powerpoint/2010/main" val="38624515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84663" y="6077996"/>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Typical Gear Ratios (5-Speed Manual)</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886691" y="1749332"/>
            <a:ext cx="9789502" cy="3693319"/>
          </a:xfrm>
          <a:prstGeom prst="rect">
            <a:avLst/>
          </a:prstGeom>
        </p:spPr>
        <p:txBody>
          <a:bodyPr wrap="square">
            <a:spAutoFit/>
          </a:bodyPr>
          <a:lstStyle/>
          <a:p>
            <a:r>
              <a:rPr lang="en-US" dirty="0"/>
              <a:t>Gear Change Approx. Speed Tachometer RPM Upshifting </a:t>
            </a:r>
            <a:endParaRPr lang="en-US" dirty="0" smtClean="0"/>
          </a:p>
          <a:p>
            <a:endParaRPr lang="en-US" dirty="0" smtClean="0"/>
          </a:p>
          <a:p>
            <a:r>
              <a:rPr lang="en-US" dirty="0" smtClean="0"/>
              <a:t>1 </a:t>
            </a:r>
            <a:r>
              <a:rPr lang="en-US" dirty="0" err="1"/>
              <a:t>st</a:t>
            </a:r>
            <a:r>
              <a:rPr lang="en-US" dirty="0"/>
              <a:t> – 2 </a:t>
            </a:r>
            <a:r>
              <a:rPr lang="en-US" dirty="0" err="1"/>
              <a:t>nd</a:t>
            </a:r>
            <a:r>
              <a:rPr lang="en-US" dirty="0"/>
              <a:t> 15 mph 2,000 – </a:t>
            </a:r>
            <a:r>
              <a:rPr lang="en-US" dirty="0" smtClean="0"/>
              <a:t>3,000</a:t>
            </a:r>
          </a:p>
          <a:p>
            <a:r>
              <a:rPr lang="en-US" dirty="0" smtClean="0"/>
              <a:t> </a:t>
            </a:r>
            <a:r>
              <a:rPr lang="en-US" dirty="0"/>
              <a:t>2 </a:t>
            </a:r>
            <a:r>
              <a:rPr lang="en-US" dirty="0" err="1"/>
              <a:t>nd</a:t>
            </a:r>
            <a:r>
              <a:rPr lang="en-US" dirty="0"/>
              <a:t> – 3 </a:t>
            </a:r>
            <a:r>
              <a:rPr lang="en-US" dirty="0" err="1"/>
              <a:t>rd</a:t>
            </a:r>
            <a:r>
              <a:rPr lang="en-US" dirty="0"/>
              <a:t> 25 mph 2,500 – 3,500 </a:t>
            </a:r>
            <a:endParaRPr lang="en-US" dirty="0" smtClean="0"/>
          </a:p>
          <a:p>
            <a:r>
              <a:rPr lang="en-US" dirty="0" smtClean="0"/>
              <a:t>3 </a:t>
            </a:r>
            <a:r>
              <a:rPr lang="en-US" dirty="0" err="1"/>
              <a:t>rd</a:t>
            </a:r>
            <a:r>
              <a:rPr lang="en-US" dirty="0"/>
              <a:t> – 4 </a:t>
            </a:r>
            <a:r>
              <a:rPr lang="en-US" dirty="0" err="1"/>
              <a:t>th</a:t>
            </a:r>
            <a:r>
              <a:rPr lang="en-US" dirty="0"/>
              <a:t> 40 mph 2,500 – </a:t>
            </a:r>
            <a:r>
              <a:rPr lang="en-US" dirty="0" smtClean="0"/>
              <a:t>3,500</a:t>
            </a:r>
          </a:p>
          <a:p>
            <a:r>
              <a:rPr lang="en-US" dirty="0" smtClean="0"/>
              <a:t> </a:t>
            </a:r>
            <a:r>
              <a:rPr lang="en-US" dirty="0"/>
              <a:t>4 </a:t>
            </a:r>
            <a:r>
              <a:rPr lang="en-US" dirty="0" err="1"/>
              <a:t>th</a:t>
            </a:r>
            <a:r>
              <a:rPr lang="en-US" dirty="0"/>
              <a:t> – 5 </a:t>
            </a:r>
            <a:r>
              <a:rPr lang="en-US" dirty="0" err="1"/>
              <a:t>th</a:t>
            </a:r>
            <a:r>
              <a:rPr lang="en-US" dirty="0"/>
              <a:t> 50 mph 2,500 – 3,500 </a:t>
            </a:r>
            <a:endParaRPr lang="en-US" dirty="0" smtClean="0"/>
          </a:p>
          <a:p>
            <a:endParaRPr lang="en-US" dirty="0"/>
          </a:p>
          <a:p>
            <a:r>
              <a:rPr lang="en-US" dirty="0" smtClean="0"/>
              <a:t>Downshifting</a:t>
            </a:r>
          </a:p>
          <a:p>
            <a:endParaRPr lang="en-US" dirty="0" smtClean="0"/>
          </a:p>
          <a:p>
            <a:r>
              <a:rPr lang="en-US" dirty="0" smtClean="0"/>
              <a:t> </a:t>
            </a:r>
            <a:r>
              <a:rPr lang="en-US" dirty="0"/>
              <a:t>5 </a:t>
            </a:r>
            <a:r>
              <a:rPr lang="en-US" dirty="0" err="1"/>
              <a:t>th</a:t>
            </a:r>
            <a:r>
              <a:rPr lang="en-US" dirty="0"/>
              <a:t> – 4 </a:t>
            </a:r>
            <a:r>
              <a:rPr lang="en-US" dirty="0" err="1"/>
              <a:t>th</a:t>
            </a:r>
            <a:r>
              <a:rPr lang="en-US" dirty="0"/>
              <a:t> 40 mph 2,000 </a:t>
            </a:r>
            <a:endParaRPr lang="en-US" dirty="0" smtClean="0"/>
          </a:p>
          <a:p>
            <a:r>
              <a:rPr lang="en-US" dirty="0" smtClean="0"/>
              <a:t>4 </a:t>
            </a:r>
            <a:r>
              <a:rPr lang="en-US" dirty="0" err="1"/>
              <a:t>th</a:t>
            </a:r>
            <a:r>
              <a:rPr lang="en-US" dirty="0"/>
              <a:t> – 3 </a:t>
            </a:r>
            <a:r>
              <a:rPr lang="en-US" dirty="0" err="1"/>
              <a:t>rd</a:t>
            </a:r>
            <a:r>
              <a:rPr lang="en-US" dirty="0"/>
              <a:t> 30 mph 2,000 </a:t>
            </a:r>
            <a:endParaRPr lang="en-US" dirty="0" smtClean="0"/>
          </a:p>
          <a:p>
            <a:r>
              <a:rPr lang="en-US" dirty="0" smtClean="0"/>
              <a:t>3 </a:t>
            </a:r>
            <a:r>
              <a:rPr lang="en-US" dirty="0" err="1"/>
              <a:t>rd</a:t>
            </a:r>
            <a:r>
              <a:rPr lang="en-US" dirty="0"/>
              <a:t> – 2 </a:t>
            </a:r>
            <a:r>
              <a:rPr lang="en-US" dirty="0" err="1"/>
              <a:t>nd</a:t>
            </a:r>
            <a:r>
              <a:rPr lang="en-US" dirty="0"/>
              <a:t> 20 mph </a:t>
            </a:r>
            <a:r>
              <a:rPr lang="en-US" dirty="0" smtClean="0"/>
              <a:t>2,000</a:t>
            </a:r>
          </a:p>
          <a:p>
            <a:r>
              <a:rPr lang="en-US" dirty="0" smtClean="0"/>
              <a:t> </a:t>
            </a:r>
            <a:r>
              <a:rPr lang="en-US" dirty="0"/>
              <a:t>2 </a:t>
            </a:r>
            <a:r>
              <a:rPr lang="en-US" dirty="0" err="1"/>
              <a:t>nd</a:t>
            </a:r>
            <a:r>
              <a:rPr lang="en-US" dirty="0"/>
              <a:t> – 1 </a:t>
            </a:r>
            <a:r>
              <a:rPr lang="en-US" dirty="0" err="1"/>
              <a:t>st</a:t>
            </a:r>
            <a:r>
              <a:rPr lang="en-US" dirty="0"/>
              <a:t> 10 mph 1,500</a:t>
            </a:r>
          </a:p>
        </p:txBody>
      </p:sp>
    </p:spTree>
    <p:custDataLst>
      <p:tags r:id="rId1"/>
    </p:custDataLst>
    <p:extLst>
      <p:ext uri="{BB962C8B-B14F-4D97-AF65-F5344CB8AC3E}">
        <p14:creationId xmlns:p14="http://schemas.microsoft.com/office/powerpoint/2010/main" val="40176593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85589" y="666756"/>
            <a:ext cx="10018643" cy="370371"/>
          </a:xfrm>
          <a:prstGeom prst="rect">
            <a:avLst/>
          </a:prstGeom>
          <a:noFill/>
        </p:spPr>
        <p:txBody>
          <a:bodyPr wrap="square" rtlCol="0">
            <a:noAutofit/>
          </a:bodyPr>
          <a:lstStyle/>
          <a:p>
            <a:r>
              <a:rPr lang="en-US" b="1" dirty="0" smtClean="0"/>
              <a:t>Chapter 10 Inspection and Service </a:t>
            </a:r>
            <a:r>
              <a:rPr lang="en-US" b="1" dirty="0" smtClean="0"/>
              <a:t>Transmission </a:t>
            </a:r>
            <a:endParaRPr lang="en-US" b="1" dirty="0" smtClean="0"/>
          </a:p>
        </p:txBody>
      </p:sp>
      <p:sp>
        <p:nvSpPr>
          <p:cNvPr id="22" name="文本框 21"/>
          <p:cNvSpPr txBox="1"/>
          <p:nvPr>
            <p:custDataLst>
              <p:tags r:id="rId3"/>
            </p:custDataLst>
          </p:nvPr>
        </p:nvSpPr>
        <p:spPr>
          <a:xfrm>
            <a:off x="1821157" y="-44801"/>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7" y="6336109"/>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7" name="Rectangle 6"/>
          <p:cNvSpPr/>
          <p:nvPr/>
        </p:nvSpPr>
        <p:spPr>
          <a:xfrm>
            <a:off x="646979" y="979498"/>
            <a:ext cx="3516797" cy="369332"/>
          </a:xfrm>
          <a:prstGeom prst="rect">
            <a:avLst/>
          </a:prstGeom>
        </p:spPr>
        <p:txBody>
          <a:bodyPr wrap="none">
            <a:spAutoFit/>
          </a:bodyPr>
          <a:lstStyle/>
          <a:p>
            <a:pPr marL="285750" indent="-285750">
              <a:buFont typeface="Wingdings" panose="05000000000000000000" pitchFamily="2" charset="2"/>
              <a:buChar char="Ø"/>
            </a:pPr>
            <a:r>
              <a:rPr lang="en-US" b="1" dirty="0" smtClean="0"/>
              <a:t>A Car Transmission System</a:t>
            </a:r>
            <a:endParaRPr lang="en-US" b="1" dirty="0"/>
          </a:p>
        </p:txBody>
      </p:sp>
      <p:sp>
        <p:nvSpPr>
          <p:cNvPr id="10" name="Rectangle 9"/>
          <p:cNvSpPr/>
          <p:nvPr/>
        </p:nvSpPr>
        <p:spPr>
          <a:xfrm>
            <a:off x="885589" y="1462516"/>
            <a:ext cx="4557786" cy="369332"/>
          </a:xfrm>
          <a:prstGeom prst="rect">
            <a:avLst/>
          </a:prstGeom>
        </p:spPr>
        <p:txBody>
          <a:bodyPr wrap="none">
            <a:spAutoFit/>
          </a:bodyPr>
          <a:lstStyle/>
          <a:p>
            <a:r>
              <a:rPr lang="en-US" b="1" dirty="0" smtClean="0"/>
              <a:t>Continues </a:t>
            </a:r>
            <a:r>
              <a:rPr lang="en-US" b="1" dirty="0"/>
              <a:t>Variable </a:t>
            </a:r>
            <a:r>
              <a:rPr lang="en-US" b="1" dirty="0" smtClean="0"/>
              <a:t>Transmission (CVT) </a:t>
            </a:r>
            <a:endParaRPr lang="en-US" b="1" dirty="0"/>
          </a:p>
        </p:txBody>
      </p:sp>
      <p:sp>
        <p:nvSpPr>
          <p:cNvPr id="15" name="AutoShape 2" descr="Manual Transmissio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19"/>
          <p:cNvSpPr/>
          <p:nvPr/>
        </p:nvSpPr>
        <p:spPr>
          <a:xfrm>
            <a:off x="885588" y="1831848"/>
            <a:ext cx="11043175" cy="646331"/>
          </a:xfrm>
          <a:prstGeom prst="rect">
            <a:avLst/>
          </a:prstGeom>
        </p:spPr>
        <p:txBody>
          <a:bodyPr wrap="square">
            <a:spAutoFit/>
          </a:bodyPr>
          <a:lstStyle/>
          <a:p>
            <a:r>
              <a:rPr lang="en-US" dirty="0" smtClean="0"/>
              <a:t>An </a:t>
            </a:r>
            <a:r>
              <a:rPr lang="en-US" dirty="0"/>
              <a:t>automatic transmission that uses a system of pulleys and a metal belt to provide an infinite range of gear ratios rather than fixed, stepped gears.</a:t>
            </a:r>
          </a:p>
        </p:txBody>
      </p:sp>
      <p:sp>
        <p:nvSpPr>
          <p:cNvPr id="5" name="Rectangle 4"/>
          <p:cNvSpPr/>
          <p:nvPr/>
        </p:nvSpPr>
        <p:spPr>
          <a:xfrm>
            <a:off x="885588" y="2698984"/>
            <a:ext cx="6096000" cy="923330"/>
          </a:xfrm>
          <a:prstGeom prst="rect">
            <a:avLst/>
          </a:prstGeom>
        </p:spPr>
        <p:txBody>
          <a:bodyPr>
            <a:spAutoFit/>
          </a:bodyPr>
          <a:lstStyle/>
          <a:p>
            <a:r>
              <a:rPr lang="en-US" dirty="0"/>
              <a:t>Infinite Gear Ratios: Unlike traditional automatics (e.g., 6-speed, 10-speed), a CVT can shift seamlessly between an infinite number of ratios.</a:t>
            </a:r>
          </a:p>
        </p:txBody>
      </p:sp>
      <p:sp>
        <p:nvSpPr>
          <p:cNvPr id="8" name="Rectangle 7"/>
          <p:cNvSpPr/>
          <p:nvPr/>
        </p:nvSpPr>
        <p:spPr>
          <a:xfrm>
            <a:off x="885588" y="3750922"/>
            <a:ext cx="6096000" cy="1200329"/>
          </a:xfrm>
          <a:prstGeom prst="rect">
            <a:avLst/>
          </a:prstGeom>
        </p:spPr>
        <p:txBody>
          <a:bodyPr>
            <a:spAutoFit/>
          </a:bodyPr>
          <a:lstStyle/>
          <a:p>
            <a:r>
              <a:rPr lang="en-US" dirty="0"/>
              <a:t>How it Works: It uses two V-shaped pulleys with a belt running between them. As the pulley sides move closer or farther apart, the effective diameter changes, altering the gear ratio</a:t>
            </a:r>
          </a:p>
        </p:txBody>
      </p:sp>
      <p:sp>
        <p:nvSpPr>
          <p:cNvPr id="21" name="Rectangle 20"/>
          <p:cNvSpPr/>
          <p:nvPr/>
        </p:nvSpPr>
        <p:spPr>
          <a:xfrm>
            <a:off x="885588" y="5142436"/>
            <a:ext cx="6096000" cy="923330"/>
          </a:xfrm>
          <a:prstGeom prst="rect">
            <a:avLst/>
          </a:prstGeom>
        </p:spPr>
        <p:txBody>
          <a:bodyPr>
            <a:spAutoFit/>
          </a:bodyPr>
          <a:lstStyle/>
          <a:p>
            <a:r>
              <a:rPr lang="en-US" dirty="0"/>
              <a:t>Optimal Performance: A CVT allows the engine to operate at its most efficient speed (RPM) regardless of vehicle speed, which is ideal for fuel consumption</a:t>
            </a:r>
          </a:p>
        </p:txBody>
      </p:sp>
      <p:sp>
        <p:nvSpPr>
          <p:cNvPr id="25" name="Rectangle 24"/>
          <p:cNvSpPr/>
          <p:nvPr/>
        </p:nvSpPr>
        <p:spPr>
          <a:xfrm>
            <a:off x="5443375" y="1228312"/>
            <a:ext cx="6096000" cy="584775"/>
          </a:xfrm>
          <a:prstGeom prst="rect">
            <a:avLst/>
          </a:prstGeom>
        </p:spPr>
        <p:txBody>
          <a:bodyPr>
            <a:spAutoFit/>
          </a:bodyPr>
          <a:lstStyle/>
          <a:p>
            <a:r>
              <a:rPr lang="en-US" sz="1600" dirty="0"/>
              <a:t>CVTs are most common in passenger cars, hybrid vehicles, scooters</a:t>
            </a:r>
          </a:p>
        </p:txBody>
      </p:sp>
      <p:pic>
        <p:nvPicPr>
          <p:cNvPr id="26" name="Picture 25"/>
          <p:cNvPicPr>
            <a:picLocks noChangeAspect="1"/>
          </p:cNvPicPr>
          <p:nvPr/>
        </p:nvPicPr>
        <p:blipFill>
          <a:blip r:embed="rId5"/>
          <a:stretch>
            <a:fillRect/>
          </a:stretch>
        </p:blipFill>
        <p:spPr>
          <a:xfrm>
            <a:off x="7398328" y="2507892"/>
            <a:ext cx="4356821" cy="3668464"/>
          </a:xfrm>
          <a:prstGeom prst="rect">
            <a:avLst/>
          </a:prstGeom>
        </p:spPr>
      </p:pic>
    </p:spTree>
    <p:custDataLst>
      <p:tags r:id="rId1"/>
    </p:custDataLst>
    <p:extLst>
      <p:ext uri="{BB962C8B-B14F-4D97-AF65-F5344CB8AC3E}">
        <p14:creationId xmlns:p14="http://schemas.microsoft.com/office/powerpoint/2010/main" val="35543202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85589" y="666756"/>
            <a:ext cx="10018643" cy="370371"/>
          </a:xfrm>
          <a:prstGeom prst="rect">
            <a:avLst/>
          </a:prstGeom>
          <a:noFill/>
        </p:spPr>
        <p:txBody>
          <a:bodyPr wrap="square" rtlCol="0">
            <a:noAutofit/>
          </a:bodyPr>
          <a:lstStyle/>
          <a:p>
            <a:r>
              <a:rPr lang="en-US" b="1" dirty="0" smtClean="0"/>
              <a:t>Chapter 10 Inspection and Service </a:t>
            </a:r>
            <a:r>
              <a:rPr lang="en-US" b="1" dirty="0" smtClean="0"/>
              <a:t>Transmission </a:t>
            </a:r>
            <a:endParaRPr lang="en-US" b="1" dirty="0" smtClean="0"/>
          </a:p>
        </p:txBody>
      </p:sp>
      <p:sp>
        <p:nvSpPr>
          <p:cNvPr id="22" name="文本框 21"/>
          <p:cNvSpPr txBox="1"/>
          <p:nvPr>
            <p:custDataLst>
              <p:tags r:id="rId3"/>
            </p:custDataLst>
          </p:nvPr>
        </p:nvSpPr>
        <p:spPr>
          <a:xfrm>
            <a:off x="1821157" y="-44801"/>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7" y="6336109"/>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7" name="Rectangle 6"/>
          <p:cNvSpPr/>
          <p:nvPr/>
        </p:nvSpPr>
        <p:spPr>
          <a:xfrm>
            <a:off x="646979" y="979498"/>
            <a:ext cx="3516797" cy="369332"/>
          </a:xfrm>
          <a:prstGeom prst="rect">
            <a:avLst/>
          </a:prstGeom>
        </p:spPr>
        <p:txBody>
          <a:bodyPr wrap="none">
            <a:spAutoFit/>
          </a:bodyPr>
          <a:lstStyle/>
          <a:p>
            <a:pPr marL="285750" indent="-285750">
              <a:buFont typeface="Wingdings" panose="05000000000000000000" pitchFamily="2" charset="2"/>
              <a:buChar char="Ø"/>
            </a:pPr>
            <a:r>
              <a:rPr lang="en-US" b="1" dirty="0" smtClean="0"/>
              <a:t>A Car Transmission System</a:t>
            </a:r>
            <a:endParaRPr lang="en-US" b="1" dirty="0"/>
          </a:p>
        </p:txBody>
      </p:sp>
      <p:sp>
        <p:nvSpPr>
          <p:cNvPr id="15" name="AutoShape 2" descr="Manual Transmissio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Rectangle 17"/>
          <p:cNvSpPr/>
          <p:nvPr/>
        </p:nvSpPr>
        <p:spPr>
          <a:xfrm>
            <a:off x="885589" y="1428654"/>
            <a:ext cx="2980368" cy="369332"/>
          </a:xfrm>
          <a:prstGeom prst="rect">
            <a:avLst/>
          </a:prstGeom>
        </p:spPr>
        <p:txBody>
          <a:bodyPr wrap="none">
            <a:spAutoFit/>
          </a:bodyPr>
          <a:lstStyle/>
          <a:p>
            <a:r>
              <a:rPr lang="en-US" b="1" dirty="0" smtClean="0"/>
              <a:t>Sequential Transmission</a:t>
            </a:r>
            <a:endParaRPr lang="en-US" b="1" dirty="0"/>
          </a:p>
        </p:txBody>
      </p:sp>
      <p:sp>
        <p:nvSpPr>
          <p:cNvPr id="16" name="Rectangle 15"/>
          <p:cNvSpPr/>
          <p:nvPr/>
        </p:nvSpPr>
        <p:spPr>
          <a:xfrm>
            <a:off x="885589" y="1730273"/>
            <a:ext cx="10486222" cy="923330"/>
          </a:xfrm>
          <a:prstGeom prst="rect">
            <a:avLst/>
          </a:prstGeom>
        </p:spPr>
        <p:txBody>
          <a:bodyPr wrap="square">
            <a:spAutoFit/>
          </a:bodyPr>
          <a:lstStyle/>
          <a:p>
            <a:r>
              <a:rPr lang="en-US" dirty="0"/>
              <a:t>type of non-synchronous gearbox—common in motorcycles and race cars—that allows for rapid gear shifts by requiring the driver to select the next or previous gear in a strict linear sequence (1-2-3-4-5-6), preventing skipped gears</a:t>
            </a:r>
          </a:p>
        </p:txBody>
      </p:sp>
      <p:sp>
        <p:nvSpPr>
          <p:cNvPr id="2" name="Rectangle 1"/>
          <p:cNvSpPr/>
          <p:nvPr/>
        </p:nvSpPr>
        <p:spPr>
          <a:xfrm>
            <a:off x="885589" y="2885084"/>
            <a:ext cx="6096000" cy="923330"/>
          </a:xfrm>
          <a:prstGeom prst="rect">
            <a:avLst/>
          </a:prstGeom>
        </p:spPr>
        <p:txBody>
          <a:bodyPr>
            <a:spAutoFit/>
          </a:bodyPr>
          <a:lstStyle/>
          <a:p>
            <a:r>
              <a:rPr lang="en-US" dirty="0"/>
              <a:t>Linear Selection: The gear selector moves in a forward-and-backward motion (often push for downshift, pull for upshift) rather than an "H" pattern</a:t>
            </a:r>
          </a:p>
        </p:txBody>
      </p:sp>
      <p:sp>
        <p:nvSpPr>
          <p:cNvPr id="4" name="Rectangle 3"/>
          <p:cNvSpPr/>
          <p:nvPr/>
        </p:nvSpPr>
        <p:spPr>
          <a:xfrm>
            <a:off x="885589" y="3893718"/>
            <a:ext cx="6096000" cy="1200329"/>
          </a:xfrm>
          <a:prstGeom prst="rect">
            <a:avLst/>
          </a:prstGeom>
        </p:spPr>
        <p:txBody>
          <a:bodyPr>
            <a:spAutoFit/>
          </a:bodyPr>
          <a:lstStyle/>
          <a:p>
            <a:r>
              <a:rPr lang="en-US" dirty="0"/>
              <a:t>Dog Clutches: Unlike standard manual gearboxes that use synchromesh, sequential gearboxes generally use "dog rings" or "dog clutches". These allow for faster, more direct engagement of gears</a:t>
            </a:r>
          </a:p>
        </p:txBody>
      </p:sp>
      <p:sp>
        <p:nvSpPr>
          <p:cNvPr id="5" name="Rectangle 4"/>
          <p:cNvSpPr/>
          <p:nvPr/>
        </p:nvSpPr>
        <p:spPr>
          <a:xfrm>
            <a:off x="817957" y="5234395"/>
            <a:ext cx="6096000" cy="646331"/>
          </a:xfrm>
          <a:prstGeom prst="rect">
            <a:avLst/>
          </a:prstGeom>
        </p:spPr>
        <p:txBody>
          <a:bodyPr>
            <a:spAutoFit/>
          </a:bodyPr>
          <a:lstStyle/>
          <a:p>
            <a:r>
              <a:rPr lang="en-US" dirty="0"/>
              <a:t>Motorcycle Setup: On a motorcycle, a foot lever is used to move through gears sequentially</a:t>
            </a:r>
          </a:p>
        </p:txBody>
      </p:sp>
      <p:pic>
        <p:nvPicPr>
          <p:cNvPr id="6" name="Picture 5"/>
          <p:cNvPicPr>
            <a:picLocks noChangeAspect="1"/>
          </p:cNvPicPr>
          <p:nvPr/>
        </p:nvPicPr>
        <p:blipFill>
          <a:blip r:embed="rId5"/>
          <a:stretch>
            <a:fillRect/>
          </a:stretch>
        </p:blipFill>
        <p:spPr>
          <a:xfrm>
            <a:off x="7531331" y="2741282"/>
            <a:ext cx="4056611" cy="2878122"/>
          </a:xfrm>
          <a:prstGeom prst="rect">
            <a:avLst/>
          </a:prstGeom>
        </p:spPr>
      </p:pic>
    </p:spTree>
    <p:custDataLst>
      <p:tags r:id="rId1"/>
    </p:custDataLst>
    <p:extLst>
      <p:ext uri="{BB962C8B-B14F-4D97-AF65-F5344CB8AC3E}">
        <p14:creationId xmlns:p14="http://schemas.microsoft.com/office/powerpoint/2010/main" val="16562910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85589" y="666756"/>
            <a:ext cx="10018643" cy="370371"/>
          </a:xfrm>
          <a:prstGeom prst="rect">
            <a:avLst/>
          </a:prstGeom>
          <a:noFill/>
        </p:spPr>
        <p:txBody>
          <a:bodyPr wrap="square" rtlCol="0">
            <a:noAutofit/>
          </a:bodyPr>
          <a:lstStyle/>
          <a:p>
            <a:r>
              <a:rPr lang="en-US" b="1" dirty="0" smtClean="0"/>
              <a:t>Chapter 10 Inspection and Service </a:t>
            </a:r>
            <a:r>
              <a:rPr lang="en-US" b="1" dirty="0" smtClean="0"/>
              <a:t>Transmission </a:t>
            </a:r>
            <a:endParaRPr lang="en-US" b="1" dirty="0" smtClean="0"/>
          </a:p>
        </p:txBody>
      </p:sp>
      <p:sp>
        <p:nvSpPr>
          <p:cNvPr id="22" name="文本框 21"/>
          <p:cNvSpPr txBox="1"/>
          <p:nvPr>
            <p:custDataLst>
              <p:tags r:id="rId3"/>
            </p:custDataLst>
          </p:nvPr>
        </p:nvSpPr>
        <p:spPr>
          <a:xfrm>
            <a:off x="1821157" y="-44801"/>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7" y="6336109"/>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7" name="Rectangle 6"/>
          <p:cNvSpPr/>
          <p:nvPr/>
        </p:nvSpPr>
        <p:spPr>
          <a:xfrm>
            <a:off x="646979" y="979498"/>
            <a:ext cx="3516797" cy="369332"/>
          </a:xfrm>
          <a:prstGeom prst="rect">
            <a:avLst/>
          </a:prstGeom>
        </p:spPr>
        <p:txBody>
          <a:bodyPr wrap="none">
            <a:spAutoFit/>
          </a:bodyPr>
          <a:lstStyle/>
          <a:p>
            <a:pPr marL="285750" indent="-285750">
              <a:buFont typeface="Wingdings" panose="05000000000000000000" pitchFamily="2" charset="2"/>
              <a:buChar char="Ø"/>
            </a:pPr>
            <a:r>
              <a:rPr lang="en-US" b="1" dirty="0" smtClean="0"/>
              <a:t>A Car Transmission System</a:t>
            </a:r>
            <a:endParaRPr lang="en-US" b="1" dirty="0"/>
          </a:p>
        </p:txBody>
      </p:sp>
      <p:sp>
        <p:nvSpPr>
          <p:cNvPr id="15" name="AutoShape 2" descr="Manual Transmissio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Rectangle 24"/>
          <p:cNvSpPr/>
          <p:nvPr/>
        </p:nvSpPr>
        <p:spPr>
          <a:xfrm>
            <a:off x="987669" y="1348830"/>
            <a:ext cx="3724161" cy="369332"/>
          </a:xfrm>
          <a:prstGeom prst="rect">
            <a:avLst/>
          </a:prstGeom>
        </p:spPr>
        <p:txBody>
          <a:bodyPr wrap="none">
            <a:spAutoFit/>
          </a:bodyPr>
          <a:lstStyle/>
          <a:p>
            <a:r>
              <a:rPr lang="en-US" b="1" dirty="0" smtClean="0"/>
              <a:t>Dual-Clutch Transmission (DCT)</a:t>
            </a:r>
            <a:endParaRPr lang="en-US" b="1" dirty="0"/>
          </a:p>
        </p:txBody>
      </p:sp>
      <p:sp>
        <p:nvSpPr>
          <p:cNvPr id="5" name="Rectangle 4"/>
          <p:cNvSpPr/>
          <p:nvPr/>
        </p:nvSpPr>
        <p:spPr>
          <a:xfrm>
            <a:off x="987669" y="1718162"/>
            <a:ext cx="10608586" cy="1200329"/>
          </a:xfrm>
          <a:prstGeom prst="rect">
            <a:avLst/>
          </a:prstGeom>
        </p:spPr>
        <p:txBody>
          <a:bodyPr wrap="square">
            <a:spAutoFit/>
          </a:bodyPr>
          <a:lstStyle/>
          <a:p>
            <a:r>
              <a:rPr lang="en-US" dirty="0" smtClean="0"/>
              <a:t>An </a:t>
            </a:r>
            <a:r>
              <a:rPr lang="en-US" dirty="0"/>
              <a:t>advanced, automated gearbox that uses two separate clutches—without a clutch pedal—to manage odd and even gears independently. This design enables lightning-fast gear changes, improved fuel efficiency, and a sportier, more responsive driving experience compared to traditional automatic transmission</a:t>
            </a:r>
          </a:p>
        </p:txBody>
      </p:sp>
      <p:sp>
        <p:nvSpPr>
          <p:cNvPr id="8" name="Rectangle 7"/>
          <p:cNvSpPr/>
          <p:nvPr/>
        </p:nvSpPr>
        <p:spPr>
          <a:xfrm>
            <a:off x="938464" y="2918491"/>
            <a:ext cx="6096000" cy="3539430"/>
          </a:xfrm>
          <a:prstGeom prst="rect">
            <a:avLst/>
          </a:prstGeom>
        </p:spPr>
        <p:txBody>
          <a:bodyPr>
            <a:spAutoFit/>
          </a:bodyPr>
          <a:lstStyle/>
          <a:p>
            <a:r>
              <a:rPr lang="en-US" sz="1600" dirty="0"/>
              <a:t>Two Clutches: One clutch handles odd gears (1, 3, 5, 7), while the other manages even gears (2, 4, 6) and reverse</a:t>
            </a:r>
            <a:r>
              <a:rPr lang="en-US" sz="1600" dirty="0" smtClean="0"/>
              <a:t>.</a:t>
            </a:r>
          </a:p>
          <a:p>
            <a:endParaRPr lang="en-US" sz="1600" dirty="0"/>
          </a:p>
          <a:p>
            <a:r>
              <a:rPr lang="en-US" sz="1600" dirty="0" smtClean="0"/>
              <a:t>Pre-selected </a:t>
            </a:r>
            <a:r>
              <a:rPr lang="en-US" sz="1600" dirty="0"/>
              <a:t>Gears: While one gear is active, the system pre-selects the next gear, allowing for nearly instantaneous shifts (in milliseconds</a:t>
            </a:r>
            <a:r>
              <a:rPr lang="en-US" sz="1600" dirty="0" smtClean="0"/>
              <a:t>).</a:t>
            </a:r>
          </a:p>
          <a:p>
            <a:endParaRPr lang="en-US" sz="1600" dirty="0"/>
          </a:p>
          <a:p>
            <a:r>
              <a:rPr lang="en-US" sz="1600" dirty="0" smtClean="0"/>
              <a:t>No </a:t>
            </a:r>
            <a:r>
              <a:rPr lang="en-US" sz="1600" dirty="0"/>
              <a:t>Clutch Pedal: Despite using manual-style gears, the system is fully automatic, though many offer paddle shifters for manual control</a:t>
            </a:r>
            <a:r>
              <a:rPr lang="en-US" sz="1600" dirty="0" smtClean="0"/>
              <a:t>.</a:t>
            </a:r>
          </a:p>
          <a:p>
            <a:endParaRPr lang="en-US" sz="1600" dirty="0"/>
          </a:p>
          <a:p>
            <a:r>
              <a:rPr lang="en-US" sz="1600" dirty="0" smtClean="0"/>
              <a:t>Performance </a:t>
            </a:r>
            <a:r>
              <a:rPr lang="en-US" sz="1600" dirty="0"/>
              <a:t>&amp; Efficiency: DCTs are favored for providing smooth, rapid acceleration and better fuel economy than traditional torque-converter automatics</a:t>
            </a:r>
          </a:p>
        </p:txBody>
      </p:sp>
      <p:pic>
        <p:nvPicPr>
          <p:cNvPr id="21" name="Picture 20"/>
          <p:cNvPicPr>
            <a:picLocks noChangeAspect="1"/>
          </p:cNvPicPr>
          <p:nvPr/>
        </p:nvPicPr>
        <p:blipFill>
          <a:blip r:embed="rId5"/>
          <a:stretch>
            <a:fillRect/>
          </a:stretch>
        </p:blipFill>
        <p:spPr>
          <a:xfrm>
            <a:off x="7541029" y="2609850"/>
            <a:ext cx="3810000" cy="4248150"/>
          </a:xfrm>
          <a:prstGeom prst="rect">
            <a:avLst/>
          </a:prstGeom>
        </p:spPr>
      </p:pic>
    </p:spTree>
    <p:custDataLst>
      <p:tags r:id="rId1"/>
    </p:custDataLst>
    <p:extLst>
      <p:ext uri="{BB962C8B-B14F-4D97-AF65-F5344CB8AC3E}">
        <p14:creationId xmlns:p14="http://schemas.microsoft.com/office/powerpoint/2010/main" val="30960740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85589" y="666756"/>
            <a:ext cx="10018643" cy="370371"/>
          </a:xfrm>
          <a:prstGeom prst="rect">
            <a:avLst/>
          </a:prstGeom>
          <a:noFill/>
        </p:spPr>
        <p:txBody>
          <a:bodyPr wrap="square" rtlCol="0">
            <a:noAutofit/>
          </a:bodyPr>
          <a:lstStyle/>
          <a:p>
            <a:r>
              <a:rPr lang="en-US" b="1" dirty="0" smtClean="0"/>
              <a:t>Chapter 10 Inspection and Service </a:t>
            </a:r>
            <a:r>
              <a:rPr lang="en-US" b="1" dirty="0" smtClean="0"/>
              <a:t>Transmission </a:t>
            </a:r>
            <a:endParaRPr lang="en-US" b="1" dirty="0" smtClean="0"/>
          </a:p>
        </p:txBody>
      </p:sp>
      <p:sp>
        <p:nvSpPr>
          <p:cNvPr id="22" name="文本框 21"/>
          <p:cNvSpPr txBox="1"/>
          <p:nvPr>
            <p:custDataLst>
              <p:tags r:id="rId3"/>
            </p:custDataLst>
          </p:nvPr>
        </p:nvSpPr>
        <p:spPr>
          <a:xfrm>
            <a:off x="1821157" y="-44801"/>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7" y="6336109"/>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7" name="Rectangle 6"/>
          <p:cNvSpPr/>
          <p:nvPr/>
        </p:nvSpPr>
        <p:spPr>
          <a:xfrm>
            <a:off x="646979" y="979498"/>
            <a:ext cx="3516797" cy="369332"/>
          </a:xfrm>
          <a:prstGeom prst="rect">
            <a:avLst/>
          </a:prstGeom>
        </p:spPr>
        <p:txBody>
          <a:bodyPr wrap="none">
            <a:spAutoFit/>
          </a:bodyPr>
          <a:lstStyle/>
          <a:p>
            <a:pPr marL="285750" indent="-285750">
              <a:buFont typeface="Wingdings" panose="05000000000000000000" pitchFamily="2" charset="2"/>
              <a:buChar char="Ø"/>
            </a:pPr>
            <a:r>
              <a:rPr lang="en-US" b="1" dirty="0" smtClean="0"/>
              <a:t>A Car Transmission System</a:t>
            </a:r>
            <a:endParaRPr lang="en-US" b="1" dirty="0"/>
          </a:p>
        </p:txBody>
      </p:sp>
      <p:sp>
        <p:nvSpPr>
          <p:cNvPr id="15" name="AutoShape 2" descr="Manual Transmissio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Rectangle 24"/>
          <p:cNvSpPr/>
          <p:nvPr/>
        </p:nvSpPr>
        <p:spPr>
          <a:xfrm>
            <a:off x="987669" y="1348830"/>
            <a:ext cx="3724161" cy="369332"/>
          </a:xfrm>
          <a:prstGeom prst="rect">
            <a:avLst/>
          </a:prstGeom>
        </p:spPr>
        <p:txBody>
          <a:bodyPr wrap="none">
            <a:spAutoFit/>
          </a:bodyPr>
          <a:lstStyle/>
          <a:p>
            <a:r>
              <a:rPr lang="en-US" b="1" dirty="0" smtClean="0"/>
              <a:t>Dual-Clutch Transmission (DCT)</a:t>
            </a:r>
            <a:endParaRPr lang="en-US" b="1" dirty="0"/>
          </a:p>
        </p:txBody>
      </p:sp>
      <p:sp>
        <p:nvSpPr>
          <p:cNvPr id="5" name="Rectangle 4"/>
          <p:cNvSpPr/>
          <p:nvPr/>
        </p:nvSpPr>
        <p:spPr>
          <a:xfrm>
            <a:off x="987669" y="1718162"/>
            <a:ext cx="10608586" cy="1200329"/>
          </a:xfrm>
          <a:prstGeom prst="rect">
            <a:avLst/>
          </a:prstGeom>
        </p:spPr>
        <p:txBody>
          <a:bodyPr wrap="square">
            <a:spAutoFit/>
          </a:bodyPr>
          <a:lstStyle/>
          <a:p>
            <a:r>
              <a:rPr lang="en-US" dirty="0" smtClean="0"/>
              <a:t>An </a:t>
            </a:r>
            <a:r>
              <a:rPr lang="en-US" dirty="0"/>
              <a:t>advanced, automated gearbox that uses two separate clutches—without a clutch pedal—to manage odd and even gears independently. This design enables lightning-fast gear changes, improved fuel efficiency, and a sportier, more responsive driving experience compared to traditional automatic transmission</a:t>
            </a:r>
          </a:p>
        </p:txBody>
      </p:sp>
      <p:pic>
        <p:nvPicPr>
          <p:cNvPr id="21" name="Picture 20"/>
          <p:cNvPicPr>
            <a:picLocks noChangeAspect="1"/>
          </p:cNvPicPr>
          <p:nvPr/>
        </p:nvPicPr>
        <p:blipFill>
          <a:blip r:embed="rId6"/>
          <a:stretch>
            <a:fillRect/>
          </a:stretch>
        </p:blipFill>
        <p:spPr>
          <a:xfrm>
            <a:off x="7541029" y="2609850"/>
            <a:ext cx="3810000" cy="4248150"/>
          </a:xfrm>
          <a:prstGeom prst="rect">
            <a:avLst/>
          </a:prstGeom>
        </p:spPr>
      </p:pic>
      <p:pic>
        <p:nvPicPr>
          <p:cNvPr id="2" name="a9sFb81w41Y"/>
          <p:cNvPicPr>
            <a:picLocks noRot="1" noChangeAspect="1"/>
          </p:cNvPicPr>
          <p:nvPr>
            <a:videoFile r:link="rId4"/>
          </p:nvPr>
        </p:nvPicPr>
        <p:blipFill>
          <a:blip r:embed="rId7"/>
          <a:stretch>
            <a:fillRect/>
          </a:stretch>
        </p:blipFill>
        <p:spPr>
          <a:xfrm>
            <a:off x="1091739" y="2918491"/>
            <a:ext cx="6090457" cy="3425882"/>
          </a:xfrm>
          <a:prstGeom prst="rect">
            <a:avLst/>
          </a:prstGeom>
        </p:spPr>
      </p:pic>
    </p:spTree>
    <p:custDataLst>
      <p:tags r:id="rId1"/>
    </p:custDataLst>
    <p:extLst>
      <p:ext uri="{BB962C8B-B14F-4D97-AF65-F5344CB8AC3E}">
        <p14:creationId xmlns:p14="http://schemas.microsoft.com/office/powerpoint/2010/main" val="32895445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85589" y="666756"/>
            <a:ext cx="10018643" cy="370371"/>
          </a:xfrm>
          <a:prstGeom prst="rect">
            <a:avLst/>
          </a:prstGeom>
          <a:noFill/>
        </p:spPr>
        <p:txBody>
          <a:bodyPr wrap="square" rtlCol="0">
            <a:noAutofit/>
          </a:bodyPr>
          <a:lstStyle/>
          <a:p>
            <a:r>
              <a:rPr lang="en-US" b="1" dirty="0" smtClean="0"/>
              <a:t>Chapter 10 Inspection and Service </a:t>
            </a:r>
            <a:r>
              <a:rPr lang="en-US" b="1" dirty="0" smtClean="0"/>
              <a:t>Transmission </a:t>
            </a:r>
            <a:endParaRPr lang="en-US" b="1" dirty="0" smtClean="0"/>
          </a:p>
        </p:txBody>
      </p:sp>
      <p:sp>
        <p:nvSpPr>
          <p:cNvPr id="22" name="文本框 21"/>
          <p:cNvSpPr txBox="1"/>
          <p:nvPr>
            <p:custDataLst>
              <p:tags r:id="rId3"/>
            </p:custDataLst>
          </p:nvPr>
        </p:nvSpPr>
        <p:spPr>
          <a:xfrm>
            <a:off x="1821157" y="-44801"/>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7" y="6336109"/>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7" name="Rectangle 6"/>
          <p:cNvSpPr/>
          <p:nvPr/>
        </p:nvSpPr>
        <p:spPr>
          <a:xfrm>
            <a:off x="646979" y="979498"/>
            <a:ext cx="3516797" cy="369332"/>
          </a:xfrm>
          <a:prstGeom prst="rect">
            <a:avLst/>
          </a:prstGeom>
        </p:spPr>
        <p:txBody>
          <a:bodyPr wrap="none">
            <a:spAutoFit/>
          </a:bodyPr>
          <a:lstStyle/>
          <a:p>
            <a:pPr marL="285750" indent="-285750">
              <a:buFont typeface="Wingdings" panose="05000000000000000000" pitchFamily="2" charset="2"/>
              <a:buChar char="Ø"/>
            </a:pPr>
            <a:r>
              <a:rPr lang="en-US" b="1" dirty="0" smtClean="0"/>
              <a:t>A Car Transmission System</a:t>
            </a:r>
            <a:endParaRPr lang="en-US" b="1" dirty="0"/>
          </a:p>
        </p:txBody>
      </p:sp>
      <p:sp>
        <p:nvSpPr>
          <p:cNvPr id="15" name="AutoShape 2" descr="Manual Transmissio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Rectangle 24"/>
          <p:cNvSpPr/>
          <p:nvPr/>
        </p:nvSpPr>
        <p:spPr>
          <a:xfrm>
            <a:off x="885589" y="1257145"/>
            <a:ext cx="4698787" cy="369332"/>
          </a:xfrm>
          <a:prstGeom prst="rect">
            <a:avLst/>
          </a:prstGeom>
        </p:spPr>
        <p:txBody>
          <a:bodyPr wrap="none">
            <a:spAutoFit/>
          </a:bodyPr>
          <a:lstStyle/>
          <a:p>
            <a:r>
              <a:rPr lang="en-US" b="1" dirty="0" smtClean="0"/>
              <a:t>Auto Manual Transmission system (AMT)</a:t>
            </a:r>
            <a:endParaRPr lang="en-US" b="1" dirty="0"/>
          </a:p>
        </p:txBody>
      </p:sp>
      <p:sp>
        <p:nvSpPr>
          <p:cNvPr id="2" name="Rectangle 1"/>
          <p:cNvSpPr/>
          <p:nvPr/>
        </p:nvSpPr>
        <p:spPr>
          <a:xfrm>
            <a:off x="821414" y="1626477"/>
            <a:ext cx="10567022" cy="830997"/>
          </a:xfrm>
          <a:prstGeom prst="rect">
            <a:avLst/>
          </a:prstGeom>
        </p:spPr>
        <p:txBody>
          <a:bodyPr wrap="square">
            <a:spAutoFit/>
          </a:bodyPr>
          <a:lstStyle/>
          <a:p>
            <a:r>
              <a:rPr lang="en-US" sz="1600" dirty="0" smtClean="0"/>
              <a:t>A hybrid </a:t>
            </a:r>
            <a:r>
              <a:rPr lang="en-US" sz="1600" dirty="0"/>
              <a:t>system that uses a traditional manual gearbox's internal components but automates the clutch and gear shifting using ECU-controlled actuators. It offers the convenience of an automatic (no clutch pedal) with the fuel efficiency and lower cost of a manual.</a:t>
            </a:r>
          </a:p>
        </p:txBody>
      </p:sp>
      <p:sp>
        <p:nvSpPr>
          <p:cNvPr id="4" name="Rectangle 3"/>
          <p:cNvSpPr/>
          <p:nvPr/>
        </p:nvSpPr>
        <p:spPr>
          <a:xfrm>
            <a:off x="885589" y="2410680"/>
            <a:ext cx="6096000" cy="4031873"/>
          </a:xfrm>
          <a:prstGeom prst="rect">
            <a:avLst/>
          </a:prstGeom>
        </p:spPr>
        <p:txBody>
          <a:bodyPr>
            <a:spAutoFit/>
          </a:bodyPr>
          <a:lstStyle/>
          <a:p>
            <a:r>
              <a:rPr lang="en-US" sz="1600" dirty="0"/>
              <a:t>No Clutch Pedal: The computer manages the clutch, simplifying driving, especially in traffic</a:t>
            </a:r>
            <a:r>
              <a:rPr lang="en-US" sz="1600" dirty="0" smtClean="0"/>
              <a:t>.</a:t>
            </a:r>
          </a:p>
          <a:p>
            <a:endParaRPr lang="en-US" sz="1600" dirty="0"/>
          </a:p>
          <a:p>
            <a:r>
              <a:rPr lang="en-US" sz="1600" dirty="0" smtClean="0"/>
              <a:t>Manual </a:t>
            </a:r>
            <a:r>
              <a:rPr lang="en-US" sz="1600" dirty="0"/>
              <a:t>Mode Option: Most AMTs allow the driver to manually select gears using a "+/-" gate on the shifter or paddle shifters</a:t>
            </a:r>
            <a:r>
              <a:rPr lang="en-US" sz="1600" dirty="0" smtClean="0"/>
              <a:t>.</a:t>
            </a:r>
          </a:p>
          <a:p>
            <a:endParaRPr lang="en-US" sz="1600" dirty="0"/>
          </a:p>
          <a:p>
            <a:r>
              <a:rPr lang="en-US" sz="1600" dirty="0" smtClean="0"/>
              <a:t>Increased </a:t>
            </a:r>
            <a:r>
              <a:rPr lang="en-US" sz="1600" dirty="0"/>
              <a:t>Efficiency: Generally more fuel-efficient than conventional automatic transmissions</a:t>
            </a:r>
            <a:r>
              <a:rPr lang="en-US" sz="1600" dirty="0" smtClean="0"/>
              <a:t>.</a:t>
            </a:r>
          </a:p>
          <a:p>
            <a:endParaRPr lang="en-US" sz="1600" dirty="0"/>
          </a:p>
          <a:p>
            <a:r>
              <a:rPr lang="en-US" sz="1600" dirty="0" smtClean="0"/>
              <a:t>Shift </a:t>
            </a:r>
            <a:r>
              <a:rPr lang="en-US" sz="1600" dirty="0"/>
              <a:t>Feel: Drivers may experience a slight pause or "jerkiness" during gear changes, as it mimics the pause of a manual transmission</a:t>
            </a:r>
            <a:r>
              <a:rPr lang="en-US" sz="1600" dirty="0" smtClean="0"/>
              <a:t>.</a:t>
            </a:r>
          </a:p>
          <a:p>
            <a:endParaRPr lang="en-US" sz="1600" dirty="0"/>
          </a:p>
          <a:p>
            <a:r>
              <a:rPr lang="en-US" sz="1600" dirty="0" smtClean="0"/>
              <a:t>Use </a:t>
            </a:r>
            <a:r>
              <a:rPr lang="en-US" sz="1600" dirty="0"/>
              <a:t>Cases: Frequently used in hatchbacks, SUVs, and commercial vehicles (like the Eaton Cummins </a:t>
            </a:r>
            <a:r>
              <a:rPr lang="en-US" sz="1600" dirty="0" err="1"/>
              <a:t>Endurant</a:t>
            </a:r>
            <a:r>
              <a:rPr lang="en-US" sz="1600" dirty="0"/>
              <a:t>) for its blend of cost-effectiveness and convenience.</a:t>
            </a:r>
          </a:p>
        </p:txBody>
      </p:sp>
      <p:pic>
        <p:nvPicPr>
          <p:cNvPr id="6" name="Picture 5"/>
          <p:cNvPicPr>
            <a:picLocks noChangeAspect="1"/>
          </p:cNvPicPr>
          <p:nvPr/>
        </p:nvPicPr>
        <p:blipFill>
          <a:blip r:embed="rId5"/>
          <a:stretch>
            <a:fillRect/>
          </a:stretch>
        </p:blipFill>
        <p:spPr>
          <a:xfrm>
            <a:off x="7531167" y="2359283"/>
            <a:ext cx="3739435" cy="4407713"/>
          </a:xfrm>
          <a:prstGeom prst="rect">
            <a:avLst/>
          </a:prstGeom>
        </p:spPr>
      </p:pic>
    </p:spTree>
    <p:custDataLst>
      <p:tags r:id="rId1"/>
    </p:custDataLst>
    <p:extLst>
      <p:ext uri="{BB962C8B-B14F-4D97-AF65-F5344CB8AC3E}">
        <p14:creationId xmlns:p14="http://schemas.microsoft.com/office/powerpoint/2010/main" val="18145029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4064</TotalTime>
  <Words>2542</Words>
  <Application>Microsoft Office PowerPoint</Application>
  <PresentationFormat>Widescreen</PresentationFormat>
  <Paragraphs>270</Paragraphs>
  <Slides>23</Slides>
  <Notes>0</Notes>
  <HiddenSlides>0</HiddenSlides>
  <MMClips>3</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Microsoft YaHei</vt:lpstr>
      <vt:lpstr>SimSun</vt:lpstr>
      <vt:lpstr>Arial</vt:lpstr>
      <vt:lpstr>Calibri</vt:lpstr>
      <vt:lpstr>Courier New</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245</cp:revision>
  <dcterms:created xsi:type="dcterms:W3CDTF">2019-06-19T02:08:00Z</dcterms:created>
  <dcterms:modified xsi:type="dcterms:W3CDTF">2026-05-10T16:52:37Z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