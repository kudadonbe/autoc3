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17"/>
  </p:notesMasterIdLst>
  <p:sldIdLst>
    <p:sldId id="348" r:id="rId2"/>
    <p:sldId id="349" r:id="rId3"/>
    <p:sldId id="350" r:id="rId4"/>
    <p:sldId id="354" r:id="rId5"/>
    <p:sldId id="355" r:id="rId6"/>
    <p:sldId id="356" r:id="rId7"/>
    <p:sldId id="357" r:id="rId8"/>
    <p:sldId id="358" r:id="rId9"/>
    <p:sldId id="359" r:id="rId10"/>
    <p:sldId id="360" r:id="rId11"/>
    <p:sldId id="361" r:id="rId12"/>
    <p:sldId id="351" r:id="rId13"/>
    <p:sldId id="352" r:id="rId14"/>
    <p:sldId id="353" r:id="rId15"/>
    <p:sldId id="295"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2025/11/26</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2025/11/26</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6.xml"/><Relationship Id="rId1" Type="http://schemas.openxmlformats.org/officeDocument/2006/relationships/tags" Target="../tags/tag165.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0.xml"/><Relationship Id="rId1" Type="http://schemas.openxmlformats.org/officeDocument/2006/relationships/tags" Target="../tags/tag16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2.xml"/><Relationship Id="rId1" Type="http://schemas.openxmlformats.org/officeDocument/2006/relationships/tags" Target="../tags/tag18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6.xml"/><Relationship Id="rId1" Type="http://schemas.openxmlformats.org/officeDocument/2006/relationships/tags" Target="../tags/tag1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56325" y="6098562"/>
            <a:ext cx="2702868" cy="483393"/>
          </a:xfrm>
          <a:prstGeom prst="rect">
            <a:avLst/>
          </a:prstGeom>
          <a:noFill/>
        </p:spPr>
        <p:txBody>
          <a:bodyPr wrap="square" rtlCol="0">
            <a:normAutofit lnSpcReduction="10000"/>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6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81298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868394" y="1373493"/>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Introduction</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4" name="Rectangle 3"/>
          <p:cNvSpPr/>
          <p:nvPr/>
        </p:nvSpPr>
        <p:spPr>
          <a:xfrm>
            <a:off x="967152" y="1731027"/>
            <a:ext cx="9477554" cy="1477328"/>
          </a:xfrm>
          <a:prstGeom prst="rect">
            <a:avLst/>
          </a:prstGeom>
        </p:spPr>
        <p:txBody>
          <a:bodyPr wrap="square">
            <a:spAutoFit/>
          </a:bodyPr>
          <a:lstStyle/>
          <a:p>
            <a:r>
              <a:rPr lang="en-US" dirty="0" smtClean="0"/>
              <a:t>Engine </a:t>
            </a:r>
            <a:r>
              <a:rPr lang="en-US" dirty="0"/>
              <a:t>inspection is the process of a technician checking an engine's components for wear and proper function, while engine service involves performing maintenance tasks like changing oil and fluids to keep the engine running smoothly. Inspections aim to identify potential problems, while services are preventative and restorative actions to maintain optimal performance and prevent costly repairs</a:t>
            </a:r>
          </a:p>
        </p:txBody>
      </p:sp>
      <p:pic>
        <p:nvPicPr>
          <p:cNvPr id="7" name="Picture 6"/>
          <p:cNvPicPr>
            <a:picLocks noChangeAspect="1"/>
          </p:cNvPicPr>
          <p:nvPr/>
        </p:nvPicPr>
        <p:blipFill>
          <a:blip r:embed="rId4"/>
          <a:stretch>
            <a:fillRect/>
          </a:stretch>
        </p:blipFill>
        <p:spPr>
          <a:xfrm>
            <a:off x="7825331" y="3565889"/>
            <a:ext cx="3630548" cy="2662383"/>
          </a:xfrm>
          <a:prstGeom prst="rect">
            <a:avLst/>
          </a:prstGeom>
        </p:spPr>
      </p:pic>
    </p:spTree>
    <p:custDataLst>
      <p:tags r:id="rId1"/>
    </p:custDataLst>
    <p:extLst>
      <p:ext uri="{BB962C8B-B14F-4D97-AF65-F5344CB8AC3E}">
        <p14:creationId xmlns:p14="http://schemas.microsoft.com/office/powerpoint/2010/main" val="4210129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1" name="Rectangle 10"/>
          <p:cNvSpPr/>
          <p:nvPr/>
        </p:nvSpPr>
        <p:spPr>
          <a:xfrm>
            <a:off x="1136073" y="1827942"/>
            <a:ext cx="10127672" cy="923330"/>
          </a:xfrm>
          <a:prstGeom prst="rect">
            <a:avLst/>
          </a:prstGeom>
        </p:spPr>
        <p:txBody>
          <a:bodyPr wrap="square">
            <a:spAutoFit/>
          </a:bodyPr>
          <a:lstStyle/>
          <a:p>
            <a:r>
              <a:rPr lang="en-US" dirty="0"/>
              <a:t>Inspection is a proactive assessment process that involves a detailed look at the engine's various systems and components to detect signs of wear, damage, or malfunction before they lead to major problems</a:t>
            </a:r>
          </a:p>
        </p:txBody>
      </p:sp>
      <p:sp>
        <p:nvSpPr>
          <p:cNvPr id="12" name="Rectangle 11"/>
          <p:cNvSpPr/>
          <p:nvPr/>
        </p:nvSpPr>
        <p:spPr>
          <a:xfrm>
            <a:off x="1136073" y="2795429"/>
            <a:ext cx="4673074" cy="369332"/>
          </a:xfrm>
          <a:prstGeom prst="rect">
            <a:avLst/>
          </a:prstGeom>
        </p:spPr>
        <p:txBody>
          <a:bodyPr wrap="none">
            <a:spAutoFit/>
          </a:bodyPr>
          <a:lstStyle/>
          <a:p>
            <a:r>
              <a:rPr lang="en-US" dirty="0"/>
              <a:t>Key aspects of an engine inspection include</a:t>
            </a:r>
          </a:p>
        </p:txBody>
      </p:sp>
      <p:sp>
        <p:nvSpPr>
          <p:cNvPr id="13" name="Rectangle 12"/>
          <p:cNvSpPr/>
          <p:nvPr/>
        </p:nvSpPr>
        <p:spPr>
          <a:xfrm>
            <a:off x="1136073" y="3262864"/>
            <a:ext cx="10717876" cy="646331"/>
          </a:xfrm>
          <a:prstGeom prst="rect">
            <a:avLst/>
          </a:prstGeom>
        </p:spPr>
        <p:txBody>
          <a:bodyPr wrap="square">
            <a:spAutoFit/>
          </a:bodyPr>
          <a:lstStyle/>
          <a:p>
            <a:r>
              <a:rPr lang="en-US" b="1" dirty="0"/>
              <a:t>Visual Checks: </a:t>
            </a:r>
            <a:r>
              <a:rPr lang="en-US" dirty="0"/>
              <a:t>Mechanics look for physical signs of wear and tear, such as cracks in belts and hoses, corrosion on electrical components, or obvious fluid leaks around seals and gaskets.</a:t>
            </a:r>
          </a:p>
        </p:txBody>
      </p:sp>
      <p:sp>
        <p:nvSpPr>
          <p:cNvPr id="14" name="Rectangle 13"/>
          <p:cNvSpPr/>
          <p:nvPr/>
        </p:nvSpPr>
        <p:spPr>
          <a:xfrm>
            <a:off x="1136073" y="4007298"/>
            <a:ext cx="10717876" cy="646331"/>
          </a:xfrm>
          <a:prstGeom prst="rect">
            <a:avLst/>
          </a:prstGeom>
        </p:spPr>
        <p:txBody>
          <a:bodyPr wrap="square">
            <a:spAutoFit/>
          </a:bodyPr>
          <a:lstStyle/>
          <a:p>
            <a:r>
              <a:rPr lang="en-US" b="1" dirty="0"/>
              <a:t>Fluid Level and Quality Checks</a:t>
            </a:r>
            <a:r>
              <a:rPr lang="en-US" dirty="0"/>
              <a:t>: Engine oil, coolant, brake fluid, and other vital fluids are checked for proper levels and contamination.</a:t>
            </a:r>
          </a:p>
        </p:txBody>
      </p:sp>
      <p:sp>
        <p:nvSpPr>
          <p:cNvPr id="15" name="Rectangle 14"/>
          <p:cNvSpPr/>
          <p:nvPr/>
        </p:nvSpPr>
        <p:spPr>
          <a:xfrm>
            <a:off x="1136073" y="4655982"/>
            <a:ext cx="10925694" cy="923330"/>
          </a:xfrm>
          <a:prstGeom prst="rect">
            <a:avLst/>
          </a:prstGeom>
        </p:spPr>
        <p:txBody>
          <a:bodyPr wrap="square">
            <a:spAutoFit/>
          </a:bodyPr>
          <a:lstStyle/>
          <a:p>
            <a:r>
              <a:rPr lang="en-US" b="1" dirty="0"/>
              <a:t>Diagnostic Testing: </a:t>
            </a:r>
            <a:r>
              <a:rPr lang="en-US" dirty="0"/>
              <a:t>Modern vehicles have on-board diagnostic (OBD) systems. Technicians use specialized tools to scan for error codes stored in the car's computer, which helps pinpoint non-visible issues.</a:t>
            </a:r>
          </a:p>
        </p:txBody>
      </p:sp>
    </p:spTree>
    <p:custDataLst>
      <p:tags r:id="rId1"/>
    </p:custDataLst>
    <p:extLst>
      <p:ext uri="{BB962C8B-B14F-4D97-AF65-F5344CB8AC3E}">
        <p14:creationId xmlns:p14="http://schemas.microsoft.com/office/powerpoint/2010/main" val="17888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3" name="Rectangle 12"/>
          <p:cNvSpPr/>
          <p:nvPr/>
        </p:nvSpPr>
        <p:spPr>
          <a:xfrm>
            <a:off x="1069571" y="1796438"/>
            <a:ext cx="10717876" cy="646331"/>
          </a:xfrm>
          <a:prstGeom prst="rect">
            <a:avLst/>
          </a:prstGeom>
        </p:spPr>
        <p:txBody>
          <a:bodyPr wrap="square">
            <a:spAutoFit/>
          </a:bodyPr>
          <a:lstStyle/>
          <a:p>
            <a:r>
              <a:rPr lang="en-US" b="1" dirty="0"/>
              <a:t>Visual Checks: </a:t>
            </a:r>
            <a:r>
              <a:rPr lang="en-US" dirty="0"/>
              <a:t>Mechanics look for physical signs of wear and tear, such as cracks in belts and hoses, corrosion on electrical components, or obvious fluid leaks around seals and gaskets.</a:t>
            </a:r>
          </a:p>
        </p:txBody>
      </p:sp>
      <p:pic>
        <p:nvPicPr>
          <p:cNvPr id="2" name="Picture 1"/>
          <p:cNvPicPr>
            <a:picLocks noChangeAspect="1"/>
          </p:cNvPicPr>
          <p:nvPr/>
        </p:nvPicPr>
        <p:blipFill>
          <a:blip r:embed="rId4"/>
          <a:stretch>
            <a:fillRect/>
          </a:stretch>
        </p:blipFill>
        <p:spPr>
          <a:xfrm>
            <a:off x="7631084" y="2814996"/>
            <a:ext cx="3752677" cy="3315542"/>
          </a:xfrm>
          <a:prstGeom prst="rect">
            <a:avLst/>
          </a:prstGeom>
        </p:spPr>
      </p:pic>
      <p:sp>
        <p:nvSpPr>
          <p:cNvPr id="4" name="Rectangle 3"/>
          <p:cNvSpPr/>
          <p:nvPr/>
        </p:nvSpPr>
        <p:spPr>
          <a:xfrm>
            <a:off x="828501" y="2763159"/>
            <a:ext cx="6652954" cy="3293209"/>
          </a:xfrm>
          <a:prstGeom prst="rect">
            <a:avLst/>
          </a:prstGeom>
        </p:spPr>
        <p:txBody>
          <a:bodyPr wrap="square">
            <a:spAutoFit/>
          </a:bodyPr>
          <a:lstStyle/>
          <a:p>
            <a:r>
              <a:rPr lang="en-US" sz="1600" b="1" dirty="0"/>
              <a:t>Leaks: </a:t>
            </a:r>
            <a:r>
              <a:rPr lang="en-US" sz="1600" dirty="0"/>
              <a:t>Look for oil or coolant stains on the engine block, gaskets, and the ground below the car. Check around seals and gaskets for signs of active leaks.</a:t>
            </a:r>
          </a:p>
          <a:p>
            <a:r>
              <a:rPr lang="en-US" sz="1600" b="1" dirty="0"/>
              <a:t>Damage and wear: </a:t>
            </a:r>
            <a:r>
              <a:rPr lang="en-US" sz="1600" dirty="0"/>
              <a:t>Inspect engine mounts, brackets, and the engine block for cracks, corrosion, or excessive wear. Check for physical damage like a dented oil pan, which may indicate abuse.</a:t>
            </a:r>
          </a:p>
          <a:p>
            <a:r>
              <a:rPr lang="en-US" sz="1600" b="1" dirty="0"/>
              <a:t>Cleanliness: </a:t>
            </a:r>
            <a:r>
              <a:rPr lang="en-US" sz="1600" dirty="0"/>
              <a:t>A clean engine can indicate good maintenance, but a greasy or dirty engine can suggest neglect or a hidden leak. Look for sloppy assembly, such as excess sealant oozing out.</a:t>
            </a:r>
          </a:p>
          <a:p>
            <a:r>
              <a:rPr lang="en-US" sz="1600" b="1" dirty="0"/>
              <a:t>Hoses and belts: </a:t>
            </a:r>
            <a:r>
              <a:rPr lang="en-US" sz="1600" dirty="0"/>
              <a:t>Check all belts for signs of wear, cracking, or damage, and ensure hoses are flexible and not brittle.</a:t>
            </a:r>
          </a:p>
          <a:p>
            <a:r>
              <a:rPr lang="en-US" sz="1600" b="1" dirty="0"/>
              <a:t>Fasteners: </a:t>
            </a:r>
            <a:r>
              <a:rPr lang="en-US" sz="1600" dirty="0"/>
              <a:t>Ensure all bolts and nuts are present, tight, and free of corrosion</a:t>
            </a:r>
          </a:p>
        </p:txBody>
      </p:sp>
    </p:spTree>
    <p:custDataLst>
      <p:tags r:id="rId1"/>
    </p:custDataLst>
    <p:extLst>
      <p:ext uri="{BB962C8B-B14F-4D97-AF65-F5344CB8AC3E}">
        <p14:creationId xmlns:p14="http://schemas.microsoft.com/office/powerpoint/2010/main" val="1920211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3" name="Rectangle 12"/>
          <p:cNvSpPr/>
          <p:nvPr/>
        </p:nvSpPr>
        <p:spPr>
          <a:xfrm>
            <a:off x="1069571" y="1796438"/>
            <a:ext cx="10717876" cy="646331"/>
          </a:xfrm>
          <a:prstGeom prst="rect">
            <a:avLst/>
          </a:prstGeom>
        </p:spPr>
        <p:txBody>
          <a:bodyPr wrap="square">
            <a:spAutoFit/>
          </a:bodyPr>
          <a:lstStyle/>
          <a:p>
            <a:r>
              <a:rPr lang="en-US" b="1" dirty="0"/>
              <a:t>Visual Checks: </a:t>
            </a:r>
            <a:r>
              <a:rPr lang="en-US" dirty="0"/>
              <a:t>Mechanics look for physical signs of wear and tear, such as cracks in belts and hoses, corrosion on electrical components, or obvious fluid leaks around seals and gaskets.</a:t>
            </a:r>
          </a:p>
        </p:txBody>
      </p:sp>
      <p:sp>
        <p:nvSpPr>
          <p:cNvPr id="5" name="Rectangle 4"/>
          <p:cNvSpPr/>
          <p:nvPr/>
        </p:nvSpPr>
        <p:spPr>
          <a:xfrm>
            <a:off x="1069571" y="2626050"/>
            <a:ext cx="5206538" cy="2862322"/>
          </a:xfrm>
          <a:prstGeom prst="rect">
            <a:avLst/>
          </a:prstGeom>
        </p:spPr>
        <p:txBody>
          <a:bodyPr wrap="square">
            <a:spAutoFit/>
          </a:bodyPr>
          <a:lstStyle/>
          <a:p>
            <a:r>
              <a:rPr lang="en-US" b="1" dirty="0"/>
              <a:t>Fluid </a:t>
            </a:r>
            <a:r>
              <a:rPr lang="en-US" b="1" dirty="0" smtClean="0"/>
              <a:t>checks</a:t>
            </a:r>
          </a:p>
          <a:p>
            <a:endParaRPr lang="en-US" b="1" dirty="0"/>
          </a:p>
          <a:p>
            <a:r>
              <a:rPr lang="en-US" b="1" dirty="0"/>
              <a:t>Engine oil: </a:t>
            </a:r>
            <a:r>
              <a:rPr lang="en-US" dirty="0"/>
              <a:t>Open the oil cap and check for a white, milky residue, which can indicate that coolant has mixed with the oil due to a blown head gasket</a:t>
            </a:r>
            <a:r>
              <a:rPr lang="en-US" dirty="0" smtClean="0"/>
              <a:t>.</a:t>
            </a:r>
          </a:p>
          <a:p>
            <a:endParaRPr lang="en-US" dirty="0"/>
          </a:p>
          <a:p>
            <a:r>
              <a:rPr lang="en-US" b="1" dirty="0"/>
              <a:t>Coolant: </a:t>
            </a:r>
            <a:r>
              <a:rPr lang="en-US" dirty="0"/>
              <a:t>Check the coolant in the reservoir. It should have a proper color and not contain any </a:t>
            </a:r>
            <a:r>
              <a:rPr lang="en-US" dirty="0" smtClean="0"/>
              <a:t>oil</a:t>
            </a:r>
            <a:endParaRPr lang="en-US" dirty="0"/>
          </a:p>
        </p:txBody>
      </p:sp>
      <p:pic>
        <p:nvPicPr>
          <p:cNvPr id="7" name="Picture 6"/>
          <p:cNvPicPr>
            <a:picLocks noChangeAspect="1"/>
          </p:cNvPicPr>
          <p:nvPr/>
        </p:nvPicPr>
        <p:blipFill>
          <a:blip r:embed="rId4"/>
          <a:stretch>
            <a:fillRect/>
          </a:stretch>
        </p:blipFill>
        <p:spPr>
          <a:xfrm>
            <a:off x="6897744" y="3185673"/>
            <a:ext cx="4088051" cy="2720412"/>
          </a:xfrm>
          <a:prstGeom prst="rect">
            <a:avLst/>
          </a:prstGeom>
        </p:spPr>
      </p:pic>
    </p:spTree>
    <p:custDataLst>
      <p:tags r:id="rId1"/>
    </p:custDataLst>
    <p:extLst>
      <p:ext uri="{BB962C8B-B14F-4D97-AF65-F5344CB8AC3E}">
        <p14:creationId xmlns:p14="http://schemas.microsoft.com/office/powerpoint/2010/main" val="6392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3" name="Rectangle 12"/>
          <p:cNvSpPr/>
          <p:nvPr/>
        </p:nvSpPr>
        <p:spPr>
          <a:xfrm>
            <a:off x="1069571" y="1796438"/>
            <a:ext cx="10717876" cy="646331"/>
          </a:xfrm>
          <a:prstGeom prst="rect">
            <a:avLst/>
          </a:prstGeom>
        </p:spPr>
        <p:txBody>
          <a:bodyPr wrap="square">
            <a:spAutoFit/>
          </a:bodyPr>
          <a:lstStyle/>
          <a:p>
            <a:r>
              <a:rPr lang="en-US" b="1" dirty="0"/>
              <a:t>Visual Checks: </a:t>
            </a:r>
            <a:r>
              <a:rPr lang="en-US" dirty="0"/>
              <a:t>Mechanics look for physical signs of wear and tear, such as cracks in belts and hoses, corrosion on electrical components, or obvious fluid leaks around seals and gaskets.</a:t>
            </a:r>
          </a:p>
        </p:txBody>
      </p:sp>
      <p:sp>
        <p:nvSpPr>
          <p:cNvPr id="2" name="Rectangle 1"/>
          <p:cNvSpPr/>
          <p:nvPr/>
        </p:nvSpPr>
        <p:spPr>
          <a:xfrm>
            <a:off x="1069571" y="2442769"/>
            <a:ext cx="4674524" cy="3693319"/>
          </a:xfrm>
          <a:prstGeom prst="rect">
            <a:avLst/>
          </a:prstGeom>
        </p:spPr>
        <p:txBody>
          <a:bodyPr wrap="square">
            <a:spAutoFit/>
          </a:bodyPr>
          <a:lstStyle/>
          <a:p>
            <a:r>
              <a:rPr lang="en-US" b="1" dirty="0"/>
              <a:t>Running the engine</a:t>
            </a:r>
          </a:p>
          <a:p>
            <a:r>
              <a:rPr lang="en-US" dirty="0"/>
              <a:t>Exhaust smoke: Start the engine and observe the exhaust</a:t>
            </a:r>
            <a:r>
              <a:rPr lang="en-US" dirty="0" smtClean="0"/>
              <a:t>.</a:t>
            </a:r>
          </a:p>
          <a:p>
            <a:endParaRPr lang="en-US" dirty="0"/>
          </a:p>
          <a:p>
            <a:r>
              <a:rPr lang="en-US" dirty="0"/>
              <a:t>Blue smoke: Suggests the engine is burning oil, possibly due to leaking valve seals or worn piston rings</a:t>
            </a:r>
            <a:r>
              <a:rPr lang="en-US" dirty="0" smtClean="0"/>
              <a:t>.</a:t>
            </a:r>
          </a:p>
          <a:p>
            <a:endParaRPr lang="en-US" dirty="0"/>
          </a:p>
          <a:p>
            <a:r>
              <a:rPr lang="en-US" dirty="0"/>
              <a:t>White smoke: Can indicate a head gasket leak, allowing coolant to enter the combustion chamber</a:t>
            </a:r>
            <a:r>
              <a:rPr lang="en-US" dirty="0" smtClean="0"/>
              <a:t>.</a:t>
            </a:r>
          </a:p>
          <a:p>
            <a:endParaRPr lang="en-US" dirty="0"/>
          </a:p>
          <a:p>
            <a:r>
              <a:rPr lang="en-US" dirty="0"/>
              <a:t>Black smoke: Points to a rich fuel mixture.</a:t>
            </a:r>
          </a:p>
        </p:txBody>
      </p:sp>
      <p:pic>
        <p:nvPicPr>
          <p:cNvPr id="4" name="Picture 3"/>
          <p:cNvPicPr>
            <a:picLocks noChangeAspect="1"/>
          </p:cNvPicPr>
          <p:nvPr/>
        </p:nvPicPr>
        <p:blipFill>
          <a:blip r:embed="rId4"/>
          <a:stretch>
            <a:fillRect/>
          </a:stretch>
        </p:blipFill>
        <p:spPr>
          <a:xfrm>
            <a:off x="6678465" y="2601179"/>
            <a:ext cx="4410714" cy="4052579"/>
          </a:xfrm>
          <a:prstGeom prst="rect">
            <a:avLst/>
          </a:prstGeom>
        </p:spPr>
      </p:pic>
    </p:spTree>
    <p:custDataLst>
      <p:tags r:id="rId1"/>
    </p:custDataLst>
    <p:extLst>
      <p:ext uri="{BB962C8B-B14F-4D97-AF65-F5344CB8AC3E}">
        <p14:creationId xmlns:p14="http://schemas.microsoft.com/office/powerpoint/2010/main" val="1456140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4" name="Rectangle 13"/>
          <p:cNvSpPr/>
          <p:nvPr/>
        </p:nvSpPr>
        <p:spPr>
          <a:xfrm>
            <a:off x="1136073" y="1822788"/>
            <a:ext cx="10717876" cy="646331"/>
          </a:xfrm>
          <a:prstGeom prst="rect">
            <a:avLst/>
          </a:prstGeom>
        </p:spPr>
        <p:txBody>
          <a:bodyPr wrap="square">
            <a:spAutoFit/>
          </a:bodyPr>
          <a:lstStyle/>
          <a:p>
            <a:r>
              <a:rPr lang="en-US" b="1" dirty="0"/>
              <a:t>Fluid Level and Quality Checks</a:t>
            </a:r>
            <a:r>
              <a:rPr lang="en-US" dirty="0"/>
              <a:t>: Engine oil, coolant, brake fluid, and other vital fluids are checked for proper levels and contamination.</a:t>
            </a:r>
          </a:p>
        </p:txBody>
      </p:sp>
      <p:sp>
        <p:nvSpPr>
          <p:cNvPr id="2" name="Rectangle 1"/>
          <p:cNvSpPr/>
          <p:nvPr/>
        </p:nvSpPr>
        <p:spPr>
          <a:xfrm>
            <a:off x="1136073" y="2535095"/>
            <a:ext cx="3082895" cy="369332"/>
          </a:xfrm>
          <a:prstGeom prst="rect">
            <a:avLst/>
          </a:prstGeom>
        </p:spPr>
        <p:txBody>
          <a:bodyPr wrap="none">
            <a:spAutoFit/>
          </a:bodyPr>
          <a:lstStyle/>
          <a:p>
            <a:r>
              <a:rPr lang="en-US" b="1" dirty="0"/>
              <a:t>General Preparation Steps</a:t>
            </a:r>
          </a:p>
        </p:txBody>
      </p:sp>
      <p:sp>
        <p:nvSpPr>
          <p:cNvPr id="4" name="Rectangle 3"/>
          <p:cNvSpPr/>
          <p:nvPr/>
        </p:nvSpPr>
        <p:spPr>
          <a:xfrm>
            <a:off x="1170967" y="2906615"/>
            <a:ext cx="10084465" cy="2308324"/>
          </a:xfrm>
          <a:prstGeom prst="rect">
            <a:avLst/>
          </a:prstGeom>
        </p:spPr>
        <p:txBody>
          <a:bodyPr wrap="square">
            <a:spAutoFit/>
          </a:bodyPr>
          <a:lstStyle/>
          <a:p>
            <a:r>
              <a:rPr lang="en-US" b="1" dirty="0"/>
              <a:t>Park on a level surface</a:t>
            </a:r>
            <a:r>
              <a:rPr lang="en-US" dirty="0"/>
              <a:t>: This ensures accurate readings</a:t>
            </a:r>
            <a:r>
              <a:rPr lang="en-US" dirty="0" smtClean="0"/>
              <a:t>.</a:t>
            </a:r>
          </a:p>
          <a:p>
            <a:endParaRPr lang="en-US" dirty="0"/>
          </a:p>
          <a:p>
            <a:r>
              <a:rPr lang="en-US" b="1" dirty="0"/>
              <a:t>Let the engine cool (mostly): </a:t>
            </a:r>
            <a:r>
              <a:rPr lang="en-US" dirty="0"/>
              <a:t>For most fluids (engine oil, coolant, brake fluid), the engine should be off and cool to prevent burns and get an accurate level reading</a:t>
            </a:r>
            <a:r>
              <a:rPr lang="en-US" dirty="0" smtClean="0"/>
              <a:t>.</a:t>
            </a:r>
          </a:p>
          <a:p>
            <a:endParaRPr lang="en-US" dirty="0"/>
          </a:p>
          <a:p>
            <a:r>
              <a:rPr lang="en-US" b="1" dirty="0"/>
              <a:t>Locate the reservoirs/dipsticks: </a:t>
            </a:r>
            <a:r>
              <a:rPr lang="en-US" dirty="0"/>
              <a:t>Most are clearly marked with symbols or labels in the engine bay.</a:t>
            </a:r>
          </a:p>
          <a:p>
            <a:r>
              <a:rPr lang="en-US" b="1" dirty="0"/>
              <a:t>Use a clean rag/paper towel: </a:t>
            </a:r>
            <a:r>
              <a:rPr lang="en-US" dirty="0"/>
              <a:t>You will need this to wipe dipsticks clean</a:t>
            </a:r>
          </a:p>
        </p:txBody>
      </p:sp>
    </p:spTree>
    <p:custDataLst>
      <p:tags r:id="rId1"/>
    </p:custDataLst>
    <p:extLst>
      <p:ext uri="{BB962C8B-B14F-4D97-AF65-F5344CB8AC3E}">
        <p14:creationId xmlns:p14="http://schemas.microsoft.com/office/powerpoint/2010/main" val="204337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884024" y="647258"/>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1008716" y="959189"/>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5" name="Rectangle 4"/>
          <p:cNvSpPr/>
          <p:nvPr/>
        </p:nvSpPr>
        <p:spPr>
          <a:xfrm>
            <a:off x="1117573" y="1328521"/>
            <a:ext cx="2390398" cy="369332"/>
          </a:xfrm>
          <a:prstGeom prst="rect">
            <a:avLst/>
          </a:prstGeom>
        </p:spPr>
        <p:txBody>
          <a:bodyPr wrap="none">
            <a:spAutoFit/>
          </a:bodyPr>
          <a:lstStyle/>
          <a:p>
            <a:r>
              <a:rPr lang="en-US" dirty="0"/>
              <a:t>Specific Fluid Checks</a:t>
            </a:r>
          </a:p>
        </p:txBody>
      </p:sp>
      <p:pic>
        <p:nvPicPr>
          <p:cNvPr id="8" name="Picture 7"/>
          <p:cNvPicPr>
            <a:picLocks noChangeAspect="1"/>
          </p:cNvPicPr>
          <p:nvPr/>
        </p:nvPicPr>
        <p:blipFill>
          <a:blip r:embed="rId4"/>
          <a:stretch>
            <a:fillRect/>
          </a:stretch>
        </p:blipFill>
        <p:spPr>
          <a:xfrm>
            <a:off x="4160030" y="1153150"/>
            <a:ext cx="6596639" cy="5500608"/>
          </a:xfrm>
          <a:prstGeom prst="rect">
            <a:avLst/>
          </a:prstGeom>
        </p:spPr>
      </p:pic>
      <p:pic>
        <p:nvPicPr>
          <p:cNvPr id="9" name="Picture 8"/>
          <p:cNvPicPr>
            <a:picLocks noChangeAspect="1"/>
          </p:cNvPicPr>
          <p:nvPr/>
        </p:nvPicPr>
        <p:blipFill>
          <a:blip r:embed="rId5"/>
          <a:stretch>
            <a:fillRect/>
          </a:stretch>
        </p:blipFill>
        <p:spPr>
          <a:xfrm>
            <a:off x="607563" y="1697854"/>
            <a:ext cx="3028950" cy="2358758"/>
          </a:xfrm>
          <a:prstGeom prst="rect">
            <a:avLst/>
          </a:prstGeom>
        </p:spPr>
      </p:pic>
      <p:pic>
        <p:nvPicPr>
          <p:cNvPr id="11" name="Picture 10"/>
          <p:cNvPicPr>
            <a:picLocks noChangeAspect="1"/>
          </p:cNvPicPr>
          <p:nvPr/>
        </p:nvPicPr>
        <p:blipFill>
          <a:blip r:embed="rId6"/>
          <a:stretch>
            <a:fillRect/>
          </a:stretch>
        </p:blipFill>
        <p:spPr>
          <a:xfrm>
            <a:off x="569697" y="4056613"/>
            <a:ext cx="3066816" cy="2073926"/>
          </a:xfrm>
          <a:prstGeom prst="rect">
            <a:avLst/>
          </a:prstGeom>
        </p:spPr>
      </p:pic>
    </p:spTree>
    <p:custDataLst>
      <p:tags r:id="rId1"/>
    </p:custDataLst>
    <p:extLst>
      <p:ext uri="{BB962C8B-B14F-4D97-AF65-F5344CB8AC3E}">
        <p14:creationId xmlns:p14="http://schemas.microsoft.com/office/powerpoint/2010/main" val="1108437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15" name="Rectangle 14"/>
          <p:cNvSpPr/>
          <p:nvPr/>
        </p:nvSpPr>
        <p:spPr>
          <a:xfrm>
            <a:off x="912814" y="1756812"/>
            <a:ext cx="10925694" cy="923330"/>
          </a:xfrm>
          <a:prstGeom prst="rect">
            <a:avLst/>
          </a:prstGeom>
        </p:spPr>
        <p:txBody>
          <a:bodyPr wrap="square">
            <a:spAutoFit/>
          </a:bodyPr>
          <a:lstStyle/>
          <a:p>
            <a:r>
              <a:rPr lang="en-US" b="1" dirty="0"/>
              <a:t>Diagnostic Testing: </a:t>
            </a:r>
            <a:r>
              <a:rPr lang="en-US" dirty="0"/>
              <a:t>Modern vehicles have on-board diagnostic (OBD) systems. Technicians use specialized tools to scan for error codes stored in the car's computer, which helps pinpoint non-visible issues.</a:t>
            </a:r>
          </a:p>
        </p:txBody>
      </p:sp>
      <p:sp>
        <p:nvSpPr>
          <p:cNvPr id="2" name="Rectangle 1"/>
          <p:cNvSpPr/>
          <p:nvPr/>
        </p:nvSpPr>
        <p:spPr>
          <a:xfrm>
            <a:off x="912814" y="2751272"/>
            <a:ext cx="3942105" cy="369332"/>
          </a:xfrm>
          <a:prstGeom prst="rect">
            <a:avLst/>
          </a:prstGeom>
        </p:spPr>
        <p:txBody>
          <a:bodyPr wrap="none">
            <a:spAutoFit/>
          </a:bodyPr>
          <a:lstStyle/>
          <a:p>
            <a:r>
              <a:rPr lang="en-US" b="1" dirty="0"/>
              <a:t>The systems covered can include:</a:t>
            </a:r>
          </a:p>
        </p:txBody>
      </p:sp>
      <p:sp>
        <p:nvSpPr>
          <p:cNvPr id="4" name="Rectangle 3"/>
          <p:cNvSpPr/>
          <p:nvPr/>
        </p:nvSpPr>
        <p:spPr>
          <a:xfrm>
            <a:off x="912814" y="3310621"/>
            <a:ext cx="6096000" cy="2031325"/>
          </a:xfrm>
          <a:prstGeom prst="rect">
            <a:avLst/>
          </a:prstGeom>
        </p:spPr>
        <p:txBody>
          <a:bodyPr>
            <a:spAutoFit/>
          </a:bodyPr>
          <a:lstStyle/>
          <a:p>
            <a:r>
              <a:rPr lang="en-US" dirty="0"/>
              <a:t>Engine (misfires, timing, fuel efficiency)</a:t>
            </a:r>
          </a:p>
          <a:p>
            <a:r>
              <a:rPr lang="en-US" dirty="0"/>
              <a:t>Transmission (shifting issues, fluid levels)</a:t>
            </a:r>
          </a:p>
          <a:p>
            <a:r>
              <a:rPr lang="en-US" dirty="0"/>
              <a:t>Braking system (ABS issues, sensor failures)</a:t>
            </a:r>
          </a:p>
          <a:p>
            <a:r>
              <a:rPr lang="en-US" dirty="0"/>
              <a:t>Exhaust system (oxygen sensors, catalytic converter issues, emissions)</a:t>
            </a:r>
          </a:p>
          <a:p>
            <a:r>
              <a:rPr lang="en-US" dirty="0"/>
              <a:t>Electrical system (battery, alternator, wiring faults)</a:t>
            </a:r>
          </a:p>
          <a:p>
            <a:r>
              <a:rPr lang="en-US" dirty="0"/>
              <a:t>Body systems (air conditioning, airbags, driver assistance)</a:t>
            </a:r>
          </a:p>
        </p:txBody>
      </p:sp>
      <p:pic>
        <p:nvPicPr>
          <p:cNvPr id="5" name="Picture 4"/>
          <p:cNvPicPr>
            <a:picLocks noChangeAspect="1"/>
          </p:cNvPicPr>
          <p:nvPr/>
        </p:nvPicPr>
        <p:blipFill>
          <a:blip r:embed="rId4"/>
          <a:stretch>
            <a:fillRect/>
          </a:stretch>
        </p:blipFill>
        <p:spPr>
          <a:xfrm>
            <a:off x="7509943" y="2556943"/>
            <a:ext cx="3363104" cy="3363104"/>
          </a:xfrm>
          <a:prstGeom prst="rect">
            <a:avLst/>
          </a:prstGeom>
        </p:spPr>
      </p:pic>
    </p:spTree>
    <p:custDataLst>
      <p:tags r:id="rId1"/>
    </p:custDataLst>
    <p:extLst>
      <p:ext uri="{BB962C8B-B14F-4D97-AF65-F5344CB8AC3E}">
        <p14:creationId xmlns:p14="http://schemas.microsoft.com/office/powerpoint/2010/main" val="2530009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374974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a:t>
            </a:r>
            <a:r>
              <a:rPr lang="en-US" b="1" dirty="0" smtClean="0">
                <a:latin typeface="Times New Roman" panose="02020603050405020304" pitchFamily="18" charset="0"/>
                <a:cs typeface="Times New Roman" panose="02020603050405020304" pitchFamily="18" charset="0"/>
              </a:rPr>
              <a:t>Inspection Diagnostic test</a:t>
            </a:r>
            <a:endParaRPr 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1187134" y="1756812"/>
            <a:ext cx="3942105" cy="369332"/>
          </a:xfrm>
          <a:prstGeom prst="rect">
            <a:avLst/>
          </a:prstGeom>
        </p:spPr>
        <p:txBody>
          <a:bodyPr wrap="none">
            <a:spAutoFit/>
          </a:bodyPr>
          <a:lstStyle/>
          <a:p>
            <a:r>
              <a:rPr lang="en-US" b="1" dirty="0"/>
              <a:t>The systems covered can include:</a:t>
            </a:r>
          </a:p>
        </p:txBody>
      </p:sp>
      <p:sp>
        <p:nvSpPr>
          <p:cNvPr id="7" name="Rectangle 6"/>
          <p:cNvSpPr/>
          <p:nvPr/>
        </p:nvSpPr>
        <p:spPr>
          <a:xfrm>
            <a:off x="1187133" y="2197274"/>
            <a:ext cx="10184677" cy="923330"/>
          </a:xfrm>
          <a:prstGeom prst="rect">
            <a:avLst/>
          </a:prstGeom>
        </p:spPr>
        <p:txBody>
          <a:bodyPr wrap="square">
            <a:spAutoFit/>
          </a:bodyPr>
          <a:lstStyle/>
          <a:p>
            <a:r>
              <a:rPr lang="en-US" dirty="0"/>
              <a:t>While many drivers wait for the check engine light or other warning lights to illuminate, diagnostic tests can also be part of a preventative maintenance routine. You should consider a diagnostic test if you notice:</a:t>
            </a:r>
          </a:p>
        </p:txBody>
      </p:sp>
      <p:sp>
        <p:nvSpPr>
          <p:cNvPr id="8" name="Rectangle 7"/>
          <p:cNvSpPr/>
          <p:nvPr/>
        </p:nvSpPr>
        <p:spPr>
          <a:xfrm>
            <a:off x="1187133" y="3148243"/>
            <a:ext cx="5080663" cy="1477328"/>
          </a:xfrm>
          <a:prstGeom prst="rect">
            <a:avLst/>
          </a:prstGeom>
        </p:spPr>
        <p:txBody>
          <a:bodyPr wrap="square">
            <a:spAutoFit/>
          </a:bodyPr>
          <a:lstStyle/>
          <a:p>
            <a:pPr marL="285750" indent="-285750">
              <a:buFont typeface="Wingdings" panose="05000000000000000000" pitchFamily="2" charset="2"/>
              <a:buChar char="§"/>
            </a:pPr>
            <a:r>
              <a:rPr lang="en-US" dirty="0"/>
              <a:t>A steady or flashing check engine light.</a:t>
            </a:r>
          </a:p>
          <a:p>
            <a:pPr marL="285750" indent="-285750">
              <a:buFont typeface="Wingdings" panose="05000000000000000000" pitchFamily="2" charset="2"/>
              <a:buChar char="§"/>
            </a:pPr>
            <a:r>
              <a:rPr lang="en-US" dirty="0"/>
              <a:t>Rough idling, stalling, or engine misfires.</a:t>
            </a:r>
          </a:p>
          <a:p>
            <a:pPr marL="285750" indent="-285750">
              <a:buFont typeface="Wingdings" panose="05000000000000000000" pitchFamily="2" charset="2"/>
              <a:buChar char="§"/>
            </a:pPr>
            <a:r>
              <a:rPr lang="en-US" dirty="0"/>
              <a:t>Unexplained drops in fuel economy.</a:t>
            </a:r>
          </a:p>
          <a:p>
            <a:pPr marL="285750" indent="-285750">
              <a:buFont typeface="Wingdings" panose="05000000000000000000" pitchFamily="2" charset="2"/>
              <a:buChar char="§"/>
            </a:pPr>
            <a:r>
              <a:rPr lang="en-US" dirty="0"/>
              <a:t>Unusual noises, vibrations, or smells.</a:t>
            </a:r>
          </a:p>
          <a:p>
            <a:pPr marL="285750" indent="-285750">
              <a:buFont typeface="Wingdings" panose="05000000000000000000" pitchFamily="2" charset="2"/>
              <a:buChar char="§"/>
            </a:pPr>
            <a:r>
              <a:rPr lang="en-US" dirty="0"/>
              <a:t>Difficulty starting the car</a:t>
            </a:r>
          </a:p>
        </p:txBody>
      </p:sp>
      <p:pic>
        <p:nvPicPr>
          <p:cNvPr id="9" name="Picture 8"/>
          <p:cNvPicPr>
            <a:picLocks noChangeAspect="1"/>
          </p:cNvPicPr>
          <p:nvPr/>
        </p:nvPicPr>
        <p:blipFill>
          <a:blip r:embed="rId4"/>
          <a:stretch>
            <a:fillRect/>
          </a:stretch>
        </p:blipFill>
        <p:spPr>
          <a:xfrm>
            <a:off x="6196791" y="3086806"/>
            <a:ext cx="4426873" cy="2479049"/>
          </a:xfrm>
          <a:prstGeom prst="rect">
            <a:avLst/>
          </a:prstGeom>
        </p:spPr>
      </p:pic>
    </p:spTree>
    <p:custDataLst>
      <p:tags r:id="rId1"/>
    </p:custDataLst>
    <p:extLst>
      <p:ext uri="{BB962C8B-B14F-4D97-AF65-F5344CB8AC3E}">
        <p14:creationId xmlns:p14="http://schemas.microsoft.com/office/powerpoint/2010/main" val="329901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374974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a:t>
            </a:r>
            <a:r>
              <a:rPr lang="en-US" b="1" dirty="0" smtClean="0">
                <a:latin typeface="Times New Roman" panose="02020603050405020304" pitchFamily="18" charset="0"/>
                <a:cs typeface="Times New Roman" panose="02020603050405020304" pitchFamily="18" charset="0"/>
              </a:rPr>
              <a:t>Inspection Diagnostic test</a:t>
            </a:r>
            <a:endParaRPr 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1187134" y="1756812"/>
            <a:ext cx="3818225" cy="369332"/>
          </a:xfrm>
          <a:prstGeom prst="rect">
            <a:avLst/>
          </a:prstGeom>
        </p:spPr>
        <p:txBody>
          <a:bodyPr wrap="none">
            <a:spAutoFit/>
          </a:bodyPr>
          <a:lstStyle/>
          <a:p>
            <a:r>
              <a:rPr lang="en-US" b="1" dirty="0"/>
              <a:t>Performing a DIY Diagnostic Test</a:t>
            </a:r>
            <a:endParaRPr lang="en-US" b="1" dirty="0"/>
          </a:p>
        </p:txBody>
      </p:sp>
      <p:sp>
        <p:nvSpPr>
          <p:cNvPr id="4" name="Rectangle 3"/>
          <p:cNvSpPr/>
          <p:nvPr/>
        </p:nvSpPr>
        <p:spPr>
          <a:xfrm>
            <a:off x="1187134" y="2178734"/>
            <a:ext cx="9444844" cy="2031325"/>
          </a:xfrm>
          <a:prstGeom prst="rect">
            <a:avLst/>
          </a:prstGeom>
        </p:spPr>
        <p:txBody>
          <a:bodyPr wrap="square">
            <a:spAutoFit/>
          </a:bodyPr>
          <a:lstStyle/>
          <a:p>
            <a:r>
              <a:rPr lang="en-US" dirty="0"/>
              <a:t>Locate the OBD port: Check your owner's manual to find the port, typically under the dashboard or near the steering column.</a:t>
            </a:r>
          </a:p>
          <a:p>
            <a:r>
              <a:rPr lang="en-US" dirty="0"/>
              <a:t>Connect the scanner: Ensure the car is off, plug the scanner's 16-pin connector into the port.</a:t>
            </a:r>
          </a:p>
          <a:p>
            <a:r>
              <a:rPr lang="en-US" dirty="0"/>
              <a:t>Power the vehicle: Turn the ignition on (but not the engine).</a:t>
            </a:r>
          </a:p>
          <a:p>
            <a:r>
              <a:rPr lang="en-US" dirty="0"/>
              <a:t>Read the codes: Follow the scanner's on-screen instructions to retrieve the "Codes" or "Trouble Codes</a:t>
            </a:r>
          </a:p>
        </p:txBody>
      </p:sp>
      <p:pic>
        <p:nvPicPr>
          <p:cNvPr id="5" name="Picture 4"/>
          <p:cNvPicPr>
            <a:picLocks noChangeAspect="1"/>
          </p:cNvPicPr>
          <p:nvPr/>
        </p:nvPicPr>
        <p:blipFill>
          <a:blip r:embed="rId4"/>
          <a:stretch>
            <a:fillRect/>
          </a:stretch>
        </p:blipFill>
        <p:spPr>
          <a:xfrm>
            <a:off x="6620220" y="4023793"/>
            <a:ext cx="3296863" cy="2202440"/>
          </a:xfrm>
          <a:prstGeom prst="rect">
            <a:avLst/>
          </a:prstGeom>
        </p:spPr>
      </p:pic>
    </p:spTree>
    <p:custDataLst>
      <p:tags r:id="rId1"/>
    </p:custDataLst>
    <p:extLst>
      <p:ext uri="{BB962C8B-B14F-4D97-AF65-F5344CB8AC3E}">
        <p14:creationId xmlns:p14="http://schemas.microsoft.com/office/powerpoint/2010/main" val="647096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249334" cy="369332"/>
          </a:xfrm>
          <a:prstGeom prst="rect">
            <a:avLst/>
          </a:prstGeom>
        </p:spPr>
        <p:txBody>
          <a:bodyPr wrap="none">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Engine Inspection</a:t>
            </a:r>
          </a:p>
        </p:txBody>
      </p:sp>
      <p:sp>
        <p:nvSpPr>
          <p:cNvPr id="2" name="Rectangle 1"/>
          <p:cNvSpPr/>
          <p:nvPr/>
        </p:nvSpPr>
        <p:spPr>
          <a:xfrm>
            <a:off x="1111134" y="1756812"/>
            <a:ext cx="10460181" cy="923330"/>
          </a:xfrm>
          <a:prstGeom prst="rect">
            <a:avLst/>
          </a:prstGeom>
        </p:spPr>
        <p:txBody>
          <a:bodyPr wrap="square">
            <a:spAutoFit/>
          </a:bodyPr>
          <a:lstStyle/>
          <a:p>
            <a:r>
              <a:rPr lang="en-US" b="1" dirty="0"/>
              <a:t>Performance Monitoring</a:t>
            </a:r>
            <a:r>
              <a:rPr lang="en-US" dirty="0"/>
              <a:t>: This can involve listening for unusual noises (knocking, squealing), checking for vibrations, and sometimes conducting a test drive or compression tests to evaluate engine operation</a:t>
            </a:r>
          </a:p>
        </p:txBody>
      </p:sp>
      <p:pic>
        <p:nvPicPr>
          <p:cNvPr id="4" name="Picture 3"/>
          <p:cNvPicPr>
            <a:picLocks noChangeAspect="1"/>
          </p:cNvPicPr>
          <p:nvPr/>
        </p:nvPicPr>
        <p:blipFill>
          <a:blip r:embed="rId4"/>
          <a:stretch>
            <a:fillRect/>
          </a:stretch>
        </p:blipFill>
        <p:spPr>
          <a:xfrm>
            <a:off x="967152" y="3049474"/>
            <a:ext cx="10477500" cy="2743200"/>
          </a:xfrm>
          <a:prstGeom prst="rect">
            <a:avLst/>
          </a:prstGeom>
        </p:spPr>
      </p:pic>
    </p:spTree>
    <p:custDataLst>
      <p:tags r:id="rId1"/>
    </p:custDataLst>
    <p:extLst>
      <p:ext uri="{BB962C8B-B14F-4D97-AF65-F5344CB8AC3E}">
        <p14:creationId xmlns:p14="http://schemas.microsoft.com/office/powerpoint/2010/main" val="2201878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127505" cy="369332"/>
          </a:xfrm>
          <a:prstGeom prst="rect">
            <a:avLst/>
          </a:prstGeom>
        </p:spPr>
        <p:txBody>
          <a:bodyPr wrap="none">
            <a:spAutoFit/>
          </a:bodyPr>
          <a:lstStyle/>
          <a:p>
            <a:pPr marL="285750" indent="-285750">
              <a:buFont typeface="Wingdings" panose="05000000000000000000" pitchFamily="2" charset="2"/>
              <a:buChar char="Ø"/>
            </a:pPr>
            <a:r>
              <a:rPr lang="en-US" b="1" dirty="0" smtClean="0"/>
              <a:t>Engine </a:t>
            </a:r>
            <a:r>
              <a:rPr lang="en-US" b="1" dirty="0"/>
              <a:t>Service</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1285701" y="1827942"/>
            <a:ext cx="10310553" cy="923330"/>
          </a:xfrm>
          <a:prstGeom prst="rect">
            <a:avLst/>
          </a:prstGeom>
        </p:spPr>
        <p:txBody>
          <a:bodyPr wrap="square">
            <a:spAutoFit/>
          </a:bodyPr>
          <a:lstStyle/>
          <a:p>
            <a:r>
              <a:rPr lang="en-US" dirty="0"/>
              <a:t>Engine service involves the practical actions taken to address the findings of an inspection and perform regular maintenance tasks to keep the engine running smoothly and efficiently. It can be preventive or corrective (repair)</a:t>
            </a:r>
          </a:p>
        </p:txBody>
      </p:sp>
      <p:sp>
        <p:nvSpPr>
          <p:cNvPr id="7" name="Rectangle 6"/>
          <p:cNvSpPr/>
          <p:nvPr/>
        </p:nvSpPr>
        <p:spPr>
          <a:xfrm>
            <a:off x="1219199" y="2751272"/>
            <a:ext cx="10318865" cy="2862322"/>
          </a:xfrm>
          <a:prstGeom prst="rect">
            <a:avLst/>
          </a:prstGeom>
        </p:spPr>
        <p:txBody>
          <a:bodyPr wrap="square">
            <a:spAutoFit/>
          </a:bodyPr>
          <a:lstStyle/>
          <a:p>
            <a:r>
              <a:rPr lang="en-US" b="1" dirty="0"/>
              <a:t>Oil and Filter Change</a:t>
            </a:r>
            <a:r>
              <a:rPr lang="en-US" dirty="0"/>
              <a:t>: The most fundamental service, involving draining old oil and replacing the oil filter and oil to ensure proper lubrication and reduce friction.</a:t>
            </a:r>
          </a:p>
          <a:p>
            <a:r>
              <a:rPr lang="en-US" b="1" dirty="0"/>
              <a:t>Filter Replacement: </a:t>
            </a:r>
            <a:r>
              <a:rPr lang="en-US" dirty="0"/>
              <a:t>Replacing the air filter and fuel filter to ensure a clean supply of air and fuel to the engine.</a:t>
            </a:r>
          </a:p>
          <a:p>
            <a:r>
              <a:rPr lang="en-US" b="1" dirty="0"/>
              <a:t>Replacement of Worn Parts</a:t>
            </a:r>
            <a:r>
              <a:rPr lang="en-US" dirty="0"/>
              <a:t>: Swapping out components prone to wear, such as spark plugs, drive belts, and hoses, at recommended intervals.</a:t>
            </a:r>
          </a:p>
          <a:p>
            <a:r>
              <a:rPr lang="en-US" b="1" dirty="0"/>
              <a:t>Fluid Top-ups and Flushes: </a:t>
            </a:r>
            <a:r>
              <a:rPr lang="en-US" dirty="0"/>
              <a:t>Topping up all fluids and performing system flushes (e.g., cooling system, brake system) as needed.</a:t>
            </a:r>
          </a:p>
          <a:p>
            <a:r>
              <a:rPr lang="en-US" b="1" dirty="0"/>
              <a:t>Adjustments and Cleaning: </a:t>
            </a:r>
            <a:r>
              <a:rPr lang="en-US" dirty="0"/>
              <a:t>This may involve cleaning the fuel system to remove deposits or adjusting the idle speed and ignition timing</a:t>
            </a:r>
          </a:p>
        </p:txBody>
      </p:sp>
    </p:spTree>
    <p:custDataLst>
      <p:tags r:id="rId1"/>
    </p:custDataLst>
    <p:extLst>
      <p:ext uri="{BB962C8B-B14F-4D97-AF65-F5344CB8AC3E}">
        <p14:creationId xmlns:p14="http://schemas.microsoft.com/office/powerpoint/2010/main" val="4039066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a:t>
            </a:r>
            <a:r>
              <a:rPr lang="en-US" b="1" dirty="0"/>
              <a:t>4</a:t>
            </a:r>
            <a:r>
              <a:rPr lang="en-US" b="1" dirty="0" smtClean="0"/>
              <a:t> Undertake Inspection and Service Engine </a:t>
            </a:r>
            <a:endParaRPr lang="en-US" b="1" dirty="0"/>
          </a:p>
        </p:txBody>
      </p:sp>
      <p:sp>
        <p:nvSpPr>
          <p:cNvPr id="3" name="TextBox 2">
            <a:extLst>
              <a:ext uri="{FF2B5EF4-FFF2-40B4-BE49-F238E27FC236}">
                <a16:creationId xmlns:a16="http://schemas.microsoft.com/office/drawing/2014/main" id="{E8AC673B-2405-0FFC-B419-18C92F030B09}"/>
              </a:ext>
            </a:extLst>
          </p:cNvPr>
          <p:cNvSpPr txBox="1"/>
          <p:nvPr/>
        </p:nvSpPr>
        <p:spPr>
          <a:xfrm>
            <a:off x="494321" y="6130538"/>
            <a:ext cx="3080152" cy="523220"/>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By Ibrahim </a:t>
            </a:r>
            <a:r>
              <a:rPr lang="en-US" altLang="zh-CN" sz="1400" cap="all" spc="100" dirty="0" err="1">
                <a:solidFill>
                  <a:srgbClr val="00B050"/>
                </a:solidFill>
                <a:latin typeface="微软雅黑" panose="020B0503020204020204" charset="-122"/>
                <a:ea typeface="微软雅黑" panose="020B0503020204020204" charset="-122"/>
              </a:rPr>
              <a:t>siraj</a:t>
            </a:r>
            <a:endParaRPr lang="en-US" altLang="zh-CN" sz="14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400" cap="all" spc="100" dirty="0">
                <a:solidFill>
                  <a:srgbClr val="00B050"/>
                </a:solidFill>
                <a:latin typeface="微软雅黑" panose="020B0503020204020204" charset="-122"/>
                <a:ea typeface="微软雅黑" panose="020B0503020204020204" charset="-122"/>
              </a:rPr>
              <a:t>Maldives polytechnic</a:t>
            </a:r>
          </a:p>
        </p:txBody>
      </p:sp>
      <p:sp>
        <p:nvSpPr>
          <p:cNvPr id="6" name="Rectangle 5"/>
          <p:cNvSpPr/>
          <p:nvPr/>
        </p:nvSpPr>
        <p:spPr>
          <a:xfrm>
            <a:off x="3636513" y="248404"/>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10" name="Rectangle 9"/>
          <p:cNvSpPr/>
          <p:nvPr/>
        </p:nvSpPr>
        <p:spPr>
          <a:xfrm>
            <a:off x="967152" y="1387480"/>
            <a:ext cx="2127505" cy="369332"/>
          </a:xfrm>
          <a:prstGeom prst="rect">
            <a:avLst/>
          </a:prstGeom>
        </p:spPr>
        <p:txBody>
          <a:bodyPr wrap="none">
            <a:spAutoFit/>
          </a:bodyPr>
          <a:lstStyle/>
          <a:p>
            <a:pPr marL="285750" indent="-285750">
              <a:buFont typeface="Wingdings" panose="05000000000000000000" pitchFamily="2" charset="2"/>
              <a:buChar char="Ø"/>
            </a:pPr>
            <a:r>
              <a:rPr lang="en-US" b="1" dirty="0" smtClean="0"/>
              <a:t>Engine </a:t>
            </a:r>
            <a:r>
              <a:rPr lang="en-US" b="1" dirty="0"/>
              <a:t>Service</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1285701" y="1827942"/>
            <a:ext cx="10310553" cy="923330"/>
          </a:xfrm>
          <a:prstGeom prst="rect">
            <a:avLst/>
          </a:prstGeom>
        </p:spPr>
        <p:txBody>
          <a:bodyPr wrap="square">
            <a:spAutoFit/>
          </a:bodyPr>
          <a:lstStyle/>
          <a:p>
            <a:r>
              <a:rPr lang="en-US" dirty="0"/>
              <a:t>Engine service involves the practical actions taken to address the findings of an inspection and perform regular maintenance tasks to keep the engine running smoothly and efficiently. It can be preventive or corrective (repair)</a:t>
            </a:r>
          </a:p>
        </p:txBody>
      </p:sp>
      <p:pic>
        <p:nvPicPr>
          <p:cNvPr id="2" name="Picture 1"/>
          <p:cNvPicPr>
            <a:picLocks noChangeAspect="1"/>
          </p:cNvPicPr>
          <p:nvPr/>
        </p:nvPicPr>
        <p:blipFill>
          <a:blip r:embed="rId4"/>
          <a:stretch>
            <a:fillRect/>
          </a:stretch>
        </p:blipFill>
        <p:spPr>
          <a:xfrm>
            <a:off x="4447569" y="3086100"/>
            <a:ext cx="5041284" cy="2832561"/>
          </a:xfrm>
          <a:prstGeom prst="rect">
            <a:avLst/>
          </a:prstGeom>
        </p:spPr>
      </p:pic>
    </p:spTree>
    <p:custDataLst>
      <p:tags r:id="rId1"/>
    </p:custDataLst>
    <p:extLst>
      <p:ext uri="{BB962C8B-B14F-4D97-AF65-F5344CB8AC3E}">
        <p14:creationId xmlns:p14="http://schemas.microsoft.com/office/powerpoint/2010/main" val="4180975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TotalTime>
  <Words>1425</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Microsoft YaHei</vt:lpstr>
      <vt:lpstr>SimSun</vt:lpstr>
      <vt:lpstr>Arial</vt:lpstr>
      <vt:lpstr>Calibri</vt:lpstr>
      <vt:lpstr>Courier New</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226</cp:revision>
  <dcterms:created xsi:type="dcterms:W3CDTF">2019-06-19T02:08:00Z</dcterms:created>
  <dcterms:modified xsi:type="dcterms:W3CDTF">2025-11-26T16:06:07Z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