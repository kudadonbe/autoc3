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26"/>
  </p:notesMasterIdLst>
  <p:sldIdLst>
    <p:sldId id="348" r:id="rId2"/>
    <p:sldId id="331" r:id="rId3"/>
    <p:sldId id="372" r:id="rId4"/>
    <p:sldId id="373" r:id="rId5"/>
    <p:sldId id="374" r:id="rId6"/>
    <p:sldId id="375" r:id="rId7"/>
    <p:sldId id="376" r:id="rId8"/>
    <p:sldId id="377" r:id="rId9"/>
    <p:sldId id="378" r:id="rId10"/>
    <p:sldId id="379" r:id="rId11"/>
    <p:sldId id="380" r:id="rId12"/>
    <p:sldId id="381" r:id="rId13"/>
    <p:sldId id="382" r:id="rId14"/>
    <p:sldId id="383" r:id="rId15"/>
    <p:sldId id="384" r:id="rId16"/>
    <p:sldId id="385" r:id="rId17"/>
    <p:sldId id="386" r:id="rId18"/>
    <p:sldId id="387" r:id="rId19"/>
    <p:sldId id="388" r:id="rId20"/>
    <p:sldId id="389" r:id="rId21"/>
    <p:sldId id="390" r:id="rId22"/>
    <p:sldId id="391" r:id="rId23"/>
    <p:sldId id="392" r:id="rId24"/>
    <p:sldId id="295" r:id="rId25"/>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5" d="100"/>
          <a:sy n="115" d="100"/>
        </p:scale>
        <p:origin x="498" y="11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2025/11/26</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 Id="rId5" Type="http://schemas.openxmlformats.org/officeDocument/2006/relationships/image" Target="../media/image15.png"/><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5" Type="http://schemas.openxmlformats.org/officeDocument/2006/relationships/image" Target="../media/image18.png"/><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79.xml"/><Relationship Id="rId7" Type="http://schemas.openxmlformats.org/officeDocument/2006/relationships/image" Target="../media/image21.png"/><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5" Type="http://schemas.openxmlformats.org/officeDocument/2006/relationships/image" Target="../media/image22.png"/><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5" Type="http://schemas.openxmlformats.org/officeDocument/2006/relationships/image" Target="../media/image25.png"/><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5" Type="http://schemas.openxmlformats.org/officeDocument/2006/relationships/image" Target="../media/image28.png"/><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5" Type="http://schemas.openxmlformats.org/officeDocument/2006/relationships/image" Target="../media/image31.png"/><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 Id="rId4"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 Id="rId5" Type="http://schemas.openxmlformats.org/officeDocument/2006/relationships/image" Target="../media/image32.png"/><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6.xml"/><Relationship Id="rId1" Type="http://schemas.openxmlformats.org/officeDocument/2006/relationships/tags" Target="../tags/tag2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484715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8 Service Diesel Fuel System</a:t>
            </a:r>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Times New Roman" panose="02020603050405020304" pitchFamily="18" charset="0"/>
                <a:cs typeface="Arial" panose="020B0604020202020204" pitchFamily="34" charset="0"/>
              </a:rPr>
              <a:t>Introduction</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C2E5003B-909F-889E-6AC2-4BD842A3AD21}"/>
              </a:ext>
            </a:extLst>
          </p:cNvPr>
          <p:cNvSpPr txBox="1"/>
          <p:nvPr/>
        </p:nvSpPr>
        <p:spPr>
          <a:xfrm>
            <a:off x="1382661" y="2282361"/>
            <a:ext cx="10180073" cy="1754326"/>
          </a:xfrm>
          <a:prstGeom prst="rect">
            <a:avLst/>
          </a:prstGeom>
          <a:noFill/>
        </p:spPr>
        <p:txBody>
          <a:bodyPr wrap="square">
            <a:spAutoFit/>
          </a:bodyPr>
          <a:lstStyle/>
          <a:p>
            <a:r>
              <a:rPr lang="en-US" dirty="0"/>
              <a:t>A car's diesel engine system operates on a four-stroke cycle that uses compression to ignite fuel</a:t>
            </a:r>
            <a:r>
              <a:rPr lang="en-US" b="0" i="0" dirty="0">
                <a:solidFill>
                  <a:srgbClr val="0A0A0A"/>
                </a:solidFill>
                <a:effectLst/>
              </a:rPr>
              <a:t>, unlike gasoline engines that use spark plugs. The system draws air into the cylinder, compresses it to high temperatures, injects diesel fuel which then spontaneously combusts, and expels the exhaust gases. Key components include the fuel injection system, which delivers fuel into the cylinder, and the turbocharger, which forces more air into the cylinders to increase power and efficiency</a:t>
            </a:r>
            <a:endParaRPr lang="en-US" dirty="0"/>
          </a:p>
        </p:txBody>
      </p:sp>
    </p:spTree>
    <p:custDataLst>
      <p:tags r:id="rId1"/>
    </p:custDataLst>
    <p:extLst>
      <p:ext uri="{BB962C8B-B14F-4D97-AF65-F5344CB8AC3E}">
        <p14:creationId xmlns:p14="http://schemas.microsoft.com/office/powerpoint/2010/main" val="837791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4C158-5FC0-FC94-545D-4C738F9A3C5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1314A87C-D4CF-5E39-5A16-D0BC0FE9A1F5}"/>
              </a:ext>
            </a:extLst>
          </p:cNvPr>
          <p:cNvSpPr txBox="1"/>
          <p:nvPr>
            <p:custDataLst>
              <p:tags r:id="rId2"/>
            </p:custDataLst>
          </p:nvPr>
        </p:nvSpPr>
        <p:spPr>
          <a:xfrm>
            <a:off x="910713" y="1101488"/>
            <a:ext cx="10018643" cy="370371"/>
          </a:xfrm>
          <a:prstGeom prst="rect">
            <a:avLst/>
          </a:prstGeom>
          <a:noFill/>
        </p:spPr>
        <p:txBody>
          <a:bodyPr wrap="square" rtlCol="0">
            <a:noAutofit/>
          </a:bodyPr>
          <a:lstStyle/>
          <a:p>
            <a:r>
              <a:rPr lang="en-US" b="1" dirty="0"/>
              <a:t>Chapter 8 Service Diesel Fuel System</a:t>
            </a:r>
          </a:p>
          <a:p>
            <a:endParaRPr lang="en-US" b="1" dirty="0"/>
          </a:p>
        </p:txBody>
      </p:sp>
      <p:sp>
        <p:nvSpPr>
          <p:cNvPr id="22" name="文本框 21">
            <a:extLst>
              <a:ext uri="{FF2B5EF4-FFF2-40B4-BE49-F238E27FC236}">
                <a16:creationId xmlns:a16="http://schemas.microsoft.com/office/drawing/2014/main" id="{4242F032-09D9-5C2D-C4AC-6C89F8530209}"/>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42DC732-7615-CD08-CB85-0668DE5957EE}"/>
              </a:ext>
            </a:extLst>
          </p:cNvPr>
          <p:cNvSpPr txBox="1"/>
          <p:nvPr/>
        </p:nvSpPr>
        <p:spPr>
          <a:xfrm>
            <a:off x="748479"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6" name="TextBox 5">
            <a:extLst>
              <a:ext uri="{FF2B5EF4-FFF2-40B4-BE49-F238E27FC236}">
                <a16:creationId xmlns:a16="http://schemas.microsoft.com/office/drawing/2014/main" id="{55CD166F-6CDB-BB70-C810-97FE506E905D}"/>
              </a:ext>
            </a:extLst>
          </p:cNvPr>
          <p:cNvSpPr txBox="1"/>
          <p:nvPr/>
        </p:nvSpPr>
        <p:spPr>
          <a:xfrm>
            <a:off x="646837" y="1614557"/>
            <a:ext cx="6098458" cy="369332"/>
          </a:xfrm>
          <a:prstGeom prst="rect">
            <a:avLst/>
          </a:prstGeom>
          <a:noFill/>
        </p:spPr>
        <p:txBody>
          <a:bodyPr wrap="square">
            <a:spAutoFit/>
          </a:bodyPr>
          <a:lstStyle/>
          <a:p>
            <a:r>
              <a:rPr lang="en-US" b="1" i="0" dirty="0">
                <a:solidFill>
                  <a:srgbClr val="0A0A0A"/>
                </a:solidFill>
                <a:effectLst/>
                <a:latin typeface="Google Sans"/>
              </a:rPr>
              <a:t>The primary systems in a car diesel engine include</a:t>
            </a:r>
            <a:endParaRPr lang="en-US" b="1" dirty="0"/>
          </a:p>
        </p:txBody>
      </p:sp>
      <p:sp>
        <p:nvSpPr>
          <p:cNvPr id="8" name="TextBox 7">
            <a:extLst>
              <a:ext uri="{FF2B5EF4-FFF2-40B4-BE49-F238E27FC236}">
                <a16:creationId xmlns:a16="http://schemas.microsoft.com/office/drawing/2014/main" id="{F79469A2-12D1-3F63-904E-9ECB637C4511}"/>
              </a:ext>
            </a:extLst>
          </p:cNvPr>
          <p:cNvSpPr txBox="1"/>
          <p:nvPr/>
        </p:nvSpPr>
        <p:spPr>
          <a:xfrm>
            <a:off x="748479" y="2429414"/>
            <a:ext cx="10711017" cy="2557751"/>
          </a:xfrm>
          <a:prstGeom prst="rect">
            <a:avLst/>
          </a:prstGeom>
          <a:noFill/>
        </p:spPr>
        <p:txBody>
          <a:bodyPr wrap="square">
            <a:spAutoFit/>
          </a:bodyPr>
          <a:lstStyle/>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Fuel System</a:t>
            </a:r>
            <a:r>
              <a:rPr lang="en-US" b="0" i="0" dirty="0">
                <a:solidFill>
                  <a:srgbClr val="0A0A0A"/>
                </a:solidFill>
                <a:effectLst/>
                <a:latin typeface="Google Sans"/>
              </a:rPr>
              <a:t>: Consists of the fuel tank, a low-pressure transfer pump, fuel filters (including a water separator), a high-pressure pump, and fuel injector nozzles. Modern systems often use high-pressure common rail injection for precision.</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Air Intake System</a:t>
            </a:r>
            <a:r>
              <a:rPr lang="en-US" b="0" i="0" dirty="0">
                <a:solidFill>
                  <a:srgbClr val="0A0A0A"/>
                </a:solidFill>
                <a:effectLst/>
                <a:latin typeface="Google Sans"/>
              </a:rPr>
              <a:t>: Includes an air filter and, in most modern diesel cars, a </a:t>
            </a:r>
            <a:r>
              <a:rPr lang="en-US" b="1" i="0" dirty="0">
                <a:solidFill>
                  <a:srgbClr val="0A0A0A"/>
                </a:solidFill>
                <a:effectLst/>
                <a:latin typeface="Google Sans"/>
              </a:rPr>
              <a:t>turbocharger</a:t>
            </a:r>
            <a:r>
              <a:rPr lang="en-US" b="0" i="0" dirty="0">
                <a:solidFill>
                  <a:srgbClr val="0A0A0A"/>
                </a:solidFill>
                <a:effectLst/>
                <a:latin typeface="Google Sans"/>
              </a:rPr>
              <a:t> which compresses incoming air to increase the amount of oxygen available for a more efficient and powerful combustion.</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Exhaust System</a:t>
            </a:r>
            <a:r>
              <a:rPr lang="en-US" b="0" i="0" dirty="0">
                <a:solidFill>
                  <a:srgbClr val="0A0A0A"/>
                </a:solidFill>
                <a:effectLst/>
                <a:latin typeface="Google Sans"/>
              </a:rPr>
              <a:t>: Manages the exit of combustion gases and includes emission control devices like a </a:t>
            </a:r>
            <a:r>
              <a:rPr lang="en-US" b="1" i="0" dirty="0">
                <a:solidFill>
                  <a:srgbClr val="0A0A0A"/>
                </a:solidFill>
                <a:effectLst/>
                <a:latin typeface="Google Sans"/>
              </a:rPr>
              <a:t>diesel particulate filter (DPF)</a:t>
            </a:r>
            <a:r>
              <a:rPr lang="en-US" b="0" i="0" dirty="0">
                <a:solidFill>
                  <a:srgbClr val="0A0A0A"/>
                </a:solidFill>
                <a:effectLst/>
                <a:latin typeface="Google Sans"/>
              </a:rPr>
              <a:t> to trap soot and a selective catalytic reduction (SCR) system (using Diesel Exhaust Fluid or DEF) to reduce nitrogen oxides (NOx).</a:t>
            </a:r>
          </a:p>
        </p:txBody>
      </p:sp>
      <p:sp>
        <p:nvSpPr>
          <p:cNvPr id="10" name="TextBox 9">
            <a:extLst>
              <a:ext uri="{FF2B5EF4-FFF2-40B4-BE49-F238E27FC236}">
                <a16:creationId xmlns:a16="http://schemas.microsoft.com/office/drawing/2014/main" id="{7224803F-06FA-EDEC-2DBA-3D95DE33CFAF}"/>
              </a:ext>
            </a:extLst>
          </p:cNvPr>
          <p:cNvSpPr txBox="1"/>
          <p:nvPr/>
        </p:nvSpPr>
        <p:spPr>
          <a:xfrm>
            <a:off x="910713" y="5078842"/>
            <a:ext cx="10795776" cy="646331"/>
          </a:xfrm>
          <a:prstGeom prst="rect">
            <a:avLst/>
          </a:prstGeom>
          <a:noFill/>
        </p:spPr>
        <p:txBody>
          <a:bodyPr wrap="square">
            <a:spAutoFit/>
          </a:bodyPr>
          <a:lstStyle/>
          <a:p>
            <a:r>
              <a:rPr lang="en-US" b="1" i="0" dirty="0">
                <a:solidFill>
                  <a:srgbClr val="0A0A0A"/>
                </a:solidFill>
                <a:effectLst/>
                <a:latin typeface="Google Sans"/>
              </a:rPr>
              <a:t>Cooling System</a:t>
            </a:r>
            <a:r>
              <a:rPr lang="en-US" b="0" i="0" dirty="0">
                <a:solidFill>
                  <a:srgbClr val="0A0A0A"/>
                </a:solidFill>
                <a:effectLst/>
                <a:latin typeface="Google Sans"/>
              </a:rPr>
              <a:t>: Circulates coolant through the engine block and cylinder head to maintain optimal operating temperatures and prevent overheating</a:t>
            </a:r>
            <a:endParaRPr lang="en-US" dirty="0"/>
          </a:p>
        </p:txBody>
      </p:sp>
    </p:spTree>
    <p:custDataLst>
      <p:tags r:id="rId1"/>
    </p:custDataLst>
    <p:extLst>
      <p:ext uri="{BB962C8B-B14F-4D97-AF65-F5344CB8AC3E}">
        <p14:creationId xmlns:p14="http://schemas.microsoft.com/office/powerpoint/2010/main" val="2471040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C2E46-8705-A5FE-0AB7-5BAA0F119BC4}"/>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B331612A-4F71-65E8-F4D9-65F222776C05}"/>
              </a:ext>
            </a:extLst>
          </p:cNvPr>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8 Service Diesel Fuel System</a:t>
            </a:r>
          </a:p>
          <a:p>
            <a:endParaRPr lang="en-US" b="1" dirty="0"/>
          </a:p>
        </p:txBody>
      </p:sp>
      <p:sp>
        <p:nvSpPr>
          <p:cNvPr id="22" name="文本框 21">
            <a:extLst>
              <a:ext uri="{FF2B5EF4-FFF2-40B4-BE49-F238E27FC236}">
                <a16:creationId xmlns:a16="http://schemas.microsoft.com/office/drawing/2014/main" id="{2D787C60-3B65-1922-F89C-04911C7E6C90}"/>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EC6DC0EA-6F2E-1486-015A-35E165B351C7}"/>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E334DE01-A076-A1BF-4D2D-8E2A972FE1CA}"/>
              </a:ext>
            </a:extLst>
          </p:cNvPr>
          <p:cNvSpPr/>
          <p:nvPr/>
        </p:nvSpPr>
        <p:spPr>
          <a:xfrm>
            <a:off x="1687845" y="1945177"/>
            <a:ext cx="7738787" cy="307777"/>
          </a:xfrm>
          <a:prstGeom prst="rect">
            <a:avLst/>
          </a:prstGeom>
        </p:spPr>
        <p:txBody>
          <a:bodyPr wrap="square">
            <a:spAutoFit/>
          </a:bodyPr>
          <a:lstStyle/>
          <a:p>
            <a:r>
              <a:rPr lang="en-US" sz="1400" b="1" dirty="0">
                <a:solidFill>
                  <a:srgbClr val="0A0A0A"/>
                </a:solidFill>
                <a:latin typeface="Google Sans"/>
              </a:rPr>
              <a:t>The primary systems in a car diesel engine include</a:t>
            </a:r>
            <a:endParaRPr lang="en-US" sz="1400" b="1" dirty="0"/>
          </a:p>
        </p:txBody>
      </p:sp>
      <p:sp>
        <p:nvSpPr>
          <p:cNvPr id="6" name="TextBox 5">
            <a:extLst>
              <a:ext uri="{FF2B5EF4-FFF2-40B4-BE49-F238E27FC236}">
                <a16:creationId xmlns:a16="http://schemas.microsoft.com/office/drawing/2014/main" id="{0F92539B-85C2-328E-D4E0-C3726BC5E1E3}"/>
              </a:ext>
            </a:extLst>
          </p:cNvPr>
          <p:cNvSpPr txBox="1"/>
          <p:nvPr/>
        </p:nvSpPr>
        <p:spPr>
          <a:xfrm>
            <a:off x="1072946" y="2487965"/>
            <a:ext cx="10416048" cy="2557751"/>
          </a:xfrm>
          <a:prstGeom prst="rect">
            <a:avLst/>
          </a:prstGeom>
          <a:noFill/>
        </p:spPr>
        <p:txBody>
          <a:bodyPr wrap="square">
            <a:spAutoFit/>
          </a:bodyPr>
          <a:lstStyle/>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Lubrication System</a:t>
            </a:r>
            <a:r>
              <a:rPr lang="en-US" b="0" i="0" dirty="0">
                <a:solidFill>
                  <a:srgbClr val="0A0A0A"/>
                </a:solidFill>
                <a:effectLst/>
                <a:latin typeface="Google Sans"/>
              </a:rPr>
              <a:t>: Circulates engine oil to reduce friction between moving parts (like pistons, crankshaft, and camshaft) and dissipate heat.</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Electrical System</a:t>
            </a:r>
            <a:r>
              <a:rPr lang="en-US" b="0" i="0" dirty="0">
                <a:solidFill>
                  <a:srgbClr val="0A0A0A"/>
                </a:solidFill>
                <a:effectLst/>
                <a:latin typeface="Google Sans"/>
              </a:rPr>
              <a:t>: Primarily provides power for starting the engine (battery and starter motor), running onboard electronics (alternator), and operating glow plugs (small electric heaters that aid cold starting by pre-heating the combustion chamber).</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Engine Control Module (ECM)</a:t>
            </a:r>
            <a:r>
              <a:rPr lang="en-US" b="0" i="0" dirty="0">
                <a:solidFill>
                  <a:srgbClr val="0A0A0A"/>
                </a:solidFill>
                <a:effectLst/>
                <a:latin typeface="Google Sans"/>
              </a:rPr>
              <a:t>: An electronic unit that monitors sensors throughout the engine and controls critical functions like fuel mixture, injection timing, and emissions systems for optimal performance and efficiency.</a:t>
            </a:r>
          </a:p>
        </p:txBody>
      </p:sp>
    </p:spTree>
    <p:custDataLst>
      <p:tags r:id="rId1"/>
    </p:custDataLst>
    <p:extLst>
      <p:ext uri="{BB962C8B-B14F-4D97-AF65-F5344CB8AC3E}">
        <p14:creationId xmlns:p14="http://schemas.microsoft.com/office/powerpoint/2010/main" val="2221513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E18D6-41F7-8F59-318B-389359DADF66}"/>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10DB4C1C-646E-0413-99B4-A32F8B150D4A}"/>
              </a:ext>
            </a:extLst>
          </p:cNvPr>
          <p:cNvSpPr txBox="1"/>
          <p:nvPr>
            <p:custDataLst>
              <p:tags r:id="rId2"/>
            </p:custDataLst>
          </p:nvPr>
        </p:nvSpPr>
        <p:spPr>
          <a:xfrm>
            <a:off x="1406492" y="104403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64625C1C-74ED-0A8D-1BD1-3858F2676E18}"/>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5C2ECF66-A148-EEC7-58EE-11A100E703C1}"/>
              </a:ext>
            </a:extLst>
          </p:cNvPr>
          <p:cNvSpPr txBox="1"/>
          <p:nvPr/>
        </p:nvSpPr>
        <p:spPr>
          <a:xfrm>
            <a:off x="718177"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6" name="Picture 5">
            <a:extLst>
              <a:ext uri="{FF2B5EF4-FFF2-40B4-BE49-F238E27FC236}">
                <a16:creationId xmlns:a16="http://schemas.microsoft.com/office/drawing/2014/main" id="{9F2EDBE6-FD1F-515A-A57A-16EFF7AD81A3}"/>
              </a:ext>
            </a:extLst>
          </p:cNvPr>
          <p:cNvPicPr>
            <a:picLocks noChangeAspect="1"/>
          </p:cNvPicPr>
          <p:nvPr/>
        </p:nvPicPr>
        <p:blipFill>
          <a:blip r:embed="rId5"/>
          <a:stretch>
            <a:fillRect/>
          </a:stretch>
        </p:blipFill>
        <p:spPr>
          <a:xfrm>
            <a:off x="3124200" y="1945178"/>
            <a:ext cx="7379954" cy="4162119"/>
          </a:xfrm>
          <a:prstGeom prst="rect">
            <a:avLst/>
          </a:prstGeom>
        </p:spPr>
      </p:pic>
    </p:spTree>
    <p:custDataLst>
      <p:tags r:id="rId1"/>
    </p:custDataLst>
    <p:extLst>
      <p:ext uri="{BB962C8B-B14F-4D97-AF65-F5344CB8AC3E}">
        <p14:creationId xmlns:p14="http://schemas.microsoft.com/office/powerpoint/2010/main" val="2040224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F7060-A0C1-CB9A-EBCC-7391BCE2FF6C}"/>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1C55F462-BF6C-EBF4-F97B-6C09AFD41A03}"/>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58B1D8E0-1D07-2464-3189-9D76A6BE3BF0}"/>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A6C1D62A-10DF-5EB8-385B-D5BCE2C5F534}"/>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98AFC4F5-5D45-A26A-9254-EEB28A1242D4}"/>
              </a:ext>
            </a:extLst>
          </p:cNvPr>
          <p:cNvSpPr/>
          <p:nvPr/>
        </p:nvSpPr>
        <p:spPr>
          <a:xfrm>
            <a:off x="1086678" y="1430502"/>
            <a:ext cx="7738787" cy="307777"/>
          </a:xfrm>
          <a:prstGeom prst="rect">
            <a:avLst/>
          </a:prstGeom>
        </p:spPr>
        <p:txBody>
          <a:bodyPr wrap="square">
            <a:spAutoFit/>
          </a:bodyPr>
          <a:lstStyle/>
          <a:p>
            <a:r>
              <a:rPr lang="en-US" sz="1400" b="1" dirty="0">
                <a:solidFill>
                  <a:srgbClr val="0A0A0A"/>
                </a:solidFill>
                <a:latin typeface="Google Sans"/>
              </a:rPr>
              <a:t>Diesel Lift Pump</a:t>
            </a:r>
            <a:endParaRPr lang="en-US" sz="1400" b="1" dirty="0"/>
          </a:p>
        </p:txBody>
      </p:sp>
      <p:sp>
        <p:nvSpPr>
          <p:cNvPr id="5" name="TextBox 4">
            <a:extLst>
              <a:ext uri="{FF2B5EF4-FFF2-40B4-BE49-F238E27FC236}">
                <a16:creationId xmlns:a16="http://schemas.microsoft.com/office/drawing/2014/main" id="{CAE1F27D-CD15-5A2D-B488-AFAC615FFB2F}"/>
              </a:ext>
            </a:extLst>
          </p:cNvPr>
          <p:cNvSpPr txBox="1"/>
          <p:nvPr/>
        </p:nvSpPr>
        <p:spPr>
          <a:xfrm>
            <a:off x="1086678" y="1822054"/>
            <a:ext cx="10785774" cy="646331"/>
          </a:xfrm>
          <a:prstGeom prst="rect">
            <a:avLst/>
          </a:prstGeom>
          <a:noFill/>
        </p:spPr>
        <p:txBody>
          <a:bodyPr wrap="square">
            <a:spAutoFit/>
          </a:bodyPr>
          <a:lstStyle/>
          <a:p>
            <a:r>
              <a:rPr lang="en-US" b="0" i="0" dirty="0">
                <a:solidFill>
                  <a:srgbClr val="0A0A0A"/>
                </a:solidFill>
                <a:effectLst/>
                <a:latin typeface="+mj-lt"/>
              </a:rPr>
              <a:t>A diesel lift pump is </a:t>
            </a:r>
            <a:r>
              <a:rPr lang="en-US" dirty="0">
                <a:latin typeface="+mj-lt"/>
              </a:rPr>
              <a:t>a low-pressure fuel pump that transfers diesel fuel from the tank to the high-pressure injection pump</a:t>
            </a:r>
          </a:p>
        </p:txBody>
      </p:sp>
      <p:sp>
        <p:nvSpPr>
          <p:cNvPr id="8" name="TextBox 7">
            <a:extLst>
              <a:ext uri="{FF2B5EF4-FFF2-40B4-BE49-F238E27FC236}">
                <a16:creationId xmlns:a16="http://schemas.microsoft.com/office/drawing/2014/main" id="{D19A261E-C9B4-B391-C54D-746F24F19B8A}"/>
              </a:ext>
            </a:extLst>
          </p:cNvPr>
          <p:cNvSpPr txBox="1"/>
          <p:nvPr/>
        </p:nvSpPr>
        <p:spPr>
          <a:xfrm>
            <a:off x="1086678" y="2482047"/>
            <a:ext cx="10402316" cy="923330"/>
          </a:xfrm>
          <a:prstGeom prst="rect">
            <a:avLst/>
          </a:prstGeom>
          <a:noFill/>
        </p:spPr>
        <p:txBody>
          <a:bodyPr wrap="square">
            <a:spAutoFit/>
          </a:bodyPr>
          <a:lstStyle/>
          <a:p>
            <a:r>
              <a:rPr lang="en-US" b="0" i="0" dirty="0">
                <a:solidFill>
                  <a:srgbClr val="0A0A0A"/>
                </a:solidFill>
                <a:effectLst/>
              </a:rPr>
              <a:t>ensuring a consistent and clean fuel supply to the engine. It is a crucial component for optimal performance, as it reduces the strain on the injection pump and prevents fuel starvation. Lift pumps are available as either mechanical or electric and come in various flow rates and pressures</a:t>
            </a:r>
            <a:endParaRPr lang="en-US" dirty="0"/>
          </a:p>
        </p:txBody>
      </p:sp>
      <p:pic>
        <p:nvPicPr>
          <p:cNvPr id="4" name="Picture 3">
            <a:extLst>
              <a:ext uri="{FF2B5EF4-FFF2-40B4-BE49-F238E27FC236}">
                <a16:creationId xmlns:a16="http://schemas.microsoft.com/office/drawing/2014/main" id="{A57D3A9E-0B3C-0C19-F797-33FC2FB20DA5}"/>
              </a:ext>
            </a:extLst>
          </p:cNvPr>
          <p:cNvPicPr>
            <a:picLocks noChangeAspect="1"/>
          </p:cNvPicPr>
          <p:nvPr/>
        </p:nvPicPr>
        <p:blipFill>
          <a:blip r:embed="rId5"/>
          <a:stretch>
            <a:fillRect/>
          </a:stretch>
        </p:blipFill>
        <p:spPr>
          <a:xfrm>
            <a:off x="1383030" y="3419039"/>
            <a:ext cx="2476500" cy="1847850"/>
          </a:xfrm>
          <a:prstGeom prst="rect">
            <a:avLst/>
          </a:prstGeom>
        </p:spPr>
      </p:pic>
      <p:pic>
        <p:nvPicPr>
          <p:cNvPr id="6" name="Picture 5">
            <a:extLst>
              <a:ext uri="{FF2B5EF4-FFF2-40B4-BE49-F238E27FC236}">
                <a16:creationId xmlns:a16="http://schemas.microsoft.com/office/drawing/2014/main" id="{4418BFF2-78D1-954C-B304-BE53201003D9}"/>
              </a:ext>
            </a:extLst>
          </p:cNvPr>
          <p:cNvPicPr>
            <a:picLocks noChangeAspect="1"/>
          </p:cNvPicPr>
          <p:nvPr/>
        </p:nvPicPr>
        <p:blipFill>
          <a:blip r:embed="rId6"/>
          <a:stretch>
            <a:fillRect/>
          </a:stretch>
        </p:blipFill>
        <p:spPr>
          <a:xfrm>
            <a:off x="6343651" y="3636798"/>
            <a:ext cx="2552700" cy="1790700"/>
          </a:xfrm>
          <a:prstGeom prst="rect">
            <a:avLst/>
          </a:prstGeom>
        </p:spPr>
      </p:pic>
    </p:spTree>
    <p:custDataLst>
      <p:tags r:id="rId1"/>
    </p:custDataLst>
    <p:extLst>
      <p:ext uri="{BB962C8B-B14F-4D97-AF65-F5344CB8AC3E}">
        <p14:creationId xmlns:p14="http://schemas.microsoft.com/office/powerpoint/2010/main" val="3913102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A1246-319A-B0B7-A9CA-B9AAC05F4CD4}"/>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B711BDE1-56DC-763D-3EC6-2861FB1D3560}"/>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ECFA1662-A718-626B-4C73-217B27C6BBE2}"/>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D0E8C372-22F6-397B-0314-9006BB33E218}"/>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881DE2B4-2DD0-A284-2806-5729421364F8}"/>
              </a:ext>
            </a:extLst>
          </p:cNvPr>
          <p:cNvSpPr/>
          <p:nvPr/>
        </p:nvSpPr>
        <p:spPr>
          <a:xfrm>
            <a:off x="1086678" y="1430502"/>
            <a:ext cx="7738787" cy="307777"/>
          </a:xfrm>
          <a:prstGeom prst="rect">
            <a:avLst/>
          </a:prstGeom>
        </p:spPr>
        <p:txBody>
          <a:bodyPr wrap="square">
            <a:spAutoFit/>
          </a:bodyPr>
          <a:lstStyle/>
          <a:p>
            <a:r>
              <a:rPr lang="en-US" sz="1400" b="1" dirty="0">
                <a:solidFill>
                  <a:srgbClr val="0A0A0A"/>
                </a:solidFill>
                <a:latin typeface="Google Sans"/>
              </a:rPr>
              <a:t>Diesel Fuel Filter</a:t>
            </a:r>
            <a:endParaRPr lang="en-US" sz="1400" b="1" dirty="0"/>
          </a:p>
        </p:txBody>
      </p:sp>
      <p:sp>
        <p:nvSpPr>
          <p:cNvPr id="9" name="TextBox 8">
            <a:extLst>
              <a:ext uri="{FF2B5EF4-FFF2-40B4-BE49-F238E27FC236}">
                <a16:creationId xmlns:a16="http://schemas.microsoft.com/office/drawing/2014/main" id="{96C65314-9F5F-9527-BDE7-B1C05E953967}"/>
              </a:ext>
            </a:extLst>
          </p:cNvPr>
          <p:cNvSpPr txBox="1"/>
          <p:nvPr/>
        </p:nvSpPr>
        <p:spPr>
          <a:xfrm>
            <a:off x="1086678" y="1822054"/>
            <a:ext cx="10448830" cy="646331"/>
          </a:xfrm>
          <a:prstGeom prst="rect">
            <a:avLst/>
          </a:prstGeom>
          <a:noFill/>
        </p:spPr>
        <p:txBody>
          <a:bodyPr wrap="square">
            <a:spAutoFit/>
          </a:bodyPr>
          <a:lstStyle/>
          <a:p>
            <a:r>
              <a:rPr lang="en-US" dirty="0"/>
              <a:t>A diesel fuel filter is a critical component that removes contaminants, dirt, and water from diesel fuel to protect the engine and fuel system</a:t>
            </a:r>
          </a:p>
        </p:txBody>
      </p:sp>
      <p:sp>
        <p:nvSpPr>
          <p:cNvPr id="11" name="TextBox 10">
            <a:extLst>
              <a:ext uri="{FF2B5EF4-FFF2-40B4-BE49-F238E27FC236}">
                <a16:creationId xmlns:a16="http://schemas.microsoft.com/office/drawing/2014/main" id="{F401EA22-D560-73E8-AEE0-7A129767DACE}"/>
              </a:ext>
            </a:extLst>
          </p:cNvPr>
          <p:cNvSpPr txBox="1"/>
          <p:nvPr/>
        </p:nvSpPr>
        <p:spPr>
          <a:xfrm>
            <a:off x="1086678" y="2468385"/>
            <a:ext cx="10167476" cy="646331"/>
          </a:xfrm>
          <a:prstGeom prst="rect">
            <a:avLst/>
          </a:prstGeom>
          <a:noFill/>
        </p:spPr>
        <p:txBody>
          <a:bodyPr wrap="square">
            <a:spAutoFit/>
          </a:bodyPr>
          <a:lstStyle/>
          <a:p>
            <a:r>
              <a:rPr lang="en-US" b="0" i="0" dirty="0">
                <a:solidFill>
                  <a:srgbClr val="0A0A0A"/>
                </a:solidFill>
                <a:effectLst/>
                <a:latin typeface="Google Sans"/>
              </a:rPr>
              <a:t>By ensuring clean, dry fuel reaches the engine, it prevents damage to expensive components like fuel injectors and pumps, which is especially important for modern high-pressure common rail systems</a:t>
            </a:r>
            <a:endParaRPr lang="en-US" dirty="0"/>
          </a:p>
        </p:txBody>
      </p:sp>
      <p:sp>
        <p:nvSpPr>
          <p:cNvPr id="13" name="TextBox 12">
            <a:extLst>
              <a:ext uri="{FF2B5EF4-FFF2-40B4-BE49-F238E27FC236}">
                <a16:creationId xmlns:a16="http://schemas.microsoft.com/office/drawing/2014/main" id="{7A34FB40-F6DC-5C4D-0046-0B8C523E8E23}"/>
              </a:ext>
            </a:extLst>
          </p:cNvPr>
          <p:cNvSpPr txBox="1"/>
          <p:nvPr/>
        </p:nvSpPr>
        <p:spPr>
          <a:xfrm>
            <a:off x="1086678" y="3220569"/>
            <a:ext cx="10018642" cy="646331"/>
          </a:xfrm>
          <a:prstGeom prst="rect">
            <a:avLst/>
          </a:prstGeom>
          <a:noFill/>
        </p:spPr>
        <p:txBody>
          <a:bodyPr wrap="square">
            <a:spAutoFit/>
          </a:bodyPr>
          <a:lstStyle/>
          <a:p>
            <a:r>
              <a:rPr lang="en-US" b="0" i="0" dirty="0">
                <a:solidFill>
                  <a:srgbClr val="0A0A0A"/>
                </a:solidFill>
                <a:effectLst/>
                <a:latin typeface="Google Sans"/>
              </a:rPr>
              <a:t>By ensuring clean, dry fuel reaches the engine, it prevents damage to expensive components like fuel injectors and pumps, which is especially important for modern high-pressure common rail systems</a:t>
            </a:r>
            <a:endParaRPr lang="en-US" dirty="0"/>
          </a:p>
        </p:txBody>
      </p:sp>
      <p:pic>
        <p:nvPicPr>
          <p:cNvPr id="14" name="Picture 13">
            <a:extLst>
              <a:ext uri="{FF2B5EF4-FFF2-40B4-BE49-F238E27FC236}">
                <a16:creationId xmlns:a16="http://schemas.microsoft.com/office/drawing/2014/main" id="{6A5C5113-7768-64EB-881B-7D6F313EFE47}"/>
              </a:ext>
            </a:extLst>
          </p:cNvPr>
          <p:cNvPicPr>
            <a:picLocks noChangeAspect="1"/>
          </p:cNvPicPr>
          <p:nvPr/>
        </p:nvPicPr>
        <p:blipFill>
          <a:blip r:embed="rId5"/>
          <a:stretch>
            <a:fillRect/>
          </a:stretch>
        </p:blipFill>
        <p:spPr>
          <a:xfrm>
            <a:off x="1212093" y="3866900"/>
            <a:ext cx="2143125" cy="2143125"/>
          </a:xfrm>
          <a:prstGeom prst="rect">
            <a:avLst/>
          </a:prstGeom>
        </p:spPr>
      </p:pic>
      <p:sp>
        <p:nvSpPr>
          <p:cNvPr id="16" name="TextBox 15">
            <a:extLst>
              <a:ext uri="{FF2B5EF4-FFF2-40B4-BE49-F238E27FC236}">
                <a16:creationId xmlns:a16="http://schemas.microsoft.com/office/drawing/2014/main" id="{439BEB24-4263-26EF-2C0E-6815FA21D6BB}"/>
              </a:ext>
            </a:extLst>
          </p:cNvPr>
          <p:cNvSpPr txBox="1"/>
          <p:nvPr/>
        </p:nvSpPr>
        <p:spPr>
          <a:xfrm>
            <a:off x="4681024" y="4188815"/>
            <a:ext cx="6098344" cy="1200329"/>
          </a:xfrm>
          <a:prstGeom prst="rect">
            <a:avLst/>
          </a:prstGeom>
          <a:noFill/>
        </p:spPr>
        <p:txBody>
          <a:bodyPr wrap="square">
            <a:spAutoFit/>
          </a:bodyPr>
          <a:lstStyle/>
          <a:p>
            <a:pPr algn="l">
              <a:buNone/>
            </a:pPr>
            <a:r>
              <a:rPr lang="en-US" b="1" i="0" dirty="0">
                <a:solidFill>
                  <a:srgbClr val="000000"/>
                </a:solidFill>
                <a:effectLst/>
                <a:latin typeface="-apple-system"/>
              </a:rPr>
              <a:t>Product Condition:</a:t>
            </a:r>
            <a:r>
              <a:rPr lang="en-US" b="0" i="0" dirty="0">
                <a:solidFill>
                  <a:srgbClr val="000000"/>
                </a:solidFill>
                <a:effectLst/>
                <a:latin typeface="-apple-system"/>
              </a:rPr>
              <a:t> </a:t>
            </a:r>
            <a:r>
              <a:rPr lang="en-US" b="1" i="0" dirty="0">
                <a:solidFill>
                  <a:srgbClr val="FF0000"/>
                </a:solidFill>
                <a:effectLst/>
                <a:latin typeface="-apple-system"/>
              </a:rPr>
              <a:t>Brand New</a:t>
            </a:r>
            <a:endParaRPr lang="en-US" b="0" i="0" dirty="0">
              <a:solidFill>
                <a:srgbClr val="000000"/>
              </a:solidFill>
              <a:effectLst/>
              <a:latin typeface="-apple-system"/>
            </a:endParaRPr>
          </a:p>
          <a:p>
            <a:pPr algn="l">
              <a:buNone/>
            </a:pPr>
            <a:r>
              <a:rPr lang="en-US" b="0" i="0" dirty="0">
                <a:solidFill>
                  <a:srgbClr val="000000"/>
                </a:solidFill>
                <a:effectLst/>
                <a:latin typeface="-apple-system"/>
              </a:rPr>
              <a:t>Disel Fuel Filter Fits For Hilux Coaster Series</a:t>
            </a:r>
          </a:p>
          <a:p>
            <a:pPr algn="l">
              <a:buNone/>
            </a:pPr>
            <a:r>
              <a:rPr lang="en-US" b="0" i="0" dirty="0">
                <a:solidFill>
                  <a:srgbClr val="000000"/>
                </a:solidFill>
                <a:effectLst/>
                <a:latin typeface="-apple-system"/>
              </a:rPr>
              <a:t>OEM Number: 23390-64480</a:t>
            </a:r>
          </a:p>
          <a:p>
            <a:pPr algn="l">
              <a:buNone/>
            </a:pPr>
            <a:r>
              <a:rPr lang="en-US" b="0" i="0" dirty="0">
                <a:solidFill>
                  <a:srgbClr val="000000"/>
                </a:solidFill>
                <a:effectLst/>
                <a:latin typeface="-apple-system"/>
              </a:rPr>
              <a:t>Cross-reference Numbers: SAKURA FC1105 SAKURA FC1707</a:t>
            </a:r>
          </a:p>
        </p:txBody>
      </p:sp>
    </p:spTree>
    <p:custDataLst>
      <p:tags r:id="rId1"/>
    </p:custDataLst>
    <p:extLst>
      <p:ext uri="{BB962C8B-B14F-4D97-AF65-F5344CB8AC3E}">
        <p14:creationId xmlns:p14="http://schemas.microsoft.com/office/powerpoint/2010/main" val="2771448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9E681-8D1B-EA20-4C01-6D4FF6B6B766}"/>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763F1E2C-FB8B-740B-3F04-E69C04E91511}"/>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15BCC33A-5C0E-120B-8E34-EB4AC49696FB}"/>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C3366079-9524-6993-EC6E-D741CE21F08C}"/>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AB4632FF-818D-BDF5-F3D3-C837728FD8BC}"/>
              </a:ext>
            </a:extLst>
          </p:cNvPr>
          <p:cNvSpPr/>
          <p:nvPr/>
        </p:nvSpPr>
        <p:spPr>
          <a:xfrm>
            <a:off x="1086678" y="1430502"/>
            <a:ext cx="7738787" cy="369332"/>
          </a:xfrm>
          <a:prstGeom prst="rect">
            <a:avLst/>
          </a:prstGeom>
        </p:spPr>
        <p:txBody>
          <a:bodyPr wrap="square">
            <a:spAutoFit/>
          </a:bodyPr>
          <a:lstStyle/>
          <a:p>
            <a:r>
              <a:rPr lang="en-US" b="1" dirty="0"/>
              <a:t>Types of Diesel Fuel Filters</a:t>
            </a:r>
            <a:endParaRPr lang="en-US" sz="1400" b="1" dirty="0"/>
          </a:p>
        </p:txBody>
      </p:sp>
      <p:sp>
        <p:nvSpPr>
          <p:cNvPr id="7" name="TextBox 6">
            <a:extLst>
              <a:ext uri="{FF2B5EF4-FFF2-40B4-BE49-F238E27FC236}">
                <a16:creationId xmlns:a16="http://schemas.microsoft.com/office/drawing/2014/main" id="{61066402-CE71-C473-8A99-E483B4F1FAE2}"/>
              </a:ext>
            </a:extLst>
          </p:cNvPr>
          <p:cNvSpPr txBox="1"/>
          <p:nvPr/>
        </p:nvSpPr>
        <p:spPr>
          <a:xfrm>
            <a:off x="820616" y="1946982"/>
            <a:ext cx="8253046" cy="3416320"/>
          </a:xfrm>
          <a:prstGeom prst="rect">
            <a:avLst/>
          </a:prstGeom>
          <a:noFill/>
        </p:spPr>
        <p:txBody>
          <a:bodyPr wrap="square">
            <a:spAutoFit/>
          </a:bodyPr>
          <a:lstStyle/>
          <a:p>
            <a:r>
              <a:rPr lang="en-US" dirty="0"/>
              <a:t>Diesel fuel filters generally fall into a few primary types based on their design and location in the fuel system. </a:t>
            </a:r>
          </a:p>
          <a:p>
            <a:endParaRPr lang="en-US" dirty="0"/>
          </a:p>
          <a:p>
            <a:r>
              <a:rPr lang="en-US" dirty="0"/>
              <a:t>In-line Fuel Filters: These are typically simple, disposable units installed in the fuel line itself.</a:t>
            </a:r>
          </a:p>
          <a:p>
            <a:endParaRPr lang="en-US" dirty="0"/>
          </a:p>
          <a:p>
            <a:r>
              <a:rPr lang="en-US" dirty="0"/>
              <a:t>Cartridge Fuel Filters: These use a replaceable filter element within a permanent housing, often with a transparent bowl and drain valve to visually inspect and remove water or impurities.</a:t>
            </a:r>
          </a:p>
          <a:p>
            <a:endParaRPr lang="en-US" dirty="0"/>
          </a:p>
          <a:p>
            <a:r>
              <a:rPr lang="en-US" dirty="0"/>
              <a:t>Spin-on Fuel Filters: These filters have a metal canister housing that spins onto a base on the engine or fuel system, similar to an oil filter</a:t>
            </a:r>
          </a:p>
        </p:txBody>
      </p:sp>
      <p:pic>
        <p:nvPicPr>
          <p:cNvPr id="1028" name="Picture 4" descr="Disposable Inline Fuel Filter, 07480 ...">
            <a:extLst>
              <a:ext uri="{FF2B5EF4-FFF2-40B4-BE49-F238E27FC236}">
                <a16:creationId xmlns:a16="http://schemas.microsoft.com/office/drawing/2014/main" id="{8436EE3E-1CA4-DDA7-A6E4-568D022B2B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34463" y="1946982"/>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F307083-A303-1C9E-1A8E-60738619D6EA}"/>
              </a:ext>
            </a:extLst>
          </p:cNvPr>
          <p:cNvPicPr>
            <a:picLocks noChangeAspect="1"/>
          </p:cNvPicPr>
          <p:nvPr/>
        </p:nvPicPr>
        <p:blipFill>
          <a:blip r:embed="rId6"/>
          <a:stretch>
            <a:fillRect/>
          </a:stretch>
        </p:blipFill>
        <p:spPr>
          <a:xfrm>
            <a:off x="9047284" y="3548300"/>
            <a:ext cx="2324100" cy="1962150"/>
          </a:xfrm>
          <a:prstGeom prst="rect">
            <a:avLst/>
          </a:prstGeom>
        </p:spPr>
      </p:pic>
      <p:pic>
        <p:nvPicPr>
          <p:cNvPr id="10" name="Picture 9">
            <a:extLst>
              <a:ext uri="{FF2B5EF4-FFF2-40B4-BE49-F238E27FC236}">
                <a16:creationId xmlns:a16="http://schemas.microsoft.com/office/drawing/2014/main" id="{28EE4A6D-E6F9-0373-5D24-C4CAD57AA6D4}"/>
              </a:ext>
            </a:extLst>
          </p:cNvPr>
          <p:cNvPicPr>
            <a:picLocks noChangeAspect="1"/>
          </p:cNvPicPr>
          <p:nvPr/>
        </p:nvPicPr>
        <p:blipFill>
          <a:blip r:embed="rId7"/>
          <a:stretch>
            <a:fillRect/>
          </a:stretch>
        </p:blipFill>
        <p:spPr>
          <a:xfrm>
            <a:off x="7460238" y="5088121"/>
            <a:ext cx="1587046" cy="1587046"/>
          </a:xfrm>
          <a:prstGeom prst="rect">
            <a:avLst/>
          </a:prstGeom>
        </p:spPr>
      </p:pic>
    </p:spTree>
    <p:custDataLst>
      <p:tags r:id="rId1"/>
    </p:custDataLst>
    <p:extLst>
      <p:ext uri="{BB962C8B-B14F-4D97-AF65-F5344CB8AC3E}">
        <p14:creationId xmlns:p14="http://schemas.microsoft.com/office/powerpoint/2010/main" val="1594293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66C28-35FD-5A95-7F30-8508B579089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80875784-83D3-C24F-ECDB-7B4914EAAB9C}"/>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F18330FB-B058-4145-63B8-033303AB4C38}"/>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E32267F9-B03E-DA0B-BACE-7FCADB1183B9}"/>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90E196E4-D838-0AA7-8CEA-C6F7D58124E6}"/>
              </a:ext>
            </a:extLst>
          </p:cNvPr>
          <p:cNvSpPr/>
          <p:nvPr/>
        </p:nvSpPr>
        <p:spPr>
          <a:xfrm>
            <a:off x="1086678" y="1430502"/>
            <a:ext cx="7738787" cy="369332"/>
          </a:xfrm>
          <a:prstGeom prst="rect">
            <a:avLst/>
          </a:prstGeom>
        </p:spPr>
        <p:txBody>
          <a:bodyPr wrap="square">
            <a:spAutoFit/>
          </a:bodyPr>
          <a:lstStyle/>
          <a:p>
            <a:r>
              <a:rPr lang="en-US" b="1" dirty="0"/>
              <a:t>High Pressure Fuel pump</a:t>
            </a:r>
            <a:endParaRPr lang="en-US" sz="1400" b="1" dirty="0"/>
          </a:p>
        </p:txBody>
      </p:sp>
      <p:sp>
        <p:nvSpPr>
          <p:cNvPr id="5" name="TextBox 4">
            <a:extLst>
              <a:ext uri="{FF2B5EF4-FFF2-40B4-BE49-F238E27FC236}">
                <a16:creationId xmlns:a16="http://schemas.microsoft.com/office/drawing/2014/main" id="{BB5179B4-27DD-2DDF-B58C-135C55017204}"/>
              </a:ext>
            </a:extLst>
          </p:cNvPr>
          <p:cNvSpPr txBox="1"/>
          <p:nvPr/>
        </p:nvSpPr>
        <p:spPr>
          <a:xfrm>
            <a:off x="1086677" y="1883609"/>
            <a:ext cx="10491033" cy="923330"/>
          </a:xfrm>
          <a:prstGeom prst="rect">
            <a:avLst/>
          </a:prstGeom>
          <a:noFill/>
        </p:spPr>
        <p:txBody>
          <a:bodyPr wrap="square">
            <a:spAutoFit/>
          </a:bodyPr>
          <a:lstStyle/>
          <a:p>
            <a:r>
              <a:rPr lang="en-US" b="0" i="0" dirty="0">
                <a:solidFill>
                  <a:srgbClr val="0A0A0A"/>
                </a:solidFill>
                <a:effectLst/>
                <a:latin typeface="Google Sans"/>
              </a:rPr>
              <a:t>A high-pressure fuel pump (HPFP) is </a:t>
            </a:r>
            <a:r>
              <a:rPr lang="en-US" dirty="0"/>
              <a:t>a critical component in modern gasoline direct injection and diesel engines that pressurizes fuel to a high level for direct injection into the engine's combustion chambers</a:t>
            </a:r>
            <a:r>
              <a:rPr lang="en-US" b="0" i="0" dirty="0">
                <a:solidFill>
                  <a:srgbClr val="0A0A0A"/>
                </a:solidFill>
                <a:effectLst/>
                <a:latin typeface="Google Sans"/>
              </a:rPr>
              <a:t>.</a:t>
            </a:r>
            <a:endParaRPr lang="en-US" dirty="0"/>
          </a:p>
        </p:txBody>
      </p:sp>
      <p:sp>
        <p:nvSpPr>
          <p:cNvPr id="9" name="TextBox 8">
            <a:extLst>
              <a:ext uri="{FF2B5EF4-FFF2-40B4-BE49-F238E27FC236}">
                <a16:creationId xmlns:a16="http://schemas.microsoft.com/office/drawing/2014/main" id="{ED725A01-E803-2987-60B5-56CAF1EAB044}"/>
              </a:ext>
            </a:extLst>
          </p:cNvPr>
          <p:cNvSpPr txBox="1"/>
          <p:nvPr/>
        </p:nvSpPr>
        <p:spPr>
          <a:xfrm>
            <a:off x="1086677" y="2890714"/>
            <a:ext cx="10673914" cy="923330"/>
          </a:xfrm>
          <a:prstGeom prst="rect">
            <a:avLst/>
          </a:prstGeom>
          <a:noFill/>
        </p:spPr>
        <p:txBody>
          <a:bodyPr wrap="square">
            <a:spAutoFit/>
          </a:bodyPr>
          <a:lstStyle/>
          <a:p>
            <a:r>
              <a:rPr lang="en-US" b="0" i="0" dirty="0">
                <a:solidFill>
                  <a:srgbClr val="0A0A0A"/>
                </a:solidFill>
                <a:effectLst/>
                <a:latin typeface="Google Sans"/>
              </a:rPr>
              <a:t> This high-pressure, fine fuel spray improves engine performance, fuel economy, and reduces emissions by allowing for more complete and efficient combustion. HFPFs are typically driven mechanically by the camshaft and are essential for both types of modern engines</a:t>
            </a:r>
            <a:endParaRPr lang="en-US" dirty="0"/>
          </a:p>
        </p:txBody>
      </p:sp>
      <p:pic>
        <p:nvPicPr>
          <p:cNvPr id="11" name="Picture 10">
            <a:extLst>
              <a:ext uri="{FF2B5EF4-FFF2-40B4-BE49-F238E27FC236}">
                <a16:creationId xmlns:a16="http://schemas.microsoft.com/office/drawing/2014/main" id="{AD2A5570-23BC-44C3-3DDD-8D19B53E49C3}"/>
              </a:ext>
            </a:extLst>
          </p:cNvPr>
          <p:cNvPicPr>
            <a:picLocks noChangeAspect="1"/>
          </p:cNvPicPr>
          <p:nvPr/>
        </p:nvPicPr>
        <p:blipFill>
          <a:blip r:embed="rId5"/>
          <a:stretch>
            <a:fillRect/>
          </a:stretch>
        </p:blipFill>
        <p:spPr>
          <a:xfrm>
            <a:off x="5335391" y="4127118"/>
            <a:ext cx="2562225" cy="1781175"/>
          </a:xfrm>
          <a:prstGeom prst="rect">
            <a:avLst/>
          </a:prstGeom>
        </p:spPr>
      </p:pic>
    </p:spTree>
    <p:custDataLst>
      <p:tags r:id="rId1"/>
    </p:custDataLst>
    <p:extLst>
      <p:ext uri="{BB962C8B-B14F-4D97-AF65-F5344CB8AC3E}">
        <p14:creationId xmlns:p14="http://schemas.microsoft.com/office/powerpoint/2010/main" val="2063928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50344-476C-C218-7403-8F1BA8458C4E}"/>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52100C9C-9105-229F-D5FC-8ECF60D852C3}"/>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945AED5A-B7E1-B9AE-EB75-4147642FF3C2}"/>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5021B08E-3797-35A7-1D4D-5FC8538300EC}"/>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AF6C4DBB-E2B7-4C10-5463-7A2609BE8E9F}"/>
              </a:ext>
            </a:extLst>
          </p:cNvPr>
          <p:cNvSpPr/>
          <p:nvPr/>
        </p:nvSpPr>
        <p:spPr>
          <a:xfrm>
            <a:off x="1086678" y="1430502"/>
            <a:ext cx="7738787" cy="369332"/>
          </a:xfrm>
          <a:prstGeom prst="rect">
            <a:avLst/>
          </a:prstGeom>
        </p:spPr>
        <p:txBody>
          <a:bodyPr wrap="square">
            <a:spAutoFit/>
          </a:bodyPr>
          <a:lstStyle/>
          <a:p>
            <a:r>
              <a:rPr lang="en-US" b="1" dirty="0"/>
              <a:t>High Pressure Fuel pump</a:t>
            </a:r>
            <a:endParaRPr lang="en-US" sz="1400" b="1" dirty="0"/>
          </a:p>
        </p:txBody>
      </p:sp>
      <p:sp>
        <p:nvSpPr>
          <p:cNvPr id="10" name="TextBox 9">
            <a:extLst>
              <a:ext uri="{FF2B5EF4-FFF2-40B4-BE49-F238E27FC236}">
                <a16:creationId xmlns:a16="http://schemas.microsoft.com/office/drawing/2014/main" id="{A2F08E62-A549-EB99-6753-544E6B3FA43D}"/>
              </a:ext>
            </a:extLst>
          </p:cNvPr>
          <p:cNvSpPr txBox="1"/>
          <p:nvPr/>
        </p:nvSpPr>
        <p:spPr>
          <a:xfrm>
            <a:off x="1086678" y="1943534"/>
            <a:ext cx="9801716" cy="923330"/>
          </a:xfrm>
          <a:prstGeom prst="rect">
            <a:avLst/>
          </a:prstGeom>
          <a:noFill/>
        </p:spPr>
        <p:txBody>
          <a:bodyPr wrap="square">
            <a:spAutoFit/>
          </a:bodyPr>
          <a:lstStyle/>
          <a:p>
            <a:r>
              <a:rPr lang="en-US" dirty="0"/>
              <a:t>Location and drive</a:t>
            </a:r>
          </a:p>
          <a:p>
            <a:r>
              <a:rPr lang="en-US" dirty="0"/>
              <a:t>Location: Usually mounted on the engine.</a:t>
            </a:r>
          </a:p>
          <a:p>
            <a:r>
              <a:rPr lang="en-US" dirty="0"/>
              <a:t>Drive: Mechanically driven by a dedicated lobe on the engine's camshaft</a:t>
            </a:r>
          </a:p>
        </p:txBody>
      </p:sp>
      <p:pic>
        <p:nvPicPr>
          <p:cNvPr id="12" name="Picture 11">
            <a:extLst>
              <a:ext uri="{FF2B5EF4-FFF2-40B4-BE49-F238E27FC236}">
                <a16:creationId xmlns:a16="http://schemas.microsoft.com/office/drawing/2014/main" id="{CE70B2BE-6BCB-3421-0641-C2BAC952983E}"/>
              </a:ext>
            </a:extLst>
          </p:cNvPr>
          <p:cNvPicPr>
            <a:picLocks noChangeAspect="1"/>
          </p:cNvPicPr>
          <p:nvPr/>
        </p:nvPicPr>
        <p:blipFill>
          <a:blip r:embed="rId5"/>
          <a:stretch>
            <a:fillRect/>
          </a:stretch>
        </p:blipFill>
        <p:spPr>
          <a:xfrm>
            <a:off x="1086678" y="3010564"/>
            <a:ext cx="4216842" cy="2677657"/>
          </a:xfrm>
          <a:prstGeom prst="rect">
            <a:avLst/>
          </a:prstGeom>
        </p:spPr>
      </p:pic>
      <p:pic>
        <p:nvPicPr>
          <p:cNvPr id="13" name="Picture 12">
            <a:extLst>
              <a:ext uri="{FF2B5EF4-FFF2-40B4-BE49-F238E27FC236}">
                <a16:creationId xmlns:a16="http://schemas.microsoft.com/office/drawing/2014/main" id="{82D9634E-4B00-D615-E62D-31DD5E6F70A2}"/>
              </a:ext>
            </a:extLst>
          </p:cNvPr>
          <p:cNvPicPr>
            <a:picLocks noChangeAspect="1"/>
          </p:cNvPicPr>
          <p:nvPr/>
        </p:nvPicPr>
        <p:blipFill>
          <a:blip r:embed="rId6"/>
          <a:stretch>
            <a:fillRect/>
          </a:stretch>
        </p:blipFill>
        <p:spPr>
          <a:xfrm>
            <a:off x="6133512" y="3151163"/>
            <a:ext cx="4216841" cy="2110153"/>
          </a:xfrm>
          <a:prstGeom prst="rect">
            <a:avLst/>
          </a:prstGeom>
        </p:spPr>
      </p:pic>
    </p:spTree>
    <p:custDataLst>
      <p:tags r:id="rId1"/>
    </p:custDataLst>
    <p:extLst>
      <p:ext uri="{BB962C8B-B14F-4D97-AF65-F5344CB8AC3E}">
        <p14:creationId xmlns:p14="http://schemas.microsoft.com/office/powerpoint/2010/main" val="2633815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780C5-48F8-6968-18F5-5133CE9B5CD6}"/>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55F59C2A-C8AC-E419-BF00-AF3201D87D10}"/>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3E927EC6-F7EC-4F2F-8124-EBE9F7AC113F}"/>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824F1DCD-79F4-A256-4D12-49A87FBA9E26}"/>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E609C6CD-8072-80F8-3CE1-CDA6BE908C97}"/>
              </a:ext>
            </a:extLst>
          </p:cNvPr>
          <p:cNvSpPr/>
          <p:nvPr/>
        </p:nvSpPr>
        <p:spPr>
          <a:xfrm>
            <a:off x="1086678" y="1430502"/>
            <a:ext cx="7738787" cy="369332"/>
          </a:xfrm>
          <a:prstGeom prst="rect">
            <a:avLst/>
          </a:prstGeom>
        </p:spPr>
        <p:txBody>
          <a:bodyPr wrap="square">
            <a:spAutoFit/>
          </a:bodyPr>
          <a:lstStyle/>
          <a:p>
            <a:r>
              <a:rPr lang="en-US" b="1" dirty="0"/>
              <a:t>High Pressure Fuel pump</a:t>
            </a:r>
            <a:endParaRPr lang="en-US" sz="1400" b="1" dirty="0"/>
          </a:p>
        </p:txBody>
      </p:sp>
      <p:sp>
        <p:nvSpPr>
          <p:cNvPr id="6" name="TextBox 5">
            <a:extLst>
              <a:ext uri="{FF2B5EF4-FFF2-40B4-BE49-F238E27FC236}">
                <a16:creationId xmlns:a16="http://schemas.microsoft.com/office/drawing/2014/main" id="{D726FDF1-A5EF-8B6C-F514-9D55F2A2CD6E}"/>
              </a:ext>
            </a:extLst>
          </p:cNvPr>
          <p:cNvSpPr txBox="1"/>
          <p:nvPr/>
        </p:nvSpPr>
        <p:spPr>
          <a:xfrm>
            <a:off x="1086678" y="1973773"/>
            <a:ext cx="10617642" cy="3416320"/>
          </a:xfrm>
          <a:prstGeom prst="rect">
            <a:avLst/>
          </a:prstGeom>
          <a:noFill/>
        </p:spPr>
        <p:txBody>
          <a:bodyPr wrap="square">
            <a:spAutoFit/>
          </a:bodyPr>
          <a:lstStyle/>
          <a:p>
            <a:r>
              <a:rPr lang="en-US" b="1" dirty="0"/>
              <a:t>Function</a:t>
            </a:r>
          </a:p>
          <a:p>
            <a:endParaRPr lang="en-US" b="1" dirty="0"/>
          </a:p>
          <a:p>
            <a:r>
              <a:rPr lang="en-US" b="1" dirty="0"/>
              <a:t>Pressurizes fuel</a:t>
            </a:r>
            <a:r>
              <a:rPr lang="en-US" dirty="0"/>
              <a:t>: Takes low-pressure fuel from the fuel tank and increases its pressure to the high levels required for direct injection.</a:t>
            </a:r>
          </a:p>
          <a:p>
            <a:endParaRPr lang="en-US" dirty="0"/>
          </a:p>
          <a:p>
            <a:r>
              <a:rPr lang="en-US" b="1" dirty="0"/>
              <a:t>Provides precise fuel delivery</a:t>
            </a:r>
            <a:r>
              <a:rPr lang="en-US" dirty="0"/>
              <a:t>: Delivers fuel to the injectors at the precise pressures needed for efficient combustion, which is especially critical in diesel engines.</a:t>
            </a:r>
          </a:p>
          <a:p>
            <a:endParaRPr lang="en-US" dirty="0"/>
          </a:p>
          <a:p>
            <a:r>
              <a:rPr lang="en-US" b="1" dirty="0"/>
              <a:t>Improves engine performance</a:t>
            </a:r>
            <a:r>
              <a:rPr lang="en-US" dirty="0"/>
              <a:t>: The high-pressure fuel spray creates a finer, more atomized mist, which leads to better combustion, increased power, and better fuel efficiency.</a:t>
            </a:r>
          </a:p>
          <a:p>
            <a:endParaRPr lang="en-US" b="1" dirty="0"/>
          </a:p>
          <a:p>
            <a:r>
              <a:rPr lang="en-US" b="1" dirty="0"/>
              <a:t>Reduces emissions</a:t>
            </a:r>
            <a:r>
              <a:rPr lang="en-US" dirty="0"/>
              <a:t>: More efficient combustion results in lower exhaust emission</a:t>
            </a:r>
          </a:p>
        </p:txBody>
      </p:sp>
    </p:spTree>
    <p:custDataLst>
      <p:tags r:id="rId1"/>
    </p:custDataLst>
    <p:extLst>
      <p:ext uri="{BB962C8B-B14F-4D97-AF65-F5344CB8AC3E}">
        <p14:creationId xmlns:p14="http://schemas.microsoft.com/office/powerpoint/2010/main" val="982723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E3086-FFC9-065B-281C-F51D23409525}"/>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25F6D8DD-6582-0EA3-F61E-A3EC813563A1}"/>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14B4FFEA-432B-5D58-C89A-97B3215AF95E}"/>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2BFF1CFB-9EC5-98D4-47C3-C637334659DB}"/>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8" name="TextBox 7">
            <a:extLst>
              <a:ext uri="{FF2B5EF4-FFF2-40B4-BE49-F238E27FC236}">
                <a16:creationId xmlns:a16="http://schemas.microsoft.com/office/drawing/2014/main" id="{7722119F-D31D-FAF5-AFCB-3FBEF1790327}"/>
              </a:ext>
            </a:extLst>
          </p:cNvPr>
          <p:cNvSpPr txBox="1"/>
          <p:nvPr/>
        </p:nvSpPr>
        <p:spPr>
          <a:xfrm>
            <a:off x="1086678" y="1489425"/>
            <a:ext cx="6098344" cy="400110"/>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0A0A0A"/>
                </a:solidFill>
                <a:effectLst/>
                <a:latin typeface="Google Sans"/>
              </a:rPr>
              <a:t>The main types of high-pressure fuel systems</a:t>
            </a:r>
            <a:endParaRPr lang="en-US" sz="2000" b="1" dirty="0"/>
          </a:p>
        </p:txBody>
      </p:sp>
      <p:sp>
        <p:nvSpPr>
          <p:cNvPr id="10" name="TextBox 9">
            <a:extLst>
              <a:ext uri="{FF2B5EF4-FFF2-40B4-BE49-F238E27FC236}">
                <a16:creationId xmlns:a16="http://schemas.microsoft.com/office/drawing/2014/main" id="{DFBC2123-9D08-B433-7853-C8FA6F7732F2}"/>
              </a:ext>
            </a:extLst>
          </p:cNvPr>
          <p:cNvSpPr txBox="1"/>
          <p:nvPr/>
        </p:nvSpPr>
        <p:spPr>
          <a:xfrm>
            <a:off x="1445455" y="2032233"/>
            <a:ext cx="6098344" cy="369332"/>
          </a:xfrm>
          <a:prstGeom prst="rect">
            <a:avLst/>
          </a:prstGeom>
          <a:noFill/>
        </p:spPr>
        <p:txBody>
          <a:bodyPr wrap="square">
            <a:spAutoFit/>
          </a:bodyPr>
          <a:lstStyle/>
          <a:p>
            <a:r>
              <a:rPr lang="en-US" b="1" i="0" dirty="0">
                <a:solidFill>
                  <a:srgbClr val="0A0A0A"/>
                </a:solidFill>
                <a:effectLst/>
                <a:latin typeface="Google Sans"/>
              </a:rPr>
              <a:t>High-Pressure Common Rail (HPCR)</a:t>
            </a:r>
            <a:endParaRPr lang="en-US" dirty="0"/>
          </a:p>
        </p:txBody>
      </p:sp>
      <p:sp>
        <p:nvSpPr>
          <p:cNvPr id="12" name="TextBox 11">
            <a:extLst>
              <a:ext uri="{FF2B5EF4-FFF2-40B4-BE49-F238E27FC236}">
                <a16:creationId xmlns:a16="http://schemas.microsoft.com/office/drawing/2014/main" id="{770F9A28-4876-320E-355E-8A40470D5583}"/>
              </a:ext>
            </a:extLst>
          </p:cNvPr>
          <p:cNvSpPr txBox="1"/>
          <p:nvPr/>
        </p:nvSpPr>
        <p:spPr>
          <a:xfrm>
            <a:off x="1445455" y="2401565"/>
            <a:ext cx="6098344" cy="369332"/>
          </a:xfrm>
          <a:prstGeom prst="rect">
            <a:avLst/>
          </a:prstGeom>
          <a:noFill/>
        </p:spPr>
        <p:txBody>
          <a:bodyPr wrap="square">
            <a:spAutoFit/>
          </a:bodyPr>
          <a:lstStyle/>
          <a:p>
            <a:r>
              <a:rPr lang="en-US" b="1" i="0" dirty="0">
                <a:solidFill>
                  <a:srgbClr val="0A0A0A"/>
                </a:solidFill>
                <a:effectLst/>
                <a:latin typeface="Google Sans"/>
              </a:rPr>
              <a:t>Electronic Unit Injector (EUI</a:t>
            </a:r>
            <a:endParaRPr lang="en-US" dirty="0"/>
          </a:p>
        </p:txBody>
      </p:sp>
      <p:sp>
        <p:nvSpPr>
          <p:cNvPr id="14" name="TextBox 13">
            <a:extLst>
              <a:ext uri="{FF2B5EF4-FFF2-40B4-BE49-F238E27FC236}">
                <a16:creationId xmlns:a16="http://schemas.microsoft.com/office/drawing/2014/main" id="{61B7EAA5-1D55-E82F-D579-48E0EFFA9ECF}"/>
              </a:ext>
            </a:extLst>
          </p:cNvPr>
          <p:cNvSpPr txBox="1"/>
          <p:nvPr/>
        </p:nvSpPr>
        <p:spPr>
          <a:xfrm>
            <a:off x="1445455" y="2834725"/>
            <a:ext cx="6098344" cy="369332"/>
          </a:xfrm>
          <a:prstGeom prst="rect">
            <a:avLst/>
          </a:prstGeom>
          <a:noFill/>
        </p:spPr>
        <p:txBody>
          <a:bodyPr wrap="square">
            <a:spAutoFit/>
          </a:bodyPr>
          <a:lstStyle/>
          <a:p>
            <a:r>
              <a:rPr lang="en-US" b="1" i="0" dirty="0">
                <a:solidFill>
                  <a:srgbClr val="0A0A0A"/>
                </a:solidFill>
                <a:effectLst/>
                <a:latin typeface="Google Sans"/>
              </a:rPr>
              <a:t>Hydraulically Actuated Electronic Unit Injector (HEUI</a:t>
            </a:r>
            <a:endParaRPr lang="en-US" dirty="0"/>
          </a:p>
        </p:txBody>
      </p:sp>
      <p:sp>
        <p:nvSpPr>
          <p:cNvPr id="16" name="TextBox 15">
            <a:extLst>
              <a:ext uri="{FF2B5EF4-FFF2-40B4-BE49-F238E27FC236}">
                <a16:creationId xmlns:a16="http://schemas.microsoft.com/office/drawing/2014/main" id="{812C3F3E-8327-F72E-2B8F-B0EC61A337B3}"/>
              </a:ext>
            </a:extLst>
          </p:cNvPr>
          <p:cNvSpPr txBox="1"/>
          <p:nvPr/>
        </p:nvSpPr>
        <p:spPr>
          <a:xfrm>
            <a:off x="1445455" y="3559362"/>
            <a:ext cx="6098344" cy="369332"/>
          </a:xfrm>
          <a:prstGeom prst="rect">
            <a:avLst/>
          </a:prstGeom>
          <a:noFill/>
        </p:spPr>
        <p:txBody>
          <a:bodyPr wrap="square">
            <a:spAutoFit/>
          </a:bodyPr>
          <a:lstStyle/>
          <a:p>
            <a:pPr marL="285750" indent="-285750">
              <a:buFont typeface="Wingdings" panose="05000000000000000000" pitchFamily="2" charset="2"/>
              <a:buChar char="Ø"/>
            </a:pPr>
            <a:r>
              <a:rPr lang="en-US" b="1" dirty="0">
                <a:solidFill>
                  <a:srgbClr val="0A0A0A"/>
                </a:solidFill>
                <a:latin typeface="Google Sans"/>
              </a:rPr>
              <a:t>High-Pressure Common Rail (HPCR)</a:t>
            </a:r>
            <a:endParaRPr lang="en-US" dirty="0"/>
          </a:p>
        </p:txBody>
      </p:sp>
      <p:sp>
        <p:nvSpPr>
          <p:cNvPr id="18" name="TextBox 17">
            <a:extLst>
              <a:ext uri="{FF2B5EF4-FFF2-40B4-BE49-F238E27FC236}">
                <a16:creationId xmlns:a16="http://schemas.microsoft.com/office/drawing/2014/main" id="{6B70C4AD-FE72-6BDB-15DE-3A9148F9C875}"/>
              </a:ext>
            </a:extLst>
          </p:cNvPr>
          <p:cNvSpPr txBox="1"/>
          <p:nvPr/>
        </p:nvSpPr>
        <p:spPr>
          <a:xfrm>
            <a:off x="1192237" y="3928694"/>
            <a:ext cx="10174458" cy="923330"/>
          </a:xfrm>
          <a:prstGeom prst="rect">
            <a:avLst/>
          </a:prstGeom>
          <a:noFill/>
        </p:spPr>
        <p:txBody>
          <a:bodyPr wrap="square">
            <a:spAutoFit/>
          </a:bodyPr>
          <a:lstStyle/>
          <a:p>
            <a:r>
              <a:rPr lang="en-US" b="0" i="0" dirty="0">
                <a:solidFill>
                  <a:srgbClr val="0A0A0A"/>
                </a:solidFill>
                <a:effectLst/>
                <a:latin typeface="Google Sans"/>
              </a:rPr>
              <a:t>In this system, a high-pressure pump supplies fuel to a common "rail" which acts as a high-pressure accumulator. Injectors then draw fuel from this rail and inject it into the cylinders. It's a common and widely used system in modern diesel engines</a:t>
            </a:r>
            <a:endParaRPr lang="en-US" dirty="0"/>
          </a:p>
        </p:txBody>
      </p:sp>
      <p:pic>
        <p:nvPicPr>
          <p:cNvPr id="19" name="Picture 18">
            <a:extLst>
              <a:ext uri="{FF2B5EF4-FFF2-40B4-BE49-F238E27FC236}">
                <a16:creationId xmlns:a16="http://schemas.microsoft.com/office/drawing/2014/main" id="{EC681F2A-71CC-B846-B16F-E16683D5237B}"/>
              </a:ext>
            </a:extLst>
          </p:cNvPr>
          <p:cNvPicPr>
            <a:picLocks noChangeAspect="1"/>
          </p:cNvPicPr>
          <p:nvPr/>
        </p:nvPicPr>
        <p:blipFill>
          <a:blip r:embed="rId5"/>
          <a:stretch>
            <a:fillRect/>
          </a:stretch>
        </p:blipFill>
        <p:spPr>
          <a:xfrm>
            <a:off x="6095999" y="4792376"/>
            <a:ext cx="2895600" cy="1581150"/>
          </a:xfrm>
          <a:prstGeom prst="rect">
            <a:avLst/>
          </a:prstGeom>
        </p:spPr>
      </p:pic>
    </p:spTree>
    <p:custDataLst>
      <p:tags r:id="rId1"/>
    </p:custDataLst>
    <p:extLst>
      <p:ext uri="{BB962C8B-B14F-4D97-AF65-F5344CB8AC3E}">
        <p14:creationId xmlns:p14="http://schemas.microsoft.com/office/powerpoint/2010/main" val="2940826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BF0D9-80D8-58D5-DD40-C0D9EE84E3E2}"/>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44B69519-6CE1-50A4-6567-46F7EEBCA583}"/>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397821A6-DCEA-3FAF-94A2-07A2EC72072D}"/>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506DE176-F142-9785-40BA-2E47ACD24BAD}"/>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8" name="TextBox 7">
            <a:extLst>
              <a:ext uri="{FF2B5EF4-FFF2-40B4-BE49-F238E27FC236}">
                <a16:creationId xmlns:a16="http://schemas.microsoft.com/office/drawing/2014/main" id="{FFBEBBE8-3C2A-84BB-7643-E740880CF436}"/>
              </a:ext>
            </a:extLst>
          </p:cNvPr>
          <p:cNvSpPr txBox="1"/>
          <p:nvPr/>
        </p:nvSpPr>
        <p:spPr>
          <a:xfrm>
            <a:off x="1086678" y="1489425"/>
            <a:ext cx="6098344" cy="400110"/>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0A0A0A"/>
                </a:solidFill>
                <a:effectLst/>
                <a:latin typeface="Google Sans"/>
              </a:rPr>
              <a:t>The main types of high-pressure fuel systems</a:t>
            </a:r>
            <a:endParaRPr lang="en-US" sz="2000" b="1" dirty="0"/>
          </a:p>
        </p:txBody>
      </p:sp>
      <p:sp>
        <p:nvSpPr>
          <p:cNvPr id="12" name="TextBox 11">
            <a:extLst>
              <a:ext uri="{FF2B5EF4-FFF2-40B4-BE49-F238E27FC236}">
                <a16:creationId xmlns:a16="http://schemas.microsoft.com/office/drawing/2014/main" id="{C47C7D79-E363-5CBB-74A9-6DE99AC0ACD6}"/>
              </a:ext>
            </a:extLst>
          </p:cNvPr>
          <p:cNvSpPr txBox="1"/>
          <p:nvPr/>
        </p:nvSpPr>
        <p:spPr>
          <a:xfrm>
            <a:off x="1459523" y="1964553"/>
            <a:ext cx="6098344" cy="369332"/>
          </a:xfrm>
          <a:prstGeom prst="rect">
            <a:avLst/>
          </a:prstGeom>
          <a:noFill/>
        </p:spPr>
        <p:txBody>
          <a:bodyPr wrap="square">
            <a:spAutoFit/>
          </a:bodyPr>
          <a:lstStyle/>
          <a:p>
            <a:r>
              <a:rPr lang="en-US" b="1" i="0" dirty="0">
                <a:solidFill>
                  <a:srgbClr val="0A0A0A"/>
                </a:solidFill>
                <a:effectLst/>
                <a:latin typeface="Google Sans"/>
              </a:rPr>
              <a:t>Electronic Unit Injector (EUI</a:t>
            </a:r>
            <a:endParaRPr lang="en-US" dirty="0"/>
          </a:p>
        </p:txBody>
      </p:sp>
      <p:sp>
        <p:nvSpPr>
          <p:cNvPr id="4" name="TextBox 3">
            <a:extLst>
              <a:ext uri="{FF2B5EF4-FFF2-40B4-BE49-F238E27FC236}">
                <a16:creationId xmlns:a16="http://schemas.microsoft.com/office/drawing/2014/main" id="{40647192-4E13-B3AB-B5FB-A71A620FB67E}"/>
              </a:ext>
            </a:extLst>
          </p:cNvPr>
          <p:cNvSpPr txBox="1"/>
          <p:nvPr/>
        </p:nvSpPr>
        <p:spPr>
          <a:xfrm>
            <a:off x="565679" y="2398485"/>
            <a:ext cx="6573129" cy="923330"/>
          </a:xfrm>
          <a:prstGeom prst="rect">
            <a:avLst/>
          </a:prstGeom>
          <a:noFill/>
        </p:spPr>
        <p:txBody>
          <a:bodyPr wrap="square">
            <a:spAutoFit/>
          </a:bodyPr>
          <a:lstStyle/>
          <a:p>
            <a:r>
              <a:rPr lang="en-US" dirty="0"/>
              <a:t> Each cylinder has its own dedicated injector and pump unit. The pump is mechanically driven by the engine, but electronically controlled for precise timing and fuel delivery</a:t>
            </a:r>
          </a:p>
        </p:txBody>
      </p:sp>
      <p:sp>
        <p:nvSpPr>
          <p:cNvPr id="6" name="TextBox 5">
            <a:extLst>
              <a:ext uri="{FF2B5EF4-FFF2-40B4-BE49-F238E27FC236}">
                <a16:creationId xmlns:a16="http://schemas.microsoft.com/office/drawing/2014/main" id="{9CB02B77-A8A2-F724-E219-094E739A9C35}"/>
              </a:ext>
            </a:extLst>
          </p:cNvPr>
          <p:cNvSpPr txBox="1"/>
          <p:nvPr/>
        </p:nvSpPr>
        <p:spPr>
          <a:xfrm>
            <a:off x="565679" y="3910192"/>
            <a:ext cx="6098344" cy="369332"/>
          </a:xfrm>
          <a:prstGeom prst="rect">
            <a:avLst/>
          </a:prstGeom>
          <a:noFill/>
        </p:spPr>
        <p:txBody>
          <a:bodyPr wrap="square">
            <a:spAutoFit/>
          </a:bodyPr>
          <a:lstStyle/>
          <a:p>
            <a:r>
              <a:rPr lang="en-US" b="1" i="0" dirty="0">
                <a:solidFill>
                  <a:srgbClr val="0A0A0A"/>
                </a:solidFill>
                <a:effectLst/>
                <a:latin typeface="Google Sans"/>
              </a:rPr>
              <a:t>Hydraulically Actuated Electronic Unit Injector (HEUI)</a:t>
            </a:r>
            <a:endParaRPr lang="en-US" dirty="0"/>
          </a:p>
        </p:txBody>
      </p:sp>
      <p:sp>
        <p:nvSpPr>
          <p:cNvPr id="9" name="TextBox 8">
            <a:extLst>
              <a:ext uri="{FF2B5EF4-FFF2-40B4-BE49-F238E27FC236}">
                <a16:creationId xmlns:a16="http://schemas.microsoft.com/office/drawing/2014/main" id="{288A7E73-4BF9-00A1-C845-44911DB4A0FE}"/>
              </a:ext>
            </a:extLst>
          </p:cNvPr>
          <p:cNvSpPr txBox="1"/>
          <p:nvPr/>
        </p:nvSpPr>
        <p:spPr>
          <a:xfrm>
            <a:off x="565679" y="4522339"/>
            <a:ext cx="6350937" cy="923330"/>
          </a:xfrm>
          <a:prstGeom prst="rect">
            <a:avLst/>
          </a:prstGeom>
          <a:noFill/>
        </p:spPr>
        <p:txBody>
          <a:bodyPr wrap="square">
            <a:spAutoFit/>
          </a:bodyPr>
          <a:lstStyle/>
          <a:p>
            <a:r>
              <a:rPr lang="en-US" b="0" i="0" dirty="0">
                <a:solidFill>
                  <a:srgbClr val="0A0A0A"/>
                </a:solidFill>
                <a:effectLst/>
                <a:latin typeface="Google Sans"/>
              </a:rPr>
              <a:t>Similar to EUI, but it uses engine oil pressure to actuate the injector's plunger, which then pressurizes the fuel. This system is also electronically controlled</a:t>
            </a:r>
            <a:endParaRPr lang="en-US" dirty="0"/>
          </a:p>
        </p:txBody>
      </p:sp>
      <p:pic>
        <p:nvPicPr>
          <p:cNvPr id="11" name="Picture 10">
            <a:extLst>
              <a:ext uri="{FF2B5EF4-FFF2-40B4-BE49-F238E27FC236}">
                <a16:creationId xmlns:a16="http://schemas.microsoft.com/office/drawing/2014/main" id="{5AD4CEE8-2221-1D69-BB0B-D482CED27E50}"/>
              </a:ext>
            </a:extLst>
          </p:cNvPr>
          <p:cNvPicPr>
            <a:picLocks noChangeAspect="1"/>
          </p:cNvPicPr>
          <p:nvPr/>
        </p:nvPicPr>
        <p:blipFill>
          <a:blip r:embed="rId5"/>
          <a:stretch>
            <a:fillRect/>
          </a:stretch>
        </p:blipFill>
        <p:spPr>
          <a:xfrm>
            <a:off x="7019778" y="1741936"/>
            <a:ext cx="4085543" cy="3075988"/>
          </a:xfrm>
          <a:prstGeom prst="rect">
            <a:avLst/>
          </a:prstGeom>
        </p:spPr>
      </p:pic>
      <p:pic>
        <p:nvPicPr>
          <p:cNvPr id="13" name="Picture 12">
            <a:extLst>
              <a:ext uri="{FF2B5EF4-FFF2-40B4-BE49-F238E27FC236}">
                <a16:creationId xmlns:a16="http://schemas.microsoft.com/office/drawing/2014/main" id="{A272E9FE-2A20-AC33-A6FB-D2589A48C8F2}"/>
              </a:ext>
            </a:extLst>
          </p:cNvPr>
          <p:cNvPicPr>
            <a:picLocks noChangeAspect="1"/>
          </p:cNvPicPr>
          <p:nvPr/>
        </p:nvPicPr>
        <p:blipFill>
          <a:blip r:embed="rId6"/>
          <a:stretch>
            <a:fillRect/>
          </a:stretch>
        </p:blipFill>
        <p:spPr>
          <a:xfrm>
            <a:off x="8553156" y="4279524"/>
            <a:ext cx="3319975" cy="2332291"/>
          </a:xfrm>
          <a:prstGeom prst="rect">
            <a:avLst/>
          </a:prstGeom>
        </p:spPr>
      </p:pic>
    </p:spTree>
    <p:custDataLst>
      <p:tags r:id="rId1"/>
    </p:custDataLst>
    <p:extLst>
      <p:ext uri="{BB962C8B-B14F-4D97-AF65-F5344CB8AC3E}">
        <p14:creationId xmlns:p14="http://schemas.microsoft.com/office/powerpoint/2010/main" val="3790772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8E92-139A-A49B-2478-CF9107149353}"/>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725B1911-CBC7-53F2-8919-DA8AFA541F4B}"/>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AF92A6CA-A1E1-0893-31AD-B2476B6EB9AA}"/>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5F08E9E6-B2FF-1A1B-E012-13F89EFE68A2}"/>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8" name="TextBox 7">
            <a:extLst>
              <a:ext uri="{FF2B5EF4-FFF2-40B4-BE49-F238E27FC236}">
                <a16:creationId xmlns:a16="http://schemas.microsoft.com/office/drawing/2014/main" id="{40995DD8-6BBC-A0FB-EF7E-EFF847D90DDD}"/>
              </a:ext>
            </a:extLst>
          </p:cNvPr>
          <p:cNvSpPr txBox="1"/>
          <p:nvPr/>
        </p:nvSpPr>
        <p:spPr>
          <a:xfrm>
            <a:off x="1086678" y="1489425"/>
            <a:ext cx="6098344" cy="400110"/>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0A0A0A"/>
                </a:solidFill>
                <a:effectLst/>
                <a:latin typeface="Google Sans"/>
              </a:rPr>
              <a:t>The main types of high-pressure fuel systems</a:t>
            </a:r>
            <a:endParaRPr lang="en-US" sz="2000" b="1" dirty="0"/>
          </a:p>
        </p:txBody>
      </p:sp>
      <p:sp>
        <p:nvSpPr>
          <p:cNvPr id="5" name="TextBox 4">
            <a:extLst>
              <a:ext uri="{FF2B5EF4-FFF2-40B4-BE49-F238E27FC236}">
                <a16:creationId xmlns:a16="http://schemas.microsoft.com/office/drawing/2014/main" id="{C1C493F2-01B7-7B24-23D6-F40AD21572F5}"/>
              </a:ext>
            </a:extLst>
          </p:cNvPr>
          <p:cNvSpPr txBox="1"/>
          <p:nvPr/>
        </p:nvSpPr>
        <p:spPr>
          <a:xfrm>
            <a:off x="1473591" y="1964553"/>
            <a:ext cx="6098344" cy="369332"/>
          </a:xfrm>
          <a:prstGeom prst="rect">
            <a:avLst/>
          </a:prstGeom>
          <a:noFill/>
        </p:spPr>
        <p:txBody>
          <a:bodyPr wrap="square">
            <a:spAutoFit/>
          </a:bodyPr>
          <a:lstStyle/>
          <a:p>
            <a:r>
              <a:rPr lang="en-US" b="1" i="0" dirty="0">
                <a:solidFill>
                  <a:srgbClr val="0A0A0A"/>
                </a:solidFill>
                <a:effectLst/>
                <a:latin typeface="Google Sans"/>
              </a:rPr>
              <a:t>Distributor Injection Pumps</a:t>
            </a:r>
            <a:endParaRPr lang="en-US" dirty="0"/>
          </a:p>
        </p:txBody>
      </p:sp>
      <p:sp>
        <p:nvSpPr>
          <p:cNvPr id="10" name="TextBox 9">
            <a:extLst>
              <a:ext uri="{FF2B5EF4-FFF2-40B4-BE49-F238E27FC236}">
                <a16:creationId xmlns:a16="http://schemas.microsoft.com/office/drawing/2014/main" id="{6ED9FE14-ADF6-1A63-84C0-F25FD8EC38D8}"/>
              </a:ext>
            </a:extLst>
          </p:cNvPr>
          <p:cNvSpPr txBox="1"/>
          <p:nvPr/>
        </p:nvSpPr>
        <p:spPr>
          <a:xfrm>
            <a:off x="1086677" y="2373285"/>
            <a:ext cx="10294085" cy="1200329"/>
          </a:xfrm>
          <a:prstGeom prst="rect">
            <a:avLst/>
          </a:prstGeom>
          <a:noFill/>
        </p:spPr>
        <p:txBody>
          <a:bodyPr wrap="square">
            <a:spAutoFit/>
          </a:bodyPr>
          <a:lstStyle/>
          <a:p>
            <a:r>
              <a:rPr lang="en-US" b="0" i="0" dirty="0">
                <a:solidFill>
                  <a:srgbClr val="0A0A0A"/>
                </a:solidFill>
                <a:effectLst/>
                <a:latin typeface="Google Sans"/>
              </a:rPr>
              <a:t>In this older type of system, one central pump generates high pressure and then distributes the metered fuel to each cylinder's injector in the correct firing order, using a rotating distributor mechanism. While less common in modern high-pressure applications compared to common rail systems, they were widely used in many older diesel engines.</a:t>
            </a:r>
            <a:endParaRPr lang="en-US" dirty="0"/>
          </a:p>
        </p:txBody>
      </p:sp>
      <p:pic>
        <p:nvPicPr>
          <p:cNvPr id="14" name="Picture 13">
            <a:extLst>
              <a:ext uri="{FF2B5EF4-FFF2-40B4-BE49-F238E27FC236}">
                <a16:creationId xmlns:a16="http://schemas.microsoft.com/office/drawing/2014/main" id="{495380F7-EB27-5154-1758-449EA36B0EEA}"/>
              </a:ext>
            </a:extLst>
          </p:cNvPr>
          <p:cNvPicPr>
            <a:picLocks noChangeAspect="1"/>
          </p:cNvPicPr>
          <p:nvPr/>
        </p:nvPicPr>
        <p:blipFill>
          <a:blip r:embed="rId5"/>
          <a:stretch>
            <a:fillRect/>
          </a:stretch>
        </p:blipFill>
        <p:spPr>
          <a:xfrm>
            <a:off x="5178324" y="3519673"/>
            <a:ext cx="4013395" cy="2675597"/>
          </a:xfrm>
          <a:prstGeom prst="rect">
            <a:avLst/>
          </a:prstGeom>
        </p:spPr>
      </p:pic>
    </p:spTree>
    <p:custDataLst>
      <p:tags r:id="rId1"/>
    </p:custDataLst>
    <p:extLst>
      <p:ext uri="{BB962C8B-B14F-4D97-AF65-F5344CB8AC3E}">
        <p14:creationId xmlns:p14="http://schemas.microsoft.com/office/powerpoint/2010/main" val="3129707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4699D-2095-8FE3-D628-CF79616D6298}"/>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2C78339D-CFB6-4021-2AFF-16FBA9157BAB}"/>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472F4AEF-5D5D-6DFC-0D24-6BA712ADAA19}"/>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3A496058-2F40-BC72-8CD2-2F1FDA0A6E99}"/>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8" name="TextBox 7">
            <a:extLst>
              <a:ext uri="{FF2B5EF4-FFF2-40B4-BE49-F238E27FC236}">
                <a16:creationId xmlns:a16="http://schemas.microsoft.com/office/drawing/2014/main" id="{03A12DFD-5A27-DE20-5E77-9BA3722E09B0}"/>
              </a:ext>
            </a:extLst>
          </p:cNvPr>
          <p:cNvSpPr txBox="1"/>
          <p:nvPr/>
        </p:nvSpPr>
        <p:spPr>
          <a:xfrm>
            <a:off x="1086678" y="1489425"/>
            <a:ext cx="6098344" cy="400110"/>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0A0A0A"/>
                </a:solidFill>
                <a:effectLst/>
                <a:latin typeface="Google Sans"/>
              </a:rPr>
              <a:t>The main types of high-pressure fuel systems</a:t>
            </a:r>
            <a:endParaRPr lang="en-US" sz="2000" b="1" dirty="0"/>
          </a:p>
        </p:txBody>
      </p:sp>
      <p:sp>
        <p:nvSpPr>
          <p:cNvPr id="5" name="TextBox 4">
            <a:extLst>
              <a:ext uri="{FF2B5EF4-FFF2-40B4-BE49-F238E27FC236}">
                <a16:creationId xmlns:a16="http://schemas.microsoft.com/office/drawing/2014/main" id="{1FA9EC36-F9F2-2558-C20A-F3648E35B665}"/>
              </a:ext>
            </a:extLst>
          </p:cNvPr>
          <p:cNvSpPr txBox="1"/>
          <p:nvPr/>
        </p:nvSpPr>
        <p:spPr>
          <a:xfrm>
            <a:off x="1473591" y="1964553"/>
            <a:ext cx="6098344" cy="369332"/>
          </a:xfrm>
          <a:prstGeom prst="rect">
            <a:avLst/>
          </a:prstGeom>
          <a:noFill/>
        </p:spPr>
        <p:txBody>
          <a:bodyPr wrap="square">
            <a:spAutoFit/>
          </a:bodyPr>
          <a:lstStyle/>
          <a:p>
            <a:r>
              <a:rPr lang="en-US" b="1" dirty="0"/>
              <a:t>Individual (Inline) Injection Pumps</a:t>
            </a:r>
            <a:endParaRPr lang="en-US" dirty="0"/>
          </a:p>
        </p:txBody>
      </p:sp>
      <p:sp>
        <p:nvSpPr>
          <p:cNvPr id="4" name="TextBox 3">
            <a:extLst>
              <a:ext uri="{FF2B5EF4-FFF2-40B4-BE49-F238E27FC236}">
                <a16:creationId xmlns:a16="http://schemas.microsoft.com/office/drawing/2014/main" id="{10A6A586-A3B8-7C5C-70CF-35761FBB08E2}"/>
              </a:ext>
            </a:extLst>
          </p:cNvPr>
          <p:cNvSpPr txBox="1"/>
          <p:nvPr/>
        </p:nvSpPr>
        <p:spPr>
          <a:xfrm>
            <a:off x="967153" y="2261105"/>
            <a:ext cx="10343271" cy="1200329"/>
          </a:xfrm>
          <a:prstGeom prst="rect">
            <a:avLst/>
          </a:prstGeom>
          <a:noFill/>
        </p:spPr>
        <p:txBody>
          <a:bodyPr wrap="square">
            <a:spAutoFit/>
          </a:bodyPr>
          <a:lstStyle/>
          <a:p>
            <a:r>
              <a:rPr lang="en-US" b="0" i="0" dirty="0">
                <a:solidFill>
                  <a:srgbClr val="0A0A0A"/>
                </a:solidFill>
                <a:effectLst/>
                <a:latin typeface="Google Sans"/>
              </a:rPr>
              <a:t>historically significant system, this setup uses a series of individual pumping elements, one for each cylinder, arranged in a line. A single camshaft operates all the elements, and the amount of fuel is controlled by a rack and pinion system (helix-controlled pumps). This design is robust and was common in many heavy-duty diesel engines</a:t>
            </a:r>
            <a:endParaRPr lang="en-US" dirty="0"/>
          </a:p>
        </p:txBody>
      </p:sp>
      <p:pic>
        <p:nvPicPr>
          <p:cNvPr id="6" name="Picture 5">
            <a:extLst>
              <a:ext uri="{FF2B5EF4-FFF2-40B4-BE49-F238E27FC236}">
                <a16:creationId xmlns:a16="http://schemas.microsoft.com/office/drawing/2014/main" id="{FEDCEE30-BAAF-EA20-CE13-87907208E33C}"/>
              </a:ext>
            </a:extLst>
          </p:cNvPr>
          <p:cNvPicPr>
            <a:picLocks noChangeAspect="1"/>
          </p:cNvPicPr>
          <p:nvPr/>
        </p:nvPicPr>
        <p:blipFill>
          <a:blip r:embed="rId5"/>
          <a:stretch>
            <a:fillRect/>
          </a:stretch>
        </p:blipFill>
        <p:spPr>
          <a:xfrm>
            <a:off x="5584068" y="3248263"/>
            <a:ext cx="5318394" cy="2733309"/>
          </a:xfrm>
          <a:prstGeom prst="rect">
            <a:avLst/>
          </a:prstGeom>
        </p:spPr>
      </p:pic>
      <p:pic>
        <p:nvPicPr>
          <p:cNvPr id="7" name="Picture 6">
            <a:extLst>
              <a:ext uri="{FF2B5EF4-FFF2-40B4-BE49-F238E27FC236}">
                <a16:creationId xmlns:a16="http://schemas.microsoft.com/office/drawing/2014/main" id="{89557955-2137-B695-5D0B-4A662455858D}"/>
              </a:ext>
            </a:extLst>
          </p:cNvPr>
          <p:cNvPicPr>
            <a:picLocks noChangeAspect="1"/>
          </p:cNvPicPr>
          <p:nvPr/>
        </p:nvPicPr>
        <p:blipFill>
          <a:blip r:embed="rId6"/>
          <a:stretch>
            <a:fillRect/>
          </a:stretch>
        </p:blipFill>
        <p:spPr>
          <a:xfrm>
            <a:off x="1670593" y="3621190"/>
            <a:ext cx="3652107" cy="2434738"/>
          </a:xfrm>
          <a:prstGeom prst="rect">
            <a:avLst/>
          </a:prstGeom>
        </p:spPr>
      </p:pic>
    </p:spTree>
    <p:custDataLst>
      <p:tags r:id="rId1"/>
    </p:custDataLst>
    <p:extLst>
      <p:ext uri="{BB962C8B-B14F-4D97-AF65-F5344CB8AC3E}">
        <p14:creationId xmlns:p14="http://schemas.microsoft.com/office/powerpoint/2010/main" val="2726029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64421-ED40-B91A-20DE-046C1CBA849C}"/>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FC42F2C3-B502-D914-396C-C4006D3E4D81}"/>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20F7A55E-AAD6-B32D-4310-7F013B68E0B7}"/>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0F436E57-61B5-442D-45B1-D3A87A7FAA90}"/>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8" name="TextBox 7">
            <a:extLst>
              <a:ext uri="{FF2B5EF4-FFF2-40B4-BE49-F238E27FC236}">
                <a16:creationId xmlns:a16="http://schemas.microsoft.com/office/drawing/2014/main" id="{3B18796B-6B53-A175-965C-912B1A30B234}"/>
              </a:ext>
            </a:extLst>
          </p:cNvPr>
          <p:cNvSpPr txBox="1"/>
          <p:nvPr/>
        </p:nvSpPr>
        <p:spPr>
          <a:xfrm>
            <a:off x="1086678" y="1489425"/>
            <a:ext cx="6098344" cy="400110"/>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0A0A0A"/>
                </a:solidFill>
                <a:effectLst/>
                <a:latin typeface="Google Sans"/>
              </a:rPr>
              <a:t>Fuel Injector </a:t>
            </a:r>
            <a:endParaRPr lang="en-US" sz="2000" b="1" dirty="0"/>
          </a:p>
        </p:txBody>
      </p:sp>
      <p:sp>
        <p:nvSpPr>
          <p:cNvPr id="9" name="TextBox 8">
            <a:extLst>
              <a:ext uri="{FF2B5EF4-FFF2-40B4-BE49-F238E27FC236}">
                <a16:creationId xmlns:a16="http://schemas.microsoft.com/office/drawing/2014/main" id="{75AB4538-8E87-BD83-AFF5-14FA98632B7E}"/>
              </a:ext>
            </a:extLst>
          </p:cNvPr>
          <p:cNvSpPr txBox="1"/>
          <p:nvPr/>
        </p:nvSpPr>
        <p:spPr>
          <a:xfrm>
            <a:off x="1086678" y="1964553"/>
            <a:ext cx="9900190" cy="646331"/>
          </a:xfrm>
          <a:prstGeom prst="rect">
            <a:avLst/>
          </a:prstGeom>
          <a:noFill/>
        </p:spPr>
        <p:txBody>
          <a:bodyPr wrap="square">
            <a:spAutoFit/>
          </a:bodyPr>
          <a:lstStyle/>
          <a:p>
            <a:r>
              <a:rPr lang="en-US" b="0" i="0" dirty="0">
                <a:solidFill>
                  <a:srgbClr val="0A0A0A"/>
                </a:solidFill>
                <a:effectLst/>
                <a:latin typeface="Google Sans"/>
              </a:rPr>
              <a:t>Diesel fuel injectors are </a:t>
            </a:r>
            <a:r>
              <a:rPr lang="en-US" dirty="0">
                <a:effectLst/>
              </a:rPr>
              <a:t>precision components in a diesel engine that atomize and inject a precise amount of fuel into the combustion chamber at the exact right moment for optimal combustion</a:t>
            </a:r>
            <a:endParaRPr lang="en-US" dirty="0"/>
          </a:p>
        </p:txBody>
      </p:sp>
      <p:sp>
        <p:nvSpPr>
          <p:cNvPr id="11" name="TextBox 10">
            <a:extLst>
              <a:ext uri="{FF2B5EF4-FFF2-40B4-BE49-F238E27FC236}">
                <a16:creationId xmlns:a16="http://schemas.microsoft.com/office/drawing/2014/main" id="{89A82B43-A778-435E-4AA2-FD1A5C0872B0}"/>
              </a:ext>
            </a:extLst>
          </p:cNvPr>
          <p:cNvSpPr txBox="1"/>
          <p:nvPr/>
        </p:nvSpPr>
        <p:spPr>
          <a:xfrm>
            <a:off x="1086677" y="2685902"/>
            <a:ext cx="10392559" cy="1200329"/>
          </a:xfrm>
          <a:prstGeom prst="rect">
            <a:avLst/>
          </a:prstGeom>
          <a:noFill/>
        </p:spPr>
        <p:txBody>
          <a:bodyPr wrap="square">
            <a:spAutoFit/>
          </a:bodyPr>
          <a:lstStyle/>
          <a:p>
            <a:r>
              <a:rPr lang="en-US" b="1" i="0" dirty="0">
                <a:solidFill>
                  <a:srgbClr val="0A0A0A"/>
                </a:solidFill>
                <a:effectLst/>
                <a:latin typeface="Google Sans"/>
              </a:rPr>
              <a:t>Common Rail (CR) Injectors:</a:t>
            </a:r>
            <a:r>
              <a:rPr lang="en-US" b="0" i="0" dirty="0">
                <a:solidFill>
                  <a:srgbClr val="0A0A0A"/>
                </a:solidFill>
                <a:effectLst/>
                <a:latin typeface="Google Sans"/>
              </a:rPr>
              <a:t> These are the most prevalent type in modern diesel engines, known for improved efficiency, lower emissions, and quieter operation. They operate within a system where a single high-pressure pump continuously supplies a shared fuel rail (accumulator) with fuel at extremely high pressure (up to 30,000 psi or more</a:t>
            </a:r>
            <a:endParaRPr lang="en-US" dirty="0"/>
          </a:p>
        </p:txBody>
      </p:sp>
      <p:sp>
        <p:nvSpPr>
          <p:cNvPr id="13" name="TextBox 12">
            <a:extLst>
              <a:ext uri="{FF2B5EF4-FFF2-40B4-BE49-F238E27FC236}">
                <a16:creationId xmlns:a16="http://schemas.microsoft.com/office/drawing/2014/main" id="{95191C9A-0FDF-D905-DF0C-014408E7AEA4}"/>
              </a:ext>
            </a:extLst>
          </p:cNvPr>
          <p:cNvSpPr txBox="1"/>
          <p:nvPr/>
        </p:nvSpPr>
        <p:spPr>
          <a:xfrm>
            <a:off x="1086678" y="3988818"/>
            <a:ext cx="10533236" cy="1200329"/>
          </a:xfrm>
          <a:prstGeom prst="rect">
            <a:avLst/>
          </a:prstGeom>
          <a:noFill/>
        </p:spPr>
        <p:txBody>
          <a:bodyPr wrap="square">
            <a:spAutoFit/>
          </a:bodyPr>
          <a:lstStyle/>
          <a:p>
            <a:r>
              <a:rPr lang="en-US" b="1" i="0" dirty="0">
                <a:solidFill>
                  <a:srgbClr val="0A0A0A"/>
                </a:solidFill>
                <a:effectLst/>
                <a:latin typeface="Google Sans"/>
              </a:rPr>
              <a:t>Unit Injectors (UI) / </a:t>
            </a:r>
            <a:r>
              <a:rPr lang="en-US" b="1" i="0" dirty="0" err="1">
                <a:solidFill>
                  <a:srgbClr val="0A0A0A"/>
                </a:solidFill>
                <a:effectLst/>
                <a:latin typeface="Google Sans"/>
              </a:rPr>
              <a:t>Pumpe</a:t>
            </a:r>
            <a:r>
              <a:rPr lang="en-US" b="1" i="0" dirty="0">
                <a:solidFill>
                  <a:srgbClr val="0A0A0A"/>
                </a:solidFill>
                <a:effectLst/>
                <a:latin typeface="Google Sans"/>
              </a:rPr>
              <a:t> </a:t>
            </a:r>
            <a:r>
              <a:rPr lang="en-US" b="1" i="0" dirty="0" err="1">
                <a:solidFill>
                  <a:srgbClr val="0A0A0A"/>
                </a:solidFill>
                <a:effectLst/>
                <a:latin typeface="Google Sans"/>
              </a:rPr>
              <a:t>Düse</a:t>
            </a:r>
            <a:r>
              <a:rPr lang="en-US" b="1" i="0" dirty="0">
                <a:solidFill>
                  <a:srgbClr val="0A0A0A"/>
                </a:solidFill>
                <a:effectLst/>
                <a:latin typeface="Google Sans"/>
              </a:rPr>
              <a:t> (PD):</a:t>
            </a:r>
            <a:r>
              <a:rPr lang="en-US" b="0" i="0" dirty="0">
                <a:solidFill>
                  <a:srgbClr val="0A0A0A"/>
                </a:solidFill>
                <a:effectLst/>
                <a:latin typeface="Google Sans"/>
              </a:rPr>
              <a:t> In a unit injector system, the high-pressure pump and the injector nozzle are combined into a single, self-contained unit located in the cylinder head. High pressure is generated within the injector unit itself, typically by a plunger driven by the engine's camshaft, just before injection occurs.</a:t>
            </a:r>
            <a:endParaRPr lang="en-US" dirty="0"/>
          </a:p>
        </p:txBody>
      </p:sp>
      <p:sp>
        <p:nvSpPr>
          <p:cNvPr id="15" name="TextBox 14">
            <a:extLst>
              <a:ext uri="{FF2B5EF4-FFF2-40B4-BE49-F238E27FC236}">
                <a16:creationId xmlns:a16="http://schemas.microsoft.com/office/drawing/2014/main" id="{EFADE0CB-995F-0B84-6756-A79748F3CEF0}"/>
              </a:ext>
            </a:extLst>
          </p:cNvPr>
          <p:cNvSpPr txBox="1"/>
          <p:nvPr/>
        </p:nvSpPr>
        <p:spPr>
          <a:xfrm>
            <a:off x="1086678" y="5189147"/>
            <a:ext cx="10533236" cy="646331"/>
          </a:xfrm>
          <a:prstGeom prst="rect">
            <a:avLst/>
          </a:prstGeom>
          <a:noFill/>
        </p:spPr>
        <p:txBody>
          <a:bodyPr wrap="square">
            <a:spAutoFit/>
          </a:bodyPr>
          <a:lstStyle/>
          <a:p>
            <a:r>
              <a:rPr lang="en-US" b="1" i="0" dirty="0">
                <a:solidFill>
                  <a:srgbClr val="0A0A0A"/>
                </a:solidFill>
                <a:effectLst/>
                <a:latin typeface="Google Sans"/>
              </a:rPr>
              <a:t>Mechanical Injectors:</a:t>
            </a:r>
            <a:r>
              <a:rPr lang="en-US" b="0" i="0" dirty="0">
                <a:solidFill>
                  <a:srgbClr val="0A0A0A"/>
                </a:solidFill>
                <a:effectLst/>
                <a:latin typeface="Google Sans"/>
              </a:rPr>
              <a:t> Found in older diesel engines, these rely on a mechanical injection pump to generate high pressure and time the fuel delivery to each injector through individual fuel lines. </a:t>
            </a:r>
            <a:endParaRPr lang="en-US" dirty="0"/>
          </a:p>
        </p:txBody>
      </p:sp>
    </p:spTree>
    <p:custDataLst>
      <p:tags r:id="rId1"/>
    </p:custDataLst>
    <p:extLst>
      <p:ext uri="{BB962C8B-B14F-4D97-AF65-F5344CB8AC3E}">
        <p14:creationId xmlns:p14="http://schemas.microsoft.com/office/powerpoint/2010/main" val="2954041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82648-E220-9CF7-1A8D-309C1E2B9080}"/>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E8E3D612-1F72-EEA7-288C-44C3B7192748}"/>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AAB6345D-56F3-71BE-A104-F6DC09D86EE2}"/>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FA4DABDB-06CE-134E-A75E-CDB575D97928}"/>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8" name="TextBox 7">
            <a:extLst>
              <a:ext uri="{FF2B5EF4-FFF2-40B4-BE49-F238E27FC236}">
                <a16:creationId xmlns:a16="http://schemas.microsoft.com/office/drawing/2014/main" id="{B3DB9FBE-0226-0905-D920-06661E4A9633}"/>
              </a:ext>
            </a:extLst>
          </p:cNvPr>
          <p:cNvSpPr txBox="1"/>
          <p:nvPr/>
        </p:nvSpPr>
        <p:spPr>
          <a:xfrm>
            <a:off x="1086678" y="1323210"/>
            <a:ext cx="6098344" cy="400110"/>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0A0A0A"/>
                </a:solidFill>
                <a:effectLst/>
                <a:latin typeface="Google Sans"/>
              </a:rPr>
              <a:t>Fuel Injector </a:t>
            </a:r>
            <a:endParaRPr lang="en-US" sz="2000" b="1" dirty="0"/>
          </a:p>
        </p:txBody>
      </p:sp>
      <p:sp>
        <p:nvSpPr>
          <p:cNvPr id="4" name="TextBox 3">
            <a:extLst>
              <a:ext uri="{FF2B5EF4-FFF2-40B4-BE49-F238E27FC236}">
                <a16:creationId xmlns:a16="http://schemas.microsoft.com/office/drawing/2014/main" id="{C1575D9A-EB42-AAA9-8995-BA2D2045F2F4}"/>
              </a:ext>
            </a:extLst>
          </p:cNvPr>
          <p:cNvSpPr txBox="1"/>
          <p:nvPr/>
        </p:nvSpPr>
        <p:spPr>
          <a:xfrm>
            <a:off x="1086678" y="1674091"/>
            <a:ext cx="6098344" cy="369332"/>
          </a:xfrm>
          <a:prstGeom prst="rect">
            <a:avLst/>
          </a:prstGeom>
          <a:noFill/>
        </p:spPr>
        <p:txBody>
          <a:bodyPr wrap="square">
            <a:spAutoFit/>
          </a:bodyPr>
          <a:lstStyle/>
          <a:p>
            <a:r>
              <a:rPr lang="en-US" b="1" i="0" dirty="0">
                <a:solidFill>
                  <a:srgbClr val="0A0A0A"/>
                </a:solidFill>
                <a:effectLst/>
                <a:latin typeface="Google Sans"/>
              </a:rPr>
              <a:t>Key Components of a Diesel Fuel Injector</a:t>
            </a:r>
            <a:endParaRPr lang="en-US" dirty="0"/>
          </a:p>
        </p:txBody>
      </p:sp>
      <p:sp>
        <p:nvSpPr>
          <p:cNvPr id="6" name="TextBox 5">
            <a:extLst>
              <a:ext uri="{FF2B5EF4-FFF2-40B4-BE49-F238E27FC236}">
                <a16:creationId xmlns:a16="http://schemas.microsoft.com/office/drawing/2014/main" id="{EAD61219-BA36-2D60-D2DA-32B52424B2E1}"/>
              </a:ext>
            </a:extLst>
          </p:cNvPr>
          <p:cNvSpPr txBox="1"/>
          <p:nvPr/>
        </p:nvSpPr>
        <p:spPr>
          <a:xfrm>
            <a:off x="567904" y="2035430"/>
            <a:ext cx="11056190" cy="4173578"/>
          </a:xfrm>
          <a:prstGeom prst="rect">
            <a:avLst/>
          </a:prstGeom>
          <a:noFill/>
        </p:spPr>
        <p:txBody>
          <a:bodyPr wrap="square">
            <a:spAutoFit/>
          </a:bodyPr>
          <a:lstStyle/>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Nozzle/Spray Tip:</a:t>
            </a:r>
            <a:r>
              <a:rPr lang="en-US" b="0" i="0" dirty="0">
                <a:solidFill>
                  <a:srgbClr val="0A0A0A"/>
                </a:solidFill>
                <a:effectLst/>
                <a:latin typeface="Google Sans"/>
              </a:rPr>
              <a:t> This is the critical component that atomizes the fuel into a fine mist and controls the spray pattern for optimal mixing with air and efficient combustion.</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Needle Valve/Pintle:</a:t>
            </a:r>
            <a:r>
              <a:rPr lang="en-US" b="0" i="0" dirty="0">
                <a:solidFill>
                  <a:srgbClr val="0A0A0A"/>
                </a:solidFill>
                <a:effectLst/>
                <a:latin typeface="Google Sans"/>
              </a:rPr>
              <a:t> A valve that works in tandem with the nozzle, opening and closing to regulate the flow of fuel.</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Solenoid/Piezo Actuator:</a:t>
            </a:r>
            <a:r>
              <a:rPr lang="en-US" b="0" i="0" dirty="0">
                <a:solidFill>
                  <a:srgbClr val="0A0A0A"/>
                </a:solidFill>
                <a:effectLst/>
                <a:latin typeface="Google Sans"/>
              </a:rPr>
              <a:t> In electronically controlled injectors (like common rail and some unit injectors), this electrical component receives a signal from the ECU to open or close the needle valve with high speed and precision.</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Pressure Spring:</a:t>
            </a:r>
            <a:r>
              <a:rPr lang="en-US" b="0" i="0" dirty="0">
                <a:solidFill>
                  <a:srgbClr val="0A0A0A"/>
                </a:solidFill>
                <a:effectLst/>
                <a:latin typeface="Google Sans"/>
              </a:rPr>
              <a:t> This spring provides resistance to the internal components, helping to control the opening and closing of the nozzle and ensuring proper fuel pressure is maintained within the injector until the precise moment of injection.</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Injector Body:</a:t>
            </a:r>
            <a:r>
              <a:rPr lang="en-US" b="0" i="0" dirty="0">
                <a:solidFill>
                  <a:srgbClr val="0A0A0A"/>
                </a:solidFill>
                <a:effectLst/>
                <a:latin typeface="Google Sans"/>
              </a:rPr>
              <a:t> The main housing that contains and provides structural support for all the internal parts.</a:t>
            </a:r>
          </a:p>
          <a:p>
            <a:pPr algn="l">
              <a:lnSpc>
                <a:spcPts val="1800"/>
              </a:lnSpc>
              <a:spcBef>
                <a:spcPts val="1200"/>
              </a:spcBef>
              <a:spcAft>
                <a:spcPts val="1200"/>
              </a:spcAft>
              <a:buFont typeface="Arial" panose="020B0604020202020204" pitchFamily="34" charset="0"/>
              <a:buChar char="•"/>
            </a:pPr>
            <a:r>
              <a:rPr lang="en-US" b="1" i="0" dirty="0">
                <a:solidFill>
                  <a:srgbClr val="0A0A0A"/>
                </a:solidFill>
                <a:effectLst/>
                <a:latin typeface="Google Sans"/>
              </a:rPr>
              <a:t>Fuel Inlet and Filter Basket:</a:t>
            </a:r>
            <a:r>
              <a:rPr lang="en-US" b="0" i="0" dirty="0">
                <a:solidFill>
                  <a:srgbClr val="0A0A0A"/>
                </a:solidFill>
                <a:effectLst/>
                <a:latin typeface="Google Sans"/>
              </a:rPr>
              <a:t> High-pressure fuel enters the injector through the inlet, passing through a small filter to prevent debris from clogging the precision components</a:t>
            </a:r>
          </a:p>
        </p:txBody>
      </p:sp>
    </p:spTree>
    <p:custDataLst>
      <p:tags r:id="rId1"/>
    </p:custDataLst>
    <p:extLst>
      <p:ext uri="{BB962C8B-B14F-4D97-AF65-F5344CB8AC3E}">
        <p14:creationId xmlns:p14="http://schemas.microsoft.com/office/powerpoint/2010/main" val="1031473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B988C-DA2B-BC3A-4C4B-A9A6290A658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173BD163-DDA6-57C7-8B28-A53207917D2A}"/>
              </a:ext>
            </a:extLst>
          </p:cNvPr>
          <p:cNvSpPr txBox="1"/>
          <p:nvPr>
            <p:custDataLst>
              <p:tags r:id="rId2"/>
            </p:custDataLst>
          </p:nvPr>
        </p:nvSpPr>
        <p:spPr>
          <a:xfrm>
            <a:off x="1086678" y="976356"/>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919FA3C7-DA86-9364-A9DD-F9A1CD8F3866}"/>
              </a:ext>
            </a:extLst>
          </p:cNvPr>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E857DA6-5858-0202-427D-A581996DB848}"/>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8" name="TextBox 7">
            <a:extLst>
              <a:ext uri="{FF2B5EF4-FFF2-40B4-BE49-F238E27FC236}">
                <a16:creationId xmlns:a16="http://schemas.microsoft.com/office/drawing/2014/main" id="{811A45DB-3ADD-3B84-35BF-F071E34FF3B7}"/>
              </a:ext>
            </a:extLst>
          </p:cNvPr>
          <p:cNvSpPr txBox="1"/>
          <p:nvPr/>
        </p:nvSpPr>
        <p:spPr>
          <a:xfrm>
            <a:off x="1086678" y="1323210"/>
            <a:ext cx="6098344" cy="400110"/>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0A0A0A"/>
                </a:solidFill>
                <a:effectLst/>
                <a:latin typeface="Google Sans"/>
              </a:rPr>
              <a:t>Fuel Injector </a:t>
            </a:r>
            <a:endParaRPr lang="en-US" sz="2000" b="1" dirty="0"/>
          </a:p>
        </p:txBody>
      </p:sp>
      <p:sp>
        <p:nvSpPr>
          <p:cNvPr id="4" name="TextBox 3">
            <a:extLst>
              <a:ext uri="{FF2B5EF4-FFF2-40B4-BE49-F238E27FC236}">
                <a16:creationId xmlns:a16="http://schemas.microsoft.com/office/drawing/2014/main" id="{3CB12E90-218B-7FCE-8EDB-D873BBA6932C}"/>
              </a:ext>
            </a:extLst>
          </p:cNvPr>
          <p:cNvSpPr txBox="1"/>
          <p:nvPr/>
        </p:nvSpPr>
        <p:spPr>
          <a:xfrm>
            <a:off x="1086678" y="1674091"/>
            <a:ext cx="6098344" cy="369332"/>
          </a:xfrm>
          <a:prstGeom prst="rect">
            <a:avLst/>
          </a:prstGeom>
          <a:noFill/>
        </p:spPr>
        <p:txBody>
          <a:bodyPr wrap="square">
            <a:spAutoFit/>
          </a:bodyPr>
          <a:lstStyle/>
          <a:p>
            <a:r>
              <a:rPr lang="en-US" b="1" dirty="0">
                <a:solidFill>
                  <a:srgbClr val="0A0A0A"/>
                </a:solidFill>
                <a:latin typeface="Google Sans"/>
              </a:rPr>
              <a:t>Engine Control Unit (ECU)</a:t>
            </a:r>
            <a:endParaRPr lang="en-US" dirty="0"/>
          </a:p>
        </p:txBody>
      </p:sp>
      <p:sp>
        <p:nvSpPr>
          <p:cNvPr id="5" name="TextBox 4">
            <a:extLst>
              <a:ext uri="{FF2B5EF4-FFF2-40B4-BE49-F238E27FC236}">
                <a16:creationId xmlns:a16="http://schemas.microsoft.com/office/drawing/2014/main" id="{B1894A5A-407D-4481-929E-D9E289DE9394}"/>
              </a:ext>
            </a:extLst>
          </p:cNvPr>
          <p:cNvSpPr txBox="1"/>
          <p:nvPr/>
        </p:nvSpPr>
        <p:spPr>
          <a:xfrm>
            <a:off x="1086678" y="2050684"/>
            <a:ext cx="10434762" cy="923330"/>
          </a:xfrm>
          <a:prstGeom prst="rect">
            <a:avLst/>
          </a:prstGeom>
          <a:noFill/>
        </p:spPr>
        <p:txBody>
          <a:bodyPr wrap="square">
            <a:spAutoFit/>
          </a:bodyPr>
          <a:lstStyle/>
          <a:p>
            <a:r>
              <a:rPr lang="en-US" dirty="0"/>
              <a:t>An </a:t>
            </a:r>
            <a:r>
              <a:rPr lang="en-US" b="1" i="0" dirty="0">
                <a:solidFill>
                  <a:srgbClr val="0A0A0A"/>
                </a:solidFill>
                <a:effectLst/>
                <a:latin typeface="Google Sans"/>
              </a:rPr>
              <a:t>Engine Control Unit (ECU)</a:t>
            </a:r>
            <a:r>
              <a:rPr lang="en-US" b="0" i="0" dirty="0">
                <a:solidFill>
                  <a:srgbClr val="0A0A0A"/>
                </a:solidFill>
                <a:effectLst/>
                <a:latin typeface="Google Sans"/>
              </a:rPr>
              <a:t>, also known as an Engine Control Module (ECM), is </a:t>
            </a:r>
            <a:r>
              <a:rPr lang="en-US" dirty="0"/>
              <a:t>the central computer that monitors and manages an internal combustion engine's critical functions to ensure optimal performance, efficiency, and emissions control</a:t>
            </a:r>
            <a:r>
              <a:rPr lang="en-US" b="0" i="0" dirty="0">
                <a:solidFill>
                  <a:srgbClr val="0A0A0A"/>
                </a:solidFill>
                <a:effectLst/>
                <a:latin typeface="Google Sans"/>
              </a:rPr>
              <a:t>. It acts as the "brain" of the engine management system</a:t>
            </a:r>
            <a:endParaRPr lang="en-US" dirty="0"/>
          </a:p>
        </p:txBody>
      </p:sp>
      <p:pic>
        <p:nvPicPr>
          <p:cNvPr id="7" name="Picture 6">
            <a:extLst>
              <a:ext uri="{FF2B5EF4-FFF2-40B4-BE49-F238E27FC236}">
                <a16:creationId xmlns:a16="http://schemas.microsoft.com/office/drawing/2014/main" id="{B6CF0DE7-0BB6-C7FD-9539-373F5A0CBA66}"/>
              </a:ext>
            </a:extLst>
          </p:cNvPr>
          <p:cNvPicPr>
            <a:picLocks noChangeAspect="1"/>
          </p:cNvPicPr>
          <p:nvPr/>
        </p:nvPicPr>
        <p:blipFill>
          <a:blip r:embed="rId5"/>
          <a:stretch>
            <a:fillRect/>
          </a:stretch>
        </p:blipFill>
        <p:spPr>
          <a:xfrm>
            <a:off x="5120640" y="3510158"/>
            <a:ext cx="5036234" cy="2631170"/>
          </a:xfrm>
          <a:prstGeom prst="rect">
            <a:avLst/>
          </a:prstGeom>
        </p:spPr>
      </p:pic>
    </p:spTree>
    <p:custDataLst>
      <p:tags r:id="rId1"/>
    </p:custDataLst>
    <p:extLst>
      <p:ext uri="{BB962C8B-B14F-4D97-AF65-F5344CB8AC3E}">
        <p14:creationId xmlns:p14="http://schemas.microsoft.com/office/powerpoint/2010/main" val="2227574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0A132-71D6-5F4A-9CE3-6C549CD3B85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D7210EA-5276-5BBE-21FD-B1A93B56DA89}"/>
              </a:ext>
            </a:extLst>
          </p:cNvPr>
          <p:cNvSpPr txBox="1"/>
          <p:nvPr>
            <p:custDataLst>
              <p:tags r:id="rId2"/>
            </p:custDataLst>
          </p:nvPr>
        </p:nvSpPr>
        <p:spPr>
          <a:xfrm>
            <a:off x="643441" y="562213"/>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EA20A79B-3D0C-7CC0-EB1B-21DBD637D9F6}"/>
              </a:ext>
            </a:extLst>
          </p:cNvPr>
          <p:cNvSpPr txBox="1"/>
          <p:nvPr>
            <p:custDataLst>
              <p:tags r:id="rId3"/>
            </p:custDataLst>
          </p:nvPr>
        </p:nvSpPr>
        <p:spPr>
          <a:xfrm>
            <a:off x="1529916" y="346485"/>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6275DA89-7439-C659-F4E5-AB166FEB4D24}"/>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8" name="TextBox 7">
            <a:extLst>
              <a:ext uri="{FF2B5EF4-FFF2-40B4-BE49-F238E27FC236}">
                <a16:creationId xmlns:a16="http://schemas.microsoft.com/office/drawing/2014/main" id="{0785A9AE-7E3A-5B16-8DF3-8029DF9FE171}"/>
              </a:ext>
            </a:extLst>
          </p:cNvPr>
          <p:cNvSpPr txBox="1"/>
          <p:nvPr/>
        </p:nvSpPr>
        <p:spPr>
          <a:xfrm>
            <a:off x="643441" y="908753"/>
            <a:ext cx="6098344" cy="400110"/>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0A0A0A"/>
                </a:solidFill>
                <a:effectLst/>
                <a:latin typeface="Google Sans"/>
              </a:rPr>
              <a:t>Fuel Injector </a:t>
            </a:r>
            <a:endParaRPr lang="en-US" sz="2000" b="1" dirty="0"/>
          </a:p>
        </p:txBody>
      </p:sp>
      <p:sp>
        <p:nvSpPr>
          <p:cNvPr id="4" name="TextBox 3">
            <a:extLst>
              <a:ext uri="{FF2B5EF4-FFF2-40B4-BE49-F238E27FC236}">
                <a16:creationId xmlns:a16="http://schemas.microsoft.com/office/drawing/2014/main" id="{2128AB07-F6F0-08A4-FE0F-683DCDF735FC}"/>
              </a:ext>
            </a:extLst>
          </p:cNvPr>
          <p:cNvSpPr txBox="1"/>
          <p:nvPr/>
        </p:nvSpPr>
        <p:spPr>
          <a:xfrm>
            <a:off x="974136" y="1259948"/>
            <a:ext cx="6098344" cy="369332"/>
          </a:xfrm>
          <a:prstGeom prst="rect">
            <a:avLst/>
          </a:prstGeom>
          <a:noFill/>
        </p:spPr>
        <p:txBody>
          <a:bodyPr wrap="square">
            <a:spAutoFit/>
          </a:bodyPr>
          <a:lstStyle/>
          <a:p>
            <a:r>
              <a:rPr lang="en-US" b="1" dirty="0">
                <a:solidFill>
                  <a:srgbClr val="0A0A0A"/>
                </a:solidFill>
                <a:latin typeface="Google Sans"/>
              </a:rPr>
              <a:t>Engine Control Unit (ECU) Operation</a:t>
            </a:r>
            <a:endParaRPr lang="en-US" dirty="0"/>
          </a:p>
        </p:txBody>
      </p:sp>
      <p:sp>
        <p:nvSpPr>
          <p:cNvPr id="6" name="TextBox 5">
            <a:extLst>
              <a:ext uri="{FF2B5EF4-FFF2-40B4-BE49-F238E27FC236}">
                <a16:creationId xmlns:a16="http://schemas.microsoft.com/office/drawing/2014/main" id="{1D15413A-F496-E70D-982C-E789E1DB4976}"/>
              </a:ext>
            </a:extLst>
          </p:cNvPr>
          <p:cNvSpPr txBox="1"/>
          <p:nvPr/>
        </p:nvSpPr>
        <p:spPr>
          <a:xfrm>
            <a:off x="974136" y="1626390"/>
            <a:ext cx="10561371" cy="646331"/>
          </a:xfrm>
          <a:prstGeom prst="rect">
            <a:avLst/>
          </a:prstGeom>
          <a:noFill/>
        </p:spPr>
        <p:txBody>
          <a:bodyPr wrap="square">
            <a:spAutoFit/>
          </a:bodyPr>
          <a:lstStyle/>
          <a:p>
            <a:r>
              <a:rPr lang="en-US" b="0" i="0" dirty="0">
                <a:solidFill>
                  <a:srgbClr val="0A0A0A"/>
                </a:solidFill>
                <a:effectLst/>
                <a:latin typeface="Google Sans"/>
              </a:rPr>
              <a:t>The ECU operates in a continuous feedback loop, relying on three fundamental stages: input, processing, and output</a:t>
            </a:r>
            <a:endParaRPr lang="en-US" dirty="0"/>
          </a:p>
        </p:txBody>
      </p:sp>
      <p:sp>
        <p:nvSpPr>
          <p:cNvPr id="10" name="TextBox 9">
            <a:extLst>
              <a:ext uri="{FF2B5EF4-FFF2-40B4-BE49-F238E27FC236}">
                <a16:creationId xmlns:a16="http://schemas.microsoft.com/office/drawing/2014/main" id="{C5F13BB5-6393-F711-F3C3-289477B7CC5A}"/>
              </a:ext>
            </a:extLst>
          </p:cNvPr>
          <p:cNvSpPr txBox="1"/>
          <p:nvPr/>
        </p:nvSpPr>
        <p:spPr>
          <a:xfrm>
            <a:off x="238539" y="2211450"/>
            <a:ext cx="11714921" cy="4173578"/>
          </a:xfrm>
          <a:prstGeom prst="rect">
            <a:avLst/>
          </a:prstGeom>
          <a:noFill/>
        </p:spPr>
        <p:txBody>
          <a:bodyPr wrap="square">
            <a:spAutoFit/>
          </a:bodyPr>
          <a:lstStyle/>
          <a:p>
            <a:pPr algn="l">
              <a:lnSpc>
                <a:spcPts val="1800"/>
              </a:lnSpc>
              <a:spcBef>
                <a:spcPts val="1200"/>
              </a:spcBef>
              <a:spcAft>
                <a:spcPts val="1200"/>
              </a:spcAft>
              <a:buFont typeface="+mj-lt"/>
              <a:buAutoNum type="arabicPeriod"/>
            </a:pPr>
            <a:r>
              <a:rPr lang="en-US" b="1" i="0" dirty="0">
                <a:solidFill>
                  <a:srgbClr val="0A0A0A"/>
                </a:solidFill>
                <a:effectLst/>
                <a:latin typeface="Google Sans"/>
              </a:rPr>
              <a:t>Input (Sensors):</a:t>
            </a:r>
            <a:r>
              <a:rPr lang="en-US" b="0" i="0" dirty="0">
                <a:solidFill>
                  <a:srgbClr val="0A0A0A"/>
                </a:solidFill>
                <a:effectLst/>
                <a:latin typeface="Google Sans"/>
              </a:rPr>
              <a:t> The ECU receives real-time data from a network of sensors located throughout the engine and vehicle. These sensors measure various operating conditions:</a:t>
            </a:r>
          </a:p>
          <a:p>
            <a:pPr marL="742950" lvl="1" indent="-285750" algn="l">
              <a:lnSpc>
                <a:spcPts val="1800"/>
              </a:lnSpc>
              <a:spcBef>
                <a:spcPts val="1200"/>
              </a:spcBef>
              <a:spcAft>
                <a:spcPts val="1200"/>
              </a:spcAft>
              <a:buFont typeface="+mj-lt"/>
              <a:buAutoNum type="arabicPeriod"/>
            </a:pPr>
            <a:r>
              <a:rPr lang="en-US" b="1" i="0" dirty="0">
                <a:solidFill>
                  <a:srgbClr val="0A0A0A"/>
                </a:solidFill>
                <a:effectLst/>
                <a:latin typeface="Google Sans"/>
              </a:rPr>
              <a:t>Crankshaft and Camshaft Position Sensors:</a:t>
            </a:r>
            <a:r>
              <a:rPr lang="en-US" b="0" i="0" dirty="0">
                <a:solidFill>
                  <a:srgbClr val="0A0A0A"/>
                </a:solidFill>
                <a:effectLst/>
                <a:latin typeface="Google Sans"/>
              </a:rPr>
              <a:t> Provide information on engine speed and the exact position of engine parts for precise timing.</a:t>
            </a:r>
          </a:p>
          <a:p>
            <a:pPr marL="742950" lvl="1" indent="-285750" algn="l">
              <a:lnSpc>
                <a:spcPts val="1800"/>
              </a:lnSpc>
              <a:spcBef>
                <a:spcPts val="1200"/>
              </a:spcBef>
              <a:spcAft>
                <a:spcPts val="1200"/>
              </a:spcAft>
              <a:buFont typeface="+mj-lt"/>
              <a:buAutoNum type="arabicPeriod"/>
            </a:pPr>
            <a:r>
              <a:rPr lang="en-US" b="1" i="0" dirty="0">
                <a:solidFill>
                  <a:srgbClr val="0A0A0A"/>
                </a:solidFill>
                <a:effectLst/>
                <a:latin typeface="Google Sans"/>
              </a:rPr>
              <a:t>Mass Air Flow (MAF) / Manifold Absolute Pressure (MAP) Sensors:</a:t>
            </a:r>
            <a:r>
              <a:rPr lang="en-US" b="0" i="0" dirty="0">
                <a:solidFill>
                  <a:srgbClr val="0A0A0A"/>
                </a:solidFill>
                <a:effectLst/>
                <a:latin typeface="Google Sans"/>
              </a:rPr>
              <a:t> Measure the amount/pressure of air entering the engine to determine the correct air-fuel mixture.</a:t>
            </a:r>
          </a:p>
          <a:p>
            <a:pPr marL="742950" lvl="1" indent="-285750" algn="l">
              <a:lnSpc>
                <a:spcPts val="1800"/>
              </a:lnSpc>
              <a:spcBef>
                <a:spcPts val="1200"/>
              </a:spcBef>
              <a:spcAft>
                <a:spcPts val="1200"/>
              </a:spcAft>
              <a:buFont typeface="+mj-lt"/>
              <a:buAutoNum type="arabicPeriod"/>
            </a:pPr>
            <a:r>
              <a:rPr lang="en-US" b="1" i="0" dirty="0">
                <a:solidFill>
                  <a:srgbClr val="0A0A0A"/>
                </a:solidFill>
                <a:effectLst/>
                <a:latin typeface="Google Sans"/>
              </a:rPr>
              <a:t>Oxygen (O2) Sensors:</a:t>
            </a:r>
            <a:r>
              <a:rPr lang="en-US" b="0" i="0" dirty="0">
                <a:solidFill>
                  <a:srgbClr val="0A0A0A"/>
                </a:solidFill>
                <a:effectLst/>
                <a:latin typeface="Google Sans"/>
              </a:rPr>
              <a:t> Monitor the oxygen content in the exhaust gases to ensure the air-fuel ratio is optimal for efficient combustion and emissions.</a:t>
            </a:r>
          </a:p>
          <a:p>
            <a:pPr marL="742950" lvl="1" indent="-285750" algn="l">
              <a:lnSpc>
                <a:spcPts val="1800"/>
              </a:lnSpc>
              <a:spcBef>
                <a:spcPts val="1200"/>
              </a:spcBef>
              <a:spcAft>
                <a:spcPts val="1200"/>
              </a:spcAft>
              <a:buFont typeface="+mj-lt"/>
              <a:buAutoNum type="arabicPeriod"/>
            </a:pPr>
            <a:r>
              <a:rPr lang="en-US" b="1" i="0" dirty="0">
                <a:solidFill>
                  <a:srgbClr val="0A0A0A"/>
                </a:solidFill>
                <a:effectLst/>
                <a:latin typeface="Google Sans"/>
              </a:rPr>
              <a:t>Coolant Temperature Sensor:</a:t>
            </a:r>
            <a:r>
              <a:rPr lang="en-US" b="0" i="0" dirty="0">
                <a:solidFill>
                  <a:srgbClr val="0A0A0A"/>
                </a:solidFill>
                <a:effectLst/>
                <a:latin typeface="Google Sans"/>
              </a:rPr>
              <a:t> Provides data on engine temperature, allowing the ECU to adjust parameters for cold starts or prevent overheating.</a:t>
            </a:r>
          </a:p>
          <a:p>
            <a:pPr marL="742950" lvl="1" indent="-285750" algn="l">
              <a:lnSpc>
                <a:spcPts val="1800"/>
              </a:lnSpc>
              <a:spcBef>
                <a:spcPts val="1200"/>
              </a:spcBef>
              <a:spcAft>
                <a:spcPts val="1200"/>
              </a:spcAft>
              <a:buFont typeface="+mj-lt"/>
              <a:buAutoNum type="arabicPeriod"/>
            </a:pPr>
            <a:r>
              <a:rPr lang="en-US" b="1" i="0" dirty="0">
                <a:solidFill>
                  <a:srgbClr val="0A0A0A"/>
                </a:solidFill>
                <a:effectLst/>
                <a:latin typeface="Google Sans"/>
              </a:rPr>
              <a:t>Throttle Position Sensor:</a:t>
            </a:r>
            <a:r>
              <a:rPr lang="en-US" b="0" i="0" dirty="0">
                <a:solidFill>
                  <a:srgbClr val="0A0A0A"/>
                </a:solidFill>
                <a:effectLst/>
                <a:latin typeface="Google Sans"/>
              </a:rPr>
              <a:t> Reports the accelerator pedal's position to gauge the driver's power demand.</a:t>
            </a:r>
          </a:p>
        </p:txBody>
      </p:sp>
    </p:spTree>
    <p:custDataLst>
      <p:tags r:id="rId1"/>
    </p:custDataLst>
    <p:extLst>
      <p:ext uri="{BB962C8B-B14F-4D97-AF65-F5344CB8AC3E}">
        <p14:creationId xmlns:p14="http://schemas.microsoft.com/office/powerpoint/2010/main" val="4115277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73184-F98C-880A-1F03-E1AD2700935D}"/>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D7B66152-08E4-FDCF-6280-795F0CC3F517}"/>
              </a:ext>
            </a:extLst>
          </p:cNvPr>
          <p:cNvSpPr txBox="1"/>
          <p:nvPr>
            <p:custDataLst>
              <p:tags r:id="rId2"/>
            </p:custDataLst>
          </p:nvPr>
        </p:nvSpPr>
        <p:spPr>
          <a:xfrm>
            <a:off x="643441" y="562213"/>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4B596332-1818-B587-7F28-A7CF796B0693}"/>
              </a:ext>
            </a:extLst>
          </p:cNvPr>
          <p:cNvSpPr txBox="1"/>
          <p:nvPr>
            <p:custDataLst>
              <p:tags r:id="rId3"/>
            </p:custDataLst>
          </p:nvPr>
        </p:nvSpPr>
        <p:spPr>
          <a:xfrm>
            <a:off x="1529916" y="346485"/>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FFB52286-8FAB-3062-8676-46E9388ABB47}"/>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8" name="TextBox 7">
            <a:extLst>
              <a:ext uri="{FF2B5EF4-FFF2-40B4-BE49-F238E27FC236}">
                <a16:creationId xmlns:a16="http://schemas.microsoft.com/office/drawing/2014/main" id="{C322F076-6F10-EC94-4E5B-3E18FBD8FFF8}"/>
              </a:ext>
            </a:extLst>
          </p:cNvPr>
          <p:cNvSpPr txBox="1"/>
          <p:nvPr/>
        </p:nvSpPr>
        <p:spPr>
          <a:xfrm>
            <a:off x="643441" y="908753"/>
            <a:ext cx="6098344" cy="400110"/>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0A0A0A"/>
                </a:solidFill>
                <a:effectLst/>
                <a:latin typeface="Google Sans"/>
              </a:rPr>
              <a:t>Fuel Injector </a:t>
            </a:r>
            <a:endParaRPr lang="en-US" sz="2000" b="1" dirty="0"/>
          </a:p>
        </p:txBody>
      </p:sp>
      <p:sp>
        <p:nvSpPr>
          <p:cNvPr id="4" name="TextBox 3">
            <a:extLst>
              <a:ext uri="{FF2B5EF4-FFF2-40B4-BE49-F238E27FC236}">
                <a16:creationId xmlns:a16="http://schemas.microsoft.com/office/drawing/2014/main" id="{3D494D30-E7BB-1D39-DC70-F1CBF63F4900}"/>
              </a:ext>
            </a:extLst>
          </p:cNvPr>
          <p:cNvSpPr txBox="1"/>
          <p:nvPr/>
        </p:nvSpPr>
        <p:spPr>
          <a:xfrm>
            <a:off x="974136" y="1259948"/>
            <a:ext cx="6098344" cy="369332"/>
          </a:xfrm>
          <a:prstGeom prst="rect">
            <a:avLst/>
          </a:prstGeom>
          <a:noFill/>
        </p:spPr>
        <p:txBody>
          <a:bodyPr wrap="square">
            <a:spAutoFit/>
          </a:bodyPr>
          <a:lstStyle/>
          <a:p>
            <a:r>
              <a:rPr lang="en-US" b="1" dirty="0">
                <a:solidFill>
                  <a:srgbClr val="0A0A0A"/>
                </a:solidFill>
                <a:latin typeface="Google Sans"/>
              </a:rPr>
              <a:t>Engine Control Unit (ECU) Operation</a:t>
            </a:r>
            <a:endParaRPr lang="en-US" dirty="0"/>
          </a:p>
        </p:txBody>
      </p:sp>
      <p:sp>
        <p:nvSpPr>
          <p:cNvPr id="6" name="TextBox 5">
            <a:extLst>
              <a:ext uri="{FF2B5EF4-FFF2-40B4-BE49-F238E27FC236}">
                <a16:creationId xmlns:a16="http://schemas.microsoft.com/office/drawing/2014/main" id="{98644D63-EBDC-C752-2D9B-C47655348327}"/>
              </a:ext>
            </a:extLst>
          </p:cNvPr>
          <p:cNvSpPr txBox="1"/>
          <p:nvPr/>
        </p:nvSpPr>
        <p:spPr>
          <a:xfrm>
            <a:off x="974136" y="1626390"/>
            <a:ext cx="10561371" cy="646331"/>
          </a:xfrm>
          <a:prstGeom prst="rect">
            <a:avLst/>
          </a:prstGeom>
          <a:noFill/>
        </p:spPr>
        <p:txBody>
          <a:bodyPr wrap="square">
            <a:spAutoFit/>
          </a:bodyPr>
          <a:lstStyle/>
          <a:p>
            <a:r>
              <a:rPr lang="en-US" b="0" i="0" dirty="0">
                <a:solidFill>
                  <a:srgbClr val="0A0A0A"/>
                </a:solidFill>
                <a:effectLst/>
                <a:latin typeface="Google Sans"/>
              </a:rPr>
              <a:t>The ECU operates in a continuous feedback loop, relying on three fundamental stages: input, processing, and output</a:t>
            </a:r>
            <a:endParaRPr lang="en-US" dirty="0"/>
          </a:p>
        </p:txBody>
      </p:sp>
      <p:sp>
        <p:nvSpPr>
          <p:cNvPr id="5" name="TextBox 4">
            <a:extLst>
              <a:ext uri="{FF2B5EF4-FFF2-40B4-BE49-F238E27FC236}">
                <a16:creationId xmlns:a16="http://schemas.microsoft.com/office/drawing/2014/main" id="{6E7D76BE-C131-85C8-8C7B-A795AD614C8E}"/>
              </a:ext>
            </a:extLst>
          </p:cNvPr>
          <p:cNvSpPr txBox="1"/>
          <p:nvPr/>
        </p:nvSpPr>
        <p:spPr>
          <a:xfrm>
            <a:off x="974135" y="2361194"/>
            <a:ext cx="10561370" cy="1025665"/>
          </a:xfrm>
          <a:prstGeom prst="rect">
            <a:avLst/>
          </a:prstGeom>
          <a:noFill/>
        </p:spPr>
        <p:txBody>
          <a:bodyPr wrap="square">
            <a:spAutoFit/>
          </a:bodyPr>
          <a:lstStyle/>
          <a:p>
            <a:pPr algn="l">
              <a:lnSpc>
                <a:spcPts val="1800"/>
              </a:lnSpc>
              <a:spcBef>
                <a:spcPts val="1200"/>
              </a:spcBef>
              <a:spcAft>
                <a:spcPts val="1200"/>
              </a:spcAft>
            </a:pPr>
            <a:r>
              <a:rPr lang="en-US" sz="2000" b="1" i="0" dirty="0">
                <a:solidFill>
                  <a:srgbClr val="0A0A0A"/>
                </a:solidFill>
                <a:effectLst/>
                <a:latin typeface="Google Sans"/>
              </a:rPr>
              <a:t>2. Processing (Microcomputer):</a:t>
            </a:r>
            <a:r>
              <a:rPr lang="en-US" sz="2000" b="0" i="0" dirty="0">
                <a:solidFill>
                  <a:srgbClr val="0A0A0A"/>
                </a:solidFill>
                <a:effectLst/>
                <a:latin typeface="Google Sans"/>
              </a:rPr>
              <a:t> The ECU's internal microprocessor (CPU) and memory instantly process the input data using pre-programmed software and complex algorithms. It compares the real-time data against optimal performance maps stored in its memory to make millions of calculations per second.</a:t>
            </a:r>
          </a:p>
        </p:txBody>
      </p:sp>
    </p:spTree>
    <p:custDataLst>
      <p:tags r:id="rId1"/>
    </p:custDataLst>
    <p:extLst>
      <p:ext uri="{BB962C8B-B14F-4D97-AF65-F5344CB8AC3E}">
        <p14:creationId xmlns:p14="http://schemas.microsoft.com/office/powerpoint/2010/main" val="413419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93566-5584-0F95-8C68-D06B8B62297C}"/>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8AA76849-457A-3EAA-83F2-167B01494017}"/>
              </a:ext>
            </a:extLst>
          </p:cNvPr>
          <p:cNvSpPr txBox="1"/>
          <p:nvPr>
            <p:custDataLst>
              <p:tags r:id="rId2"/>
            </p:custDataLst>
          </p:nvPr>
        </p:nvSpPr>
        <p:spPr>
          <a:xfrm>
            <a:off x="643441" y="562213"/>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F6A5A430-3EA0-22D2-7DE9-48C9353E13A2}"/>
              </a:ext>
            </a:extLst>
          </p:cNvPr>
          <p:cNvSpPr txBox="1"/>
          <p:nvPr>
            <p:custDataLst>
              <p:tags r:id="rId3"/>
            </p:custDataLst>
          </p:nvPr>
        </p:nvSpPr>
        <p:spPr>
          <a:xfrm>
            <a:off x="1529916" y="346485"/>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1A7AE975-B548-2ABE-84E9-7A465A4C4734}"/>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8" name="TextBox 7">
            <a:extLst>
              <a:ext uri="{FF2B5EF4-FFF2-40B4-BE49-F238E27FC236}">
                <a16:creationId xmlns:a16="http://schemas.microsoft.com/office/drawing/2014/main" id="{E62D24FC-67A7-94B8-B930-946153A69383}"/>
              </a:ext>
            </a:extLst>
          </p:cNvPr>
          <p:cNvSpPr txBox="1"/>
          <p:nvPr/>
        </p:nvSpPr>
        <p:spPr>
          <a:xfrm>
            <a:off x="643441" y="908753"/>
            <a:ext cx="6098344" cy="400110"/>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0A0A0A"/>
                </a:solidFill>
                <a:effectLst/>
                <a:latin typeface="Google Sans"/>
              </a:rPr>
              <a:t>Fuel Injector </a:t>
            </a:r>
            <a:endParaRPr lang="en-US" sz="2000" b="1" dirty="0"/>
          </a:p>
        </p:txBody>
      </p:sp>
      <p:sp>
        <p:nvSpPr>
          <p:cNvPr id="4" name="TextBox 3">
            <a:extLst>
              <a:ext uri="{FF2B5EF4-FFF2-40B4-BE49-F238E27FC236}">
                <a16:creationId xmlns:a16="http://schemas.microsoft.com/office/drawing/2014/main" id="{6EC1F098-0971-A687-85F2-60E89D8E9E11}"/>
              </a:ext>
            </a:extLst>
          </p:cNvPr>
          <p:cNvSpPr txBox="1"/>
          <p:nvPr/>
        </p:nvSpPr>
        <p:spPr>
          <a:xfrm>
            <a:off x="974136" y="1259948"/>
            <a:ext cx="6098344" cy="369332"/>
          </a:xfrm>
          <a:prstGeom prst="rect">
            <a:avLst/>
          </a:prstGeom>
          <a:noFill/>
        </p:spPr>
        <p:txBody>
          <a:bodyPr wrap="square">
            <a:spAutoFit/>
          </a:bodyPr>
          <a:lstStyle/>
          <a:p>
            <a:r>
              <a:rPr lang="en-US" b="1" dirty="0">
                <a:solidFill>
                  <a:srgbClr val="0A0A0A"/>
                </a:solidFill>
                <a:latin typeface="Google Sans"/>
              </a:rPr>
              <a:t>Engine Control Unit (ECU) Operation</a:t>
            </a:r>
            <a:endParaRPr lang="en-US" dirty="0"/>
          </a:p>
        </p:txBody>
      </p:sp>
      <p:sp>
        <p:nvSpPr>
          <p:cNvPr id="6" name="TextBox 5">
            <a:extLst>
              <a:ext uri="{FF2B5EF4-FFF2-40B4-BE49-F238E27FC236}">
                <a16:creationId xmlns:a16="http://schemas.microsoft.com/office/drawing/2014/main" id="{2F200A13-9F42-934E-67DE-2258378AA63A}"/>
              </a:ext>
            </a:extLst>
          </p:cNvPr>
          <p:cNvSpPr txBox="1"/>
          <p:nvPr/>
        </p:nvSpPr>
        <p:spPr>
          <a:xfrm>
            <a:off x="974136" y="1626390"/>
            <a:ext cx="10561371" cy="646331"/>
          </a:xfrm>
          <a:prstGeom prst="rect">
            <a:avLst/>
          </a:prstGeom>
          <a:noFill/>
        </p:spPr>
        <p:txBody>
          <a:bodyPr wrap="square">
            <a:spAutoFit/>
          </a:bodyPr>
          <a:lstStyle/>
          <a:p>
            <a:r>
              <a:rPr lang="en-US" b="0" i="0" dirty="0">
                <a:solidFill>
                  <a:srgbClr val="0A0A0A"/>
                </a:solidFill>
                <a:effectLst/>
                <a:latin typeface="Google Sans"/>
              </a:rPr>
              <a:t>The ECU operates in a continuous feedback loop, relying on three fundamental stages: input, processing, and output</a:t>
            </a:r>
            <a:endParaRPr lang="en-US" dirty="0"/>
          </a:p>
        </p:txBody>
      </p:sp>
      <p:sp>
        <p:nvSpPr>
          <p:cNvPr id="7" name="TextBox 6">
            <a:extLst>
              <a:ext uri="{FF2B5EF4-FFF2-40B4-BE49-F238E27FC236}">
                <a16:creationId xmlns:a16="http://schemas.microsoft.com/office/drawing/2014/main" id="{F882925F-D16C-EEE8-7957-437C93A5D2D3}"/>
              </a:ext>
            </a:extLst>
          </p:cNvPr>
          <p:cNvSpPr txBox="1"/>
          <p:nvPr/>
        </p:nvSpPr>
        <p:spPr>
          <a:xfrm>
            <a:off x="974136" y="2323086"/>
            <a:ext cx="10898996" cy="3949543"/>
          </a:xfrm>
          <a:prstGeom prst="rect">
            <a:avLst/>
          </a:prstGeom>
          <a:noFill/>
        </p:spPr>
        <p:txBody>
          <a:bodyPr wrap="square">
            <a:spAutoFit/>
          </a:bodyPr>
          <a:lstStyle/>
          <a:p>
            <a:pPr algn="l">
              <a:lnSpc>
                <a:spcPts val="1800"/>
              </a:lnSpc>
              <a:spcBef>
                <a:spcPts val="1200"/>
              </a:spcBef>
              <a:spcAft>
                <a:spcPts val="1200"/>
              </a:spcAft>
            </a:pPr>
            <a:r>
              <a:rPr lang="en-US" sz="2000" b="1" i="0" dirty="0">
                <a:solidFill>
                  <a:srgbClr val="0A0A0A"/>
                </a:solidFill>
                <a:effectLst/>
                <a:latin typeface="Google Sans"/>
              </a:rPr>
              <a:t>3. Output (Actuators):</a:t>
            </a:r>
            <a:r>
              <a:rPr lang="en-US" sz="2000" b="0" i="0" dirty="0">
                <a:solidFill>
                  <a:srgbClr val="0A0A0A"/>
                </a:solidFill>
                <a:effectLst/>
                <a:latin typeface="Google Sans"/>
              </a:rPr>
              <a:t> Based on its calculations, the ECU sends command signals to various actuators to implement the necessary adjustments: </a:t>
            </a:r>
            <a:r>
              <a:rPr lang="en-US" sz="2000" b="1" i="0" dirty="0">
                <a:solidFill>
                  <a:srgbClr val="0A0A0A"/>
                </a:solidFill>
                <a:effectLst/>
                <a:latin typeface="Google Sans"/>
              </a:rPr>
              <a:t>Fuel Injectors:</a:t>
            </a:r>
            <a:r>
              <a:rPr lang="en-US" sz="2000" b="0" i="0" dirty="0">
                <a:solidFill>
                  <a:srgbClr val="0A0A0A"/>
                </a:solidFill>
                <a:effectLst/>
                <a:latin typeface="Google Sans"/>
              </a:rPr>
              <a:t> The ECU precisely controls the timing and duration of fuel injection to regulate the air-fuel mixture.</a:t>
            </a:r>
          </a:p>
          <a:p>
            <a:pPr algn="l">
              <a:lnSpc>
                <a:spcPts val="1800"/>
              </a:lnSpc>
              <a:spcBef>
                <a:spcPts val="1200"/>
              </a:spcBef>
              <a:spcAft>
                <a:spcPts val="1200"/>
              </a:spcAft>
              <a:buFont typeface="Arial" panose="020B0604020202020204" pitchFamily="34" charset="0"/>
              <a:buChar char="•"/>
            </a:pPr>
            <a:r>
              <a:rPr lang="en-US" sz="2000" b="1" i="0" dirty="0">
                <a:solidFill>
                  <a:srgbClr val="0A0A0A"/>
                </a:solidFill>
                <a:effectLst/>
                <a:latin typeface="Google Sans"/>
              </a:rPr>
              <a:t>Ignition Coils:</a:t>
            </a:r>
            <a:r>
              <a:rPr lang="en-US" sz="2000" b="0" i="0" dirty="0">
                <a:solidFill>
                  <a:srgbClr val="0A0A0A"/>
                </a:solidFill>
                <a:effectLst/>
                <a:latin typeface="Google Sans"/>
              </a:rPr>
              <a:t> Manages the timing of the spark plugs' firing to maximize power output and efficiency.</a:t>
            </a:r>
          </a:p>
          <a:p>
            <a:pPr algn="l">
              <a:lnSpc>
                <a:spcPts val="1800"/>
              </a:lnSpc>
              <a:spcBef>
                <a:spcPts val="1200"/>
              </a:spcBef>
              <a:spcAft>
                <a:spcPts val="1200"/>
              </a:spcAft>
              <a:buFont typeface="Arial" panose="020B0604020202020204" pitchFamily="34" charset="0"/>
              <a:buChar char="•"/>
            </a:pPr>
            <a:r>
              <a:rPr lang="en-US" sz="2000" b="1" i="0" dirty="0">
                <a:solidFill>
                  <a:srgbClr val="0A0A0A"/>
                </a:solidFill>
                <a:effectLst/>
                <a:latin typeface="Google Sans"/>
              </a:rPr>
              <a:t>Electronic Throttle Control:</a:t>
            </a:r>
            <a:r>
              <a:rPr lang="en-US" sz="2000" b="0" i="0" dirty="0">
                <a:solidFill>
                  <a:srgbClr val="0A0A0A"/>
                </a:solidFill>
                <a:effectLst/>
                <a:latin typeface="Google Sans"/>
              </a:rPr>
              <a:t> Modulates the throttle valve opening to control engine speed and air intake.</a:t>
            </a:r>
          </a:p>
          <a:p>
            <a:pPr algn="l">
              <a:lnSpc>
                <a:spcPts val="1800"/>
              </a:lnSpc>
              <a:spcBef>
                <a:spcPts val="1200"/>
              </a:spcBef>
              <a:spcAft>
                <a:spcPts val="1200"/>
              </a:spcAft>
              <a:buFont typeface="Arial" panose="020B0604020202020204" pitchFamily="34" charset="0"/>
              <a:buChar char="•"/>
            </a:pPr>
            <a:r>
              <a:rPr lang="en-US" sz="2000" b="1" i="0" dirty="0">
                <a:solidFill>
                  <a:srgbClr val="0A0A0A"/>
                </a:solidFill>
                <a:effectLst/>
                <a:latin typeface="Google Sans"/>
              </a:rPr>
              <a:t>Idle Air Control Valve:</a:t>
            </a:r>
            <a:r>
              <a:rPr lang="en-US" sz="2000" b="0" i="0" dirty="0">
                <a:solidFill>
                  <a:srgbClr val="0A0A0A"/>
                </a:solidFill>
                <a:effectLst/>
                <a:latin typeface="Google Sans"/>
              </a:rPr>
              <a:t> Regulates the engine's idle speed.</a:t>
            </a:r>
          </a:p>
          <a:p>
            <a:pPr algn="l">
              <a:lnSpc>
                <a:spcPts val="1800"/>
              </a:lnSpc>
              <a:spcBef>
                <a:spcPts val="1200"/>
              </a:spcBef>
              <a:spcAft>
                <a:spcPts val="1200"/>
              </a:spcAft>
              <a:buFont typeface="Arial" panose="020B0604020202020204" pitchFamily="34" charset="0"/>
              <a:buChar char="•"/>
            </a:pPr>
            <a:r>
              <a:rPr lang="en-US" sz="2000" b="1" i="0" dirty="0">
                <a:solidFill>
                  <a:srgbClr val="0A0A0A"/>
                </a:solidFill>
                <a:effectLst/>
                <a:latin typeface="Google Sans"/>
              </a:rPr>
              <a:t>Variable Valve Timing (VVT) Systems:</a:t>
            </a:r>
            <a:r>
              <a:rPr lang="en-US" sz="2000" b="0" i="0" dirty="0">
                <a:solidFill>
                  <a:srgbClr val="0A0A0A"/>
                </a:solidFill>
                <a:effectLst/>
                <a:latin typeface="Google Sans"/>
              </a:rPr>
              <a:t> Adjusts valve timing for improved power, torque, and emissions.</a:t>
            </a:r>
          </a:p>
          <a:p>
            <a:pPr algn="l">
              <a:lnSpc>
                <a:spcPts val="1800"/>
              </a:lnSpc>
              <a:spcBef>
                <a:spcPts val="1200"/>
              </a:spcBef>
              <a:spcAft>
                <a:spcPts val="1200"/>
              </a:spcAft>
              <a:buFont typeface="Arial" panose="020B0604020202020204" pitchFamily="34" charset="0"/>
              <a:buChar char="•"/>
            </a:pPr>
            <a:r>
              <a:rPr lang="en-US" sz="2000" b="1" i="0" dirty="0">
                <a:solidFill>
                  <a:srgbClr val="0A0A0A"/>
                </a:solidFill>
                <a:effectLst/>
                <a:latin typeface="Google Sans"/>
              </a:rPr>
              <a:t>Cooling System Components:</a:t>
            </a:r>
            <a:r>
              <a:rPr lang="en-US" sz="2000" b="0" i="0" dirty="0">
                <a:solidFill>
                  <a:srgbClr val="0A0A0A"/>
                </a:solidFill>
                <a:effectLst/>
                <a:latin typeface="Google Sans"/>
              </a:rPr>
              <a:t> Activates cooling fans or regulates the thermostat to manage engine temperature</a:t>
            </a:r>
          </a:p>
        </p:txBody>
      </p:sp>
    </p:spTree>
    <p:custDataLst>
      <p:tags r:id="rId1"/>
    </p:custDataLst>
    <p:extLst>
      <p:ext uri="{BB962C8B-B14F-4D97-AF65-F5344CB8AC3E}">
        <p14:creationId xmlns:p14="http://schemas.microsoft.com/office/powerpoint/2010/main" val="3957876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8B0FA-840A-8347-26D3-E5CEBA11DCB6}"/>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66C89C3-0E57-D541-6954-58C056B11F28}"/>
              </a:ext>
            </a:extLst>
          </p:cNvPr>
          <p:cNvSpPr txBox="1"/>
          <p:nvPr>
            <p:custDataLst>
              <p:tags r:id="rId2"/>
            </p:custDataLst>
          </p:nvPr>
        </p:nvSpPr>
        <p:spPr>
          <a:xfrm>
            <a:off x="643441" y="562213"/>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7D36DD8D-4245-F5F9-E089-352BDF05887D}"/>
              </a:ext>
            </a:extLst>
          </p:cNvPr>
          <p:cNvSpPr txBox="1"/>
          <p:nvPr>
            <p:custDataLst>
              <p:tags r:id="rId3"/>
            </p:custDataLst>
          </p:nvPr>
        </p:nvSpPr>
        <p:spPr>
          <a:xfrm>
            <a:off x="1529916" y="346485"/>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0C6D4F57-65E5-0CC4-40F3-A6317810EC78}"/>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8" name="TextBox 7">
            <a:extLst>
              <a:ext uri="{FF2B5EF4-FFF2-40B4-BE49-F238E27FC236}">
                <a16:creationId xmlns:a16="http://schemas.microsoft.com/office/drawing/2014/main" id="{98B00F8F-E5EE-61DE-7EF4-AC12F738B62B}"/>
              </a:ext>
            </a:extLst>
          </p:cNvPr>
          <p:cNvSpPr txBox="1"/>
          <p:nvPr/>
        </p:nvSpPr>
        <p:spPr>
          <a:xfrm>
            <a:off x="643441" y="908753"/>
            <a:ext cx="6098344" cy="400110"/>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0A0A0A"/>
                </a:solidFill>
                <a:effectLst/>
                <a:latin typeface="Google Sans"/>
              </a:rPr>
              <a:t>Fuel Injector </a:t>
            </a:r>
            <a:endParaRPr lang="en-US" sz="2000" b="1" dirty="0"/>
          </a:p>
        </p:txBody>
      </p:sp>
      <p:sp>
        <p:nvSpPr>
          <p:cNvPr id="4" name="TextBox 3">
            <a:extLst>
              <a:ext uri="{FF2B5EF4-FFF2-40B4-BE49-F238E27FC236}">
                <a16:creationId xmlns:a16="http://schemas.microsoft.com/office/drawing/2014/main" id="{C247E8BD-6A3F-0BA6-E7AF-3EA9DE25C6D4}"/>
              </a:ext>
            </a:extLst>
          </p:cNvPr>
          <p:cNvSpPr txBox="1"/>
          <p:nvPr/>
        </p:nvSpPr>
        <p:spPr>
          <a:xfrm>
            <a:off x="974136" y="1187943"/>
            <a:ext cx="6098344" cy="369332"/>
          </a:xfrm>
          <a:prstGeom prst="rect">
            <a:avLst/>
          </a:prstGeom>
          <a:noFill/>
        </p:spPr>
        <p:txBody>
          <a:bodyPr wrap="square">
            <a:spAutoFit/>
          </a:bodyPr>
          <a:lstStyle/>
          <a:p>
            <a:r>
              <a:rPr lang="en-US" b="1" dirty="0">
                <a:solidFill>
                  <a:srgbClr val="0A0A0A"/>
                </a:solidFill>
                <a:latin typeface="Google Sans"/>
              </a:rPr>
              <a:t>Engine Control Unit (ECU) Operation</a:t>
            </a:r>
            <a:endParaRPr lang="en-US" dirty="0"/>
          </a:p>
        </p:txBody>
      </p:sp>
      <p:sp>
        <p:nvSpPr>
          <p:cNvPr id="9" name="TextBox 8">
            <a:extLst>
              <a:ext uri="{FF2B5EF4-FFF2-40B4-BE49-F238E27FC236}">
                <a16:creationId xmlns:a16="http://schemas.microsoft.com/office/drawing/2014/main" id="{B425836C-698B-564F-B611-3260E1BAA78E}"/>
              </a:ext>
            </a:extLst>
          </p:cNvPr>
          <p:cNvSpPr txBox="1"/>
          <p:nvPr/>
        </p:nvSpPr>
        <p:spPr>
          <a:xfrm>
            <a:off x="643441" y="1448645"/>
            <a:ext cx="11257827" cy="4801314"/>
          </a:xfrm>
          <a:prstGeom prst="rect">
            <a:avLst/>
          </a:prstGeom>
          <a:noFill/>
        </p:spPr>
        <p:txBody>
          <a:bodyPr wrap="square">
            <a:spAutoFit/>
          </a:bodyPr>
          <a:lstStyle/>
          <a:p>
            <a:r>
              <a:rPr lang="en-US" b="1" dirty="0"/>
              <a:t>Key Functions</a:t>
            </a:r>
          </a:p>
          <a:p>
            <a:r>
              <a:rPr lang="en-US" dirty="0"/>
              <a:t>The ECU manages a wide array of engine and vehicle functions, including:</a:t>
            </a:r>
          </a:p>
          <a:p>
            <a:endParaRPr lang="en-US" dirty="0"/>
          </a:p>
          <a:p>
            <a:r>
              <a:rPr lang="en-US" dirty="0"/>
              <a:t>Fuel Injection Control: Regulates the amount of fuel supplied to the cylinders.</a:t>
            </a:r>
          </a:p>
          <a:p>
            <a:endParaRPr lang="en-US" dirty="0"/>
          </a:p>
          <a:p>
            <a:r>
              <a:rPr lang="en-US" dirty="0"/>
              <a:t>Ignition Timing Control: Determines the precise moment the spark plugs fire.</a:t>
            </a:r>
          </a:p>
          <a:p>
            <a:endParaRPr lang="en-US" dirty="0"/>
          </a:p>
          <a:p>
            <a:r>
              <a:rPr lang="en-US" dirty="0"/>
              <a:t>Emissions Control: Manages systems like exhaust gas recirculation (EGR) and catalytic converters to meet environmental regulations.</a:t>
            </a:r>
          </a:p>
          <a:p>
            <a:endParaRPr lang="en-US" dirty="0"/>
          </a:p>
          <a:p>
            <a:r>
              <a:rPr lang="en-US" dirty="0"/>
              <a:t>Idle Speed Control: Maintains a stable idle under varying loads.</a:t>
            </a:r>
          </a:p>
          <a:p>
            <a:endParaRPr lang="en-US" dirty="0"/>
          </a:p>
          <a:p>
            <a:r>
              <a:rPr lang="en-US" dirty="0"/>
              <a:t>Diagnostics: Continuously monitors system health, stores diagnostic trouble codes (DTCs) in memory, and triggers the "check engine" light if issues arise.</a:t>
            </a:r>
          </a:p>
          <a:p>
            <a:endParaRPr lang="en-US" dirty="0"/>
          </a:p>
          <a:p>
            <a:r>
              <a:rPr lang="en-US" dirty="0"/>
              <a:t>Communication: Interacts with other vehicle control units (e.g., transmission control unit, anti-lock braking system) via a network like the CAN bus to coordinate operations.</a:t>
            </a:r>
          </a:p>
        </p:txBody>
      </p:sp>
    </p:spTree>
    <p:custDataLst>
      <p:tags r:id="rId1"/>
    </p:custDataLst>
    <p:extLst>
      <p:ext uri="{BB962C8B-B14F-4D97-AF65-F5344CB8AC3E}">
        <p14:creationId xmlns:p14="http://schemas.microsoft.com/office/powerpoint/2010/main" val="1279417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502F8-4769-B13E-4673-76A7BCCC7B0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F9732406-A271-6A04-4023-D72845A68E2F}"/>
              </a:ext>
            </a:extLst>
          </p:cNvPr>
          <p:cNvSpPr txBox="1"/>
          <p:nvPr>
            <p:custDataLst>
              <p:tags r:id="rId2"/>
            </p:custDataLst>
          </p:nvPr>
        </p:nvSpPr>
        <p:spPr>
          <a:xfrm>
            <a:off x="643441" y="562213"/>
            <a:ext cx="10018643" cy="370371"/>
          </a:xfrm>
          <a:prstGeom prst="rect">
            <a:avLst/>
          </a:prstGeom>
          <a:noFill/>
        </p:spPr>
        <p:txBody>
          <a:bodyPr wrap="square" rtlCol="0">
            <a:noAutofit/>
          </a:bodyPr>
          <a:lstStyle/>
          <a:p>
            <a:r>
              <a:rPr lang="en-US" b="1" dirty="0"/>
              <a:t>Chapter 8 Service Diesel Fuel System</a:t>
            </a:r>
          </a:p>
        </p:txBody>
      </p:sp>
      <p:sp>
        <p:nvSpPr>
          <p:cNvPr id="22" name="文本框 21">
            <a:extLst>
              <a:ext uri="{FF2B5EF4-FFF2-40B4-BE49-F238E27FC236}">
                <a16:creationId xmlns:a16="http://schemas.microsoft.com/office/drawing/2014/main" id="{0FAC6036-1E5F-0691-F166-92E8F06DB91A}"/>
              </a:ext>
            </a:extLst>
          </p:cNvPr>
          <p:cNvSpPr txBox="1"/>
          <p:nvPr>
            <p:custDataLst>
              <p:tags r:id="rId3"/>
            </p:custDataLst>
          </p:nvPr>
        </p:nvSpPr>
        <p:spPr>
          <a:xfrm>
            <a:off x="1529916" y="346485"/>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3971D693-D666-8AB3-17CB-89227A5837D2}"/>
              </a:ext>
            </a:extLst>
          </p:cNvPr>
          <p:cNvSpPr txBox="1"/>
          <p:nvPr/>
        </p:nvSpPr>
        <p:spPr>
          <a:xfrm>
            <a:off x="820616" y="614132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8" name="TextBox 7">
            <a:extLst>
              <a:ext uri="{FF2B5EF4-FFF2-40B4-BE49-F238E27FC236}">
                <a16:creationId xmlns:a16="http://schemas.microsoft.com/office/drawing/2014/main" id="{3FEDE4AD-CC61-994A-3A4D-7F0ED327A463}"/>
              </a:ext>
            </a:extLst>
          </p:cNvPr>
          <p:cNvSpPr txBox="1"/>
          <p:nvPr/>
        </p:nvSpPr>
        <p:spPr>
          <a:xfrm>
            <a:off x="643441" y="908753"/>
            <a:ext cx="6098344" cy="400110"/>
          </a:xfrm>
          <a:prstGeom prst="rect">
            <a:avLst/>
          </a:prstGeom>
          <a:noFill/>
        </p:spPr>
        <p:txBody>
          <a:bodyPr wrap="square">
            <a:spAutoFit/>
          </a:bodyPr>
          <a:lstStyle/>
          <a:p>
            <a:pPr marL="342900" indent="-342900">
              <a:buFont typeface="Wingdings" panose="05000000000000000000" pitchFamily="2" charset="2"/>
              <a:buChar char="Ø"/>
            </a:pPr>
            <a:r>
              <a:rPr lang="en-US" sz="2000" b="1" i="0" dirty="0">
                <a:solidFill>
                  <a:srgbClr val="0A0A0A"/>
                </a:solidFill>
                <a:effectLst/>
                <a:latin typeface="Google Sans"/>
              </a:rPr>
              <a:t>Fuel Injector </a:t>
            </a:r>
            <a:endParaRPr lang="en-US" sz="2000" b="1" dirty="0"/>
          </a:p>
        </p:txBody>
      </p:sp>
      <p:sp>
        <p:nvSpPr>
          <p:cNvPr id="4" name="TextBox 3">
            <a:extLst>
              <a:ext uri="{FF2B5EF4-FFF2-40B4-BE49-F238E27FC236}">
                <a16:creationId xmlns:a16="http://schemas.microsoft.com/office/drawing/2014/main" id="{DF584AC6-9A28-C5DE-6BC6-4C830A486122}"/>
              </a:ext>
            </a:extLst>
          </p:cNvPr>
          <p:cNvSpPr txBox="1"/>
          <p:nvPr/>
        </p:nvSpPr>
        <p:spPr>
          <a:xfrm>
            <a:off x="974136" y="1187943"/>
            <a:ext cx="6098344" cy="369332"/>
          </a:xfrm>
          <a:prstGeom prst="rect">
            <a:avLst/>
          </a:prstGeom>
          <a:noFill/>
        </p:spPr>
        <p:txBody>
          <a:bodyPr wrap="square">
            <a:spAutoFit/>
          </a:bodyPr>
          <a:lstStyle/>
          <a:p>
            <a:r>
              <a:rPr lang="en-US" b="1" dirty="0">
                <a:solidFill>
                  <a:srgbClr val="0A0A0A"/>
                </a:solidFill>
                <a:latin typeface="Google Sans"/>
              </a:rPr>
              <a:t>Engine Control Unit (ECU) Operation</a:t>
            </a:r>
            <a:endParaRPr lang="en-US" dirty="0"/>
          </a:p>
        </p:txBody>
      </p:sp>
      <p:pic>
        <p:nvPicPr>
          <p:cNvPr id="2" name="Picture 1">
            <a:extLst>
              <a:ext uri="{FF2B5EF4-FFF2-40B4-BE49-F238E27FC236}">
                <a16:creationId xmlns:a16="http://schemas.microsoft.com/office/drawing/2014/main" id="{E9BCBCA6-0EDB-FF34-0345-7D5D2218A8F8}"/>
              </a:ext>
            </a:extLst>
          </p:cNvPr>
          <p:cNvPicPr>
            <a:picLocks noChangeAspect="1"/>
          </p:cNvPicPr>
          <p:nvPr/>
        </p:nvPicPr>
        <p:blipFill>
          <a:blip r:embed="rId5"/>
          <a:stretch>
            <a:fillRect/>
          </a:stretch>
        </p:blipFill>
        <p:spPr>
          <a:xfrm>
            <a:off x="820615" y="1582092"/>
            <a:ext cx="10018643" cy="4559236"/>
          </a:xfrm>
          <a:prstGeom prst="rect">
            <a:avLst/>
          </a:prstGeom>
        </p:spPr>
      </p:pic>
    </p:spTree>
    <p:custDataLst>
      <p:tags r:id="rId1"/>
    </p:custDataLst>
    <p:extLst>
      <p:ext uri="{BB962C8B-B14F-4D97-AF65-F5344CB8AC3E}">
        <p14:creationId xmlns:p14="http://schemas.microsoft.com/office/powerpoint/2010/main" val="3750026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1088</TotalTime>
  <Words>1529</Words>
  <Application>Microsoft Office PowerPoint</Application>
  <PresentationFormat>Widescreen</PresentationFormat>
  <Paragraphs>213</Paragraphs>
  <Slides>24</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微软雅黑</vt:lpstr>
      <vt:lpstr>宋体</vt:lpstr>
      <vt:lpstr>-apple-system</vt:lpstr>
      <vt:lpstr>Arial</vt:lpstr>
      <vt:lpstr>Calibri</vt:lpstr>
      <vt:lpstr>Courier New</vt:lpstr>
      <vt:lpstr>Google Sans</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235</cp:revision>
  <dcterms:created xsi:type="dcterms:W3CDTF">2019-06-19T02:08:00Z</dcterms:created>
  <dcterms:modified xsi:type="dcterms:W3CDTF">2025-11-26T16:08:08Z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