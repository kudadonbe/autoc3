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heme/theme2.xml" ContentType="application/vnd.openxmlformats-officedocument.theme+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8" r:id="rId1"/>
  </p:sldMasterIdLst>
  <p:notesMasterIdLst>
    <p:notesMasterId r:id="rId29"/>
  </p:notesMasterIdLst>
  <p:sldIdLst>
    <p:sldId id="348" r:id="rId2"/>
    <p:sldId id="267" r:id="rId3"/>
    <p:sldId id="331" r:id="rId4"/>
    <p:sldId id="349" r:id="rId5"/>
    <p:sldId id="350" r:id="rId6"/>
    <p:sldId id="351" r:id="rId7"/>
    <p:sldId id="368" r:id="rId8"/>
    <p:sldId id="369" r:id="rId9"/>
    <p:sldId id="371" r:id="rId10"/>
    <p:sldId id="370" r:id="rId11"/>
    <p:sldId id="352" r:id="rId12"/>
    <p:sldId id="353" r:id="rId13"/>
    <p:sldId id="354" r:id="rId14"/>
    <p:sldId id="355" r:id="rId15"/>
    <p:sldId id="356" r:id="rId16"/>
    <p:sldId id="357" r:id="rId17"/>
    <p:sldId id="358" r:id="rId18"/>
    <p:sldId id="359" r:id="rId19"/>
    <p:sldId id="360" r:id="rId20"/>
    <p:sldId id="361" r:id="rId21"/>
    <p:sldId id="362" r:id="rId22"/>
    <p:sldId id="363" r:id="rId23"/>
    <p:sldId id="364" r:id="rId24"/>
    <p:sldId id="365" r:id="rId25"/>
    <p:sldId id="366" r:id="rId26"/>
    <p:sldId id="367" r:id="rId27"/>
    <p:sldId id="295" r:id="rId28"/>
  </p:sldIdLst>
  <p:sldSz cx="12192000" cy="6858000"/>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115" d="100"/>
          <a:sy n="115" d="100"/>
        </p:scale>
        <p:origin x="498" y="114"/>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ags" Target="tags/tag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2026/4/22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image" Target="../media/image2.png"/><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image" Target="../media/image1.png"/><Relationship Id="rId2" Type="http://schemas.openxmlformats.org/officeDocument/2006/relationships/tags" Target="../tags/tag9.xml"/><Relationship Id="rId16" Type="http://schemas.openxmlformats.org/officeDocument/2006/relationships/image" Target="../media/image5.png"/><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slideMaster" Target="../slideMasters/slideMaster1.xml"/><Relationship Id="rId5" Type="http://schemas.openxmlformats.org/officeDocument/2006/relationships/tags" Target="../tags/tag12.xml"/><Relationship Id="rId15" Type="http://schemas.openxmlformats.org/officeDocument/2006/relationships/image" Target="../media/image4.png"/><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25.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image" Target="../media/image7.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image" Target="../media/image6.png"/><Relationship Id="rId5" Type="http://schemas.openxmlformats.org/officeDocument/2006/relationships/tags" Target="../tags/tag22.xml"/><Relationship Id="rId10" Type="http://schemas.openxmlformats.org/officeDocument/2006/relationships/image" Target="../media/image1.png"/><Relationship Id="rId4" Type="http://schemas.openxmlformats.org/officeDocument/2006/relationships/tags" Target="../tags/tag21.xml"/><Relationship Id="rId9"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33.xml"/><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image" Target="../media/image9.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image" Target="../media/image8.png"/><Relationship Id="rId5" Type="http://schemas.openxmlformats.org/officeDocument/2006/relationships/tags" Target="../tags/tag30.xml"/><Relationship Id="rId10" Type="http://schemas.openxmlformats.org/officeDocument/2006/relationships/image" Target="../media/image1.png"/><Relationship Id="rId4" Type="http://schemas.openxmlformats.org/officeDocument/2006/relationships/tags" Target="../tags/tag29.xml"/><Relationship Id="rId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image" Target="../media/image7.png"/><Relationship Id="rId3" Type="http://schemas.openxmlformats.org/officeDocument/2006/relationships/tags" Target="../tags/tag36.xml"/><Relationship Id="rId7" Type="http://schemas.openxmlformats.org/officeDocument/2006/relationships/tags" Target="../tags/tag40.xml"/><Relationship Id="rId12" Type="http://schemas.openxmlformats.org/officeDocument/2006/relationships/image" Target="../media/image6.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image" Target="../media/image1.png"/><Relationship Id="rId5" Type="http://schemas.openxmlformats.org/officeDocument/2006/relationships/tags" Target="../tags/tag38.xml"/><Relationship Id="rId10" Type="http://schemas.openxmlformats.org/officeDocument/2006/relationships/slideMaster" Target="../slideMasters/slideMaster1.xml"/><Relationship Id="rId4" Type="http://schemas.openxmlformats.org/officeDocument/2006/relationships/tags" Target="../tags/tag37.xml"/><Relationship Id="rId9" Type="http://schemas.openxmlformats.org/officeDocument/2006/relationships/tags" Target="../tags/tag42.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image" Target="../media/image1.png"/><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5" Type="http://schemas.openxmlformats.org/officeDocument/2006/relationships/tags" Target="../tags/tag47.xml"/><Relationship Id="rId15" Type="http://schemas.openxmlformats.org/officeDocument/2006/relationships/image" Target="../media/image7.png"/><Relationship Id="rId10" Type="http://schemas.openxmlformats.org/officeDocument/2006/relationships/tags" Target="../tags/tag52.xml"/><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6.xml"/><Relationship Id="rId7" Type="http://schemas.openxmlformats.org/officeDocument/2006/relationships/tags" Target="../tags/tag60.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image" Target="../media/image11.png"/><Relationship Id="rId5" Type="http://schemas.openxmlformats.org/officeDocument/2006/relationships/tags" Target="../tags/tag58.xml"/><Relationship Id="rId10" Type="http://schemas.openxmlformats.org/officeDocument/2006/relationships/image" Target="../media/image10.png"/><Relationship Id="rId4" Type="http://schemas.openxmlformats.org/officeDocument/2006/relationships/tags" Target="../tags/tag57.xml"/><Relationship Id="rId9"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image" Target="../media/image7.png"/><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image" Target="../media/image6.png"/><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image" Target="../media/image1.png"/><Relationship Id="rId5" Type="http://schemas.openxmlformats.org/officeDocument/2006/relationships/tags" Target="../tags/tag68.xml"/><Relationship Id="rId10" Type="http://schemas.openxmlformats.org/officeDocument/2006/relationships/slideMaster" Target="../slideMasters/slideMaster1.xml"/><Relationship Id="rId4" Type="http://schemas.openxmlformats.org/officeDocument/2006/relationships/tags" Target="../tags/tag67.xml"/><Relationship Id="rId9" Type="http://schemas.openxmlformats.org/officeDocument/2006/relationships/tags" Target="../tags/tag72.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80.xml"/><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image" Target="../media/image7.pn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image" Target="../media/image6.png"/><Relationship Id="rId5" Type="http://schemas.openxmlformats.org/officeDocument/2006/relationships/tags" Target="../tags/tag77.xml"/><Relationship Id="rId10" Type="http://schemas.openxmlformats.org/officeDocument/2006/relationships/image" Target="../media/image1.png"/><Relationship Id="rId4" Type="http://schemas.openxmlformats.org/officeDocument/2006/relationships/tags" Target="../tags/tag76.xml"/><Relationship Id="rId9"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83.xml"/><Relationship Id="rId7" Type="http://schemas.openxmlformats.org/officeDocument/2006/relationships/tags" Target="../tags/tag87.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image" Target="../media/image7.png"/><Relationship Id="rId5" Type="http://schemas.openxmlformats.org/officeDocument/2006/relationships/tags" Target="../tags/tag85.xml"/><Relationship Id="rId10" Type="http://schemas.openxmlformats.org/officeDocument/2006/relationships/image" Target="../media/image6.png"/><Relationship Id="rId4" Type="http://schemas.openxmlformats.org/officeDocument/2006/relationships/tags" Target="../tags/tag84.xml"/><Relationship Id="rId9"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image" Target="../media/image13.png"/><Relationship Id="rId3" Type="http://schemas.openxmlformats.org/officeDocument/2006/relationships/tags" Target="../tags/tag90.xml"/><Relationship Id="rId7" Type="http://schemas.openxmlformats.org/officeDocument/2006/relationships/tags" Target="../tags/tag94.xml"/><Relationship Id="rId12" Type="http://schemas.openxmlformats.org/officeDocument/2006/relationships/image" Target="../media/image12.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image" Target="../media/image1.png"/><Relationship Id="rId5" Type="http://schemas.openxmlformats.org/officeDocument/2006/relationships/tags" Target="../tags/tag92.xml"/><Relationship Id="rId10" Type="http://schemas.openxmlformats.org/officeDocument/2006/relationships/slideMaster" Target="../slideMasters/slideMaster1.xml"/><Relationship Id="rId4" Type="http://schemas.openxmlformats.org/officeDocument/2006/relationships/tags" Target="../tags/tag91.xml"/><Relationship Id="rId9" Type="http://schemas.openxmlformats.org/officeDocument/2006/relationships/tags" Target="../tags/tag96.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99.xml"/><Relationship Id="rId7" Type="http://schemas.openxmlformats.org/officeDocument/2006/relationships/tags" Target="../tags/tag103.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image" Target="../media/image7.png"/><Relationship Id="rId5" Type="http://schemas.openxmlformats.org/officeDocument/2006/relationships/tags" Target="../tags/tag101.xml"/><Relationship Id="rId10" Type="http://schemas.openxmlformats.org/officeDocument/2006/relationships/image" Target="../media/image6.png"/><Relationship Id="rId4" Type="http://schemas.openxmlformats.org/officeDocument/2006/relationships/tags" Target="../tags/tag100.xml"/><Relationship Id="rId9"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11.xml"/><Relationship Id="rId3" Type="http://schemas.openxmlformats.org/officeDocument/2006/relationships/tags" Target="../tags/tag106.xml"/><Relationship Id="rId7" Type="http://schemas.openxmlformats.org/officeDocument/2006/relationships/tags" Target="../tags/tag110.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image" Target="../media/image7.png"/><Relationship Id="rId5" Type="http://schemas.openxmlformats.org/officeDocument/2006/relationships/tags" Target="../tags/tag108.xml"/><Relationship Id="rId10" Type="http://schemas.openxmlformats.org/officeDocument/2006/relationships/image" Target="../media/image1.png"/><Relationship Id="rId4" Type="http://schemas.openxmlformats.org/officeDocument/2006/relationships/tags" Target="../tags/tag107.xml"/><Relationship Id="rId9"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19.xml"/><Relationship Id="rId3" Type="http://schemas.openxmlformats.org/officeDocument/2006/relationships/tags" Target="../tags/tag114.xml"/><Relationship Id="rId7" Type="http://schemas.openxmlformats.org/officeDocument/2006/relationships/tags" Target="../tags/tag118.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5" Type="http://schemas.openxmlformats.org/officeDocument/2006/relationships/tags" Target="../tags/tag116.xml"/><Relationship Id="rId10" Type="http://schemas.openxmlformats.org/officeDocument/2006/relationships/image" Target="../media/image1.png"/><Relationship Id="rId4" Type="http://schemas.openxmlformats.org/officeDocument/2006/relationships/tags" Target="../tags/tag115.xml"/><Relationship Id="rId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27.xml"/><Relationship Id="rId3" Type="http://schemas.openxmlformats.org/officeDocument/2006/relationships/tags" Target="../tags/tag122.xml"/><Relationship Id="rId7" Type="http://schemas.openxmlformats.org/officeDocument/2006/relationships/tags" Target="../tags/tag126.xml"/><Relationship Id="rId12" Type="http://schemas.openxmlformats.org/officeDocument/2006/relationships/image" Target="../media/image7.pn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tags" Target="../tags/tag125.xml"/><Relationship Id="rId11" Type="http://schemas.openxmlformats.org/officeDocument/2006/relationships/image" Target="../media/image1.png"/><Relationship Id="rId5" Type="http://schemas.openxmlformats.org/officeDocument/2006/relationships/tags" Target="../tags/tag124.xml"/><Relationship Id="rId10" Type="http://schemas.openxmlformats.org/officeDocument/2006/relationships/slideMaster" Target="../slideMasters/slideMaster1.xml"/><Relationship Id="rId4" Type="http://schemas.openxmlformats.org/officeDocument/2006/relationships/tags" Target="../tags/tag123.xml"/><Relationship Id="rId9" Type="http://schemas.openxmlformats.org/officeDocument/2006/relationships/tags" Target="../tags/tag128.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36.xml"/><Relationship Id="rId3" Type="http://schemas.openxmlformats.org/officeDocument/2006/relationships/tags" Target="../tags/tag131.xml"/><Relationship Id="rId7" Type="http://schemas.openxmlformats.org/officeDocument/2006/relationships/tags" Target="../tags/tag135.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tags" Target="../tags/tag134.xml"/><Relationship Id="rId5" Type="http://schemas.openxmlformats.org/officeDocument/2006/relationships/tags" Target="../tags/tag133.xml"/><Relationship Id="rId10" Type="http://schemas.openxmlformats.org/officeDocument/2006/relationships/image" Target="../media/image1.png"/><Relationship Id="rId4" Type="http://schemas.openxmlformats.org/officeDocument/2006/relationships/tags" Target="../tags/tag132.xml"/><Relationship Id="rId9"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44.xml"/><Relationship Id="rId13" Type="http://schemas.openxmlformats.org/officeDocument/2006/relationships/image" Target="../media/image1.png"/><Relationship Id="rId3" Type="http://schemas.openxmlformats.org/officeDocument/2006/relationships/tags" Target="../tags/tag139.xml"/><Relationship Id="rId7" Type="http://schemas.openxmlformats.org/officeDocument/2006/relationships/tags" Target="../tags/tag143.xml"/><Relationship Id="rId12" Type="http://schemas.openxmlformats.org/officeDocument/2006/relationships/slideMaster" Target="../slideMasters/slideMaster1.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tags" Target="../tags/tag147.xml"/><Relationship Id="rId5" Type="http://schemas.openxmlformats.org/officeDocument/2006/relationships/tags" Target="../tags/tag141.xml"/><Relationship Id="rId10" Type="http://schemas.openxmlformats.org/officeDocument/2006/relationships/tags" Target="../tags/tag146.xml"/><Relationship Id="rId4" Type="http://schemas.openxmlformats.org/officeDocument/2006/relationships/tags" Target="../tags/tag140.xml"/><Relationship Id="rId9" Type="http://schemas.openxmlformats.org/officeDocument/2006/relationships/tags" Target="../tags/tag145.xml"/><Relationship Id="rId14"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55.xml"/><Relationship Id="rId3" Type="http://schemas.openxmlformats.org/officeDocument/2006/relationships/tags" Target="../tags/tag150.xml"/><Relationship Id="rId7" Type="http://schemas.openxmlformats.org/officeDocument/2006/relationships/tags" Target="../tags/tag154.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tags" Target="../tags/tag153.xml"/><Relationship Id="rId11" Type="http://schemas.openxmlformats.org/officeDocument/2006/relationships/image" Target="../media/image7.png"/><Relationship Id="rId5" Type="http://schemas.openxmlformats.org/officeDocument/2006/relationships/tags" Target="../tags/tag152.xml"/><Relationship Id="rId10" Type="http://schemas.openxmlformats.org/officeDocument/2006/relationships/image" Target="../media/image1.png"/><Relationship Id="rId4" Type="http://schemas.openxmlformats.org/officeDocument/2006/relationships/tags" Target="../tags/tag151.xml"/><Relationship Id="rId9"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3" descr="JY01_画板 1 副本"/>
          <p:cNvPicPr>
            <a:picLocks noChangeAspect="1"/>
          </p:cNvPicPr>
          <p:nvPr>
            <p:custDataLst>
              <p:tags r:id="rId1"/>
            </p:custDataLst>
          </p:nvPr>
        </p:nvPicPr>
        <p:blipFill>
          <a:blip r:embed="rId12"/>
          <a:stretch>
            <a:fillRect/>
          </a:stretch>
        </p:blipFill>
        <p:spPr>
          <a:xfrm>
            <a:off x="0" y="-5556"/>
            <a:ext cx="12192000" cy="6856730"/>
          </a:xfrm>
          <a:prstGeom prst="rect">
            <a:avLst/>
          </a:prstGeom>
        </p:spPr>
      </p:pic>
      <p:pic>
        <p:nvPicPr>
          <p:cNvPr id="21" name="图片 20" descr="JY01-13"/>
          <p:cNvPicPr>
            <a:picLocks noChangeAspect="1"/>
          </p:cNvPicPr>
          <p:nvPr>
            <p:custDataLst>
              <p:tags r:id="rId2"/>
            </p:custDataLst>
          </p:nvPr>
        </p:nvPicPr>
        <p:blipFill>
          <a:blip r:embed="rId13"/>
          <a:stretch>
            <a:fillRect/>
          </a:stretch>
        </p:blipFill>
        <p:spPr>
          <a:xfrm>
            <a:off x="0" y="0"/>
            <a:ext cx="2032000" cy="1009020"/>
          </a:xfrm>
          <a:prstGeom prst="rect">
            <a:avLst/>
          </a:prstGeom>
        </p:spPr>
      </p:pic>
      <p:pic>
        <p:nvPicPr>
          <p:cNvPr id="23" name="图片 22" descr="JY01-15"/>
          <p:cNvPicPr>
            <a:picLocks noChangeAspect="1"/>
          </p:cNvPicPr>
          <p:nvPr>
            <p:custDataLst>
              <p:tags r:id="rId3"/>
            </p:custDataLst>
          </p:nvPr>
        </p:nvPicPr>
        <p:blipFill>
          <a:blip r:embed="rId14"/>
          <a:stretch>
            <a:fillRect/>
          </a:stretch>
        </p:blipFill>
        <p:spPr>
          <a:xfrm>
            <a:off x="0" y="5611495"/>
            <a:ext cx="1257294" cy="1252220"/>
          </a:xfrm>
          <a:prstGeom prst="rect">
            <a:avLst/>
          </a:prstGeom>
        </p:spPr>
      </p:pic>
      <p:pic>
        <p:nvPicPr>
          <p:cNvPr id="22" name="图片 21" descr="JY01-16"/>
          <p:cNvPicPr>
            <a:picLocks noChangeAspect="1"/>
          </p:cNvPicPr>
          <p:nvPr>
            <p:custDataLst>
              <p:tags r:id="rId4"/>
            </p:custDataLst>
          </p:nvPr>
        </p:nvPicPr>
        <p:blipFill>
          <a:blip r:embed="rId15"/>
          <a:stretch>
            <a:fillRect/>
          </a:stretch>
        </p:blipFill>
        <p:spPr>
          <a:xfrm>
            <a:off x="4790440" y="2028565"/>
            <a:ext cx="7401560" cy="4829423"/>
          </a:xfrm>
          <a:prstGeom prst="rect">
            <a:avLst/>
          </a:prstGeom>
        </p:spPr>
      </p:pic>
      <p:pic>
        <p:nvPicPr>
          <p:cNvPr id="19" name="图片 18" descr="JY01-14"/>
          <p:cNvPicPr>
            <a:picLocks noChangeAspect="1"/>
          </p:cNvPicPr>
          <p:nvPr>
            <p:custDataLst>
              <p:tags r:id="rId5"/>
            </p:custDataLst>
          </p:nvPr>
        </p:nvPicPr>
        <p:blipFill>
          <a:blip r:embed="rId16"/>
          <a:stretch>
            <a:fillRect/>
          </a:stretch>
        </p:blipFill>
        <p:spPr>
          <a:xfrm>
            <a:off x="10250805" y="-24765"/>
            <a:ext cx="1941195" cy="3671639"/>
          </a:xfrm>
          <a:prstGeom prst="rect">
            <a:avLst/>
          </a:prstGeom>
        </p:spPr>
      </p:pic>
      <p:sp>
        <p:nvSpPr>
          <p:cNvPr id="16" name="日期占位符 15"/>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2026/4/22</a:t>
            </a:fld>
            <a:endParaRPr lang="zh-CN" altLang="en-US"/>
          </a:p>
        </p:txBody>
      </p:sp>
      <p:sp>
        <p:nvSpPr>
          <p:cNvPr id="17" name="页脚占位符 16"/>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18" name="灯片编号占位符 17"/>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6" name="标题 5"/>
          <p:cNvSpPr txBox="1">
            <a:spLocks noGrp="1"/>
          </p:cNvSpPr>
          <p:nvPr>
            <p:ph type="title" idx="1" hasCustomPrompt="1"/>
            <p:custDataLst>
              <p:tags r:id="rId9"/>
            </p:custDataLst>
          </p:nvPr>
        </p:nvSpPr>
        <p:spPr>
          <a:xfrm>
            <a:off x="1137137" y="1044416"/>
            <a:ext cx="8927126" cy="3333296"/>
          </a:xfrm>
          <a:noFill/>
        </p:spPr>
        <p:txBody>
          <a:bodyPr wrap="square" rtlCol="0" anchor="ctr" anchorCtr="0">
            <a:normAutofit/>
          </a:bodyPr>
          <a:lstStyle>
            <a:lvl1pPr marL="0" marR="0" algn="l" defTabSz="914400" rtl="0" eaLnBrk="1" fontAlgn="auto" latinLnBrk="0" hangingPunct="1">
              <a:lnSpc>
                <a:spcPct val="110000"/>
              </a:lnSpc>
              <a:buClrTx/>
              <a:buSzTx/>
              <a:buFontTx/>
              <a:buNone/>
              <a:defRPr kumimoji="0" lang="zh-CN" altLang="en-US" sz="6000" b="1" i="0" u="none" strike="noStrike" kern="1200" cap="none" spc="0" normalizeH="0" baseline="0" noProof="1" dirty="0">
                <a:solidFill>
                  <a:schemeClr val="accent1"/>
                </a:solidFill>
                <a:latin typeface="微软雅黑" panose="020B0503020204020204" charset="-122"/>
                <a:ea typeface="微软雅黑" panose="020B0503020204020204" charset="-122"/>
                <a:cs typeface="+mn-cs"/>
              </a:defRPr>
            </a:lvl1pPr>
          </a:lstStyle>
          <a:p>
            <a:pPr lvl="0"/>
            <a:r>
              <a:rPr>
                <a:sym typeface="+mn-ea"/>
              </a:rPr>
              <a:t>单击此处添加</a:t>
            </a:r>
          </a:p>
          <a:p>
            <a:pPr lvl="0"/>
            <a:r>
              <a:rPr>
                <a:sym typeface="+mn-ea"/>
              </a:rPr>
              <a:t>标题</a:t>
            </a:r>
          </a:p>
        </p:txBody>
      </p:sp>
      <p:sp>
        <p:nvSpPr>
          <p:cNvPr id="7" name="副标题 6"/>
          <p:cNvSpPr txBox="1">
            <a:spLocks noGrp="1"/>
          </p:cNvSpPr>
          <p:nvPr>
            <p:ph type="subTitle" idx="2" hasCustomPrompt="1"/>
            <p:custDataLst>
              <p:tags r:id="rId10"/>
            </p:custDataLst>
          </p:nvPr>
        </p:nvSpPr>
        <p:spPr>
          <a:xfrm>
            <a:off x="1137137" y="4429560"/>
            <a:ext cx="7629063" cy="1183999"/>
          </a:xfrm>
          <a:noFill/>
        </p:spPr>
        <p:txBody>
          <a:bodyPr wrap="square" rtlCol="0">
            <a:normAutofit/>
          </a:bodyPr>
          <a:lstStyle>
            <a:lvl1pPr marL="0" marR="0" algn="l" defTabSz="914400" rtl="0" eaLnBrk="1" fontAlgn="auto" latinLnBrk="0" hangingPunct="1">
              <a:lnSpc>
                <a:spcPct val="120000"/>
              </a:lnSpc>
              <a:buClrTx/>
              <a:buSzTx/>
              <a:buFontTx/>
              <a:buNone/>
              <a:defRPr kumimoji="0" lang="zh-CN" altLang="en-US" sz="2800" b="1" i="0" u="none" strike="noStrike" kern="1200" cap="all" spc="400" normalizeH="0" baseline="0" noProof="1" dirty="0">
                <a:solidFill>
                  <a:schemeClr val="accent1"/>
                </a:solidFill>
                <a:uFillTx/>
                <a:latin typeface="微软雅黑" panose="020B0503020204020204" charset="-122"/>
                <a:ea typeface="微软雅黑" panose="020B0503020204020204" charset="-122"/>
                <a:cs typeface="+mn-cs"/>
              </a:defRPr>
            </a:lvl1pPr>
          </a:lstStyle>
          <a:p>
            <a:pPr lvl="0"/>
            <a:r>
              <a:rPr>
                <a:sym typeface="+mn-ea"/>
              </a:rPr>
              <a:t>单击此处添加副标题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5"/>
            </p:custDataLst>
          </p:nvPr>
        </p:nvSpPr>
        <p:spPr>
          <a:xfrm>
            <a:off x="669882" y="952508"/>
            <a:ext cx="10852237"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2026/4/22</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0"/>
          <a:stretch>
            <a:fillRect/>
          </a:stretch>
        </p:blipFill>
        <p:spPr>
          <a:xfrm>
            <a:off x="794" y="-318"/>
            <a:ext cx="12192000" cy="6858318"/>
          </a:xfrm>
          <a:prstGeom prst="rect">
            <a:avLst/>
          </a:prstGeom>
        </p:spPr>
      </p:pic>
      <p:pic>
        <p:nvPicPr>
          <p:cNvPr id="3" name="图片 2" descr="JY01_章节页装饰2"/>
          <p:cNvPicPr>
            <a:picLocks noChangeAspect="1"/>
          </p:cNvPicPr>
          <p:nvPr>
            <p:custDataLst>
              <p:tags r:id="rId2"/>
            </p:custDataLst>
          </p:nvPr>
        </p:nvPicPr>
        <p:blipFill>
          <a:blip r:embed="rId11"/>
          <a:stretch>
            <a:fillRect/>
          </a:stretch>
        </p:blipFill>
        <p:spPr>
          <a:xfrm>
            <a:off x="7479507" y="5458144"/>
            <a:ext cx="4703272" cy="1398270"/>
          </a:xfrm>
          <a:prstGeom prst="rect">
            <a:avLst/>
          </a:prstGeom>
        </p:spPr>
      </p:pic>
      <p:pic>
        <p:nvPicPr>
          <p:cNvPr id="2" name="图片 1" descr="JY01_章节页装饰1"/>
          <p:cNvPicPr>
            <a:picLocks noChangeAspect="1"/>
          </p:cNvPicPr>
          <p:nvPr>
            <p:custDataLst>
              <p:tags r:id="rId3"/>
            </p:custDataLst>
          </p:nvPr>
        </p:nvPicPr>
        <p:blipFill>
          <a:blip r:embed="rId12"/>
          <a:stretch>
            <a:fillRect/>
          </a:stretch>
        </p:blipFill>
        <p:spPr>
          <a:xfrm>
            <a:off x="635" y="0"/>
            <a:ext cx="1954530" cy="6858000"/>
          </a:xfrm>
          <a:prstGeom prst="rect">
            <a:avLst/>
          </a:prstGeom>
        </p:spPr>
      </p:pic>
      <p:sp>
        <p:nvSpPr>
          <p:cNvPr id="4" name="日期占位符 3"/>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2026/4/22</a:t>
            </a:fld>
            <a:endParaRPr lang="zh-CN" altLang="en-US"/>
          </a:p>
        </p:txBody>
      </p:sp>
      <p:sp>
        <p:nvSpPr>
          <p:cNvPr id="5" name="页脚占位符 4"/>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ctrTitle" idx="1" hasCustomPrompt="1"/>
            <p:custDataLst>
              <p:tags r:id="rId7"/>
            </p:custDataLst>
          </p:nvPr>
        </p:nvSpPr>
        <p:spPr>
          <a:xfrm>
            <a:off x="2112431" y="2833012"/>
            <a:ext cx="7967137" cy="1200150"/>
          </a:xfrm>
          <a:noFill/>
        </p:spPr>
        <p:txBody>
          <a:bodyPr vert="horz" wrap="square" lIns="101600" tIns="38100" rIns="76200" bIns="38100" rtlCol="0" anchor="ctr" anchorCtr="0">
            <a:normAutofit/>
          </a:bodyPr>
          <a:lstStyle>
            <a:lvl1pPr marL="0" marR="0" algn="ctr" defTabSz="914400" rtl="0" eaLnBrk="1" fontAlgn="auto" latinLnBrk="0" hangingPunct="1">
              <a:lnSpc>
                <a:spcPct val="100000"/>
              </a:lnSpc>
              <a:spcBef>
                <a:spcPct val="0"/>
              </a:spcBef>
              <a:buClrTx/>
              <a:buSzTx/>
              <a:buFontTx/>
              <a:buNone/>
              <a:defRPr kumimoji="0" lang="zh-CN" altLang="en-US" sz="6600" b="0" i="0" u="none" strike="noStrike" kern="1200" cap="none" spc="100" normalizeH="0" baseline="0" noProof="1" dirty="0">
                <a:solidFill>
                  <a:schemeClr val="dk1">
                    <a:lumMod val="85000"/>
                    <a:lumOff val="15000"/>
                  </a:schemeClr>
                </a:solidFill>
                <a:uFillTx/>
                <a:latin typeface="Arial" panose="020B0604020202020204" pitchFamily="34" charset="0"/>
                <a:ea typeface="汉仪文黑-85简" panose="00020600040101010101" charset="-122"/>
                <a:cs typeface="+mn-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a:off x="2680121" y="4295417"/>
            <a:ext cx="6831757" cy="827115"/>
          </a:xfrm>
        </p:spPr>
        <p:txBody>
          <a:bodyPr vert="horz" wrap="square" lIns="101600" tIns="0" rIns="82550" bIns="0" rtlCol="0">
            <a:normAutofit/>
          </a:bodyPr>
          <a:lstStyle>
            <a:lvl1pPr marL="0" marR="0" indent="-228600" algn="ctr" defTabSz="914400" rtl="0" eaLnBrk="1" fontAlgn="auto" latinLnBrk="0" hangingPunct="1">
              <a:lnSpc>
                <a:spcPct val="150000"/>
              </a:lnSpc>
              <a:spcBef>
                <a:spcPts val="0"/>
              </a:spcBef>
              <a:spcAft>
                <a:spcPts val="1000"/>
              </a:spcAft>
              <a:buClrTx/>
              <a:buSzTx/>
              <a:buFontTx/>
              <a:buNone/>
              <a:defRPr kumimoji="0" lang="zh-CN" altLang="en-US" sz="1400" b="0" i="0" u="none" strike="noStrike" kern="1200" cap="none" spc="0" normalizeH="0" baseline="0" noProof="1" dirty="0">
                <a:solidFill>
                  <a:schemeClr val="dk1">
                    <a:lumMod val="50000"/>
                    <a:lumOff val="50000"/>
                  </a:schemeClr>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内容占位符 2"/>
          <p:cNvSpPr>
            <a:spLocks noGrp="1"/>
          </p:cNvSpPr>
          <p:nvPr>
            <p:ph sz="half" idx="1"/>
            <p:custDataLst>
              <p:tags r:id="rId5"/>
            </p:custDataLst>
          </p:nvPr>
        </p:nvSpPr>
        <p:spPr>
          <a:xfrm>
            <a:off x="669930"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6"/>
            </p:custDataLst>
          </p:nvPr>
        </p:nvSpPr>
        <p:spPr>
          <a:xfrm>
            <a:off x="6238877" y="952508"/>
            <a:ext cx="5283242" cy="5388907"/>
          </a:xfrm>
        </p:spPr>
        <p:txBody>
          <a:bodyPr lIns="90170" tIns="46990" rIns="90170" bIns="46990">
            <a:normAutofit/>
          </a:bodyPr>
          <a:lstStyle>
            <a:lvl1pPr eaLnBrk="1" fontAlgn="auto" latinLnBrk="0" hangingPunct="1">
              <a:defRPr sz="1600">
                <a:solidFill>
                  <a:schemeClr val="tx1"/>
                </a:solidFill>
                <a:latin typeface="Arial" panose="020B0604020202020204" pitchFamily="34" charset="0"/>
                <a:ea typeface="汉仪文黑-55简" panose="00020600040101010101" charset="-122"/>
              </a:defRPr>
            </a:lvl1pPr>
            <a:lvl2pPr eaLnBrk="1" fontAlgn="auto" latinLnBrk="0" hangingPunct="1">
              <a:defRPr sz="1600">
                <a:solidFill>
                  <a:schemeClr val="tx1"/>
                </a:solidFill>
                <a:latin typeface="Arial" panose="020B0604020202020204" pitchFamily="34" charset="0"/>
                <a:ea typeface="汉仪文黑-55简" panose="00020600040101010101" charset="-122"/>
              </a:defRPr>
            </a:lvl2pPr>
            <a:lvl3pPr eaLnBrk="1" fontAlgn="auto" latinLnBrk="0" hangingPunct="1">
              <a:defRPr sz="1600">
                <a:solidFill>
                  <a:schemeClr val="tx1"/>
                </a:solidFill>
                <a:latin typeface="Arial" panose="020B0604020202020204" pitchFamily="34" charset="0"/>
                <a:ea typeface="汉仪文黑-55简" panose="00020600040101010101" charset="-122"/>
              </a:defRPr>
            </a:lvl3pPr>
            <a:lvl4pPr eaLnBrk="1" fontAlgn="auto" latinLnBrk="0" hangingPunct="1">
              <a:defRPr sz="1600">
                <a:solidFill>
                  <a:schemeClr val="tx1"/>
                </a:solidFill>
                <a:latin typeface="Arial" panose="020B0604020202020204" pitchFamily="34" charset="0"/>
                <a:ea typeface="汉仪文黑-55简" panose="00020600040101010101" charset="-122"/>
              </a:defRPr>
            </a:lvl4pPr>
            <a:lvl5pPr eaLnBrk="1" fontAlgn="auto" latinLnBrk="0" hangingPunct="1">
              <a:defRPr sz="160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2026/4/22</a:t>
            </a:fld>
            <a:endParaRPr lang="zh-CN" altLang="en-US"/>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2" name="图片 11" descr="JY01_画板 1 副本"/>
          <p:cNvPicPr>
            <a:picLocks noChangeAspect="1"/>
          </p:cNvPicPr>
          <p:nvPr>
            <p:custDataLst>
              <p:tags r:id="rId1"/>
            </p:custDataLst>
          </p:nvPr>
        </p:nvPicPr>
        <p:blipFill>
          <a:blip r:embed="rId13"/>
          <a:stretch>
            <a:fillRect/>
          </a:stretch>
        </p:blipFill>
        <p:spPr>
          <a:xfrm>
            <a:off x="0" y="317"/>
            <a:ext cx="12193257" cy="6858635"/>
          </a:xfrm>
          <a:prstGeom prst="rect">
            <a:avLst/>
          </a:prstGeom>
        </p:spPr>
      </p:pic>
      <p:pic>
        <p:nvPicPr>
          <p:cNvPr id="11" name="图片 10" descr="JY01_正文页装饰2"/>
          <p:cNvPicPr>
            <a:picLocks noChangeAspect="1"/>
          </p:cNvPicPr>
          <p:nvPr>
            <p:custDataLst>
              <p:tags r:id="rId2"/>
            </p:custDataLst>
          </p:nvPr>
        </p:nvPicPr>
        <p:blipFill>
          <a:blip r:embed="rId14"/>
          <a:stretch>
            <a:fillRect/>
          </a:stretch>
        </p:blipFill>
        <p:spPr>
          <a:xfrm>
            <a:off x="822289" y="524194"/>
            <a:ext cx="11370346" cy="5810247"/>
          </a:xfrm>
          <a:prstGeom prst="rect">
            <a:avLst/>
          </a:prstGeom>
        </p:spPr>
      </p:pic>
      <p:pic>
        <p:nvPicPr>
          <p:cNvPr id="10" name="图片 9" descr="JY01_正文页装饰1"/>
          <p:cNvPicPr>
            <a:picLocks noChangeAspect="1"/>
          </p:cNvPicPr>
          <p:nvPr>
            <p:custDataLst>
              <p:tags r:id="rId3"/>
            </p:custDataLst>
          </p:nvPr>
        </p:nvPicPr>
        <p:blipFill>
          <a:blip r:embed="rId15"/>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5"/>
            </p:custDataLst>
          </p:nvPr>
        </p:nvSpPr>
        <p:spPr>
          <a:xfrm>
            <a:off x="669930" y="952508"/>
            <a:ext cx="5283242" cy="381003"/>
          </a:xfrm>
        </p:spPr>
        <p:txBody>
          <a:bodyPr lIns="90170" tIns="46990" rIns="90170" bIns="46990" anchor="ctr"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汉仪文黑-55简" panose="00020600040101010101"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6"/>
            </p:custDataLst>
          </p:nvPr>
        </p:nvSpPr>
        <p:spPr>
          <a:xfrm>
            <a:off x="669925" y="1406525"/>
            <a:ext cx="5283200"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7"/>
            </p:custDataLst>
          </p:nvPr>
        </p:nvSpPr>
        <p:spPr>
          <a:xfrm>
            <a:off x="6235750" y="952508"/>
            <a:ext cx="5283242" cy="381003"/>
          </a:xfrm>
        </p:spPr>
        <p:txBody>
          <a:bodyPr vert="horz" lIns="90170" tIns="46990" rIns="90170" bIns="46990" rtlCol="0" anchor="ctr"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8"/>
            </p:custDataLst>
          </p:nvPr>
        </p:nvSpPr>
        <p:spPr>
          <a:xfrm>
            <a:off x="6235750" y="1406525"/>
            <a:ext cx="5283242"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2026/4/22</a:t>
            </a:fld>
            <a:endParaRPr lang="zh-CN" altLang="en-US"/>
          </a:p>
        </p:txBody>
      </p:sp>
      <p:sp>
        <p:nvSpPr>
          <p:cNvPr id="8" name="页脚占位符 7"/>
          <p:cNvSpPr>
            <a:spLocks noGrp="1"/>
          </p:cNvSpPr>
          <p:nvPr>
            <p:ph type="ftr" sz="quarter" idx="11"/>
            <p:custDataLst>
              <p:tags r:id="rId10"/>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9" name="灯片编号占位符 8"/>
          <p:cNvSpPr>
            <a:spLocks noGrp="1"/>
          </p:cNvSpPr>
          <p:nvPr>
            <p:ph type="sldNum" sz="quarter" idx="12"/>
            <p:custDataLst>
              <p:tags r:id="rId1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8"/>
            <a:ext cx="12192000" cy="6858635"/>
          </a:xfrm>
          <a:prstGeom prst="rect">
            <a:avLst/>
          </a:prstGeom>
        </p:spPr>
      </p:pic>
      <p:pic>
        <p:nvPicPr>
          <p:cNvPr id="7" name="图片 6" descr="JY01_目录页装饰1"/>
          <p:cNvPicPr>
            <a:picLocks noChangeAspect="1"/>
          </p:cNvPicPr>
          <p:nvPr>
            <p:custDataLst>
              <p:tags r:id="rId2"/>
            </p:custDataLst>
          </p:nvPr>
        </p:nvPicPr>
        <p:blipFill>
          <a:blip r:embed="rId10"/>
          <a:stretch>
            <a:fillRect/>
          </a:stretch>
        </p:blipFill>
        <p:spPr>
          <a:xfrm>
            <a:off x="0" y="5388868"/>
            <a:ext cx="2132952" cy="1469132"/>
          </a:xfrm>
          <a:prstGeom prst="rect">
            <a:avLst/>
          </a:prstGeom>
        </p:spPr>
      </p:pic>
      <p:pic>
        <p:nvPicPr>
          <p:cNvPr id="6" name="图片 5" descr="JY01_目录页装饰2"/>
          <p:cNvPicPr>
            <a:picLocks noChangeAspect="1"/>
          </p:cNvPicPr>
          <p:nvPr>
            <p:custDataLst>
              <p:tags r:id="rId3"/>
            </p:custDataLst>
          </p:nvPr>
        </p:nvPicPr>
        <p:blipFill>
          <a:blip r:embed="rId11"/>
          <a:stretch>
            <a:fillRect/>
          </a:stretch>
        </p:blipFill>
        <p:spPr>
          <a:xfrm>
            <a:off x="7445375" y="0"/>
            <a:ext cx="4746625" cy="4411480"/>
          </a:xfrm>
          <a:prstGeom prst="rect">
            <a:avLst/>
          </a:prstGeom>
        </p:spPr>
      </p:pic>
      <p:sp>
        <p:nvSpPr>
          <p:cNvPr id="2" name="标题 1"/>
          <p:cNvSpPr>
            <a:spLocks noGrp="1"/>
          </p:cNvSpPr>
          <p:nvPr>
            <p:ph type="title"/>
            <p:custDataLst>
              <p:tags r:id="rId4"/>
            </p:custDataLst>
          </p:nvPr>
        </p:nvSpPr>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2026/4/22</a:t>
            </a:fld>
            <a:endParaRPr lang="zh-CN" altLang="en-US"/>
          </a:p>
        </p:txBody>
      </p:sp>
      <p:sp>
        <p:nvSpPr>
          <p:cNvPr id="4" name="页脚占位符 3"/>
          <p:cNvSpPr>
            <a:spLocks noGrp="1"/>
          </p:cNvSpPr>
          <p:nvPr>
            <p:ph type="ftr" sz="quarter" idx="11"/>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2026/4/22</a:t>
            </a:fld>
            <a:endParaRPr lang="zh-CN" altLang="en-US"/>
          </a:p>
        </p:txBody>
      </p:sp>
      <p:sp>
        <p:nvSpPr>
          <p:cNvPr id="3" name="页脚占位符 2"/>
          <p:cNvSpPr>
            <a:spLocks noGrp="1"/>
          </p:cNvSpPr>
          <p:nvPr>
            <p:ph type="ftr" sz="quarter" idx="11"/>
            <p:custDataLst>
              <p:tags r:id="rId2"/>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4" name="灯片编号占位符 3"/>
          <p:cNvSpPr>
            <a:spLocks noGrp="1"/>
          </p:cNvSpPr>
          <p:nvPr>
            <p:ph type="sldNum" sz="quarter" idx="12"/>
            <p:custDataLst>
              <p:tags r:id="rId3"/>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930"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5"/>
            </p:custDataLst>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6"/>
            </p:custDataLst>
          </p:nvPr>
        </p:nvSpPr>
        <p:spPr>
          <a:xfrm>
            <a:off x="6238925"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9EFD9D74-47D9-4702-A33C-335B63B48DBF}" type="datetimeFigureOut">
              <a:rPr lang="zh-CN" altLang="en-US" smtClean="0"/>
              <a:t>2026/4/22</a:t>
            </a:fld>
            <a:endParaRPr lang="zh-CN" altLang="en-US" dirty="0"/>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竖排标题 1"/>
          <p:cNvSpPr>
            <a:spLocks noGrp="1"/>
          </p:cNvSpPr>
          <p:nvPr>
            <p:ph type="title" orient="vert"/>
            <p:custDataLst>
              <p:tags r:id="rId4"/>
            </p:custDataLst>
          </p:nvPr>
        </p:nvSpPr>
        <p:spPr>
          <a:xfrm>
            <a:off x="10571135" y="952508"/>
            <a:ext cx="950984" cy="5388907"/>
          </a:xfrm>
        </p:spPr>
        <p:txBody>
          <a:bodyPr vert="eaVert" lIns="90170" tIns="46990" rIns="90170" bIns="4699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5"/>
            </p:custDataLst>
          </p:nvPr>
        </p:nvSpPr>
        <p:spPr>
          <a:xfrm>
            <a:off x="669925" y="952500"/>
            <a:ext cx="9828101" cy="5388907"/>
          </a:xfrm>
        </p:spPr>
        <p:txBody>
          <a:bodyPr vert="eaVert"/>
          <a:lstStyle>
            <a:lvl1pPr indent="0" eaLnBrk="1" fontAlgn="auto" latinLnBrk="0" hangingPunct="1">
              <a:defRPr>
                <a:solidFill>
                  <a:schemeClr val="tx1"/>
                </a:solidFill>
                <a:latin typeface="Arial" panose="020B0604020202020204" pitchFamily="34" charset="0"/>
                <a:ea typeface="汉仪文黑-55简" panose="00020600040101010101" charset="-122"/>
              </a:defRPr>
            </a:lvl1pPr>
            <a:lvl2pPr indent="0" eaLnBrk="1" fontAlgn="auto" latinLnBrk="0" hangingPunct="1">
              <a:defRPr>
                <a:solidFill>
                  <a:schemeClr val="tx1"/>
                </a:solidFill>
                <a:latin typeface="Arial" panose="020B0604020202020204" pitchFamily="34" charset="0"/>
                <a:ea typeface="汉仪文黑-55简" panose="00020600040101010101" charset="-122"/>
              </a:defRPr>
            </a:lvl2pPr>
            <a:lvl3pPr indent="0" eaLnBrk="1" fontAlgn="auto" latinLnBrk="0" hangingPunct="1">
              <a:defRPr>
                <a:solidFill>
                  <a:schemeClr val="tx1"/>
                </a:solidFill>
                <a:latin typeface="Arial" panose="020B0604020202020204" pitchFamily="34" charset="0"/>
                <a:ea typeface="汉仪文黑-55简" panose="00020600040101010101" charset="-122"/>
              </a:defRPr>
            </a:lvl3pPr>
            <a:lvl4pPr indent="0" eaLnBrk="1" fontAlgn="auto" latinLnBrk="0" hangingPunct="1">
              <a:defRPr>
                <a:solidFill>
                  <a:schemeClr val="tx1"/>
                </a:solidFill>
                <a:latin typeface="Arial" panose="020B0604020202020204" pitchFamily="34" charset="0"/>
                <a:ea typeface="汉仪文黑-55简" panose="00020600040101010101" charset="-122"/>
              </a:defRPr>
            </a:lvl4pPr>
            <a:lvl5pPr indent="0" eaLnBrk="1" fontAlgn="auto" latinLnBrk="0" hangingPunct="1">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2026/4/22</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2" name="图片 1"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2026/4/22</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7"/>
            </p:custDataLst>
          </p:nvPr>
        </p:nvSpPr>
        <p:spPr>
          <a:xfrm>
            <a:off x="669930" y="952508"/>
            <a:ext cx="10852237" cy="5388907"/>
          </a:xfrm>
        </p:spPr>
        <p:txBody>
          <a:bodyPr/>
          <a:lstStyle>
            <a:lvl1pPr>
              <a:defRPr>
                <a:solidFill>
                  <a:schemeClr val="tx1"/>
                </a:solidFill>
                <a:latin typeface="Arial" panose="020B0604020202020204" pitchFamily="34" charset="0"/>
                <a:ea typeface="汉仪文黑-55简" panose="00020600040101010101" charset="-122"/>
              </a:defRPr>
            </a:lvl1pPr>
            <a:lvl2pPr>
              <a:defRPr>
                <a:solidFill>
                  <a:schemeClr val="tx1"/>
                </a:solidFill>
                <a:latin typeface="Arial" panose="020B0604020202020204" pitchFamily="34" charset="0"/>
                <a:ea typeface="汉仪文黑-55简" panose="00020600040101010101" charset="-122"/>
              </a:defRPr>
            </a:lvl2pPr>
            <a:lvl3pPr>
              <a:defRPr>
                <a:solidFill>
                  <a:schemeClr val="tx1"/>
                </a:solidFill>
                <a:latin typeface="Arial" panose="020B0604020202020204" pitchFamily="34" charset="0"/>
                <a:ea typeface="汉仪文黑-55简" panose="00020600040101010101" charset="-122"/>
              </a:defRPr>
            </a:lvl3pPr>
            <a:lvl4pPr>
              <a:defRPr>
                <a:solidFill>
                  <a:schemeClr val="tx1"/>
                </a:solidFill>
                <a:latin typeface="Arial" panose="020B0604020202020204" pitchFamily="34" charset="0"/>
                <a:ea typeface="汉仪文黑-55简" panose="00020600040101010101" charset="-122"/>
              </a:defRPr>
            </a:lvl4pPr>
            <a:lvl5pPr>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1"/>
          <a:stretch>
            <a:fillRect/>
          </a:stretch>
        </p:blipFill>
        <p:spPr>
          <a:xfrm>
            <a:off x="794" y="-318"/>
            <a:ext cx="12192000" cy="6858318"/>
          </a:xfrm>
          <a:prstGeom prst="rect">
            <a:avLst/>
          </a:prstGeom>
        </p:spPr>
      </p:pic>
      <p:pic>
        <p:nvPicPr>
          <p:cNvPr id="6" name="图片 5" descr="JY01_结束页装饰2"/>
          <p:cNvPicPr>
            <a:picLocks noChangeAspect="1"/>
          </p:cNvPicPr>
          <p:nvPr>
            <p:custDataLst>
              <p:tags r:id="rId2"/>
            </p:custDataLst>
          </p:nvPr>
        </p:nvPicPr>
        <p:blipFill>
          <a:blip r:embed="rId12"/>
          <a:stretch>
            <a:fillRect/>
          </a:stretch>
        </p:blipFill>
        <p:spPr>
          <a:xfrm>
            <a:off x="7479507" y="5458144"/>
            <a:ext cx="4703272" cy="1398270"/>
          </a:xfrm>
          <a:prstGeom prst="rect">
            <a:avLst/>
          </a:prstGeom>
        </p:spPr>
      </p:pic>
      <p:pic>
        <p:nvPicPr>
          <p:cNvPr id="2" name="图片 1" descr="JY01_结束页装饰1"/>
          <p:cNvPicPr>
            <a:picLocks noChangeAspect="1"/>
          </p:cNvPicPr>
          <p:nvPr>
            <p:custDataLst>
              <p:tags r:id="rId3"/>
            </p:custDataLst>
          </p:nvPr>
        </p:nvPicPr>
        <p:blipFill>
          <a:blip r:embed="rId13"/>
          <a:stretch>
            <a:fillRect/>
          </a:stretch>
        </p:blipFill>
        <p:spPr>
          <a:xfrm>
            <a:off x="635" y="0"/>
            <a:ext cx="1954530" cy="6858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2026/4/22</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title" idx="1" hasCustomPrompt="1"/>
            <p:custDataLst>
              <p:tags r:id="rId7"/>
            </p:custDataLst>
          </p:nvPr>
        </p:nvSpPr>
        <p:spPr>
          <a:xfrm>
            <a:off x="2153288" y="2533739"/>
            <a:ext cx="7885427" cy="1353881"/>
          </a:xfrm>
          <a:noFill/>
        </p:spPr>
        <p:txBody>
          <a:bodyPr vert="horz" wrap="square" lIns="90000" tIns="46800" rIns="90000" bIns="46800" rtlCol="0" anchor="ctr" anchorCtr="0">
            <a:normAutofit/>
          </a:bodyPr>
          <a:lstStyle>
            <a:lvl1pPr marL="0" marR="0" algn="l" defTabSz="914400" rtl="0" eaLnBrk="1" fontAlgn="auto" latinLnBrk="0" hangingPunct="0">
              <a:lnSpc>
                <a:spcPct val="100000"/>
              </a:lnSpc>
              <a:spcBef>
                <a:spcPts val="0"/>
              </a:spcBef>
              <a:spcAft>
                <a:spcPts val="0"/>
              </a:spcAft>
              <a:buClrTx/>
              <a:buSzTx/>
              <a:buFontTx/>
              <a:buNone/>
              <a:defRPr kumimoji="0" lang="zh-CN" altLang="en-US" sz="7200" b="1" i="0" u="none" strike="noStrike" kern="0" cap="none" spc="300" normalizeH="0" baseline="0" noProof="1" dirty="0">
                <a:ln>
                  <a:noFill/>
                </a:ln>
                <a:solidFill>
                  <a:schemeClr val="dk1">
                    <a:lumMod val="85000"/>
                    <a:lumOff val="15000"/>
                  </a:schemeClr>
                </a:solidFill>
                <a:effectLst/>
                <a:uFillTx/>
                <a:latin typeface="Arial" panose="020B0604020202020204" pitchFamily="34" charset="0"/>
                <a:ea typeface="汉仪文黑-85简" panose="00020600040101010101" charset="-122"/>
                <a:cs typeface="+mj-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flipH="1">
            <a:off x="2153285" y="3996025"/>
            <a:ext cx="7885428" cy="928995"/>
          </a:xfrm>
          <a:noFill/>
        </p:spPr>
        <p:txBody>
          <a:bodyPr vert="horz" wrap="square" lIns="0" tIns="0" rIns="0" bIns="0" rtlCol="0">
            <a:normAutofit/>
          </a:bodyPr>
          <a:lstStyle>
            <a:lvl1pPr marL="0" marR="0" indent="-228600" algn="l" defTabSz="914400" rtl="0" eaLnBrk="1" fontAlgn="auto" latinLnBrk="0" hangingPunct="0">
              <a:lnSpc>
                <a:spcPct val="125000"/>
              </a:lnSpc>
              <a:spcBef>
                <a:spcPts val="0"/>
              </a:spcBef>
              <a:spcAft>
                <a:spcPts val="0"/>
              </a:spcAft>
              <a:buClrTx/>
              <a:buSzTx/>
              <a:buFontTx/>
              <a:buNone/>
              <a:defRPr kumimoji="0" lang="zh-CN" altLang="en-US" sz="1800" b="0" i="0" u="none" strike="noStrike" kern="0" cap="none" spc="1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
        <p:nvSpPr>
          <p:cNvPr id="10" name="副标题 3"/>
          <p:cNvSpPr>
            <a:spLocks noGrp="1"/>
          </p:cNvSpPr>
          <p:nvPr>
            <p:ph type="subTitle" idx="3" hasCustomPrompt="1"/>
            <p:custDataLst>
              <p:tags r:id="rId9"/>
            </p:custDataLst>
          </p:nvPr>
        </p:nvSpPr>
        <p:spPr>
          <a:xfrm>
            <a:off x="2153288" y="1932968"/>
            <a:ext cx="7885427" cy="492366"/>
          </a:xfrm>
          <a:noFill/>
        </p:spPr>
        <p:txBody>
          <a:bodyPr vert="horz" wrap="square" lIns="90000" tIns="46800" rIns="90000" bIns="46800" rtlCol="0">
            <a:normAutofit/>
          </a:bodyPr>
          <a:lstStyle>
            <a:lvl1pPr marL="0" marR="0" indent="-228600" algn="l" defTabSz="914400" rtl="0" eaLnBrk="1" fontAlgn="auto" latinLnBrk="0" hangingPunct="0">
              <a:lnSpc>
                <a:spcPct val="100000"/>
              </a:lnSpc>
              <a:spcBef>
                <a:spcPts val="0"/>
              </a:spcBef>
              <a:spcAft>
                <a:spcPts val="0"/>
              </a:spcAft>
              <a:buClrTx/>
              <a:buSzTx/>
              <a:buFontTx/>
              <a:buNone/>
              <a:defRPr kumimoji="0" lang="zh-CN" altLang="en-US" sz="2400" b="1" i="0" u="none" strike="noStrike" kern="0" cap="none" spc="6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单击此处编辑副标题</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7" name="图片 6"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2026/4/22</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293594" y="304200"/>
            <a:ext cx="11606400" cy="6249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635" y="5589270"/>
            <a:ext cx="1314622" cy="1268730"/>
          </a:xfrm>
          <a:prstGeom prst="rect">
            <a:avLst/>
          </a:prstGeom>
        </p:spPr>
      </p:pic>
      <p:sp>
        <p:nvSpPr>
          <p:cNvPr id="2" name="标题 1"/>
          <p:cNvSpPr>
            <a:spLocks noGrp="1"/>
          </p:cNvSpPr>
          <p:nvPr>
            <p:ph type="title" hasCustomPrompt="1"/>
            <p:custDataLst>
              <p:tags r:id="rId4"/>
            </p:custDataLst>
          </p:nvPr>
        </p:nvSpPr>
        <p:spPr>
          <a:xfrm>
            <a:off x="1281600" y="1249200"/>
            <a:ext cx="9626400" cy="723600"/>
          </a:xfrm>
        </p:spPr>
        <p:txBody>
          <a:bodyPr anchor="ctr"/>
          <a:lstStyle>
            <a:lvl1pP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2026/4/22</a:t>
            </a:fld>
            <a:endParaRPr lang="zh-CN" altLang="en-US"/>
          </a:p>
        </p:txBody>
      </p:sp>
      <p:sp>
        <p:nvSpPr>
          <p:cNvPr id="4" name="页脚占位符 3"/>
          <p:cNvSpPr>
            <a:spLocks noGrp="1"/>
          </p:cNvSpPr>
          <p:nvPr>
            <p:ph type="ftr" sz="quarter" idx="11"/>
            <p:custDataLst>
              <p:tags r:id="rId7"/>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635" y="-318"/>
            <a:ext cx="12192622" cy="6858635"/>
          </a:xfrm>
          <a:prstGeom prst="rect">
            <a:avLst/>
          </a:prstGeom>
        </p:spPr>
      </p:pic>
      <p:sp>
        <p:nvSpPr>
          <p:cNvPr id="6" name="矩形 5"/>
          <p:cNvSpPr/>
          <p:nvPr>
            <p:custDataLst>
              <p:tags r:id="rId2"/>
            </p:custDataLst>
          </p:nvPr>
        </p:nvSpPr>
        <p:spPr>
          <a:xfrm>
            <a:off x="794" y="1"/>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lt1"/>
              </a:solidFill>
              <a:sym typeface="+mn-ea"/>
            </a:endParaRPr>
          </a:p>
        </p:txBody>
      </p:sp>
      <p:sp>
        <p:nvSpPr>
          <p:cNvPr id="2" name="标题 1"/>
          <p:cNvSpPr>
            <a:spLocks noGrp="1"/>
          </p:cNvSpPr>
          <p:nvPr>
            <p:ph type="title" hasCustomPrompt="1"/>
            <p:custDataLst>
              <p:tags r:id="rId3"/>
            </p:custDataLst>
          </p:nvPr>
        </p:nvSpPr>
        <p:spPr>
          <a:xfrm>
            <a:off x="583200" y="770400"/>
            <a:ext cx="3960000" cy="882000"/>
          </a:xfrm>
        </p:spPr>
        <p:txBody>
          <a:bodyPr anchor="ctr" anchorCtr="0"/>
          <a:lstStyle>
            <a:lvl1pP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2026/4/22</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586800" y="1764000"/>
            <a:ext cx="3956400" cy="4093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5101200" y="769938"/>
            <a:ext cx="6480000" cy="5087937"/>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794" y="0"/>
            <a:ext cx="12192000" cy="6858318"/>
          </a:xfrm>
          <a:prstGeom prst="rect">
            <a:avLst/>
          </a:prstGeom>
        </p:spPr>
      </p:pic>
      <p:sp>
        <p:nvSpPr>
          <p:cNvPr id="8" name="矩形 7"/>
          <p:cNvSpPr/>
          <p:nvPr>
            <p:custDataLst>
              <p:tags r:id="rId2"/>
            </p:custDataLst>
          </p:nvPr>
        </p:nvSpPr>
        <p:spPr>
          <a:xfrm>
            <a:off x="159"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12000" y="781200"/>
            <a:ext cx="10976400" cy="626400"/>
          </a:xfrm>
        </p:spPr>
        <p:txBody>
          <a:bodyPr anchor="ctr"/>
          <a:lstStyle>
            <a:lvl1pPr algn="ct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2026/4/22</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6" name="矩形 5"/>
          <p:cNvSpPr/>
          <p:nvPr>
            <p:custDataLst>
              <p:tags r:id="rId2"/>
            </p:custDataLst>
          </p:nvPr>
        </p:nvSpPr>
        <p:spPr>
          <a:xfrm>
            <a:off x="159" y="5029202"/>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sp>
        <p:nvSpPr>
          <p:cNvPr id="2" name="标题 1"/>
          <p:cNvSpPr>
            <a:spLocks noGrp="1"/>
          </p:cNvSpPr>
          <p:nvPr>
            <p:ph type="title"/>
            <p:custDataLst>
              <p:tags r:id="rId3"/>
            </p:custDataLst>
          </p:nvPr>
        </p:nvSpPr>
        <p:spPr>
          <a:xfrm>
            <a:off x="604800" y="669600"/>
            <a:ext cx="10976400" cy="565200"/>
          </a:xfrm>
        </p:spPr>
        <p:txBody>
          <a:bodyPr anchor="ctr" anchorCtr="0"/>
          <a:lstStyle>
            <a:lvl1pPr algn="ct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2026/4/22</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3"/>
          <a:stretch>
            <a:fillRect/>
          </a:stretch>
        </p:blipFill>
        <p:spPr>
          <a:xfrm>
            <a:off x="635" y="317"/>
            <a:ext cx="12192000" cy="6858635"/>
          </a:xfrm>
          <a:prstGeom prst="rect">
            <a:avLst/>
          </a:prstGeom>
        </p:spPr>
      </p:pic>
      <p:sp>
        <p:nvSpPr>
          <p:cNvPr id="8" name="矩形 7"/>
          <p:cNvSpPr/>
          <p:nvPr>
            <p:custDataLst>
              <p:tags r:id="rId2"/>
            </p:custDataLst>
          </p:nvPr>
        </p:nvSpPr>
        <p:spPr>
          <a:xfrm>
            <a:off x="159" y="3175"/>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4"/>
          <a:stretch>
            <a:fillRect/>
          </a:stretch>
        </p:blipFill>
        <p:spPr>
          <a:xfrm>
            <a:off x="0" y="5636260"/>
            <a:ext cx="1266591" cy="1222375"/>
          </a:xfrm>
          <a:prstGeom prst="rect">
            <a:avLst/>
          </a:prstGeom>
        </p:spPr>
      </p:pic>
      <p:sp>
        <p:nvSpPr>
          <p:cNvPr id="2" name="标题 1"/>
          <p:cNvSpPr>
            <a:spLocks noGrp="1"/>
          </p:cNvSpPr>
          <p:nvPr>
            <p:ph type="title"/>
            <p:custDataLst>
              <p:tags r:id="rId4"/>
            </p:custDataLst>
          </p:nvPr>
        </p:nvSpPr>
        <p:spPr>
          <a:xfrm>
            <a:off x="579600" y="237600"/>
            <a:ext cx="11037600" cy="441964"/>
          </a:xfrm>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2026/4/22</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579600" y="1663200"/>
            <a:ext cx="53424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6242400" y="1663200"/>
            <a:ext cx="53676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572400" y="4816800"/>
            <a:ext cx="53424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6253200" y="4813200"/>
            <a:ext cx="53676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1429" y="958590"/>
            <a:ext cx="12192000" cy="4939553"/>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0" y="5635625"/>
            <a:ext cx="1266591" cy="1222375"/>
          </a:xfrm>
          <a:prstGeom prst="rect">
            <a:avLst/>
          </a:prstGeom>
        </p:spPr>
      </p:pic>
      <p:sp>
        <p:nvSpPr>
          <p:cNvPr id="2" name="标题 1"/>
          <p:cNvSpPr>
            <a:spLocks noGrp="1"/>
          </p:cNvSpPr>
          <p:nvPr>
            <p:ph type="title" hasCustomPrompt="1"/>
            <p:custDataLst>
              <p:tags r:id="rId4"/>
            </p:custDataLst>
          </p:nvPr>
        </p:nvSpPr>
        <p:spPr>
          <a:xfrm>
            <a:off x="1522800" y="1339200"/>
            <a:ext cx="9144000" cy="2386800"/>
          </a:xfrm>
        </p:spPr>
        <p:txBody>
          <a:bodyPr anchor="b"/>
          <a:lstStyle>
            <a:lvl1pPr algn="ctr">
              <a:defRPr sz="60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2026/4/22</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522413" y="3862800"/>
            <a:ext cx="9144000" cy="1656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2026/4/22</a:t>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8"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Arial" panose="020B0604020202020204" pitchFamily="34" charset="0"/>
          <a:ea typeface="汉仪文黑-55简" panose="00020600040101010101"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 Id="rId5" Type="http://schemas.openxmlformats.org/officeDocument/2006/relationships/image" Target="../media/image14.png"/><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 Id="rId5" Type="http://schemas.openxmlformats.org/officeDocument/2006/relationships/image" Target="../media/image15.emf"/><Relationship Id="rId4"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tags" Target="../tags/tag162.xml"/><Relationship Id="rId5" Type="http://schemas.openxmlformats.org/officeDocument/2006/relationships/image" Target="../media/image16.png"/><Relationship Id="rId4"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tags" Target="../tags/tag165.xml"/><Relationship Id="rId5" Type="http://schemas.openxmlformats.org/officeDocument/2006/relationships/image" Target="../media/image17.png"/><Relationship Id="rId4"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tags" Target="../tags/tag170.xml"/><Relationship Id="rId7" Type="http://schemas.openxmlformats.org/officeDocument/2006/relationships/image" Target="../media/image20.png"/><Relationship Id="rId2" Type="http://schemas.openxmlformats.org/officeDocument/2006/relationships/tags" Target="../tags/tag169.xml"/><Relationship Id="rId1" Type="http://schemas.openxmlformats.org/officeDocument/2006/relationships/tags" Target="../tags/tag168.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slideLayout" Target="../slideLayouts/slideLayout1.xml"/><Relationship Id="rId9"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tags" Target="../tags/tag173.xml"/><Relationship Id="rId2" Type="http://schemas.openxmlformats.org/officeDocument/2006/relationships/tags" Target="../tags/tag172.xml"/><Relationship Id="rId1" Type="http://schemas.openxmlformats.org/officeDocument/2006/relationships/tags" Target="../tags/tag171.xml"/><Relationship Id="rId5" Type="http://schemas.openxmlformats.org/officeDocument/2006/relationships/image" Target="../media/image23.png"/><Relationship Id="rId4"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hyperlink" Target="https://www.google.com/search?q=Variable+Displacement+Compressor+%28VDC%29&amp;rlz=1C1GCEU_enMV1103MV1103&amp;oq=different+types+of+compressure+car+ac&amp;gs_lcrp=EgZjaHJvbWUyBggAEEUYOTIICAEQABgWGB4yDQgCEAAYhgMYgAQYigUyDQgDEAAYhgMYgAQYigUyDQgEEAAYhgMYgAQYigUyBwgFEAAY7wUyCggGEAAYgAQYogTSAQkxODMxMmowajeoAgCwAgA&amp;sourceid=chrome&amp;ie=UTF-8&amp;mstk=AUtExfB2D897MV2WoeWTbNNdLiPVHvxQsiOoNwoGSWQiaZPau4ujmBeP1F_-wETjVmrzCNDkj4cRy0RAaHhFbFlYsKn2ZJpSICMJxJjyg2WeNySxcb6MhMd9_bvVG5X7Pm4kijTFBNIVvgV0-ku2Nm_kIVWIHDG_7QPpL8MvJyjr041RLwg&amp;csui=3&amp;ved=2ahUKEwjBr7nDmoGUAxXQaHADHV1CNuEQgK4QegQIBBAH" TargetMode="External"/><Relationship Id="rId3" Type="http://schemas.openxmlformats.org/officeDocument/2006/relationships/tags" Target="../tags/tag176.xml"/><Relationship Id="rId7" Type="http://schemas.openxmlformats.org/officeDocument/2006/relationships/hyperlink" Target="https://www.google.com/search?q=Rotary+Vane+Compressor&amp;rlz=1C1GCEU_enMV1103MV1103&amp;oq=different+types+of+compressure+car+ac&amp;gs_lcrp=EgZjaHJvbWUyBggAEEUYOTIICAEQABgWGB4yDQgCEAAYhgMYgAQYigUyDQgDEAAYhgMYgAQYigUyDQgEEAAYhgMYgAQYigUyBwgFEAAY7wUyCggGEAAYgAQYogTSAQkxODMxMmowajeoAgCwAgA&amp;sourceid=chrome&amp;ie=UTF-8&amp;mstk=AUtExfB2D897MV2WoeWTbNNdLiPVHvxQsiOoNwoGSWQiaZPau4ujmBeP1F_-wETjVmrzCNDkj4cRy0RAaHhFbFlYsKn2ZJpSICMJxJjyg2WeNySxcb6MhMd9_bvVG5X7Pm4kijTFBNIVvgV0-ku2Nm_kIVWIHDG_7QPpL8MvJyjr041RLwg&amp;csui=3&amp;ved=2ahUKEwjBr7nDmoGUAxXQaHADHV1CNuEQgK4QegQIBBAF" TargetMode="External"/><Relationship Id="rId2" Type="http://schemas.openxmlformats.org/officeDocument/2006/relationships/tags" Target="../tags/tag175.xml"/><Relationship Id="rId1" Type="http://schemas.openxmlformats.org/officeDocument/2006/relationships/tags" Target="../tags/tag174.xml"/><Relationship Id="rId6" Type="http://schemas.openxmlformats.org/officeDocument/2006/relationships/hyperlink" Target="https://www.google.com/search?q=Reciprocating+Piston+Compressor&amp;rlz=1C1GCEU_enMV1103MV1103&amp;oq=different+types+of+compressure+car+ac&amp;gs_lcrp=EgZjaHJvbWUyBggAEEUYOTIICAEQABgWGB4yDQgCEAAYhgMYgAQYigUyDQgDEAAYhgMYgAQYigUyDQgEEAAYhgMYgAQYigUyBwgFEAAY7wUyCggGEAAYgAQYogTSAQkxODMxMmowajeoAgCwAgA&amp;sourceid=chrome&amp;ie=UTF-8&amp;mstk=AUtExfB2D897MV2WoeWTbNNdLiPVHvxQsiOoNwoGSWQiaZPau4ujmBeP1F_-wETjVmrzCNDkj4cRy0RAaHhFbFlYsKn2ZJpSICMJxJjyg2WeNySxcb6MhMd9_bvVG5X7Pm4kijTFBNIVvgV0-ku2Nm_kIVWIHDG_7QPpL8MvJyjr041RLwg&amp;csui=3&amp;ved=2ahUKEwjBr7nDmoGUAxXQaHADHV1CNuEQgK4QegQIBBAD" TargetMode="External"/><Relationship Id="rId5" Type="http://schemas.openxmlformats.org/officeDocument/2006/relationships/hyperlink" Target="https://www.google.com/search?q=Scroll+Compressor&amp;rlz=1C1GCEU_enMV1103MV1103&amp;oq=different+types+of+compressure+car+ac&amp;gs_lcrp=EgZjaHJvbWUyBggAEEUYOTIICAEQABgWGB4yDQgCEAAYhgMYgAQYigUyDQgDEAAYhgMYgAQYigUyDQgEEAAYhgMYgAQYigUyBwgFEAAY7wUyCggGEAAYgAQYogTSAQkxODMxMmowajeoAgCwAgA&amp;sourceid=chrome&amp;ie=UTF-8&amp;mstk=AUtExfB2D897MV2WoeWTbNNdLiPVHvxQsiOoNwoGSWQiaZPau4ujmBeP1F_-wETjVmrzCNDkj4cRy0RAaHhFbFlYsKn2ZJpSICMJxJjyg2WeNySxcb6MhMd9_bvVG5X7Pm4kijTFBNIVvgV0-ku2Nm_kIVWIHDG_7QPpL8MvJyjr041RLwg&amp;csui=3&amp;ved=2ahUKEwjBr7nDmoGUAxXQaHADHV1CNuEQgK4QegQIBBAB" TargetMode="External"/><Relationship Id="rId10" Type="http://schemas.openxmlformats.org/officeDocument/2006/relationships/hyperlink" Target="https://www.google.com/search?q=Electric+Scroll+Compressor&amp;rlz=1C1GCEU_enMV1103MV1103&amp;oq=different+types+of+compressure+car+ac&amp;gs_lcrp=EgZjaHJvbWUyBggAEEUYOTIICAEQABgWGB4yDQgCEAAYhgMYgAQYigUyDQgDEAAYhgMYgAQYigUyDQgEEAAYhgMYgAQYigUyBwgFEAAY7wUyCggGEAAYgAQYogTSAQkxODMxMmowajeoAgCwAgA&amp;sourceid=chrome&amp;ie=UTF-8&amp;mstk=AUtExfB2D897MV2WoeWTbNNdLiPVHvxQsiOoNwoGSWQiaZPau4ujmBeP1F_-wETjVmrzCNDkj4cRy0RAaHhFbFlYsKn2ZJpSICMJxJjyg2WeNySxcb6MhMd9_bvVG5X7Pm4kijTFBNIVvgV0-ku2Nm_kIVWIHDG_7QPpL8MvJyjr041RLwg&amp;csui=3&amp;ved=2ahUKEwjBr7nDmoGUAxXQaHADHV1CNuEQgK4QegQIBBAL" TargetMode="External"/><Relationship Id="rId4" Type="http://schemas.openxmlformats.org/officeDocument/2006/relationships/slideLayout" Target="../slideLayouts/slideLayout1.xml"/><Relationship Id="rId9" Type="http://schemas.openxmlformats.org/officeDocument/2006/relationships/hyperlink" Target="https://www.google.com/search?q=Fixed+Displacement+Compressor&amp;rlz=1C1GCEU_enMV1103MV1103&amp;oq=different+types+of+compressure+car+ac&amp;gs_lcrp=EgZjaHJvbWUyBggAEEUYOTIICAEQABgWGB4yDQgCEAAYhgMYgAQYigUyDQgDEAAYhgMYgAQYigUyDQgEEAAYhgMYgAQYigUyBwgFEAAY7wUyCggGEAAYgAQYogTSAQkxODMxMmowajeoAgCwAgA&amp;sourceid=chrome&amp;ie=UTF-8&amp;mstk=AUtExfB2D897MV2WoeWTbNNdLiPVHvxQsiOoNwoGSWQiaZPau4ujmBeP1F_-wETjVmrzCNDkj4cRy0RAaHhFbFlYsKn2ZJpSICMJxJjyg2WeNySxcb6MhMd9_bvVG5X7Pm4kijTFBNIVvgV0-ku2Nm_kIVWIHDG_7QPpL8MvJyjr041RLwg&amp;csui=3&amp;ved=2ahUKEwjBr7nDmoGUAxXQaHADHV1CNuEQgK4QegQIBBAJ" TargetMode="External"/></Relationships>
</file>

<file path=ppt/slides/_rels/slide8.xml.rels><?xml version="1.0" encoding="UTF-8" standalone="yes"?>
<Relationships xmlns="http://schemas.openxmlformats.org/package/2006/relationships"><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 Id="rId5" Type="http://schemas.openxmlformats.org/officeDocument/2006/relationships/image" Target="../media/image24.png"/><Relationship Id="rId4"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tags" Target="../tags/tag182.xml"/><Relationship Id="rId2" Type="http://schemas.openxmlformats.org/officeDocument/2006/relationships/tags" Target="../tags/tag181.xml"/><Relationship Id="rId1" Type="http://schemas.openxmlformats.org/officeDocument/2006/relationships/tags" Target="../tags/tag180.xml"/><Relationship Id="rId5" Type="http://schemas.openxmlformats.org/officeDocument/2006/relationships/image" Target="../media/image25.png"/><Relationship Id="rId4"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tags" Target="../tags/tag185.xml"/><Relationship Id="rId2" Type="http://schemas.openxmlformats.org/officeDocument/2006/relationships/tags" Target="../tags/tag184.xml"/><Relationship Id="rId1" Type="http://schemas.openxmlformats.org/officeDocument/2006/relationships/tags" Target="../tags/tag183.xml"/><Relationship Id="rId6" Type="http://schemas.openxmlformats.org/officeDocument/2006/relationships/image" Target="../media/image26.jpeg"/><Relationship Id="rId5" Type="http://schemas.openxmlformats.org/officeDocument/2006/relationships/slideLayout" Target="../slideLayouts/slideLayout1.xml"/><Relationship Id="rId4" Type="http://schemas.openxmlformats.org/officeDocument/2006/relationships/video" Target="https://www.youtube.com/embed/UdrpJv2PRJ0" TargetMode="External"/></Relationships>
</file>

<file path=ppt/slides/_rels/slide11.xml.rels><?xml version="1.0" encoding="UTF-8" standalone="yes"?>
<Relationships xmlns="http://schemas.openxmlformats.org/package/2006/relationships"><Relationship Id="rId3" Type="http://schemas.openxmlformats.org/officeDocument/2006/relationships/tags" Target="../tags/tag188.xml"/><Relationship Id="rId2" Type="http://schemas.openxmlformats.org/officeDocument/2006/relationships/tags" Target="../tags/tag187.xml"/><Relationship Id="rId1" Type="http://schemas.openxmlformats.org/officeDocument/2006/relationships/tags" Target="../tags/tag186.xml"/><Relationship Id="rId5" Type="http://schemas.openxmlformats.org/officeDocument/2006/relationships/image" Target="../media/image23.png"/><Relationship Id="rId4"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tags" Target="../tags/tag191.xml"/><Relationship Id="rId7" Type="http://schemas.openxmlformats.org/officeDocument/2006/relationships/image" Target="../media/image20.png"/><Relationship Id="rId2" Type="http://schemas.openxmlformats.org/officeDocument/2006/relationships/tags" Target="../tags/tag190.xml"/><Relationship Id="rId1" Type="http://schemas.openxmlformats.org/officeDocument/2006/relationships/tags" Target="../tags/tag189.xml"/><Relationship Id="rId6" Type="http://schemas.openxmlformats.org/officeDocument/2006/relationships/image" Target="../media/image23.png"/><Relationship Id="rId5" Type="http://schemas.openxmlformats.org/officeDocument/2006/relationships/hyperlink" Target="https://www.google.com/search?q=orifice+tube&amp;rlz=1C1GCEU_enMV1103MV1103&amp;oq=Receiver/+Dryer+or+Accumulator&amp;gs_lcrp=EgZjaHJvbWUyBggAEEUYOTIKCAEQABgKGBYYHjIKCAIQABgKGBYYHjIICAMQABgWGB4yDQgEEAAYhgMYgAQYigUyDQgFEAAYhgMYgAQYigUyDQgGEAAYhgMYgAQYigUyBggHEEUYOtIBBzk4MWowajeoAgCwAgA&amp;sourceid=chrome&amp;ie=UTF-8&amp;mstk=AUtExfA9TLStYCJ43sPlW-Aq3dgd9VCKuUzTa4mynQFhbRWKiq5JiXegHS0uPc21f7s3NE6YS_H-HhGavZj3B9Y9u7bcggNBgkcq-mBsGCtI2uRShB5WGcNu_tQ-Ypn2evToEPiawnPipf2NEApTNdK7GZNM4BVn0P-3FENM5hmwn9IqqXuWVk8bfZWWgHjYVt2IHJBN_1WndjVNIUPSjSjB46Hfo0XuyEZuM_7TFHtcGwMMNfPGEDVSiTBw9GLHN79yMjBN6Tzy-xpW5W6-5CPaq0HRQohCL1J84O5ACgCMaxgIIw&amp;csui=3&amp;ved=2ahUKEwjel7vs1fiQAxWRTWwGHRxYGwgQgK4QegQIARAF" TargetMode="External"/><Relationship Id="rId4"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tags" Target="../tags/tag19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tags" Target="../tags/tag197.xml"/><Relationship Id="rId2" Type="http://schemas.openxmlformats.org/officeDocument/2006/relationships/tags" Target="../tags/tag196.xml"/><Relationship Id="rId1" Type="http://schemas.openxmlformats.org/officeDocument/2006/relationships/tags" Target="../tags/tag195.xml"/><Relationship Id="rId6" Type="http://schemas.openxmlformats.org/officeDocument/2006/relationships/image" Target="../media/image29.png"/><Relationship Id="rId5" Type="http://schemas.openxmlformats.org/officeDocument/2006/relationships/image" Target="../media/image27.png"/><Relationship Id="rId4"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tags" Target="../tags/tag200.xml"/><Relationship Id="rId2" Type="http://schemas.openxmlformats.org/officeDocument/2006/relationships/tags" Target="../tags/tag199.xml"/><Relationship Id="rId1" Type="http://schemas.openxmlformats.org/officeDocument/2006/relationships/tags" Target="../tags/tag198.xml"/><Relationship Id="rId6" Type="http://schemas.openxmlformats.org/officeDocument/2006/relationships/image" Target="../media/image30.png"/><Relationship Id="rId5" Type="http://schemas.openxmlformats.org/officeDocument/2006/relationships/image" Target="../media/image27.png"/><Relationship Id="rId4"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tags" Target="../tags/tag203.xml"/><Relationship Id="rId2" Type="http://schemas.openxmlformats.org/officeDocument/2006/relationships/tags" Target="../tags/tag202.xml"/><Relationship Id="rId1" Type="http://schemas.openxmlformats.org/officeDocument/2006/relationships/tags" Target="../tags/tag201.xml"/><Relationship Id="rId4"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tags" Target="../tags/tag206.xml"/><Relationship Id="rId2" Type="http://schemas.openxmlformats.org/officeDocument/2006/relationships/tags" Target="../tags/tag205.xml"/><Relationship Id="rId1" Type="http://schemas.openxmlformats.org/officeDocument/2006/relationships/tags" Target="../tags/tag204.xml"/><Relationship Id="rId4"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tags" Target="../tags/tag209.xml"/><Relationship Id="rId2" Type="http://schemas.openxmlformats.org/officeDocument/2006/relationships/tags" Target="../tags/tag208.xml"/><Relationship Id="rId1" Type="http://schemas.openxmlformats.org/officeDocument/2006/relationships/tags" Target="../tags/tag207.xml"/><Relationship Id="rId4"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tags" Target="../tags/tag212.xml"/><Relationship Id="rId2" Type="http://schemas.openxmlformats.org/officeDocument/2006/relationships/tags" Target="../tags/tag211.xml"/><Relationship Id="rId1" Type="http://schemas.openxmlformats.org/officeDocument/2006/relationships/tags" Target="../tags/tag210.xml"/><Relationship Id="rId4"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 Id="rId4"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tags" Target="../tags/tag218.xml"/><Relationship Id="rId2" Type="http://schemas.openxmlformats.org/officeDocument/2006/relationships/tags" Target="../tags/tag217.xml"/><Relationship Id="rId1" Type="http://schemas.openxmlformats.org/officeDocument/2006/relationships/tags" Target="../tags/tag216.xml"/><Relationship Id="rId5" Type="http://schemas.openxmlformats.org/officeDocument/2006/relationships/image" Target="../media/image31.png"/><Relationship Id="rId4"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tags" Target="../tags/tag221.xml"/><Relationship Id="rId2" Type="http://schemas.openxmlformats.org/officeDocument/2006/relationships/tags" Target="../tags/tag220.xml"/><Relationship Id="rId1" Type="http://schemas.openxmlformats.org/officeDocument/2006/relationships/tags" Target="../tags/tag219.xml"/><Relationship Id="rId4"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tags" Target="../tags/tag224.xml"/><Relationship Id="rId2" Type="http://schemas.openxmlformats.org/officeDocument/2006/relationships/tags" Target="../tags/tag223.xml"/><Relationship Id="rId1" Type="http://schemas.openxmlformats.org/officeDocument/2006/relationships/tags" Target="../tags/tag222.xml"/><Relationship Id="rId4"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tags" Target="../tags/tag227.xml"/><Relationship Id="rId2" Type="http://schemas.openxmlformats.org/officeDocument/2006/relationships/tags" Target="../tags/tag226.xml"/><Relationship Id="rId1" Type="http://schemas.openxmlformats.org/officeDocument/2006/relationships/tags" Target="../tags/tag225.xml"/><Relationship Id="rId4"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tags" Target="../tags/tag230.xml"/><Relationship Id="rId2" Type="http://schemas.openxmlformats.org/officeDocument/2006/relationships/tags" Target="../tags/tag229.xml"/><Relationship Id="rId1" Type="http://schemas.openxmlformats.org/officeDocument/2006/relationships/tags" Target="../tags/tag228.xml"/><Relationship Id="rId4"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tags" Target="../tags/tag233.xml"/><Relationship Id="rId2" Type="http://schemas.openxmlformats.org/officeDocument/2006/relationships/tags" Target="../tags/tag232.xml"/><Relationship Id="rId1" Type="http://schemas.openxmlformats.org/officeDocument/2006/relationships/tags" Target="../tags/tag23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35.xml"/><Relationship Id="rId1" Type="http://schemas.openxmlformats.org/officeDocument/2006/relationships/tags" Target="../tags/tag2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84128" y="5658615"/>
            <a:ext cx="7629063" cy="1183999"/>
          </a:xfrm>
          <a:prstGeom prst="rect">
            <a:avLst/>
          </a:prstGeom>
          <a:noFill/>
        </p:spPr>
        <p:txBody>
          <a:bodyPr wrap="square" rtlCol="0">
            <a:norm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pic>
        <p:nvPicPr>
          <p:cNvPr id="4" name="Picture 3">
            <a:extLst>
              <a:ext uri="{FF2B5EF4-FFF2-40B4-BE49-F238E27FC236}">
                <a16:creationId xmlns:a16="http://schemas.microsoft.com/office/drawing/2014/main" id="{55D17C5F-D582-80A6-4DE3-CCB3F46FECDE}"/>
              </a:ext>
            </a:extLst>
          </p:cNvPr>
          <p:cNvPicPr>
            <a:picLocks noChangeAspect="1"/>
          </p:cNvPicPr>
          <p:nvPr/>
        </p:nvPicPr>
        <p:blipFill>
          <a:blip r:embed="rId5"/>
          <a:stretch>
            <a:fillRect/>
          </a:stretch>
        </p:blipFill>
        <p:spPr>
          <a:xfrm>
            <a:off x="5191125" y="466312"/>
            <a:ext cx="904875" cy="1428750"/>
          </a:xfrm>
          <a:prstGeom prst="rect">
            <a:avLst/>
          </a:prstGeom>
        </p:spPr>
      </p:pic>
      <p:sp>
        <p:nvSpPr>
          <p:cNvPr id="5" name="文本框 21">
            <a:extLst>
              <a:ext uri="{FF2B5EF4-FFF2-40B4-BE49-F238E27FC236}">
                <a16:creationId xmlns:a16="http://schemas.microsoft.com/office/drawing/2014/main" id="{8291BEAF-DC80-7114-D7E5-4D33D4D73EFF}"/>
              </a:ext>
            </a:extLst>
          </p:cNvPr>
          <p:cNvSpPr txBox="1"/>
          <p:nvPr>
            <p:custDataLst>
              <p:tags r:id="rId3"/>
            </p:custDataLst>
          </p:nvPr>
        </p:nvSpPr>
        <p:spPr>
          <a:xfrm>
            <a:off x="1517374" y="2036310"/>
            <a:ext cx="8719930" cy="1740528"/>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effectLst/>
                <a:latin typeface="Times New Roman" panose="02020603050405020304" pitchFamily="18" charset="0"/>
                <a:ea typeface="Calibri" panose="020F0502020204030204" pitchFamily="34" charset="0"/>
                <a:cs typeface="Arial" panose="020B0604020202020204" pitchFamily="34" charset="0"/>
              </a:rPr>
              <a:t>CERTIFICATE III IN AUTOMOTIVE REPAIR &amp; MAINTE</a:t>
            </a: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NANCE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5B8B25F2-350A-E959-A436-C1320A9A1827}"/>
              </a:ext>
            </a:extLst>
          </p:cNvPr>
          <p:cNvSpPr txBox="1"/>
          <p:nvPr/>
        </p:nvSpPr>
        <p:spPr>
          <a:xfrm>
            <a:off x="821635" y="4015155"/>
            <a:ext cx="9415669" cy="530594"/>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2800" b="1" i="0" u="none" strike="noStrike" kern="100" cap="none" spc="0" normalizeH="0" baseline="0" noProof="0" dirty="0">
                <a:ln>
                  <a:noFill/>
                </a:ln>
                <a:solidFill>
                  <a:srgbClr val="FFAD63">
                    <a:lumMod val="50000"/>
                  </a:srgbClr>
                </a:solidFill>
                <a:effectLst/>
                <a:uLnTx/>
                <a:uFillTx/>
                <a:latin typeface="Times New Roman" panose="02020603050405020304" pitchFamily="18" charset="0"/>
                <a:ea typeface="Calibri" panose="020F0502020204030204" pitchFamily="34" charset="0"/>
                <a:cs typeface="Arial" panose="020B0604020202020204" pitchFamily="34" charset="0"/>
              </a:rPr>
              <a:t>SUBJECT:  </a:t>
            </a: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kumimoji="0" lang="en-US" sz="2800" b="1" i="0" u="none" strike="noStrike" kern="100" cap="none" spc="0" normalizeH="0" baseline="0" noProof="0" dirty="0">
              <a:ln>
                <a:noFill/>
              </a:ln>
              <a:solidFill>
                <a:schemeClr val="accent3">
                  <a:lumMod val="50000"/>
                </a:schemeClr>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4847157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21344" y="1371600"/>
            <a:ext cx="10018643" cy="3929637"/>
          </a:xfrm>
          <a:prstGeom prst="rect">
            <a:avLst/>
          </a:prstGeom>
          <a:noFill/>
        </p:spPr>
        <p:txBody>
          <a:bodyPr wrap="square" rtlCol="0">
            <a:noAutofit/>
          </a:bodyPr>
          <a:lstStyle/>
          <a:p>
            <a:endParaRPr lang="en-US" altLang="zh-CN" sz="2400" b="1" cap="all" spc="100" dirty="0">
              <a:latin typeface="Times New Roman" panose="02020603050405020304" pitchFamily="18" charset="0"/>
              <a:ea typeface="微软雅黑" panose="020B0503020204020204" charset="-122"/>
            </a:endParaRPr>
          </a:p>
        </p:txBody>
      </p:sp>
      <p:sp>
        <p:nvSpPr>
          <p:cNvPr id="22" name="文本框 21"/>
          <p:cNvSpPr txBox="1"/>
          <p:nvPr>
            <p:custDataLst>
              <p:tags r:id="rId3"/>
            </p:custDataLst>
          </p:nvPr>
        </p:nvSpPr>
        <p:spPr>
          <a:xfrm>
            <a:off x="1524001" y="714895"/>
            <a:ext cx="8719930" cy="656706"/>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AUTOMOTIVE ENGINE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pic>
        <p:nvPicPr>
          <p:cNvPr id="15" name="Picture 14"/>
          <p:cNvPicPr>
            <a:picLocks noChangeAspect="1"/>
          </p:cNvPicPr>
          <p:nvPr/>
        </p:nvPicPr>
        <p:blipFill>
          <a:blip r:embed="rId5"/>
          <a:stretch>
            <a:fillRect/>
          </a:stretch>
        </p:blipFill>
        <p:spPr>
          <a:xfrm>
            <a:off x="1524001" y="1476445"/>
            <a:ext cx="7777941" cy="3783014"/>
          </a:xfrm>
          <a:prstGeom prst="rect">
            <a:avLst/>
          </a:prstGeom>
        </p:spPr>
      </p:pic>
    </p:spTree>
    <p:custDataLst>
      <p:tags r:id="rId1"/>
    </p:custDataLst>
    <p:extLst>
      <p:ext uri="{BB962C8B-B14F-4D97-AF65-F5344CB8AC3E}">
        <p14:creationId xmlns:p14="http://schemas.microsoft.com/office/powerpoint/2010/main" val="3699083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6" y="1574807"/>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a:latin typeface="Times New Roman" panose="02020603050405020304" pitchFamily="18" charset="0"/>
                <a:ea typeface="Times New Roman" panose="02020603050405020304" pitchFamily="18" charset="0"/>
                <a:cs typeface="Arial" panose="020B0604020202020204" pitchFamily="34" charset="0"/>
              </a:rPr>
              <a:t>Introduction</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1687845" y="2448796"/>
            <a:ext cx="9402792" cy="923330"/>
          </a:xfrm>
          <a:prstGeom prst="rect">
            <a:avLst/>
          </a:prstGeom>
        </p:spPr>
        <p:txBody>
          <a:bodyPr wrap="square">
            <a:spAutoFit/>
          </a:bodyPr>
          <a:lstStyle/>
          <a:p>
            <a:r>
              <a:rPr lang="en-US" dirty="0"/>
              <a:t>Automotive air conditioning (A/C) systems, part of a vehicle's </a:t>
            </a:r>
            <a:r>
              <a:rPr lang="en-US" b="1" dirty="0">
                <a:solidFill>
                  <a:srgbClr val="0A0A0A"/>
                </a:solidFill>
                <a:latin typeface="Google Sans"/>
              </a:rPr>
              <a:t>Heating, Ventilation, and Air Conditioning (HVAC) system</a:t>
            </a:r>
            <a:r>
              <a:rPr lang="en-US" dirty="0">
                <a:solidFill>
                  <a:srgbClr val="0A0A0A"/>
                </a:solidFill>
                <a:latin typeface="Google Sans"/>
              </a:rPr>
              <a:t>, operate on the principle of thermodynamics, moving heat from inside the car to the outside using a refrigerant</a:t>
            </a:r>
            <a:endParaRPr lang="en-US" dirty="0"/>
          </a:p>
        </p:txBody>
      </p:sp>
      <p:pic>
        <p:nvPicPr>
          <p:cNvPr id="5" name="Picture 4"/>
          <p:cNvPicPr>
            <a:picLocks noChangeAspect="1"/>
          </p:cNvPicPr>
          <p:nvPr/>
        </p:nvPicPr>
        <p:blipFill>
          <a:blip r:embed="rId5"/>
          <a:stretch>
            <a:fillRect/>
          </a:stretch>
        </p:blipFill>
        <p:spPr>
          <a:xfrm>
            <a:off x="6849374" y="3452266"/>
            <a:ext cx="3268872" cy="2318805"/>
          </a:xfrm>
          <a:prstGeom prst="rect">
            <a:avLst/>
          </a:prstGeom>
        </p:spPr>
      </p:pic>
    </p:spTree>
    <p:custDataLst>
      <p:tags r:id="rId1"/>
    </p:custDataLst>
    <p:extLst>
      <p:ext uri="{BB962C8B-B14F-4D97-AF65-F5344CB8AC3E}">
        <p14:creationId xmlns:p14="http://schemas.microsoft.com/office/powerpoint/2010/main" val="837791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4" y="887126"/>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p:cNvSpPr txBox="1"/>
          <p:nvPr>
            <p:custDataLst>
              <p:tags r:id="rId3"/>
            </p:custDataLst>
          </p:nvPr>
        </p:nvSpPr>
        <p:spPr>
          <a:xfrm>
            <a:off x="1687844" y="461287"/>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4" y="1322278"/>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a:latin typeface="Times New Roman" panose="02020603050405020304" pitchFamily="18" charset="0"/>
                <a:ea typeface="Times New Roman" panose="02020603050405020304" pitchFamily="18" charset="0"/>
                <a:cs typeface="Arial" panose="020B0604020202020204" pitchFamily="34" charset="0"/>
              </a:rPr>
              <a:t>Core Principles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6" name="Rectangle 5"/>
          <p:cNvSpPr/>
          <p:nvPr/>
        </p:nvSpPr>
        <p:spPr>
          <a:xfrm>
            <a:off x="1570233" y="1801711"/>
            <a:ext cx="9491989" cy="923330"/>
          </a:xfrm>
          <a:prstGeom prst="rect">
            <a:avLst/>
          </a:prstGeom>
        </p:spPr>
        <p:txBody>
          <a:bodyPr wrap="square">
            <a:spAutoFit/>
          </a:bodyPr>
          <a:lstStyle/>
          <a:p>
            <a:r>
              <a:rPr lang="en-US" dirty="0">
                <a:solidFill>
                  <a:srgbClr val="0A0A0A"/>
                </a:solidFill>
                <a:latin typeface="Google Sans"/>
              </a:rPr>
              <a:t>The primary functions of the system are </a:t>
            </a:r>
            <a:r>
              <a:rPr lang="en-US" b="1" dirty="0">
                <a:solidFill>
                  <a:srgbClr val="0A0A0A"/>
                </a:solidFill>
                <a:latin typeface="Google Sans"/>
              </a:rPr>
              <a:t>cooling, dehumidifying, and circulating</a:t>
            </a:r>
            <a:r>
              <a:rPr lang="en-US" dirty="0">
                <a:solidFill>
                  <a:srgbClr val="0A0A0A"/>
                </a:solidFill>
                <a:latin typeface="Google Sans"/>
              </a:rPr>
              <a:t> the air within the vehicle cabin. The process involves a continuous cycle where the refrigerant changes between liquid and gas states at different pressures and temperatures.</a:t>
            </a:r>
            <a:endParaRPr lang="en-US" dirty="0"/>
          </a:p>
        </p:txBody>
      </p:sp>
      <p:pic>
        <p:nvPicPr>
          <p:cNvPr id="7" name="Picture 6"/>
          <p:cNvPicPr>
            <a:picLocks noChangeAspect="1"/>
          </p:cNvPicPr>
          <p:nvPr/>
        </p:nvPicPr>
        <p:blipFill>
          <a:blip r:embed="rId5"/>
          <a:stretch>
            <a:fillRect/>
          </a:stretch>
        </p:blipFill>
        <p:spPr>
          <a:xfrm>
            <a:off x="5253359" y="3160282"/>
            <a:ext cx="5584420" cy="2548349"/>
          </a:xfrm>
          <a:prstGeom prst="rect">
            <a:avLst/>
          </a:prstGeom>
        </p:spPr>
      </p:pic>
    </p:spTree>
    <p:custDataLst>
      <p:tags r:id="rId1"/>
    </p:custDataLst>
    <p:extLst>
      <p:ext uri="{BB962C8B-B14F-4D97-AF65-F5344CB8AC3E}">
        <p14:creationId xmlns:p14="http://schemas.microsoft.com/office/powerpoint/2010/main" val="31399876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6" y="1574807"/>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p:cNvSpPr txBox="1"/>
          <p:nvPr>
            <p:custDataLst>
              <p:tags r:id="rId3"/>
            </p:custDataLst>
          </p:nvPr>
        </p:nvSpPr>
        <p:spPr>
          <a:xfrm>
            <a:off x="1687845" y="621229"/>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5721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dirty="0"/>
              <a:t>Main Components and the Refrigeration Cycle</a:t>
            </a:r>
            <a:endParaRPr lang="en-US" sz="1100" kern="100" dirty="0">
              <a:latin typeface="Calibri" panose="020F0502020204030204" pitchFamily="34" charset="0"/>
              <a:ea typeface="Calibri" panose="020F0502020204030204" pitchFamily="34" charset="0"/>
              <a:cs typeface="Arial" panose="020B0604020202020204" pitchFamily="34" charset="0"/>
            </a:endParaRPr>
          </a:p>
        </p:txBody>
      </p:sp>
      <p:sp>
        <p:nvSpPr>
          <p:cNvPr id="7" name="Rectangle 6"/>
          <p:cNvSpPr/>
          <p:nvPr/>
        </p:nvSpPr>
        <p:spPr>
          <a:xfrm>
            <a:off x="1956263" y="2413875"/>
            <a:ext cx="1301959" cy="338554"/>
          </a:xfrm>
          <a:prstGeom prst="rect">
            <a:avLst/>
          </a:prstGeom>
        </p:spPr>
        <p:txBody>
          <a:bodyPr wrap="none">
            <a:spAutoFit/>
          </a:bodyPr>
          <a:lstStyle/>
          <a:p>
            <a:r>
              <a:rPr lang="en-US" sz="1600" dirty="0">
                <a:solidFill>
                  <a:srgbClr val="0A0A0A"/>
                </a:solidFill>
                <a:latin typeface="Google Sans"/>
              </a:rPr>
              <a:t>Compressor</a:t>
            </a:r>
            <a:endParaRPr lang="en-US" sz="1600" dirty="0"/>
          </a:p>
        </p:txBody>
      </p:sp>
      <p:sp>
        <p:nvSpPr>
          <p:cNvPr id="8" name="Rectangle 7"/>
          <p:cNvSpPr/>
          <p:nvPr/>
        </p:nvSpPr>
        <p:spPr>
          <a:xfrm>
            <a:off x="4288130" y="2413875"/>
            <a:ext cx="1186543" cy="338554"/>
          </a:xfrm>
          <a:prstGeom prst="rect">
            <a:avLst/>
          </a:prstGeom>
        </p:spPr>
        <p:txBody>
          <a:bodyPr wrap="none">
            <a:spAutoFit/>
          </a:bodyPr>
          <a:lstStyle/>
          <a:p>
            <a:r>
              <a:rPr lang="en-US" sz="1600" dirty="0">
                <a:solidFill>
                  <a:srgbClr val="0A0A0A"/>
                </a:solidFill>
                <a:latin typeface="Google Sans"/>
              </a:rPr>
              <a:t>Condenser</a:t>
            </a:r>
            <a:endParaRPr lang="en-US" sz="1600" dirty="0"/>
          </a:p>
        </p:txBody>
      </p:sp>
      <p:sp>
        <p:nvSpPr>
          <p:cNvPr id="9" name="Rectangle 8"/>
          <p:cNvSpPr/>
          <p:nvPr/>
        </p:nvSpPr>
        <p:spPr>
          <a:xfrm>
            <a:off x="6316228" y="2430252"/>
            <a:ext cx="2978572" cy="338554"/>
          </a:xfrm>
          <a:prstGeom prst="rect">
            <a:avLst/>
          </a:prstGeom>
        </p:spPr>
        <p:txBody>
          <a:bodyPr wrap="none">
            <a:spAutoFit/>
          </a:bodyPr>
          <a:lstStyle/>
          <a:p>
            <a:r>
              <a:rPr lang="en-US" sz="1600" dirty="0">
                <a:solidFill>
                  <a:srgbClr val="0A0A0A"/>
                </a:solidFill>
                <a:latin typeface="Google Sans"/>
              </a:rPr>
              <a:t>Receiver/Dryer or Accumulator</a:t>
            </a:r>
            <a:endParaRPr lang="en-US" sz="1600" dirty="0"/>
          </a:p>
        </p:txBody>
      </p:sp>
      <p:sp>
        <p:nvSpPr>
          <p:cNvPr id="10" name="Rectangle 9"/>
          <p:cNvSpPr/>
          <p:nvPr/>
        </p:nvSpPr>
        <p:spPr>
          <a:xfrm>
            <a:off x="1956263" y="4380414"/>
            <a:ext cx="3097964" cy="338554"/>
          </a:xfrm>
          <a:prstGeom prst="rect">
            <a:avLst/>
          </a:prstGeom>
        </p:spPr>
        <p:txBody>
          <a:bodyPr wrap="none">
            <a:spAutoFit/>
          </a:bodyPr>
          <a:lstStyle/>
          <a:p>
            <a:r>
              <a:rPr lang="en-US" sz="1600" dirty="0">
                <a:solidFill>
                  <a:srgbClr val="0A0A0A"/>
                </a:solidFill>
                <a:latin typeface="Google Sans"/>
              </a:rPr>
              <a:t>Expansion Valve or Orifice Tube</a:t>
            </a:r>
            <a:endParaRPr lang="en-US" sz="1600" dirty="0"/>
          </a:p>
        </p:txBody>
      </p:sp>
      <p:pic>
        <p:nvPicPr>
          <p:cNvPr id="11" name="Picture 10"/>
          <p:cNvPicPr>
            <a:picLocks noChangeAspect="1"/>
          </p:cNvPicPr>
          <p:nvPr/>
        </p:nvPicPr>
        <p:blipFill>
          <a:blip r:embed="rId5"/>
          <a:stretch>
            <a:fillRect/>
          </a:stretch>
        </p:blipFill>
        <p:spPr>
          <a:xfrm>
            <a:off x="1302893" y="2747253"/>
            <a:ext cx="2470283" cy="1597811"/>
          </a:xfrm>
          <a:prstGeom prst="rect">
            <a:avLst/>
          </a:prstGeom>
        </p:spPr>
      </p:pic>
      <p:pic>
        <p:nvPicPr>
          <p:cNvPr id="12" name="Picture 11"/>
          <p:cNvPicPr>
            <a:picLocks noChangeAspect="1"/>
          </p:cNvPicPr>
          <p:nvPr/>
        </p:nvPicPr>
        <p:blipFill>
          <a:blip r:embed="rId6"/>
          <a:stretch>
            <a:fillRect/>
          </a:stretch>
        </p:blipFill>
        <p:spPr>
          <a:xfrm>
            <a:off x="4208540" y="2768806"/>
            <a:ext cx="1877591" cy="1694938"/>
          </a:xfrm>
          <a:prstGeom prst="rect">
            <a:avLst/>
          </a:prstGeom>
        </p:spPr>
      </p:pic>
      <p:pic>
        <p:nvPicPr>
          <p:cNvPr id="13" name="Picture 12"/>
          <p:cNvPicPr>
            <a:picLocks noChangeAspect="1"/>
          </p:cNvPicPr>
          <p:nvPr/>
        </p:nvPicPr>
        <p:blipFill>
          <a:blip r:embed="rId7"/>
          <a:stretch>
            <a:fillRect/>
          </a:stretch>
        </p:blipFill>
        <p:spPr>
          <a:xfrm>
            <a:off x="6858000" y="2846197"/>
            <a:ext cx="2087592" cy="1626854"/>
          </a:xfrm>
          <a:prstGeom prst="rect">
            <a:avLst/>
          </a:prstGeom>
        </p:spPr>
      </p:pic>
      <p:pic>
        <p:nvPicPr>
          <p:cNvPr id="14" name="Picture 13"/>
          <p:cNvPicPr>
            <a:picLocks noChangeAspect="1"/>
          </p:cNvPicPr>
          <p:nvPr/>
        </p:nvPicPr>
        <p:blipFill>
          <a:blip r:embed="rId8"/>
          <a:stretch>
            <a:fillRect/>
          </a:stretch>
        </p:blipFill>
        <p:spPr>
          <a:xfrm>
            <a:off x="5220853" y="4646132"/>
            <a:ext cx="2190750" cy="2085975"/>
          </a:xfrm>
          <a:prstGeom prst="rect">
            <a:avLst/>
          </a:prstGeom>
        </p:spPr>
      </p:pic>
      <p:pic>
        <p:nvPicPr>
          <p:cNvPr id="15" name="Picture 14"/>
          <p:cNvPicPr>
            <a:picLocks noChangeAspect="1"/>
          </p:cNvPicPr>
          <p:nvPr/>
        </p:nvPicPr>
        <p:blipFill>
          <a:blip r:embed="rId9"/>
          <a:stretch>
            <a:fillRect/>
          </a:stretch>
        </p:blipFill>
        <p:spPr>
          <a:xfrm>
            <a:off x="8116944" y="4718968"/>
            <a:ext cx="2619375" cy="1743075"/>
          </a:xfrm>
          <a:prstGeom prst="rect">
            <a:avLst/>
          </a:prstGeom>
        </p:spPr>
      </p:pic>
    </p:spTree>
    <p:custDataLst>
      <p:tags r:id="rId1"/>
    </p:custDataLst>
    <p:extLst>
      <p:ext uri="{BB962C8B-B14F-4D97-AF65-F5344CB8AC3E}">
        <p14:creationId xmlns:p14="http://schemas.microsoft.com/office/powerpoint/2010/main" val="2040103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928722" y="804029"/>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738997" y="5840221"/>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013157" y="1177380"/>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Times New Roman" panose="02020603050405020304" pitchFamily="18" charset="0"/>
                <a:cs typeface="Arial" panose="020B0604020202020204" pitchFamily="34" charset="0"/>
              </a:rPr>
              <a:t>Compressor</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6" name="Rectangle 5"/>
          <p:cNvSpPr/>
          <p:nvPr/>
        </p:nvSpPr>
        <p:spPr>
          <a:xfrm>
            <a:off x="928722" y="1501764"/>
            <a:ext cx="8879023" cy="923330"/>
          </a:xfrm>
          <a:prstGeom prst="rect">
            <a:avLst/>
          </a:prstGeom>
        </p:spPr>
        <p:txBody>
          <a:bodyPr wrap="square">
            <a:spAutoFit/>
          </a:bodyPr>
          <a:lstStyle/>
          <a:p>
            <a:r>
              <a:rPr lang="en-US" dirty="0">
                <a:solidFill>
                  <a:srgbClr val="0A0A0A"/>
                </a:solidFill>
                <a:latin typeface="Google Sans"/>
              </a:rPr>
              <a:t> Known as the "heart" of the system, this belt-driven pump (or electric in EVs) compresses the low-pressure, low-temperature refrigerant gas into a high-pressure, high-temperature gas.</a:t>
            </a:r>
            <a:endParaRPr lang="en-US" dirty="0"/>
          </a:p>
        </p:txBody>
      </p:sp>
      <p:pic>
        <p:nvPicPr>
          <p:cNvPr id="7" name="Picture 6"/>
          <p:cNvPicPr>
            <a:picLocks noChangeAspect="1"/>
          </p:cNvPicPr>
          <p:nvPr/>
        </p:nvPicPr>
        <p:blipFill>
          <a:blip r:embed="rId5"/>
          <a:stretch>
            <a:fillRect/>
          </a:stretch>
        </p:blipFill>
        <p:spPr>
          <a:xfrm>
            <a:off x="4063042" y="2460671"/>
            <a:ext cx="6153510" cy="3875352"/>
          </a:xfrm>
          <a:prstGeom prst="rect">
            <a:avLst/>
          </a:prstGeom>
        </p:spPr>
      </p:pic>
    </p:spTree>
    <p:custDataLst>
      <p:tags r:id="rId1"/>
    </p:custDataLst>
    <p:extLst>
      <p:ext uri="{BB962C8B-B14F-4D97-AF65-F5344CB8AC3E}">
        <p14:creationId xmlns:p14="http://schemas.microsoft.com/office/powerpoint/2010/main" val="2434030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928722" y="804029"/>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738997" y="5840221"/>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013157" y="1177380"/>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Times New Roman" panose="02020603050405020304" pitchFamily="18" charset="0"/>
                <a:cs typeface="Arial" panose="020B0604020202020204" pitchFamily="34" charset="0"/>
              </a:rPr>
              <a:t>Compressor</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1267096" y="1423847"/>
            <a:ext cx="4570418" cy="369332"/>
          </a:xfrm>
          <a:prstGeom prst="rect">
            <a:avLst/>
          </a:prstGeom>
        </p:spPr>
        <p:txBody>
          <a:bodyPr wrap="none">
            <a:spAutoFit/>
          </a:bodyPr>
          <a:lstStyle/>
          <a:p>
            <a:r>
              <a:rPr lang="en-US" b="1" dirty="0">
                <a:solidFill>
                  <a:srgbClr val="0A0A0A"/>
                </a:solidFill>
                <a:latin typeface="Google Sans"/>
              </a:rPr>
              <a:t>Common Types of Car AC Compressors</a:t>
            </a:r>
            <a:endParaRPr lang="en-US" dirty="0"/>
          </a:p>
        </p:txBody>
      </p:sp>
      <p:sp>
        <p:nvSpPr>
          <p:cNvPr id="5" name="Rectangle 4"/>
          <p:cNvSpPr/>
          <p:nvPr/>
        </p:nvSpPr>
        <p:spPr>
          <a:xfrm>
            <a:off x="664183" y="2039646"/>
            <a:ext cx="10790756" cy="3416320"/>
          </a:xfrm>
          <a:prstGeom prst="rect">
            <a:avLst/>
          </a:prstGeom>
        </p:spPr>
        <p:txBody>
          <a:bodyPr wrap="square">
            <a:spAutoFit/>
          </a:bodyPr>
          <a:lstStyle/>
          <a:p>
            <a:pPr>
              <a:buFont typeface="Arial" panose="020B0604020202020204" pitchFamily="34" charset="0"/>
              <a:buChar char="•"/>
            </a:pPr>
            <a:r>
              <a:rPr lang="en-US" b="1" dirty="0">
                <a:solidFill>
                  <a:srgbClr val="0A0A0A"/>
                </a:solidFill>
                <a:latin typeface="Google Sans"/>
                <a:hlinkClick r:id="rId5"/>
              </a:rPr>
              <a:t>Scroll Compressor</a:t>
            </a:r>
            <a:r>
              <a:rPr lang="en-US" b="1" dirty="0">
                <a:solidFill>
                  <a:srgbClr val="0A0A0A"/>
                </a:solidFill>
                <a:latin typeface="Google Sans"/>
              </a:rPr>
              <a:t>:</a:t>
            </a:r>
            <a:r>
              <a:rPr lang="en-US" dirty="0">
                <a:solidFill>
                  <a:srgbClr val="0A0A0A"/>
                </a:solidFill>
                <a:latin typeface="Google Sans"/>
              </a:rPr>
              <a:t> Uses two spiral scrolls (one fixed, one orbiting) to compress refrigerant, offering high efficiency, quiet operation, and fewer moving parts.</a:t>
            </a:r>
          </a:p>
          <a:p>
            <a:pPr>
              <a:buFont typeface="Arial" panose="020B0604020202020204" pitchFamily="34" charset="0"/>
              <a:buChar char="•"/>
            </a:pPr>
            <a:r>
              <a:rPr lang="en-US" b="1" dirty="0">
                <a:solidFill>
                  <a:srgbClr val="0A0A0A"/>
                </a:solidFill>
                <a:latin typeface="Google Sans"/>
                <a:hlinkClick r:id="rId6"/>
              </a:rPr>
              <a:t>Reciprocating Piston Compressor</a:t>
            </a:r>
            <a:r>
              <a:rPr lang="en-US" b="1" dirty="0">
                <a:solidFill>
                  <a:srgbClr val="0A0A0A"/>
                </a:solidFill>
                <a:latin typeface="Google Sans"/>
              </a:rPr>
              <a:t>:</a:t>
            </a:r>
            <a:r>
              <a:rPr lang="en-US" dirty="0">
                <a:solidFill>
                  <a:srgbClr val="0A0A0A"/>
                </a:solidFill>
                <a:latin typeface="Google Sans"/>
              </a:rPr>
              <a:t> Uses a piston-cylinder mechanism, often a swash or wobble plate, to pump refrigerant, recognized for robustness.</a:t>
            </a:r>
          </a:p>
          <a:p>
            <a:pPr>
              <a:buFont typeface="Arial" panose="020B0604020202020204" pitchFamily="34" charset="0"/>
              <a:buChar char="•"/>
            </a:pPr>
            <a:r>
              <a:rPr lang="en-US" b="1" dirty="0">
                <a:solidFill>
                  <a:srgbClr val="0A0A0A"/>
                </a:solidFill>
                <a:latin typeface="Google Sans"/>
                <a:hlinkClick r:id="rId7"/>
              </a:rPr>
              <a:t>Rotary Vane Compressor</a:t>
            </a:r>
            <a:r>
              <a:rPr lang="en-US" b="1" dirty="0">
                <a:solidFill>
                  <a:srgbClr val="0A0A0A"/>
                </a:solidFill>
                <a:latin typeface="Google Sans"/>
              </a:rPr>
              <a:t>:</a:t>
            </a:r>
            <a:r>
              <a:rPr lang="en-US" dirty="0">
                <a:solidFill>
                  <a:srgbClr val="0A0A0A"/>
                </a:solidFill>
                <a:latin typeface="Google Sans"/>
              </a:rPr>
              <a:t> Employs rotating vanes inside a cylinder to create pressure, known for being smooth, compact, and often used in high-power applications.</a:t>
            </a:r>
          </a:p>
          <a:p>
            <a:pPr>
              <a:buFont typeface="Arial" panose="020B0604020202020204" pitchFamily="34" charset="0"/>
              <a:buChar char="•"/>
            </a:pPr>
            <a:r>
              <a:rPr lang="en-US" b="1" dirty="0">
                <a:solidFill>
                  <a:srgbClr val="0A0A0A"/>
                </a:solidFill>
                <a:latin typeface="Google Sans"/>
                <a:hlinkClick r:id="rId8"/>
              </a:rPr>
              <a:t>Variable Displacement Compressor (VDC)</a:t>
            </a:r>
            <a:r>
              <a:rPr lang="en-US" b="1" dirty="0">
                <a:solidFill>
                  <a:srgbClr val="0A0A0A"/>
                </a:solidFill>
                <a:latin typeface="Google Sans"/>
              </a:rPr>
              <a:t>:</a:t>
            </a:r>
            <a:r>
              <a:rPr lang="en-US" dirty="0">
                <a:solidFill>
                  <a:srgbClr val="0A0A0A"/>
                </a:solidFill>
                <a:latin typeface="Google Sans"/>
              </a:rPr>
              <a:t> These adjust the internal stroke or swash plate angle to vary output based on load, frequently without a clutch, which reduces drag and improves fuel efficiency.</a:t>
            </a:r>
          </a:p>
          <a:p>
            <a:pPr>
              <a:buFont typeface="Arial" panose="020B0604020202020204" pitchFamily="34" charset="0"/>
              <a:buChar char="•"/>
            </a:pPr>
            <a:r>
              <a:rPr lang="en-US" b="1" dirty="0">
                <a:solidFill>
                  <a:srgbClr val="0A0A0A"/>
                </a:solidFill>
                <a:latin typeface="Google Sans"/>
                <a:hlinkClick r:id="rId9"/>
              </a:rPr>
              <a:t>Fixed Displacement Compressor</a:t>
            </a:r>
            <a:r>
              <a:rPr lang="en-US" b="1" dirty="0">
                <a:solidFill>
                  <a:srgbClr val="0A0A0A"/>
                </a:solidFill>
                <a:latin typeface="Google Sans"/>
              </a:rPr>
              <a:t>:</a:t>
            </a:r>
            <a:r>
              <a:rPr lang="en-US" dirty="0">
                <a:solidFill>
                  <a:srgbClr val="0A0A0A"/>
                </a:solidFill>
                <a:latin typeface="Google Sans"/>
              </a:rPr>
              <a:t> Operates at a constant displacement when engaged via a clutch, meaning it constantly cycles on and off to maintain temperature.</a:t>
            </a:r>
          </a:p>
          <a:p>
            <a:pPr>
              <a:buFont typeface="Arial" panose="020B0604020202020204" pitchFamily="34" charset="0"/>
              <a:buChar char="•"/>
            </a:pPr>
            <a:r>
              <a:rPr lang="en-US" b="1" dirty="0">
                <a:solidFill>
                  <a:srgbClr val="0A0A0A"/>
                </a:solidFill>
                <a:latin typeface="Google Sans"/>
                <a:hlinkClick r:id="rId10"/>
              </a:rPr>
              <a:t>Electric Scroll Compressor</a:t>
            </a:r>
            <a:r>
              <a:rPr lang="en-US" b="1" dirty="0">
                <a:solidFill>
                  <a:srgbClr val="0A0A0A"/>
                </a:solidFill>
                <a:latin typeface="Google Sans"/>
              </a:rPr>
              <a:t>:</a:t>
            </a:r>
            <a:r>
              <a:rPr lang="en-US" dirty="0">
                <a:solidFill>
                  <a:srgbClr val="0A0A0A"/>
                </a:solidFill>
                <a:latin typeface="Google Sans"/>
              </a:rPr>
              <a:t> Designed for electric/hybrid vehicles, using high-voltage power instead of an engine belt to run independent of engine speed</a:t>
            </a:r>
            <a:endParaRPr lang="en-US" b="0" i="0" dirty="0">
              <a:solidFill>
                <a:srgbClr val="0A0A0A"/>
              </a:solidFill>
              <a:effectLst/>
              <a:latin typeface="Google Sans"/>
            </a:endParaRPr>
          </a:p>
        </p:txBody>
      </p:sp>
    </p:spTree>
    <p:custDataLst>
      <p:tags r:id="rId1"/>
    </p:custDataLst>
    <p:extLst>
      <p:ext uri="{BB962C8B-B14F-4D97-AF65-F5344CB8AC3E}">
        <p14:creationId xmlns:p14="http://schemas.microsoft.com/office/powerpoint/2010/main" val="3712535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928722" y="804029"/>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738997" y="5840221"/>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013157" y="1177380"/>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Times New Roman" panose="02020603050405020304" pitchFamily="18" charset="0"/>
                <a:cs typeface="Arial" panose="020B0604020202020204" pitchFamily="34" charset="0"/>
              </a:rPr>
              <a:t>Compressor</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1242158" y="1501764"/>
            <a:ext cx="4081117" cy="338554"/>
          </a:xfrm>
          <a:prstGeom prst="rect">
            <a:avLst/>
          </a:prstGeom>
        </p:spPr>
        <p:txBody>
          <a:bodyPr wrap="none">
            <a:spAutoFit/>
          </a:bodyPr>
          <a:lstStyle/>
          <a:p>
            <a:r>
              <a:rPr lang="en-US" sz="1600" b="1" dirty="0">
                <a:solidFill>
                  <a:srgbClr val="0A0A0A"/>
                </a:solidFill>
                <a:latin typeface="Google Sans"/>
              </a:rPr>
              <a:t>Common Types of Car AC Compressors</a:t>
            </a:r>
            <a:endParaRPr lang="en-US" sz="1600" dirty="0"/>
          </a:p>
        </p:txBody>
      </p:sp>
      <p:pic>
        <p:nvPicPr>
          <p:cNvPr id="6" name="Picture 5"/>
          <p:cNvPicPr>
            <a:picLocks noChangeAspect="1"/>
          </p:cNvPicPr>
          <p:nvPr/>
        </p:nvPicPr>
        <p:blipFill>
          <a:blip r:embed="rId5"/>
          <a:stretch>
            <a:fillRect/>
          </a:stretch>
        </p:blipFill>
        <p:spPr>
          <a:xfrm>
            <a:off x="1096445" y="1931818"/>
            <a:ext cx="7814799" cy="3769763"/>
          </a:xfrm>
          <a:prstGeom prst="rect">
            <a:avLst/>
          </a:prstGeom>
        </p:spPr>
      </p:pic>
    </p:spTree>
    <p:custDataLst>
      <p:tags r:id="rId1"/>
    </p:custDataLst>
    <p:extLst>
      <p:ext uri="{BB962C8B-B14F-4D97-AF65-F5344CB8AC3E}">
        <p14:creationId xmlns:p14="http://schemas.microsoft.com/office/powerpoint/2010/main" val="1833305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928722" y="804029"/>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64182" y="6156105"/>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013157" y="1177380"/>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Times New Roman" panose="02020603050405020304" pitchFamily="18" charset="0"/>
                <a:cs typeface="Arial" panose="020B0604020202020204" pitchFamily="34" charset="0"/>
              </a:rPr>
              <a:t>Compressor</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1242158" y="1501764"/>
            <a:ext cx="2053767" cy="338554"/>
          </a:xfrm>
          <a:prstGeom prst="rect">
            <a:avLst/>
          </a:prstGeom>
        </p:spPr>
        <p:txBody>
          <a:bodyPr wrap="none">
            <a:spAutoFit/>
          </a:bodyPr>
          <a:lstStyle/>
          <a:p>
            <a:r>
              <a:rPr lang="en-US" sz="1600" b="1" dirty="0" smtClean="0">
                <a:solidFill>
                  <a:srgbClr val="0A0A0A"/>
                </a:solidFill>
                <a:latin typeface="Google Sans"/>
              </a:rPr>
              <a:t>Compressor clutch</a:t>
            </a:r>
            <a:endParaRPr lang="en-US" sz="1600" dirty="0"/>
          </a:p>
        </p:txBody>
      </p:sp>
      <p:sp>
        <p:nvSpPr>
          <p:cNvPr id="5" name="Rectangle 4"/>
          <p:cNvSpPr/>
          <p:nvPr/>
        </p:nvSpPr>
        <p:spPr>
          <a:xfrm>
            <a:off x="928722" y="1840318"/>
            <a:ext cx="6372300" cy="1569660"/>
          </a:xfrm>
          <a:prstGeom prst="rect">
            <a:avLst/>
          </a:prstGeom>
        </p:spPr>
        <p:txBody>
          <a:bodyPr wrap="square">
            <a:spAutoFit/>
          </a:bodyPr>
          <a:lstStyle/>
          <a:p>
            <a:r>
              <a:rPr lang="en-US" sz="1600" dirty="0" smtClean="0">
                <a:solidFill>
                  <a:srgbClr val="0A0A0A"/>
                </a:solidFill>
                <a:latin typeface="Google Sans"/>
              </a:rPr>
              <a:t>An </a:t>
            </a:r>
            <a:r>
              <a:rPr lang="en-US" sz="1600" dirty="0">
                <a:solidFill>
                  <a:srgbClr val="0A0A0A"/>
                </a:solidFill>
                <a:latin typeface="Google Sans"/>
              </a:rPr>
              <a:t>AC compressor clutch </a:t>
            </a:r>
            <a:r>
              <a:rPr lang="en-US" sz="1600" dirty="0"/>
              <a:t>allows the air conditioning compressor to engage and disengage from the engine's drive belt, regulating refrigerant circulation</a:t>
            </a:r>
            <a:r>
              <a:rPr lang="en-US" sz="1600" dirty="0">
                <a:solidFill>
                  <a:srgbClr val="0A0A0A"/>
                </a:solidFill>
                <a:latin typeface="Google Sans"/>
              </a:rPr>
              <a:t>. It consists of a pulley, coil, and pressure plate, which can fail due to worn bearings, broken coils, or improper air gap. Symptoms include loud clicking/squealing, AC blowing hot air, or a burning smell.</a:t>
            </a:r>
            <a:endParaRPr lang="en-US" sz="1600" dirty="0"/>
          </a:p>
        </p:txBody>
      </p:sp>
      <p:pic>
        <p:nvPicPr>
          <p:cNvPr id="8" name="Picture 7"/>
          <p:cNvPicPr>
            <a:picLocks noChangeAspect="1"/>
          </p:cNvPicPr>
          <p:nvPr/>
        </p:nvPicPr>
        <p:blipFill>
          <a:blip r:embed="rId5"/>
          <a:stretch>
            <a:fillRect/>
          </a:stretch>
        </p:blipFill>
        <p:spPr>
          <a:xfrm>
            <a:off x="7743199" y="1840318"/>
            <a:ext cx="3433261" cy="2961188"/>
          </a:xfrm>
          <a:prstGeom prst="rect">
            <a:avLst/>
          </a:prstGeom>
        </p:spPr>
      </p:pic>
      <p:sp>
        <p:nvSpPr>
          <p:cNvPr id="9" name="Rectangle 8"/>
          <p:cNvSpPr/>
          <p:nvPr/>
        </p:nvSpPr>
        <p:spPr>
          <a:xfrm>
            <a:off x="928722" y="3419977"/>
            <a:ext cx="2185214" cy="369332"/>
          </a:xfrm>
          <a:prstGeom prst="rect">
            <a:avLst/>
          </a:prstGeom>
        </p:spPr>
        <p:txBody>
          <a:bodyPr wrap="none">
            <a:spAutoFit/>
          </a:bodyPr>
          <a:lstStyle/>
          <a:p>
            <a:r>
              <a:rPr lang="en-US" b="1" dirty="0">
                <a:solidFill>
                  <a:srgbClr val="0A0A0A"/>
                </a:solidFill>
                <a:latin typeface="Google Sans"/>
              </a:rPr>
              <a:t>Failure Symptoms</a:t>
            </a:r>
            <a:endParaRPr lang="en-US" dirty="0"/>
          </a:p>
        </p:txBody>
      </p:sp>
      <p:sp>
        <p:nvSpPr>
          <p:cNvPr id="10" name="Rectangle 9"/>
          <p:cNvSpPr/>
          <p:nvPr/>
        </p:nvSpPr>
        <p:spPr>
          <a:xfrm>
            <a:off x="1013157" y="3960892"/>
            <a:ext cx="7201592" cy="1815882"/>
          </a:xfrm>
          <a:prstGeom prst="rect">
            <a:avLst/>
          </a:prstGeom>
        </p:spPr>
        <p:txBody>
          <a:bodyPr wrap="square">
            <a:spAutoFit/>
          </a:bodyPr>
          <a:lstStyle/>
          <a:p>
            <a:pPr>
              <a:buFont typeface="Arial" panose="020B0604020202020204" pitchFamily="34" charset="0"/>
              <a:buChar char="•"/>
            </a:pPr>
            <a:r>
              <a:rPr lang="en-US" sz="1600" b="1" dirty="0">
                <a:solidFill>
                  <a:srgbClr val="0A0A0A"/>
                </a:solidFill>
                <a:latin typeface="Google Sans"/>
              </a:rPr>
              <a:t>Noisy Operation:</a:t>
            </a:r>
            <a:r>
              <a:rPr lang="en-US" sz="1600" dirty="0">
                <a:solidFill>
                  <a:srgbClr val="0A0A0A"/>
                </a:solidFill>
                <a:latin typeface="Google Sans"/>
              </a:rPr>
              <a:t> Squealing or grinding noises when the AC is on, often caused by a bad pulley bearing.</a:t>
            </a:r>
          </a:p>
          <a:p>
            <a:pPr>
              <a:buFont typeface="Arial" panose="020B0604020202020204" pitchFamily="34" charset="0"/>
              <a:buChar char="•"/>
            </a:pPr>
            <a:r>
              <a:rPr lang="en-US" sz="1600" b="1" dirty="0">
                <a:solidFill>
                  <a:srgbClr val="0A0A0A"/>
                </a:solidFill>
                <a:latin typeface="Google Sans"/>
              </a:rPr>
              <a:t>AC Blowing Hot:</a:t>
            </a:r>
            <a:r>
              <a:rPr lang="en-US" sz="1600" dirty="0">
                <a:solidFill>
                  <a:srgbClr val="0A0A0A"/>
                </a:solidFill>
                <a:latin typeface="Google Sans"/>
              </a:rPr>
              <a:t> The clutch fails to engage, so the compressor does not run.</a:t>
            </a:r>
          </a:p>
          <a:p>
            <a:pPr>
              <a:buFont typeface="Arial" panose="020B0604020202020204" pitchFamily="34" charset="0"/>
              <a:buChar char="•"/>
            </a:pPr>
            <a:r>
              <a:rPr lang="en-US" sz="1600" b="1" dirty="0">
                <a:solidFill>
                  <a:srgbClr val="0A0A0A"/>
                </a:solidFill>
                <a:latin typeface="Google Sans"/>
              </a:rPr>
              <a:t>Visible Damage:</a:t>
            </a:r>
            <a:r>
              <a:rPr lang="en-US" sz="1600" dirty="0">
                <a:solidFill>
                  <a:srgbClr val="0A0A0A"/>
                </a:solidFill>
                <a:latin typeface="Google Sans"/>
              </a:rPr>
              <a:t> The rubber center of the clutch may disintegrate.</a:t>
            </a:r>
          </a:p>
          <a:p>
            <a:pPr>
              <a:buFont typeface="Arial" panose="020B0604020202020204" pitchFamily="34" charset="0"/>
              <a:buChar char="•"/>
            </a:pPr>
            <a:r>
              <a:rPr lang="en-US" sz="1600" b="1" dirty="0">
                <a:solidFill>
                  <a:srgbClr val="0A0A0A"/>
                </a:solidFill>
                <a:latin typeface="Google Sans"/>
              </a:rPr>
              <a:t>Belt Issues:</a:t>
            </a:r>
            <a:r>
              <a:rPr lang="en-US" sz="1600" dirty="0">
                <a:solidFill>
                  <a:srgbClr val="0A0A0A"/>
                </a:solidFill>
                <a:latin typeface="Google Sans"/>
              </a:rPr>
              <a:t> A seized compressor clutch can cause the serpentine belt to burn or snap.</a:t>
            </a:r>
            <a:endParaRPr lang="en-US" sz="1600" b="0" i="0" dirty="0">
              <a:solidFill>
                <a:srgbClr val="0A0A0A"/>
              </a:solidFill>
              <a:effectLst/>
              <a:latin typeface="Google Sans"/>
            </a:endParaRPr>
          </a:p>
        </p:txBody>
      </p:sp>
    </p:spTree>
    <p:custDataLst>
      <p:tags r:id="rId1"/>
    </p:custDataLst>
    <p:extLst>
      <p:ext uri="{BB962C8B-B14F-4D97-AF65-F5344CB8AC3E}">
        <p14:creationId xmlns:p14="http://schemas.microsoft.com/office/powerpoint/2010/main" val="38639179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928722" y="804029"/>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738997" y="5840221"/>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013157" y="1177380"/>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Times New Roman" panose="02020603050405020304" pitchFamily="18" charset="0"/>
                <a:cs typeface="Arial" panose="020B0604020202020204" pitchFamily="34" charset="0"/>
              </a:rPr>
              <a:t>Compressor</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1242158" y="1501764"/>
            <a:ext cx="4081117" cy="338554"/>
          </a:xfrm>
          <a:prstGeom prst="rect">
            <a:avLst/>
          </a:prstGeom>
        </p:spPr>
        <p:txBody>
          <a:bodyPr wrap="none">
            <a:spAutoFit/>
          </a:bodyPr>
          <a:lstStyle/>
          <a:p>
            <a:r>
              <a:rPr lang="en-US" sz="1600" b="1" dirty="0">
                <a:solidFill>
                  <a:srgbClr val="0A0A0A"/>
                </a:solidFill>
                <a:latin typeface="Google Sans"/>
              </a:rPr>
              <a:t>Common Types of Car AC Compressors</a:t>
            </a:r>
            <a:endParaRPr lang="en-US" sz="1600" dirty="0"/>
          </a:p>
        </p:txBody>
      </p:sp>
      <p:pic>
        <p:nvPicPr>
          <p:cNvPr id="5" name="UdrpJv2PRJ0"/>
          <p:cNvPicPr>
            <a:picLocks noRot="1" noChangeAspect="1"/>
          </p:cNvPicPr>
          <p:nvPr>
            <a:videoFile r:link="rId4"/>
          </p:nvPr>
        </p:nvPicPr>
        <p:blipFill>
          <a:blip r:embed="rId6"/>
          <a:stretch>
            <a:fillRect/>
          </a:stretch>
        </p:blipFill>
        <p:spPr>
          <a:xfrm>
            <a:off x="1500997" y="2417368"/>
            <a:ext cx="5334000" cy="2571750"/>
          </a:xfrm>
          <a:prstGeom prst="rect">
            <a:avLst/>
          </a:prstGeom>
        </p:spPr>
      </p:pic>
    </p:spTree>
    <p:custDataLst>
      <p:tags r:id="rId1"/>
    </p:custDataLst>
    <p:extLst>
      <p:ext uri="{BB962C8B-B14F-4D97-AF65-F5344CB8AC3E}">
        <p14:creationId xmlns:p14="http://schemas.microsoft.com/office/powerpoint/2010/main" val="1233919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82072" y="804029"/>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26854" y="599061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782072" y="1185587"/>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Calibri" panose="020F0502020204030204" pitchFamily="34" charset="0"/>
                <a:cs typeface="Arial" panose="020B0604020202020204" pitchFamily="34" charset="0"/>
              </a:rPr>
              <a:t>Condenser</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6" name="Rectangle 5"/>
          <p:cNvSpPr/>
          <p:nvPr/>
        </p:nvSpPr>
        <p:spPr>
          <a:xfrm>
            <a:off x="782072" y="1512951"/>
            <a:ext cx="10432268" cy="923330"/>
          </a:xfrm>
          <a:prstGeom prst="rect">
            <a:avLst/>
          </a:prstGeom>
        </p:spPr>
        <p:txBody>
          <a:bodyPr wrap="square">
            <a:spAutoFit/>
          </a:bodyPr>
          <a:lstStyle/>
          <a:p>
            <a:r>
              <a:rPr lang="en-US" dirty="0">
                <a:solidFill>
                  <a:srgbClr val="0A0A0A"/>
                </a:solidFill>
                <a:latin typeface="Google Sans"/>
              </a:rPr>
              <a:t>The hot, high-pressure gas flows to the condenser (located outside the cabin, often near the radiator), which dissipates heat to the outside air, causing the refrigerant to condense into a high-pressure liquid</a:t>
            </a:r>
            <a:endParaRPr lang="en-US" dirty="0"/>
          </a:p>
        </p:txBody>
      </p:sp>
      <p:pic>
        <p:nvPicPr>
          <p:cNvPr id="7" name="Picture 6"/>
          <p:cNvPicPr>
            <a:picLocks noChangeAspect="1"/>
          </p:cNvPicPr>
          <p:nvPr/>
        </p:nvPicPr>
        <p:blipFill>
          <a:blip r:embed="rId5"/>
          <a:stretch>
            <a:fillRect/>
          </a:stretch>
        </p:blipFill>
        <p:spPr>
          <a:xfrm>
            <a:off x="5480216" y="2436281"/>
            <a:ext cx="5195977" cy="3877498"/>
          </a:xfrm>
          <a:prstGeom prst="rect">
            <a:avLst/>
          </a:prstGeom>
        </p:spPr>
      </p:pic>
    </p:spTree>
    <p:custDataLst>
      <p:tags r:id="rId1"/>
    </p:custDataLst>
    <p:extLst>
      <p:ext uri="{BB962C8B-B14F-4D97-AF65-F5344CB8AC3E}">
        <p14:creationId xmlns:p14="http://schemas.microsoft.com/office/powerpoint/2010/main" val="2574084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428389" y="989215"/>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00974" y="599480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428389" y="1370773"/>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Times New Roman" panose="02020603050405020304" pitchFamily="18" charset="0"/>
                <a:cs typeface="Arial" panose="020B0604020202020204" pitchFamily="34" charset="0"/>
              </a:rPr>
              <a:t>Receiver/ Dryer or Accumulator</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6" name="Rectangle 5"/>
          <p:cNvSpPr/>
          <p:nvPr/>
        </p:nvSpPr>
        <p:spPr>
          <a:xfrm>
            <a:off x="511833" y="1794142"/>
            <a:ext cx="10849155" cy="923330"/>
          </a:xfrm>
          <a:prstGeom prst="rect">
            <a:avLst/>
          </a:prstGeom>
        </p:spPr>
        <p:txBody>
          <a:bodyPr wrap="square">
            <a:spAutoFit/>
          </a:bodyPr>
          <a:lstStyle/>
          <a:p>
            <a:r>
              <a:rPr lang="en-US" dirty="0">
                <a:solidFill>
                  <a:srgbClr val="0A0A0A"/>
                </a:solidFill>
                <a:latin typeface="Google Sans"/>
              </a:rPr>
              <a:t>This component stores the liquid refrigerant and removes moisture and debris from the system to prevent damage and maintain efficiency. </a:t>
            </a:r>
            <a:r>
              <a:rPr lang="en-US" dirty="0"/>
              <a:t>An </a:t>
            </a:r>
            <a:r>
              <a:rPr lang="en-US" b="1" dirty="0"/>
              <a:t>accumulator</a:t>
            </a:r>
            <a:r>
              <a:rPr lang="en-US" dirty="0"/>
              <a:t> is used in systems with an </a:t>
            </a:r>
            <a:r>
              <a:rPr lang="en-US" b="1" dirty="0">
                <a:hlinkClick r:id="rId5"/>
              </a:rPr>
              <a:t>orifice tube</a:t>
            </a:r>
            <a:r>
              <a:rPr lang="en-US" dirty="0"/>
              <a:t>, is located on the low-pressure side, and primarily acts as a safety device to ensure only vapor enters the</a:t>
            </a:r>
          </a:p>
        </p:txBody>
      </p:sp>
      <p:pic>
        <p:nvPicPr>
          <p:cNvPr id="9" name="Picture 8"/>
          <p:cNvPicPr>
            <a:picLocks noChangeAspect="1"/>
          </p:cNvPicPr>
          <p:nvPr/>
        </p:nvPicPr>
        <p:blipFill>
          <a:blip r:embed="rId6"/>
          <a:stretch>
            <a:fillRect/>
          </a:stretch>
        </p:blipFill>
        <p:spPr>
          <a:xfrm>
            <a:off x="5936410" y="2903317"/>
            <a:ext cx="5195977" cy="3877498"/>
          </a:xfrm>
          <a:prstGeom prst="rect">
            <a:avLst/>
          </a:prstGeom>
        </p:spPr>
      </p:pic>
      <p:pic>
        <p:nvPicPr>
          <p:cNvPr id="7" name="Picture 6"/>
          <p:cNvPicPr>
            <a:picLocks noChangeAspect="1"/>
          </p:cNvPicPr>
          <p:nvPr/>
        </p:nvPicPr>
        <p:blipFill>
          <a:blip r:embed="rId7"/>
          <a:stretch>
            <a:fillRect/>
          </a:stretch>
        </p:blipFill>
        <p:spPr>
          <a:xfrm>
            <a:off x="428389" y="2903317"/>
            <a:ext cx="3787786" cy="2951810"/>
          </a:xfrm>
          <a:prstGeom prst="rect">
            <a:avLst/>
          </a:prstGeom>
        </p:spPr>
      </p:pic>
    </p:spTree>
    <p:custDataLst>
      <p:tags r:id="rId1"/>
    </p:custDataLst>
    <p:extLst>
      <p:ext uri="{BB962C8B-B14F-4D97-AF65-F5344CB8AC3E}">
        <p14:creationId xmlns:p14="http://schemas.microsoft.com/office/powerpoint/2010/main" val="30772407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428389" y="989215"/>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00974" y="599480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428389" y="1370773"/>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Times New Roman" panose="02020603050405020304" pitchFamily="18" charset="0"/>
                <a:cs typeface="Arial" panose="020B0604020202020204" pitchFamily="34" charset="0"/>
              </a:rPr>
              <a:t>Expansion Vale or Orifice Tube</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600973" y="1706344"/>
            <a:ext cx="11018807" cy="923330"/>
          </a:xfrm>
          <a:prstGeom prst="rect">
            <a:avLst/>
          </a:prstGeom>
        </p:spPr>
        <p:txBody>
          <a:bodyPr wrap="square">
            <a:spAutoFit/>
          </a:bodyPr>
          <a:lstStyle/>
          <a:p>
            <a:r>
              <a:rPr lang="en-US" dirty="0">
                <a:solidFill>
                  <a:srgbClr val="0A0A0A"/>
                </a:solidFill>
                <a:latin typeface="Google Sans"/>
              </a:rPr>
              <a:t>This device regulates the flow of the high-pressure liquid refrigerant into the evaporator. As the refrigerant passes through a small opening, its pressure drops rapidly, which causes its temperature to decrease significantly, turning it into a cool mixture of liquid and gas</a:t>
            </a:r>
            <a:endParaRPr lang="en-US" dirty="0"/>
          </a:p>
        </p:txBody>
      </p:sp>
      <p:pic>
        <p:nvPicPr>
          <p:cNvPr id="5" name="Picture 4"/>
          <p:cNvPicPr>
            <a:picLocks noChangeAspect="1"/>
          </p:cNvPicPr>
          <p:nvPr/>
        </p:nvPicPr>
        <p:blipFill>
          <a:blip r:embed="rId5"/>
          <a:stretch>
            <a:fillRect/>
          </a:stretch>
        </p:blipFill>
        <p:spPr>
          <a:xfrm>
            <a:off x="6110376" y="2763744"/>
            <a:ext cx="5194242" cy="3877392"/>
          </a:xfrm>
          <a:prstGeom prst="rect">
            <a:avLst/>
          </a:prstGeom>
        </p:spPr>
      </p:pic>
      <p:pic>
        <p:nvPicPr>
          <p:cNvPr id="8" name="Picture 7"/>
          <p:cNvPicPr>
            <a:picLocks noChangeAspect="1"/>
          </p:cNvPicPr>
          <p:nvPr/>
        </p:nvPicPr>
        <p:blipFill>
          <a:blip r:embed="rId6"/>
          <a:stretch>
            <a:fillRect/>
          </a:stretch>
        </p:blipFill>
        <p:spPr>
          <a:xfrm>
            <a:off x="939470" y="2779134"/>
            <a:ext cx="4434787" cy="2882284"/>
          </a:xfrm>
          <a:prstGeom prst="rect">
            <a:avLst/>
          </a:prstGeom>
        </p:spPr>
      </p:pic>
    </p:spTree>
    <p:custDataLst>
      <p:tags r:id="rId1"/>
    </p:custDataLst>
    <p:extLst>
      <p:ext uri="{BB962C8B-B14F-4D97-AF65-F5344CB8AC3E}">
        <p14:creationId xmlns:p14="http://schemas.microsoft.com/office/powerpoint/2010/main" val="2525258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428389" y="989215"/>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00974" y="599480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428389" y="1370773"/>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Times New Roman" panose="02020603050405020304" pitchFamily="18" charset="0"/>
                <a:cs typeface="Arial" panose="020B0604020202020204" pitchFamily="34" charset="0"/>
              </a:rPr>
              <a:t>Evaporator</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pic>
        <p:nvPicPr>
          <p:cNvPr id="5" name="Picture 4"/>
          <p:cNvPicPr>
            <a:picLocks noChangeAspect="1"/>
          </p:cNvPicPr>
          <p:nvPr/>
        </p:nvPicPr>
        <p:blipFill>
          <a:blip r:embed="rId5"/>
          <a:stretch>
            <a:fillRect/>
          </a:stretch>
        </p:blipFill>
        <p:spPr>
          <a:xfrm>
            <a:off x="6110376" y="2763744"/>
            <a:ext cx="5194242" cy="3877392"/>
          </a:xfrm>
          <a:prstGeom prst="rect">
            <a:avLst/>
          </a:prstGeom>
        </p:spPr>
      </p:pic>
      <p:sp>
        <p:nvSpPr>
          <p:cNvPr id="6" name="Rectangle 5"/>
          <p:cNvSpPr/>
          <p:nvPr/>
        </p:nvSpPr>
        <p:spPr>
          <a:xfrm>
            <a:off x="529086" y="1706344"/>
            <a:ext cx="11306355" cy="1200329"/>
          </a:xfrm>
          <a:prstGeom prst="rect">
            <a:avLst/>
          </a:prstGeom>
        </p:spPr>
        <p:txBody>
          <a:bodyPr wrap="square">
            <a:spAutoFit/>
          </a:bodyPr>
          <a:lstStyle/>
          <a:p>
            <a:r>
              <a:rPr lang="en-US" dirty="0">
                <a:solidFill>
                  <a:srgbClr val="0A0A0A"/>
                </a:solidFill>
                <a:latin typeface="Google Sans"/>
              </a:rPr>
              <a:t>Located inside the vehicle's cabin, the low-pressure, low-temperature refrigerant mixture absorbs heat from the cabin air passing over its coils. This heat absorption causes the refrigerant to vaporize into a gas, cooling the air. A secondary benefit is that moisture from the warm air condenses on the cold evaporator coils, dehumidifying the air.</a:t>
            </a:r>
            <a:endParaRPr lang="en-US" dirty="0"/>
          </a:p>
        </p:txBody>
      </p:sp>
      <p:pic>
        <p:nvPicPr>
          <p:cNvPr id="7" name="Picture 6"/>
          <p:cNvPicPr>
            <a:picLocks noChangeAspect="1"/>
          </p:cNvPicPr>
          <p:nvPr/>
        </p:nvPicPr>
        <p:blipFill>
          <a:blip r:embed="rId6"/>
          <a:stretch>
            <a:fillRect/>
          </a:stretch>
        </p:blipFill>
        <p:spPr>
          <a:xfrm>
            <a:off x="600974" y="2973106"/>
            <a:ext cx="4682370" cy="2955266"/>
          </a:xfrm>
          <a:prstGeom prst="rect">
            <a:avLst/>
          </a:prstGeom>
        </p:spPr>
      </p:pic>
    </p:spTree>
    <p:custDataLst>
      <p:tags r:id="rId1"/>
    </p:custDataLst>
    <p:extLst>
      <p:ext uri="{BB962C8B-B14F-4D97-AF65-F5344CB8AC3E}">
        <p14:creationId xmlns:p14="http://schemas.microsoft.com/office/powerpoint/2010/main" val="901751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428389" y="989215"/>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00974" y="599480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428389" y="1370773"/>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Calibri" panose="020F0502020204030204" pitchFamily="34" charset="0"/>
                <a:cs typeface="Arial" panose="020B0604020202020204" pitchFamily="34" charset="0"/>
              </a:rPr>
              <a:t>Blower Fan</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pic>
        <p:nvPicPr>
          <p:cNvPr id="5" name="Picture 4"/>
          <p:cNvPicPr>
            <a:picLocks noChangeAspect="1"/>
          </p:cNvPicPr>
          <p:nvPr/>
        </p:nvPicPr>
        <p:blipFill>
          <a:blip r:embed="rId5"/>
          <a:stretch>
            <a:fillRect/>
          </a:stretch>
        </p:blipFill>
        <p:spPr>
          <a:xfrm>
            <a:off x="6110376" y="2763744"/>
            <a:ext cx="5194242" cy="3877392"/>
          </a:xfrm>
          <a:prstGeom prst="rect">
            <a:avLst/>
          </a:prstGeom>
        </p:spPr>
      </p:pic>
      <p:sp>
        <p:nvSpPr>
          <p:cNvPr id="4" name="Rectangle 3"/>
          <p:cNvSpPr/>
          <p:nvPr/>
        </p:nvSpPr>
        <p:spPr>
          <a:xfrm>
            <a:off x="600974" y="1781842"/>
            <a:ext cx="11027434" cy="369332"/>
          </a:xfrm>
          <a:prstGeom prst="rect">
            <a:avLst/>
          </a:prstGeom>
        </p:spPr>
        <p:txBody>
          <a:bodyPr wrap="square">
            <a:spAutoFit/>
          </a:bodyPr>
          <a:lstStyle/>
          <a:p>
            <a:r>
              <a:rPr lang="en-US" dirty="0">
                <a:solidFill>
                  <a:srgbClr val="0A0A0A"/>
                </a:solidFill>
                <a:latin typeface="Google Sans"/>
              </a:rPr>
              <a:t>The fan circulates the now-cooled, dehumidified air into the cabin through the air vents</a:t>
            </a:r>
            <a:endParaRPr lang="en-US" dirty="0"/>
          </a:p>
        </p:txBody>
      </p:sp>
      <p:sp>
        <p:nvSpPr>
          <p:cNvPr id="8" name="Rectangle 7"/>
          <p:cNvSpPr/>
          <p:nvPr/>
        </p:nvSpPr>
        <p:spPr>
          <a:xfrm>
            <a:off x="600974" y="2250264"/>
            <a:ext cx="6096000" cy="646331"/>
          </a:xfrm>
          <a:prstGeom prst="rect">
            <a:avLst/>
          </a:prstGeom>
        </p:spPr>
        <p:txBody>
          <a:bodyPr>
            <a:spAutoFit/>
          </a:bodyPr>
          <a:lstStyle/>
          <a:p>
            <a:r>
              <a:rPr lang="en-US" dirty="0">
                <a:solidFill>
                  <a:srgbClr val="0A0A0A"/>
                </a:solidFill>
                <a:latin typeface="Google Sans"/>
              </a:rPr>
              <a:t>The refrigerant gas then returns to the compressor, and the cycle repeats as long as the system is running</a:t>
            </a:r>
            <a:endParaRPr lang="en-US" dirty="0"/>
          </a:p>
        </p:txBody>
      </p:sp>
      <p:pic>
        <p:nvPicPr>
          <p:cNvPr id="9" name="Picture 8"/>
          <p:cNvPicPr>
            <a:picLocks noChangeAspect="1"/>
          </p:cNvPicPr>
          <p:nvPr/>
        </p:nvPicPr>
        <p:blipFill>
          <a:blip r:embed="rId6"/>
          <a:stretch>
            <a:fillRect/>
          </a:stretch>
        </p:blipFill>
        <p:spPr>
          <a:xfrm>
            <a:off x="1946450" y="3048571"/>
            <a:ext cx="2818450" cy="2818450"/>
          </a:xfrm>
          <a:prstGeom prst="rect">
            <a:avLst/>
          </a:prstGeom>
        </p:spPr>
      </p:pic>
    </p:spTree>
    <p:custDataLst>
      <p:tags r:id="rId1"/>
    </p:custDataLst>
    <p:extLst>
      <p:ext uri="{BB962C8B-B14F-4D97-AF65-F5344CB8AC3E}">
        <p14:creationId xmlns:p14="http://schemas.microsoft.com/office/powerpoint/2010/main" val="39429324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8DD20-9DA3-3027-D941-647933E66C5F}"/>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66F3FA75-C26F-E9A4-349C-A216CC45200A}"/>
              </a:ext>
            </a:extLst>
          </p:cNvPr>
          <p:cNvSpPr txBox="1"/>
          <p:nvPr>
            <p:custDataLst>
              <p:tags r:id="rId2"/>
            </p:custDataLst>
          </p:nvPr>
        </p:nvSpPr>
        <p:spPr>
          <a:xfrm>
            <a:off x="428389" y="989215"/>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a:extLst>
              <a:ext uri="{FF2B5EF4-FFF2-40B4-BE49-F238E27FC236}">
                <a16:creationId xmlns:a16="http://schemas.microsoft.com/office/drawing/2014/main" id="{04A970FB-DCE2-BD4D-B8F0-1828EBC00D63}"/>
              </a:ext>
            </a:extLst>
          </p:cNvPr>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A50F2CAA-4038-E267-6CD3-D3AB8E9CD3E5}"/>
              </a:ext>
            </a:extLst>
          </p:cNvPr>
          <p:cNvSpPr txBox="1"/>
          <p:nvPr/>
        </p:nvSpPr>
        <p:spPr>
          <a:xfrm>
            <a:off x="600974" y="599480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980267FF-1384-FE23-AE6B-DACA3B2A102E}"/>
              </a:ext>
            </a:extLst>
          </p:cNvPr>
          <p:cNvSpPr/>
          <p:nvPr/>
        </p:nvSpPr>
        <p:spPr>
          <a:xfrm>
            <a:off x="428389" y="1370773"/>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Calibri" panose="020F0502020204030204" pitchFamily="34" charset="0"/>
                <a:cs typeface="Arial" panose="020B0604020202020204" pitchFamily="34" charset="0"/>
              </a:rPr>
              <a:t>Common AC faults</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7276196D-BC60-EBD9-60E1-E01CD509B920}"/>
              </a:ext>
            </a:extLst>
          </p:cNvPr>
          <p:cNvSpPr txBox="1"/>
          <p:nvPr/>
        </p:nvSpPr>
        <p:spPr>
          <a:xfrm>
            <a:off x="600974" y="1872655"/>
            <a:ext cx="10979081" cy="369332"/>
          </a:xfrm>
          <a:prstGeom prst="rect">
            <a:avLst/>
          </a:prstGeom>
          <a:noFill/>
        </p:spPr>
        <p:txBody>
          <a:bodyPr wrap="square">
            <a:spAutoFit/>
          </a:bodyPr>
          <a:lstStyle/>
          <a:p>
            <a:r>
              <a:rPr lang="en-US" b="1" i="0" dirty="0">
                <a:solidFill>
                  <a:srgbClr val="0A0A0A"/>
                </a:solidFill>
                <a:effectLst/>
                <a:latin typeface="Google Sans"/>
              </a:rPr>
              <a:t>Refrigerant leaks</a:t>
            </a:r>
            <a:r>
              <a:rPr lang="en-US" b="0" i="0" dirty="0">
                <a:solidFill>
                  <a:srgbClr val="0A0A0A"/>
                </a:solidFill>
                <a:effectLst/>
                <a:latin typeface="Google Sans"/>
              </a:rPr>
              <a:t>, a </a:t>
            </a:r>
            <a:r>
              <a:rPr lang="en-US" b="1" i="0" dirty="0">
                <a:solidFill>
                  <a:srgbClr val="0A0A0A"/>
                </a:solidFill>
                <a:effectLst/>
                <a:latin typeface="Google Sans"/>
              </a:rPr>
              <a:t>failing compressor</a:t>
            </a:r>
            <a:r>
              <a:rPr lang="en-US" b="0" i="0" dirty="0">
                <a:solidFill>
                  <a:srgbClr val="0A0A0A"/>
                </a:solidFill>
                <a:effectLst/>
                <a:latin typeface="Google Sans"/>
              </a:rPr>
              <a:t>, a </a:t>
            </a:r>
            <a:r>
              <a:rPr lang="en-US" b="1" i="0" dirty="0">
                <a:solidFill>
                  <a:srgbClr val="0A0A0A"/>
                </a:solidFill>
                <a:effectLst/>
                <a:latin typeface="Google Sans"/>
              </a:rPr>
              <a:t>clogged condenser or cabin air filter</a:t>
            </a:r>
            <a:r>
              <a:rPr lang="en-US" b="0" i="0" dirty="0">
                <a:solidFill>
                  <a:srgbClr val="0A0A0A"/>
                </a:solidFill>
                <a:effectLst/>
                <a:latin typeface="Google Sans"/>
              </a:rPr>
              <a:t>, and various </a:t>
            </a:r>
            <a:r>
              <a:rPr lang="en-US" b="1" i="0" dirty="0">
                <a:solidFill>
                  <a:srgbClr val="0A0A0A"/>
                </a:solidFill>
                <a:effectLst/>
                <a:latin typeface="Google Sans"/>
              </a:rPr>
              <a:t>electrical problems</a:t>
            </a:r>
            <a:endParaRPr lang="en-US" dirty="0"/>
          </a:p>
        </p:txBody>
      </p:sp>
      <p:sp>
        <p:nvSpPr>
          <p:cNvPr id="12" name="TextBox 11">
            <a:extLst>
              <a:ext uri="{FF2B5EF4-FFF2-40B4-BE49-F238E27FC236}">
                <a16:creationId xmlns:a16="http://schemas.microsoft.com/office/drawing/2014/main" id="{940BF2CB-0866-1AA5-AD2E-43CC4BCC0F2D}"/>
              </a:ext>
            </a:extLst>
          </p:cNvPr>
          <p:cNvSpPr txBox="1"/>
          <p:nvPr/>
        </p:nvSpPr>
        <p:spPr>
          <a:xfrm>
            <a:off x="556202" y="2712627"/>
            <a:ext cx="10569525" cy="646331"/>
          </a:xfrm>
          <a:prstGeom prst="rect">
            <a:avLst/>
          </a:prstGeom>
          <a:noFill/>
        </p:spPr>
        <p:txBody>
          <a:bodyPr wrap="square">
            <a:spAutoFit/>
          </a:bodyPr>
          <a:lstStyle/>
          <a:p>
            <a:r>
              <a:rPr lang="en-US" dirty="0"/>
              <a:t>1. Warm or No Cold Air</a:t>
            </a:r>
          </a:p>
          <a:p>
            <a:r>
              <a:rPr lang="en-US" dirty="0"/>
              <a:t>This is the most common symptom of an AC problem and usually points to one of a few key issues:</a:t>
            </a:r>
          </a:p>
        </p:txBody>
      </p:sp>
      <p:sp>
        <p:nvSpPr>
          <p:cNvPr id="14" name="TextBox 13">
            <a:extLst>
              <a:ext uri="{FF2B5EF4-FFF2-40B4-BE49-F238E27FC236}">
                <a16:creationId xmlns:a16="http://schemas.microsoft.com/office/drawing/2014/main" id="{99DF41B3-7748-D25C-A8C1-3223DD5ED6E6}"/>
              </a:ext>
            </a:extLst>
          </p:cNvPr>
          <p:cNvSpPr txBox="1"/>
          <p:nvPr/>
        </p:nvSpPr>
        <p:spPr>
          <a:xfrm>
            <a:off x="614289" y="3638136"/>
            <a:ext cx="11161962" cy="1754326"/>
          </a:xfrm>
          <a:prstGeom prst="rect">
            <a:avLst/>
          </a:prstGeom>
          <a:noFill/>
        </p:spPr>
        <p:txBody>
          <a:bodyPr wrap="square">
            <a:spAutoFit/>
          </a:bodyPr>
          <a:lstStyle/>
          <a:p>
            <a:r>
              <a:rPr lang="en-US" dirty="0"/>
              <a:t>Low Refrigerant Levels: The most frequent cause of an AC not blowing cold air is insufficient refrigerant, which is typically due to a leak in the sealed system. Leaks can occur in hoses, O-rings, or other components due to age, wear, or corrosion.</a:t>
            </a:r>
          </a:p>
          <a:p>
            <a:endParaRPr lang="en-US" dirty="0"/>
          </a:p>
          <a:p>
            <a:r>
              <a:rPr lang="en-US" dirty="0"/>
              <a:t>Signs: Hissing sounds, visible oily residue (sometimes green) around components, and progressively warmer air from the vents.</a:t>
            </a:r>
          </a:p>
        </p:txBody>
      </p:sp>
    </p:spTree>
    <p:custDataLst>
      <p:tags r:id="rId1"/>
    </p:custDataLst>
    <p:extLst>
      <p:ext uri="{BB962C8B-B14F-4D97-AF65-F5344CB8AC3E}">
        <p14:creationId xmlns:p14="http://schemas.microsoft.com/office/powerpoint/2010/main" val="19500226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6C415-B16C-1DC0-1F83-3FC0493F0696}"/>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A8AD3044-A1DD-9208-6156-6635CCAD144C}"/>
              </a:ext>
            </a:extLst>
          </p:cNvPr>
          <p:cNvSpPr txBox="1"/>
          <p:nvPr>
            <p:custDataLst>
              <p:tags r:id="rId2"/>
            </p:custDataLst>
          </p:nvPr>
        </p:nvSpPr>
        <p:spPr>
          <a:xfrm>
            <a:off x="428389" y="989215"/>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a:extLst>
              <a:ext uri="{FF2B5EF4-FFF2-40B4-BE49-F238E27FC236}">
                <a16:creationId xmlns:a16="http://schemas.microsoft.com/office/drawing/2014/main" id="{F05836BB-D157-9CF9-B030-0D7D17BE9DAA}"/>
              </a:ext>
            </a:extLst>
          </p:cNvPr>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B9AB0463-7C23-F39B-0022-9711952FA91C}"/>
              </a:ext>
            </a:extLst>
          </p:cNvPr>
          <p:cNvSpPr txBox="1"/>
          <p:nvPr/>
        </p:nvSpPr>
        <p:spPr>
          <a:xfrm>
            <a:off x="600974" y="599480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F32107AA-3AF0-833C-F4B2-5BD71FA6832D}"/>
              </a:ext>
            </a:extLst>
          </p:cNvPr>
          <p:cNvSpPr/>
          <p:nvPr/>
        </p:nvSpPr>
        <p:spPr>
          <a:xfrm>
            <a:off x="428389" y="1370773"/>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Calibri" panose="020F0502020204030204" pitchFamily="34" charset="0"/>
                <a:cs typeface="Arial" panose="020B0604020202020204" pitchFamily="34" charset="0"/>
              </a:rPr>
              <a:t>Common AC faults</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65482266-33C0-B9F1-6D63-1CA16514856C}"/>
              </a:ext>
            </a:extLst>
          </p:cNvPr>
          <p:cNvSpPr txBox="1"/>
          <p:nvPr/>
        </p:nvSpPr>
        <p:spPr>
          <a:xfrm>
            <a:off x="598629" y="1734155"/>
            <a:ext cx="10979081" cy="369332"/>
          </a:xfrm>
          <a:prstGeom prst="rect">
            <a:avLst/>
          </a:prstGeom>
          <a:noFill/>
        </p:spPr>
        <p:txBody>
          <a:bodyPr wrap="square">
            <a:spAutoFit/>
          </a:bodyPr>
          <a:lstStyle/>
          <a:p>
            <a:r>
              <a:rPr lang="en-US" b="1" i="0" dirty="0">
                <a:solidFill>
                  <a:srgbClr val="0A0A0A"/>
                </a:solidFill>
                <a:effectLst/>
                <a:latin typeface="Google Sans"/>
              </a:rPr>
              <a:t>Refrigerant leaks</a:t>
            </a:r>
            <a:r>
              <a:rPr lang="en-US" b="0" i="0" dirty="0">
                <a:solidFill>
                  <a:srgbClr val="0A0A0A"/>
                </a:solidFill>
                <a:effectLst/>
                <a:latin typeface="Google Sans"/>
              </a:rPr>
              <a:t>, a </a:t>
            </a:r>
            <a:r>
              <a:rPr lang="en-US" b="1" i="0" dirty="0">
                <a:solidFill>
                  <a:srgbClr val="0A0A0A"/>
                </a:solidFill>
                <a:effectLst/>
                <a:latin typeface="Google Sans"/>
              </a:rPr>
              <a:t>failing compressor</a:t>
            </a:r>
            <a:r>
              <a:rPr lang="en-US" b="0" i="0" dirty="0">
                <a:solidFill>
                  <a:srgbClr val="0A0A0A"/>
                </a:solidFill>
                <a:effectLst/>
                <a:latin typeface="Google Sans"/>
              </a:rPr>
              <a:t>, a </a:t>
            </a:r>
            <a:r>
              <a:rPr lang="en-US" b="1" i="0" dirty="0">
                <a:solidFill>
                  <a:srgbClr val="0A0A0A"/>
                </a:solidFill>
                <a:effectLst/>
                <a:latin typeface="Google Sans"/>
              </a:rPr>
              <a:t>clogged condenser or cabin air filter</a:t>
            </a:r>
            <a:r>
              <a:rPr lang="en-US" b="0" i="0" dirty="0">
                <a:solidFill>
                  <a:srgbClr val="0A0A0A"/>
                </a:solidFill>
                <a:effectLst/>
                <a:latin typeface="Google Sans"/>
              </a:rPr>
              <a:t>, and various </a:t>
            </a:r>
            <a:r>
              <a:rPr lang="en-US" b="1" i="0" dirty="0">
                <a:solidFill>
                  <a:srgbClr val="0A0A0A"/>
                </a:solidFill>
                <a:effectLst/>
                <a:latin typeface="Google Sans"/>
              </a:rPr>
              <a:t>electrical problems</a:t>
            </a:r>
            <a:endParaRPr lang="en-US" dirty="0"/>
          </a:p>
        </p:txBody>
      </p:sp>
      <p:sp>
        <p:nvSpPr>
          <p:cNvPr id="5" name="TextBox 4">
            <a:extLst>
              <a:ext uri="{FF2B5EF4-FFF2-40B4-BE49-F238E27FC236}">
                <a16:creationId xmlns:a16="http://schemas.microsoft.com/office/drawing/2014/main" id="{CD945256-5DC4-079D-23B4-B194F868D5E4}"/>
              </a:ext>
            </a:extLst>
          </p:cNvPr>
          <p:cNvSpPr txBox="1"/>
          <p:nvPr/>
        </p:nvSpPr>
        <p:spPr>
          <a:xfrm>
            <a:off x="598629" y="2765677"/>
            <a:ext cx="10612149" cy="1554977"/>
          </a:xfrm>
          <a:prstGeom prst="rect">
            <a:avLst/>
          </a:prstGeom>
          <a:noFill/>
        </p:spPr>
        <p:txBody>
          <a:bodyPr wrap="square">
            <a:spAutoFit/>
          </a:bodyPr>
          <a:lstStyle/>
          <a:p>
            <a:pPr algn="l">
              <a:lnSpc>
                <a:spcPts val="1800"/>
              </a:lnSpc>
              <a:spcBef>
                <a:spcPts val="1200"/>
              </a:spcBef>
              <a:spcAft>
                <a:spcPts val="1200"/>
              </a:spcAft>
              <a:buFont typeface="Arial" panose="020B0604020202020204" pitchFamily="34" charset="0"/>
              <a:buChar char="•"/>
            </a:pPr>
            <a:r>
              <a:rPr lang="en-US" sz="2000" b="1" i="0" dirty="0">
                <a:solidFill>
                  <a:srgbClr val="0A0A0A"/>
                </a:solidFill>
                <a:effectLst/>
                <a:latin typeface="Google Sans"/>
              </a:rPr>
              <a:t>Faulty Compressor:</a:t>
            </a:r>
            <a:r>
              <a:rPr lang="en-US" sz="2000" b="0" i="0" dirty="0">
                <a:solidFill>
                  <a:srgbClr val="0A0A0A"/>
                </a:solidFill>
                <a:effectLst/>
                <a:latin typeface="Google Sans"/>
              </a:rPr>
              <a:t> The compressor is the heart of the AC system, circulating and compressing the refrigerant. If it fails or its clutch doesn't engage, the entire system stops </a:t>
            </a:r>
            <a:r>
              <a:rPr lang="en-US" sz="2000" b="0" i="0" dirty="0" smtClean="0">
                <a:solidFill>
                  <a:srgbClr val="0A0A0A"/>
                </a:solidFill>
                <a:effectLst/>
                <a:latin typeface="Google Sans"/>
              </a:rPr>
              <a:t>working.</a:t>
            </a:r>
          </a:p>
          <a:p>
            <a:pPr algn="l">
              <a:lnSpc>
                <a:spcPts val="1800"/>
              </a:lnSpc>
              <a:spcBef>
                <a:spcPts val="1200"/>
              </a:spcBef>
              <a:spcAft>
                <a:spcPts val="1200"/>
              </a:spcAft>
            </a:pPr>
            <a:r>
              <a:rPr lang="en-US" sz="2000" b="1" i="0" dirty="0" smtClean="0">
                <a:solidFill>
                  <a:srgbClr val="0A0A0A"/>
                </a:solidFill>
                <a:effectLst/>
                <a:latin typeface="Google Sans"/>
              </a:rPr>
              <a:t>Signs</a:t>
            </a:r>
            <a:r>
              <a:rPr lang="en-US" sz="2000" b="1" i="0" dirty="0">
                <a:solidFill>
                  <a:srgbClr val="0A0A0A"/>
                </a:solidFill>
                <a:effectLst/>
                <a:latin typeface="Google Sans"/>
              </a:rPr>
              <a:t>:</a:t>
            </a:r>
            <a:r>
              <a:rPr lang="en-US" sz="2000" b="0" i="0" dirty="0">
                <a:solidFill>
                  <a:srgbClr val="0A0A0A"/>
                </a:solidFill>
                <a:effectLst/>
                <a:latin typeface="Google Sans"/>
              </a:rPr>
              <a:t> No cold air, unusual noises (grinding, squealing, loud clicking) when the AC is on, or a burning smell.</a:t>
            </a:r>
          </a:p>
        </p:txBody>
      </p:sp>
      <p:sp>
        <p:nvSpPr>
          <p:cNvPr id="8" name="TextBox 7">
            <a:extLst>
              <a:ext uri="{FF2B5EF4-FFF2-40B4-BE49-F238E27FC236}">
                <a16:creationId xmlns:a16="http://schemas.microsoft.com/office/drawing/2014/main" id="{CC918D34-E0D5-9548-4FB6-47AFAAAA437D}"/>
              </a:ext>
            </a:extLst>
          </p:cNvPr>
          <p:cNvSpPr txBox="1"/>
          <p:nvPr/>
        </p:nvSpPr>
        <p:spPr>
          <a:xfrm>
            <a:off x="598629" y="4327725"/>
            <a:ext cx="10738758" cy="1477328"/>
          </a:xfrm>
          <a:prstGeom prst="rect">
            <a:avLst/>
          </a:prstGeom>
          <a:noFill/>
        </p:spPr>
        <p:txBody>
          <a:bodyPr wrap="square">
            <a:spAutoFit/>
          </a:bodyPr>
          <a:lstStyle/>
          <a:p>
            <a:r>
              <a:rPr lang="en-US" b="1" dirty="0"/>
              <a:t>Blocked or Broken Condenser</a:t>
            </a:r>
            <a:r>
              <a:rPr lang="en-US" dirty="0"/>
              <a:t>: Located at the front of the vehicle, the condenser releases heat from the refrigerant. It can become clogged with dirt, bugs, and road debris, or be damaged by impacts.</a:t>
            </a:r>
          </a:p>
          <a:p>
            <a:endParaRPr lang="en-US" dirty="0"/>
          </a:p>
          <a:p>
            <a:r>
              <a:rPr lang="en-US" b="1" dirty="0"/>
              <a:t>Signs: </a:t>
            </a:r>
            <a:r>
              <a:rPr lang="en-US" dirty="0"/>
              <a:t>Weak cooling performance, engine overheating when the AC is running, or visible damage/blockage on the condenser fins</a:t>
            </a:r>
          </a:p>
        </p:txBody>
      </p:sp>
    </p:spTree>
    <p:custDataLst>
      <p:tags r:id="rId1"/>
    </p:custDataLst>
    <p:extLst>
      <p:ext uri="{BB962C8B-B14F-4D97-AF65-F5344CB8AC3E}">
        <p14:creationId xmlns:p14="http://schemas.microsoft.com/office/powerpoint/2010/main" val="37994831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B90F3-F820-251E-FC5A-6DFA08CABD9C}"/>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C900FCEC-49CF-D56C-F458-53F3F7C33DF1}"/>
              </a:ext>
            </a:extLst>
          </p:cNvPr>
          <p:cNvSpPr txBox="1"/>
          <p:nvPr>
            <p:custDataLst>
              <p:tags r:id="rId2"/>
            </p:custDataLst>
          </p:nvPr>
        </p:nvSpPr>
        <p:spPr>
          <a:xfrm>
            <a:off x="428389" y="989215"/>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a:extLst>
              <a:ext uri="{FF2B5EF4-FFF2-40B4-BE49-F238E27FC236}">
                <a16:creationId xmlns:a16="http://schemas.microsoft.com/office/drawing/2014/main" id="{D21F2D43-4173-C545-A931-BCABD1D8D77D}"/>
              </a:ext>
            </a:extLst>
          </p:cNvPr>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32C570A3-1944-7824-1479-59A8E638831B}"/>
              </a:ext>
            </a:extLst>
          </p:cNvPr>
          <p:cNvSpPr txBox="1"/>
          <p:nvPr/>
        </p:nvSpPr>
        <p:spPr>
          <a:xfrm>
            <a:off x="600974" y="599480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7DF94091-68E7-3B40-2280-C801BD7E9C9E}"/>
              </a:ext>
            </a:extLst>
          </p:cNvPr>
          <p:cNvSpPr/>
          <p:nvPr/>
        </p:nvSpPr>
        <p:spPr>
          <a:xfrm>
            <a:off x="428389" y="1370773"/>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Calibri" panose="020F0502020204030204" pitchFamily="34" charset="0"/>
                <a:cs typeface="Arial" panose="020B0604020202020204" pitchFamily="34" charset="0"/>
              </a:rPr>
              <a:t>Common AC faults</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361FE826-DB6B-ADDF-9695-AF98F80D7D2D}"/>
              </a:ext>
            </a:extLst>
          </p:cNvPr>
          <p:cNvSpPr txBox="1"/>
          <p:nvPr/>
        </p:nvSpPr>
        <p:spPr>
          <a:xfrm>
            <a:off x="598628" y="1652954"/>
            <a:ext cx="10979081" cy="369332"/>
          </a:xfrm>
          <a:prstGeom prst="rect">
            <a:avLst/>
          </a:prstGeom>
          <a:noFill/>
        </p:spPr>
        <p:txBody>
          <a:bodyPr wrap="square">
            <a:spAutoFit/>
          </a:bodyPr>
          <a:lstStyle/>
          <a:p>
            <a:r>
              <a:rPr lang="en-US" b="1" i="0" dirty="0">
                <a:solidFill>
                  <a:srgbClr val="0A0A0A"/>
                </a:solidFill>
                <a:effectLst/>
                <a:latin typeface="Google Sans"/>
              </a:rPr>
              <a:t>Refrigerant leaks</a:t>
            </a:r>
            <a:r>
              <a:rPr lang="en-US" b="0" i="0" dirty="0">
                <a:solidFill>
                  <a:srgbClr val="0A0A0A"/>
                </a:solidFill>
                <a:effectLst/>
                <a:latin typeface="Google Sans"/>
              </a:rPr>
              <a:t>, a </a:t>
            </a:r>
            <a:r>
              <a:rPr lang="en-US" b="1" i="0" dirty="0">
                <a:solidFill>
                  <a:srgbClr val="0A0A0A"/>
                </a:solidFill>
                <a:effectLst/>
                <a:latin typeface="Google Sans"/>
              </a:rPr>
              <a:t>failing compressor</a:t>
            </a:r>
            <a:r>
              <a:rPr lang="en-US" b="0" i="0" dirty="0">
                <a:solidFill>
                  <a:srgbClr val="0A0A0A"/>
                </a:solidFill>
                <a:effectLst/>
                <a:latin typeface="Google Sans"/>
              </a:rPr>
              <a:t>, a </a:t>
            </a:r>
            <a:r>
              <a:rPr lang="en-US" b="1" i="0" dirty="0">
                <a:solidFill>
                  <a:srgbClr val="0A0A0A"/>
                </a:solidFill>
                <a:effectLst/>
                <a:latin typeface="Google Sans"/>
              </a:rPr>
              <a:t>clogged condenser or cabin air filter</a:t>
            </a:r>
            <a:r>
              <a:rPr lang="en-US" b="0" i="0" dirty="0">
                <a:solidFill>
                  <a:srgbClr val="0A0A0A"/>
                </a:solidFill>
                <a:effectLst/>
                <a:latin typeface="Google Sans"/>
              </a:rPr>
              <a:t>, and various </a:t>
            </a:r>
            <a:r>
              <a:rPr lang="en-US" b="1" i="0" dirty="0">
                <a:solidFill>
                  <a:srgbClr val="0A0A0A"/>
                </a:solidFill>
                <a:effectLst/>
                <a:latin typeface="Google Sans"/>
              </a:rPr>
              <a:t>electrical problems</a:t>
            </a:r>
            <a:endParaRPr lang="en-US" dirty="0"/>
          </a:p>
        </p:txBody>
      </p:sp>
      <p:sp>
        <p:nvSpPr>
          <p:cNvPr id="6" name="TextBox 5">
            <a:extLst>
              <a:ext uri="{FF2B5EF4-FFF2-40B4-BE49-F238E27FC236}">
                <a16:creationId xmlns:a16="http://schemas.microsoft.com/office/drawing/2014/main" id="{07BE7B71-C832-D04F-1FDC-43D9DB8A259A}"/>
              </a:ext>
            </a:extLst>
          </p:cNvPr>
          <p:cNvSpPr txBox="1"/>
          <p:nvPr/>
        </p:nvSpPr>
        <p:spPr>
          <a:xfrm>
            <a:off x="598628" y="2438885"/>
            <a:ext cx="11176029" cy="3139321"/>
          </a:xfrm>
          <a:prstGeom prst="rect">
            <a:avLst/>
          </a:prstGeom>
          <a:noFill/>
        </p:spPr>
        <p:txBody>
          <a:bodyPr wrap="square">
            <a:spAutoFit/>
          </a:bodyPr>
          <a:lstStyle/>
          <a:p>
            <a:r>
              <a:rPr lang="en-US" b="1" dirty="0"/>
              <a:t>2. Weak Airflow</a:t>
            </a:r>
          </a:p>
          <a:p>
            <a:r>
              <a:rPr lang="en-US" dirty="0"/>
              <a:t>If the air coming from the vents is not as strong as it should be, even on the highest setting, the problem may not be with the cooling itself:</a:t>
            </a:r>
          </a:p>
          <a:p>
            <a:endParaRPr lang="en-US" dirty="0"/>
          </a:p>
          <a:p>
            <a:r>
              <a:rPr lang="en-US" b="1" dirty="0"/>
              <a:t>Clogged Cabin Air Filter: </a:t>
            </a:r>
            <a:r>
              <a:rPr lang="en-US" dirty="0"/>
              <a:t>A dirty, blocked, or deteriorated cabin air filter can significantly restrict airflow into the cabin, leading to poor circulation and a musty odor.</a:t>
            </a:r>
          </a:p>
          <a:p>
            <a:endParaRPr lang="en-US" b="1" dirty="0"/>
          </a:p>
          <a:p>
            <a:r>
              <a:rPr lang="en-US" b="1" dirty="0"/>
              <a:t>Failing Blower Motor: </a:t>
            </a:r>
            <a:r>
              <a:rPr lang="en-US" dirty="0"/>
              <a:t>The blower motor is responsible for pushing the air through the vents. A problem with the motor, resistor, or a blown fuse can cause weak or inconsistent airflow.</a:t>
            </a:r>
          </a:p>
          <a:p>
            <a:endParaRPr lang="en-US" dirty="0"/>
          </a:p>
          <a:p>
            <a:r>
              <a:rPr lang="en-US" b="1" dirty="0"/>
              <a:t>Blocked Vents or Ducts</a:t>
            </a:r>
            <a:r>
              <a:rPr lang="en-US" dirty="0"/>
              <a:t>: Debris or physical damage to the ductwork can also impede air delivery.</a:t>
            </a:r>
          </a:p>
        </p:txBody>
      </p:sp>
    </p:spTree>
    <p:custDataLst>
      <p:tags r:id="rId1"/>
    </p:custDataLst>
    <p:extLst>
      <p:ext uri="{BB962C8B-B14F-4D97-AF65-F5344CB8AC3E}">
        <p14:creationId xmlns:p14="http://schemas.microsoft.com/office/powerpoint/2010/main" val="14971518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2357A-E347-A6AD-471B-9329834F1740}"/>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2017EFCF-3AA5-EA4A-BCA1-5C37EB2912EB}"/>
              </a:ext>
            </a:extLst>
          </p:cNvPr>
          <p:cNvSpPr txBox="1"/>
          <p:nvPr>
            <p:custDataLst>
              <p:tags r:id="rId2"/>
            </p:custDataLst>
          </p:nvPr>
        </p:nvSpPr>
        <p:spPr>
          <a:xfrm>
            <a:off x="428389" y="989215"/>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a:extLst>
              <a:ext uri="{FF2B5EF4-FFF2-40B4-BE49-F238E27FC236}">
                <a16:creationId xmlns:a16="http://schemas.microsoft.com/office/drawing/2014/main" id="{60E4AAA8-3FAF-7F70-9C71-3E2EBFF09073}"/>
              </a:ext>
            </a:extLst>
          </p:cNvPr>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7C62AE63-C468-A3BF-159C-CD0499D0A728}"/>
              </a:ext>
            </a:extLst>
          </p:cNvPr>
          <p:cNvSpPr txBox="1"/>
          <p:nvPr/>
        </p:nvSpPr>
        <p:spPr>
          <a:xfrm>
            <a:off x="600974" y="599480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823A3095-A3AE-14E2-964E-297B182BEB67}"/>
              </a:ext>
            </a:extLst>
          </p:cNvPr>
          <p:cNvSpPr/>
          <p:nvPr/>
        </p:nvSpPr>
        <p:spPr>
          <a:xfrm>
            <a:off x="428389" y="1370773"/>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Calibri" panose="020F0502020204030204" pitchFamily="34" charset="0"/>
                <a:cs typeface="Arial" panose="020B0604020202020204" pitchFamily="34" charset="0"/>
              </a:rPr>
              <a:t>Common AC faults</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1405D28E-FC20-549D-8F18-E60B700C3BDA}"/>
              </a:ext>
            </a:extLst>
          </p:cNvPr>
          <p:cNvSpPr txBox="1"/>
          <p:nvPr/>
        </p:nvSpPr>
        <p:spPr>
          <a:xfrm>
            <a:off x="598629" y="1734155"/>
            <a:ext cx="10979081" cy="369332"/>
          </a:xfrm>
          <a:prstGeom prst="rect">
            <a:avLst/>
          </a:prstGeom>
          <a:noFill/>
        </p:spPr>
        <p:txBody>
          <a:bodyPr wrap="square">
            <a:spAutoFit/>
          </a:bodyPr>
          <a:lstStyle/>
          <a:p>
            <a:r>
              <a:rPr lang="en-US" b="1" i="0" dirty="0">
                <a:solidFill>
                  <a:srgbClr val="0A0A0A"/>
                </a:solidFill>
                <a:effectLst/>
                <a:latin typeface="Google Sans"/>
              </a:rPr>
              <a:t>Refrigerant leaks</a:t>
            </a:r>
            <a:r>
              <a:rPr lang="en-US" b="0" i="0" dirty="0">
                <a:solidFill>
                  <a:srgbClr val="0A0A0A"/>
                </a:solidFill>
                <a:effectLst/>
                <a:latin typeface="Google Sans"/>
              </a:rPr>
              <a:t>, a </a:t>
            </a:r>
            <a:r>
              <a:rPr lang="en-US" b="1" i="0" dirty="0">
                <a:solidFill>
                  <a:srgbClr val="0A0A0A"/>
                </a:solidFill>
                <a:effectLst/>
                <a:latin typeface="Google Sans"/>
              </a:rPr>
              <a:t>failing compressor</a:t>
            </a:r>
            <a:r>
              <a:rPr lang="en-US" b="0" i="0" dirty="0">
                <a:solidFill>
                  <a:srgbClr val="0A0A0A"/>
                </a:solidFill>
                <a:effectLst/>
                <a:latin typeface="Google Sans"/>
              </a:rPr>
              <a:t>, a </a:t>
            </a:r>
            <a:r>
              <a:rPr lang="en-US" b="1" i="0" dirty="0">
                <a:solidFill>
                  <a:srgbClr val="0A0A0A"/>
                </a:solidFill>
                <a:effectLst/>
                <a:latin typeface="Google Sans"/>
              </a:rPr>
              <a:t>clogged condenser or cabin air filter</a:t>
            </a:r>
            <a:r>
              <a:rPr lang="en-US" b="0" i="0" dirty="0">
                <a:solidFill>
                  <a:srgbClr val="0A0A0A"/>
                </a:solidFill>
                <a:effectLst/>
                <a:latin typeface="Google Sans"/>
              </a:rPr>
              <a:t>, and various </a:t>
            </a:r>
            <a:r>
              <a:rPr lang="en-US" b="1" i="0" dirty="0">
                <a:solidFill>
                  <a:srgbClr val="0A0A0A"/>
                </a:solidFill>
                <a:effectLst/>
                <a:latin typeface="Google Sans"/>
              </a:rPr>
              <a:t>electrical problems</a:t>
            </a:r>
            <a:endParaRPr lang="en-US" dirty="0"/>
          </a:p>
        </p:txBody>
      </p:sp>
      <p:sp>
        <p:nvSpPr>
          <p:cNvPr id="5" name="TextBox 4">
            <a:extLst>
              <a:ext uri="{FF2B5EF4-FFF2-40B4-BE49-F238E27FC236}">
                <a16:creationId xmlns:a16="http://schemas.microsoft.com/office/drawing/2014/main" id="{B48734A3-F4D9-EC23-3981-368760D5BAC2}"/>
              </a:ext>
            </a:extLst>
          </p:cNvPr>
          <p:cNvSpPr txBox="1"/>
          <p:nvPr/>
        </p:nvSpPr>
        <p:spPr>
          <a:xfrm>
            <a:off x="598629" y="2411826"/>
            <a:ext cx="11302639" cy="3416320"/>
          </a:xfrm>
          <a:prstGeom prst="rect">
            <a:avLst/>
          </a:prstGeom>
          <a:noFill/>
        </p:spPr>
        <p:txBody>
          <a:bodyPr wrap="square">
            <a:spAutoFit/>
          </a:bodyPr>
          <a:lstStyle/>
          <a:p>
            <a:r>
              <a:rPr lang="en-US" b="1" dirty="0"/>
              <a:t>3. Unusual Noises or Smells</a:t>
            </a:r>
          </a:p>
          <a:p>
            <a:r>
              <a:rPr lang="en-US" dirty="0"/>
              <a:t>Strange operational feedback often indicates a specific component is struggling:</a:t>
            </a:r>
          </a:p>
          <a:p>
            <a:endParaRPr lang="en-US" dirty="0"/>
          </a:p>
          <a:p>
            <a:r>
              <a:rPr lang="en-US" b="1" dirty="0"/>
              <a:t>Musty/Moldy Smells: </a:t>
            </a:r>
            <a:r>
              <a:rPr lang="en-US" dirty="0"/>
              <a:t>Accumulation of moisture in the evaporator coil can lead to the growth of bacteria or mold.</a:t>
            </a:r>
          </a:p>
          <a:p>
            <a:r>
              <a:rPr lang="en-US" b="1" dirty="0"/>
              <a:t>Solution: </a:t>
            </a:r>
            <a:r>
              <a:rPr lang="en-US" dirty="0"/>
              <a:t>Professional cleaning of the system with antibacterial agents or replacement of the cabin air filter typically solves this issue</a:t>
            </a:r>
          </a:p>
          <a:p>
            <a:r>
              <a:rPr lang="en-US" dirty="0"/>
              <a:t>.</a:t>
            </a:r>
          </a:p>
          <a:p>
            <a:r>
              <a:rPr lang="en-US" b="1" dirty="0"/>
              <a:t>Hissing or Bubbling Noises: </a:t>
            </a:r>
            <a:r>
              <a:rPr lang="en-US" dirty="0"/>
              <a:t>These sounds usually indicate a refrigerant leak or air in the system.</a:t>
            </a:r>
          </a:p>
          <a:p>
            <a:endParaRPr lang="en-US" dirty="0"/>
          </a:p>
          <a:p>
            <a:r>
              <a:rPr lang="en-US" b="1" dirty="0"/>
              <a:t>Grinding or Squealing Noises: </a:t>
            </a:r>
            <a:r>
              <a:rPr lang="en-US" dirty="0"/>
              <a:t>Often points to a problem with the compressor clutch or the compressor's internal parts</a:t>
            </a:r>
          </a:p>
        </p:txBody>
      </p:sp>
    </p:spTree>
    <p:custDataLst>
      <p:tags r:id="rId1"/>
    </p:custDataLst>
    <p:extLst>
      <p:ext uri="{BB962C8B-B14F-4D97-AF65-F5344CB8AC3E}">
        <p14:creationId xmlns:p14="http://schemas.microsoft.com/office/powerpoint/2010/main" val="1991636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FB26A-9953-D77A-092F-81EB6F1D24AD}"/>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D3D614D8-464E-0D4A-FF1B-381DD0DF163E}"/>
              </a:ext>
            </a:extLst>
          </p:cNvPr>
          <p:cNvSpPr txBox="1"/>
          <p:nvPr>
            <p:custDataLst>
              <p:tags r:id="rId2"/>
            </p:custDataLst>
          </p:nvPr>
        </p:nvSpPr>
        <p:spPr>
          <a:xfrm>
            <a:off x="428389" y="989215"/>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a:extLst>
              <a:ext uri="{FF2B5EF4-FFF2-40B4-BE49-F238E27FC236}">
                <a16:creationId xmlns:a16="http://schemas.microsoft.com/office/drawing/2014/main" id="{13D26DB4-3009-0059-4032-C61B99D1AAD1}"/>
              </a:ext>
            </a:extLst>
          </p:cNvPr>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B0FAB568-7405-A78C-07C3-B5250C89BEC2}"/>
              </a:ext>
            </a:extLst>
          </p:cNvPr>
          <p:cNvSpPr txBox="1"/>
          <p:nvPr/>
        </p:nvSpPr>
        <p:spPr>
          <a:xfrm>
            <a:off x="600974" y="599480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13990082-D0B0-3C12-6F26-8868C6E16811}"/>
              </a:ext>
            </a:extLst>
          </p:cNvPr>
          <p:cNvSpPr/>
          <p:nvPr/>
        </p:nvSpPr>
        <p:spPr>
          <a:xfrm>
            <a:off x="428389" y="1370773"/>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Calibri" panose="020F0502020204030204" pitchFamily="34" charset="0"/>
                <a:cs typeface="Arial" panose="020B0604020202020204" pitchFamily="34" charset="0"/>
              </a:rPr>
              <a:t>Common AC faults</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B54E84C2-AC2F-26CB-46AD-A16EA235314F}"/>
              </a:ext>
            </a:extLst>
          </p:cNvPr>
          <p:cNvSpPr txBox="1"/>
          <p:nvPr/>
        </p:nvSpPr>
        <p:spPr>
          <a:xfrm>
            <a:off x="598629" y="1734155"/>
            <a:ext cx="10979081" cy="369332"/>
          </a:xfrm>
          <a:prstGeom prst="rect">
            <a:avLst/>
          </a:prstGeom>
          <a:noFill/>
        </p:spPr>
        <p:txBody>
          <a:bodyPr wrap="square">
            <a:spAutoFit/>
          </a:bodyPr>
          <a:lstStyle/>
          <a:p>
            <a:r>
              <a:rPr lang="en-US" b="1" i="0" dirty="0">
                <a:solidFill>
                  <a:srgbClr val="0A0A0A"/>
                </a:solidFill>
                <a:effectLst/>
                <a:latin typeface="Google Sans"/>
              </a:rPr>
              <a:t>Refrigerant leaks</a:t>
            </a:r>
            <a:r>
              <a:rPr lang="en-US" b="0" i="0" dirty="0">
                <a:solidFill>
                  <a:srgbClr val="0A0A0A"/>
                </a:solidFill>
                <a:effectLst/>
                <a:latin typeface="Google Sans"/>
              </a:rPr>
              <a:t>, a </a:t>
            </a:r>
            <a:r>
              <a:rPr lang="en-US" b="1" i="0" dirty="0">
                <a:solidFill>
                  <a:srgbClr val="0A0A0A"/>
                </a:solidFill>
                <a:effectLst/>
                <a:latin typeface="Google Sans"/>
              </a:rPr>
              <a:t>failing compressor</a:t>
            </a:r>
            <a:r>
              <a:rPr lang="en-US" b="0" i="0" dirty="0">
                <a:solidFill>
                  <a:srgbClr val="0A0A0A"/>
                </a:solidFill>
                <a:effectLst/>
                <a:latin typeface="Google Sans"/>
              </a:rPr>
              <a:t>, a </a:t>
            </a:r>
            <a:r>
              <a:rPr lang="en-US" b="1" i="0" dirty="0">
                <a:solidFill>
                  <a:srgbClr val="0A0A0A"/>
                </a:solidFill>
                <a:effectLst/>
                <a:latin typeface="Google Sans"/>
              </a:rPr>
              <a:t>clogged condenser or cabin air filter</a:t>
            </a:r>
            <a:r>
              <a:rPr lang="en-US" b="0" i="0" dirty="0">
                <a:solidFill>
                  <a:srgbClr val="0A0A0A"/>
                </a:solidFill>
                <a:effectLst/>
                <a:latin typeface="Google Sans"/>
              </a:rPr>
              <a:t>, and various </a:t>
            </a:r>
            <a:r>
              <a:rPr lang="en-US" b="1" i="0" dirty="0">
                <a:solidFill>
                  <a:srgbClr val="0A0A0A"/>
                </a:solidFill>
                <a:effectLst/>
                <a:latin typeface="Google Sans"/>
              </a:rPr>
              <a:t>electrical problems</a:t>
            </a:r>
            <a:endParaRPr lang="en-US" dirty="0"/>
          </a:p>
        </p:txBody>
      </p:sp>
      <p:sp>
        <p:nvSpPr>
          <p:cNvPr id="6" name="TextBox 5">
            <a:extLst>
              <a:ext uri="{FF2B5EF4-FFF2-40B4-BE49-F238E27FC236}">
                <a16:creationId xmlns:a16="http://schemas.microsoft.com/office/drawing/2014/main" id="{7D7F1A89-DD35-3221-5CEB-F8A3AAB746A3}"/>
              </a:ext>
            </a:extLst>
          </p:cNvPr>
          <p:cNvSpPr txBox="1"/>
          <p:nvPr/>
        </p:nvSpPr>
        <p:spPr>
          <a:xfrm>
            <a:off x="598628" y="2295210"/>
            <a:ext cx="10979081" cy="2862322"/>
          </a:xfrm>
          <a:prstGeom prst="rect">
            <a:avLst/>
          </a:prstGeom>
          <a:noFill/>
        </p:spPr>
        <p:txBody>
          <a:bodyPr wrap="square">
            <a:spAutoFit/>
          </a:bodyPr>
          <a:lstStyle/>
          <a:p>
            <a:r>
              <a:rPr lang="en-US" b="1" dirty="0"/>
              <a:t>4. Electrical Issues</a:t>
            </a:r>
          </a:p>
          <a:p>
            <a:endParaRPr lang="en-US" dirty="0"/>
          </a:p>
          <a:p>
            <a:r>
              <a:rPr lang="en-US" dirty="0"/>
              <a:t>Modern car AC systems rely on complex electrical components, and even minor faults can disable the system. </a:t>
            </a:r>
          </a:p>
          <a:p>
            <a:endParaRPr lang="en-US" dirty="0"/>
          </a:p>
          <a:p>
            <a:r>
              <a:rPr lang="en-US" b="1" dirty="0"/>
              <a:t>Blown Fuses or Relays: </a:t>
            </a:r>
            <a:r>
              <a:rPr lang="en-US" dirty="0"/>
              <a:t>A simple blown fuse can prevent the blower motor or compressor clutch from engaging.</a:t>
            </a:r>
          </a:p>
          <a:p>
            <a:endParaRPr lang="en-US" dirty="0"/>
          </a:p>
          <a:p>
            <a:r>
              <a:rPr lang="en-US" b="1" dirty="0"/>
              <a:t>Faulty Sensors or Wiring: </a:t>
            </a:r>
            <a:r>
              <a:rPr lang="en-US" dirty="0"/>
              <a:t>Problems with temperature sensors, pressure switches, or damaged wiring can cause the system to malfunction or run inconsistently.</a:t>
            </a:r>
          </a:p>
        </p:txBody>
      </p:sp>
    </p:spTree>
    <p:custDataLst>
      <p:tags r:id="rId1"/>
    </p:custDataLst>
    <p:extLst>
      <p:ext uri="{BB962C8B-B14F-4D97-AF65-F5344CB8AC3E}">
        <p14:creationId xmlns:p14="http://schemas.microsoft.com/office/powerpoint/2010/main" val="10389768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E1C48-4FFF-287D-7A88-E75B84260EFB}"/>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FBC9E9BE-C8A3-6CDD-26D9-F9123184047F}"/>
              </a:ext>
            </a:extLst>
          </p:cNvPr>
          <p:cNvSpPr txBox="1"/>
          <p:nvPr>
            <p:custDataLst>
              <p:tags r:id="rId2"/>
            </p:custDataLst>
          </p:nvPr>
        </p:nvSpPr>
        <p:spPr>
          <a:xfrm>
            <a:off x="428389" y="989215"/>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a:extLst>
              <a:ext uri="{FF2B5EF4-FFF2-40B4-BE49-F238E27FC236}">
                <a16:creationId xmlns:a16="http://schemas.microsoft.com/office/drawing/2014/main" id="{32D9CBCC-026D-C21C-43BB-FA0C4B008DDA}"/>
              </a:ext>
            </a:extLst>
          </p:cNvPr>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BAE9F0B5-9095-988B-B8E4-D0FBEFB178D5}"/>
              </a:ext>
            </a:extLst>
          </p:cNvPr>
          <p:cNvSpPr txBox="1"/>
          <p:nvPr/>
        </p:nvSpPr>
        <p:spPr>
          <a:xfrm>
            <a:off x="600974" y="6210267"/>
            <a:ext cx="5659149"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DB758FA1-DF78-F2A4-EF6E-4ED703ECCB25}"/>
              </a:ext>
            </a:extLst>
          </p:cNvPr>
          <p:cNvSpPr/>
          <p:nvPr/>
        </p:nvSpPr>
        <p:spPr>
          <a:xfrm>
            <a:off x="428389" y="1370773"/>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Calibri" panose="020F0502020204030204" pitchFamily="34" charset="0"/>
                <a:cs typeface="Arial" panose="020B0604020202020204" pitchFamily="34" charset="0"/>
              </a:rPr>
              <a:t>Common AC faults</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F02E1344-A7A4-52F3-FFCD-95CF3F7718CB}"/>
              </a:ext>
            </a:extLst>
          </p:cNvPr>
          <p:cNvSpPr txBox="1"/>
          <p:nvPr/>
        </p:nvSpPr>
        <p:spPr>
          <a:xfrm>
            <a:off x="598629" y="1734155"/>
            <a:ext cx="10979081" cy="369332"/>
          </a:xfrm>
          <a:prstGeom prst="rect">
            <a:avLst/>
          </a:prstGeom>
          <a:noFill/>
        </p:spPr>
        <p:txBody>
          <a:bodyPr wrap="square">
            <a:spAutoFit/>
          </a:bodyPr>
          <a:lstStyle/>
          <a:p>
            <a:r>
              <a:rPr lang="en-US" b="1" i="0" dirty="0">
                <a:solidFill>
                  <a:srgbClr val="0A0A0A"/>
                </a:solidFill>
                <a:effectLst/>
                <a:latin typeface="Google Sans"/>
              </a:rPr>
              <a:t>Refrigerant leaks</a:t>
            </a:r>
            <a:r>
              <a:rPr lang="en-US" b="0" i="0" dirty="0">
                <a:solidFill>
                  <a:srgbClr val="0A0A0A"/>
                </a:solidFill>
                <a:effectLst/>
                <a:latin typeface="Google Sans"/>
              </a:rPr>
              <a:t>, a </a:t>
            </a:r>
            <a:r>
              <a:rPr lang="en-US" b="1" i="0" dirty="0">
                <a:solidFill>
                  <a:srgbClr val="0A0A0A"/>
                </a:solidFill>
                <a:effectLst/>
                <a:latin typeface="Google Sans"/>
              </a:rPr>
              <a:t>failing compressor</a:t>
            </a:r>
            <a:r>
              <a:rPr lang="en-US" b="0" i="0" dirty="0">
                <a:solidFill>
                  <a:srgbClr val="0A0A0A"/>
                </a:solidFill>
                <a:effectLst/>
                <a:latin typeface="Google Sans"/>
              </a:rPr>
              <a:t>, a </a:t>
            </a:r>
            <a:r>
              <a:rPr lang="en-US" b="1" i="0" dirty="0">
                <a:solidFill>
                  <a:srgbClr val="0A0A0A"/>
                </a:solidFill>
                <a:effectLst/>
                <a:latin typeface="Google Sans"/>
              </a:rPr>
              <a:t>clogged condenser or cabin air filter</a:t>
            </a:r>
            <a:r>
              <a:rPr lang="en-US" b="0" i="0" dirty="0">
                <a:solidFill>
                  <a:srgbClr val="0A0A0A"/>
                </a:solidFill>
                <a:effectLst/>
                <a:latin typeface="Google Sans"/>
              </a:rPr>
              <a:t>, and various </a:t>
            </a:r>
            <a:r>
              <a:rPr lang="en-US" b="1" i="0" dirty="0">
                <a:solidFill>
                  <a:srgbClr val="0A0A0A"/>
                </a:solidFill>
                <a:effectLst/>
                <a:latin typeface="Google Sans"/>
              </a:rPr>
              <a:t>electrical problems</a:t>
            </a:r>
            <a:endParaRPr lang="en-US" dirty="0"/>
          </a:p>
        </p:txBody>
      </p:sp>
      <p:pic>
        <p:nvPicPr>
          <p:cNvPr id="8" name="Picture 7">
            <a:extLst>
              <a:ext uri="{FF2B5EF4-FFF2-40B4-BE49-F238E27FC236}">
                <a16:creationId xmlns:a16="http://schemas.microsoft.com/office/drawing/2014/main" id="{3B4D08BF-C940-0866-5C52-44B694CA257A}"/>
              </a:ext>
            </a:extLst>
          </p:cNvPr>
          <p:cNvPicPr>
            <a:picLocks noChangeAspect="1"/>
          </p:cNvPicPr>
          <p:nvPr/>
        </p:nvPicPr>
        <p:blipFill>
          <a:blip r:embed="rId5"/>
          <a:stretch>
            <a:fillRect/>
          </a:stretch>
        </p:blipFill>
        <p:spPr>
          <a:xfrm>
            <a:off x="614290" y="2103487"/>
            <a:ext cx="10513255" cy="4106780"/>
          </a:xfrm>
          <a:prstGeom prst="rect">
            <a:avLst/>
          </a:prstGeom>
        </p:spPr>
      </p:pic>
    </p:spTree>
    <p:custDataLst>
      <p:tags r:id="rId1"/>
    </p:custDataLst>
    <p:extLst>
      <p:ext uri="{BB962C8B-B14F-4D97-AF65-F5344CB8AC3E}">
        <p14:creationId xmlns:p14="http://schemas.microsoft.com/office/powerpoint/2010/main" val="42016277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96B73-1838-7BD9-3088-85411FC3B7CE}"/>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A86A9354-7B35-9438-1BF2-0D1B129CB3DC}"/>
              </a:ext>
            </a:extLst>
          </p:cNvPr>
          <p:cNvSpPr txBox="1"/>
          <p:nvPr>
            <p:custDataLst>
              <p:tags r:id="rId2"/>
            </p:custDataLst>
          </p:nvPr>
        </p:nvSpPr>
        <p:spPr>
          <a:xfrm>
            <a:off x="428389" y="989215"/>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a:extLst>
              <a:ext uri="{FF2B5EF4-FFF2-40B4-BE49-F238E27FC236}">
                <a16:creationId xmlns:a16="http://schemas.microsoft.com/office/drawing/2014/main" id="{71F0E4D9-FEB6-A2B0-D954-8FCFF450E2B1}"/>
              </a:ext>
            </a:extLst>
          </p:cNvPr>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37A5B392-5170-25E3-0EBD-9FEFCBD8CF23}"/>
              </a:ext>
            </a:extLst>
          </p:cNvPr>
          <p:cNvSpPr txBox="1"/>
          <p:nvPr/>
        </p:nvSpPr>
        <p:spPr>
          <a:xfrm>
            <a:off x="600974" y="6210267"/>
            <a:ext cx="5659149"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3D1F533B-3B00-94BB-D568-21B6C686FBDE}"/>
              </a:ext>
            </a:extLst>
          </p:cNvPr>
          <p:cNvSpPr/>
          <p:nvPr/>
        </p:nvSpPr>
        <p:spPr>
          <a:xfrm>
            <a:off x="428389" y="1370773"/>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Calibri" panose="020F0502020204030204" pitchFamily="34" charset="0"/>
                <a:cs typeface="Arial" panose="020B0604020202020204" pitchFamily="34" charset="0"/>
              </a:rPr>
              <a:t>Visual Inspection</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TextBox 4">
            <a:extLst>
              <a:ext uri="{FF2B5EF4-FFF2-40B4-BE49-F238E27FC236}">
                <a16:creationId xmlns:a16="http://schemas.microsoft.com/office/drawing/2014/main" id="{04A23D18-45C1-83A9-B17F-C7B0AB8B81C4}"/>
              </a:ext>
            </a:extLst>
          </p:cNvPr>
          <p:cNvSpPr txBox="1"/>
          <p:nvPr/>
        </p:nvSpPr>
        <p:spPr>
          <a:xfrm>
            <a:off x="600974" y="1739494"/>
            <a:ext cx="11089278" cy="369332"/>
          </a:xfrm>
          <a:prstGeom prst="rect">
            <a:avLst/>
          </a:prstGeom>
          <a:noFill/>
        </p:spPr>
        <p:txBody>
          <a:bodyPr wrap="square">
            <a:spAutoFit/>
          </a:bodyPr>
          <a:lstStyle/>
          <a:p>
            <a:r>
              <a:rPr lang="en-US" b="0" i="0" dirty="0">
                <a:solidFill>
                  <a:srgbClr val="0A0A0A"/>
                </a:solidFill>
                <a:effectLst/>
                <a:latin typeface="Google Sans"/>
              </a:rPr>
              <a:t>Before using specialized tools, a basic inspection can sometimes reveal obvious leaks</a:t>
            </a:r>
            <a:endParaRPr lang="en-US" dirty="0"/>
          </a:p>
        </p:txBody>
      </p:sp>
      <p:sp>
        <p:nvSpPr>
          <p:cNvPr id="9" name="TextBox 8">
            <a:extLst>
              <a:ext uri="{FF2B5EF4-FFF2-40B4-BE49-F238E27FC236}">
                <a16:creationId xmlns:a16="http://schemas.microsoft.com/office/drawing/2014/main" id="{209647A2-DDDA-87BF-6E57-2B362070F302}"/>
              </a:ext>
            </a:extLst>
          </p:cNvPr>
          <p:cNvSpPr txBox="1"/>
          <p:nvPr/>
        </p:nvSpPr>
        <p:spPr>
          <a:xfrm>
            <a:off x="600974" y="2230847"/>
            <a:ext cx="11089278" cy="3096360"/>
          </a:xfrm>
          <a:prstGeom prst="rect">
            <a:avLst/>
          </a:prstGeom>
          <a:noFill/>
        </p:spPr>
        <p:txBody>
          <a:bodyPr wrap="square">
            <a:spAutoFit/>
          </a:bodyPr>
          <a:lstStyle/>
          <a:p>
            <a:pPr algn="l">
              <a:lnSpc>
                <a:spcPts val="1800"/>
              </a:lnSpc>
              <a:spcBef>
                <a:spcPts val="1200"/>
              </a:spcBef>
              <a:spcAft>
                <a:spcPts val="1200"/>
              </a:spcAft>
              <a:buFont typeface="Arial" panose="020B0604020202020204" pitchFamily="34" charset="0"/>
              <a:buChar char="•"/>
            </a:pPr>
            <a:r>
              <a:rPr lang="en-US" b="1" i="0" dirty="0">
                <a:solidFill>
                  <a:srgbClr val="0A0A0A"/>
                </a:solidFill>
                <a:effectLst/>
                <a:latin typeface="Google Sans"/>
              </a:rPr>
              <a:t>Look for Oily Residue:</a:t>
            </a:r>
            <a:r>
              <a:rPr lang="en-US" b="0" i="0" dirty="0">
                <a:solidFill>
                  <a:srgbClr val="0A0A0A"/>
                </a:solidFill>
                <a:effectLst/>
                <a:latin typeface="Google Sans"/>
              </a:rPr>
              <a:t> Refrigerant oil often leaks with the gas and can leave an oily, sometimes green or yellow, residue around AC components, hoses, fittings, and the compressor. The condenser (located in front of your radiator) is a common place for damage from road debris.</a:t>
            </a:r>
          </a:p>
          <a:p>
            <a:pPr algn="l">
              <a:lnSpc>
                <a:spcPts val="1800"/>
              </a:lnSpc>
              <a:spcBef>
                <a:spcPts val="1200"/>
              </a:spcBef>
              <a:spcAft>
                <a:spcPts val="1200"/>
              </a:spcAft>
              <a:buFont typeface="Arial" panose="020B0604020202020204" pitchFamily="34" charset="0"/>
              <a:buChar char="•"/>
            </a:pPr>
            <a:r>
              <a:rPr lang="en-US" b="1" i="0" dirty="0">
                <a:solidFill>
                  <a:srgbClr val="0A0A0A"/>
                </a:solidFill>
                <a:effectLst/>
                <a:latin typeface="Google Sans"/>
              </a:rPr>
              <a:t>Listen for Hissing:</a:t>
            </a:r>
            <a:r>
              <a:rPr lang="en-US" b="0" i="0" dirty="0">
                <a:solidFill>
                  <a:srgbClr val="0A0A0A"/>
                </a:solidFill>
                <a:effectLst/>
                <a:latin typeface="Google Sans"/>
              </a:rPr>
              <a:t> With the engine off, a hissing or bubbling sound may be audible near a large leak as pressurized refrigerant escapes.</a:t>
            </a:r>
          </a:p>
          <a:p>
            <a:pPr algn="l">
              <a:lnSpc>
                <a:spcPts val="1800"/>
              </a:lnSpc>
              <a:spcBef>
                <a:spcPts val="1200"/>
              </a:spcBef>
              <a:spcAft>
                <a:spcPts val="1200"/>
              </a:spcAft>
              <a:buFont typeface="Arial" panose="020B0604020202020204" pitchFamily="34" charset="0"/>
              <a:buChar char="•"/>
            </a:pPr>
            <a:r>
              <a:rPr lang="en-US" b="1" i="0" dirty="0">
                <a:solidFill>
                  <a:srgbClr val="0A0A0A"/>
                </a:solidFill>
                <a:effectLst/>
                <a:latin typeface="Google Sans"/>
              </a:rPr>
              <a:t>Check for Physical Damage:</a:t>
            </a:r>
            <a:r>
              <a:rPr lang="en-US" b="0" i="0" dirty="0">
                <a:solidFill>
                  <a:srgbClr val="0A0A0A"/>
                </a:solidFill>
                <a:effectLst/>
                <a:latin typeface="Google Sans"/>
              </a:rPr>
              <a:t> Look for cracks in hoses, loose connections, or visible damage to the condenser or other metal lines.</a:t>
            </a:r>
          </a:p>
          <a:p>
            <a:pPr algn="l">
              <a:lnSpc>
                <a:spcPts val="1800"/>
              </a:lnSpc>
              <a:spcBef>
                <a:spcPts val="1200"/>
              </a:spcBef>
              <a:spcAft>
                <a:spcPts val="1200"/>
              </a:spcAft>
              <a:buFont typeface="Arial" panose="020B0604020202020204" pitchFamily="34" charset="0"/>
              <a:buChar char="•"/>
            </a:pPr>
            <a:r>
              <a:rPr lang="en-US" b="1" i="0" dirty="0">
                <a:solidFill>
                  <a:srgbClr val="0A0A0A"/>
                </a:solidFill>
                <a:effectLst/>
                <a:latin typeface="Google Sans"/>
              </a:rPr>
              <a:t>Sweet Smell:</a:t>
            </a:r>
            <a:r>
              <a:rPr lang="en-US" b="0" i="0" dirty="0">
                <a:solidFill>
                  <a:srgbClr val="0A0A0A"/>
                </a:solidFill>
                <a:effectLst/>
                <a:latin typeface="Google Sans"/>
              </a:rPr>
              <a:t> A sweet, chemical odor (sometimes compared to nail polish remover) can indicate an evaporator leak inside the cabin.</a:t>
            </a:r>
          </a:p>
        </p:txBody>
      </p:sp>
    </p:spTree>
    <p:custDataLst>
      <p:tags r:id="rId1"/>
    </p:custDataLst>
    <p:extLst>
      <p:ext uri="{BB962C8B-B14F-4D97-AF65-F5344CB8AC3E}">
        <p14:creationId xmlns:p14="http://schemas.microsoft.com/office/powerpoint/2010/main" val="27624246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DC8DB-4D6F-8BFB-4077-C82AA5162691}"/>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FAC6DC02-986D-B585-B52D-43ACC2DA7C0D}"/>
              </a:ext>
            </a:extLst>
          </p:cNvPr>
          <p:cNvSpPr txBox="1"/>
          <p:nvPr>
            <p:custDataLst>
              <p:tags r:id="rId2"/>
            </p:custDataLst>
          </p:nvPr>
        </p:nvSpPr>
        <p:spPr>
          <a:xfrm>
            <a:off x="428389" y="989215"/>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a:extLst>
              <a:ext uri="{FF2B5EF4-FFF2-40B4-BE49-F238E27FC236}">
                <a16:creationId xmlns:a16="http://schemas.microsoft.com/office/drawing/2014/main" id="{89071B97-081C-800E-4DCD-90AA9FFE3197}"/>
              </a:ext>
            </a:extLst>
          </p:cNvPr>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F8CD3676-6097-A5E4-68B1-8C8DCB115655}"/>
              </a:ext>
            </a:extLst>
          </p:cNvPr>
          <p:cNvSpPr txBox="1"/>
          <p:nvPr/>
        </p:nvSpPr>
        <p:spPr>
          <a:xfrm>
            <a:off x="600974" y="6210267"/>
            <a:ext cx="5659149"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7" name="TextBox 6">
            <a:extLst>
              <a:ext uri="{FF2B5EF4-FFF2-40B4-BE49-F238E27FC236}">
                <a16:creationId xmlns:a16="http://schemas.microsoft.com/office/drawing/2014/main" id="{FBE0278C-8282-F772-90CE-34F52EC3938E}"/>
              </a:ext>
            </a:extLst>
          </p:cNvPr>
          <p:cNvSpPr txBox="1"/>
          <p:nvPr/>
        </p:nvSpPr>
        <p:spPr>
          <a:xfrm>
            <a:off x="428389" y="1549540"/>
            <a:ext cx="10836060" cy="4401205"/>
          </a:xfrm>
          <a:prstGeom prst="rect">
            <a:avLst/>
          </a:prstGeom>
          <a:noFill/>
        </p:spPr>
        <p:txBody>
          <a:bodyPr wrap="square">
            <a:spAutoFit/>
          </a:bodyPr>
          <a:lstStyle/>
          <a:p>
            <a:r>
              <a:rPr lang="en-US" sz="2000" b="1" dirty="0"/>
              <a:t>2. UV Dye </a:t>
            </a:r>
            <a:r>
              <a:rPr lang="en-US" sz="2000" b="1" dirty="0" smtClean="0"/>
              <a:t>Detection</a:t>
            </a:r>
          </a:p>
          <a:p>
            <a:endParaRPr lang="en-US" sz="2000" b="1" dirty="0"/>
          </a:p>
          <a:p>
            <a:r>
              <a:rPr lang="en-US" sz="2000" dirty="0"/>
              <a:t>This is a popular and effective method for pinpointing the exact location of a leak.  </a:t>
            </a:r>
          </a:p>
          <a:p>
            <a:endParaRPr lang="en-US" sz="2000" dirty="0"/>
          </a:p>
          <a:p>
            <a:r>
              <a:rPr lang="en-US" sz="2000" b="1" dirty="0"/>
              <a:t>Add Dye: </a:t>
            </a:r>
            <a:r>
              <a:rPr lang="en-US" sz="2000" dirty="0"/>
              <a:t>A small amount of special UV fluorescent dye (compatible with your car's refrigerant type, such as R134a) is injected into the low-pressure AC service port. You can buy UV dye kits at most auto parts stores.</a:t>
            </a:r>
          </a:p>
          <a:p>
            <a:endParaRPr lang="en-US" sz="2000" dirty="0"/>
          </a:p>
          <a:p>
            <a:r>
              <a:rPr lang="en-US" sz="2000" b="1" dirty="0"/>
              <a:t>Circulate the Dye: </a:t>
            </a:r>
            <a:r>
              <a:rPr lang="en-US" sz="2000" dirty="0"/>
              <a:t>Run the car's AC system on maximum for 15-30 minutes to allow the dye to circulate with the refrigerant and oil throughout the system.</a:t>
            </a:r>
          </a:p>
          <a:p>
            <a:endParaRPr lang="en-US" sz="2000" dirty="0"/>
          </a:p>
          <a:p>
            <a:r>
              <a:rPr lang="en-US" sz="2000" b="1" dirty="0"/>
              <a:t>Inspect with a UV Light: </a:t>
            </a:r>
            <a:r>
              <a:rPr lang="en-US" sz="2000" dirty="0"/>
              <a:t>In a dimly lit area, use a UV (black) light and yellow safety glasses to scan all AC components. The escaping dye will glow brightly yellow or green at the leak source.</a:t>
            </a:r>
          </a:p>
        </p:txBody>
      </p:sp>
    </p:spTree>
    <p:custDataLst>
      <p:tags r:id="rId1"/>
    </p:custDataLst>
    <p:extLst>
      <p:ext uri="{BB962C8B-B14F-4D97-AF65-F5344CB8AC3E}">
        <p14:creationId xmlns:p14="http://schemas.microsoft.com/office/powerpoint/2010/main" val="22601683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DCAD4-E138-4E5C-8B9A-E89870C7DB4D}"/>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8C4FC5E2-4C03-FD06-3016-B62D1AB2D948}"/>
              </a:ext>
            </a:extLst>
          </p:cNvPr>
          <p:cNvSpPr txBox="1"/>
          <p:nvPr>
            <p:custDataLst>
              <p:tags r:id="rId2"/>
            </p:custDataLst>
          </p:nvPr>
        </p:nvSpPr>
        <p:spPr>
          <a:xfrm>
            <a:off x="428389" y="989215"/>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a:extLst>
              <a:ext uri="{FF2B5EF4-FFF2-40B4-BE49-F238E27FC236}">
                <a16:creationId xmlns:a16="http://schemas.microsoft.com/office/drawing/2014/main" id="{0288D9C8-B170-DCBA-1E28-449EE0CFAD1A}"/>
              </a:ext>
            </a:extLst>
          </p:cNvPr>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857CB7A9-6D52-5523-B73A-E253A61CEF53}"/>
              </a:ext>
            </a:extLst>
          </p:cNvPr>
          <p:cNvSpPr txBox="1"/>
          <p:nvPr/>
        </p:nvSpPr>
        <p:spPr>
          <a:xfrm>
            <a:off x="600974" y="6210267"/>
            <a:ext cx="5659149"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TextBox 3">
            <a:extLst>
              <a:ext uri="{FF2B5EF4-FFF2-40B4-BE49-F238E27FC236}">
                <a16:creationId xmlns:a16="http://schemas.microsoft.com/office/drawing/2014/main" id="{10722C10-5A9C-B05D-3337-EA9D82FB19CF}"/>
              </a:ext>
            </a:extLst>
          </p:cNvPr>
          <p:cNvSpPr txBox="1"/>
          <p:nvPr/>
        </p:nvSpPr>
        <p:spPr>
          <a:xfrm>
            <a:off x="600973" y="1443841"/>
            <a:ext cx="11328429" cy="3693319"/>
          </a:xfrm>
          <a:prstGeom prst="rect">
            <a:avLst/>
          </a:prstGeom>
          <a:noFill/>
        </p:spPr>
        <p:txBody>
          <a:bodyPr wrap="square">
            <a:spAutoFit/>
          </a:bodyPr>
          <a:lstStyle/>
          <a:p>
            <a:r>
              <a:rPr lang="en-US" b="1" dirty="0"/>
              <a:t>3. Electronic Leak Detection (Sniffer)</a:t>
            </a:r>
          </a:p>
          <a:p>
            <a:endParaRPr lang="en-US" dirty="0"/>
          </a:p>
          <a:p>
            <a:r>
              <a:rPr lang="en-US" dirty="0"/>
              <a:t>An electronic leak detector, or "sniffer," is a highly sensitive tool that detects the presence of halogen-based refrigerant gases</a:t>
            </a:r>
          </a:p>
          <a:p>
            <a:endParaRPr lang="en-US" dirty="0"/>
          </a:p>
          <a:p>
            <a:r>
              <a:rPr lang="en-US" b="1" dirty="0"/>
              <a:t>Scan the System</a:t>
            </a:r>
            <a:r>
              <a:rPr lang="en-US" dirty="0"/>
              <a:t>: With the AC system pressurized (engine can be off but pressure maintained), move the detector probe slowly along the AC lines, connections, compressor, and condenser.</a:t>
            </a:r>
          </a:p>
          <a:p>
            <a:endParaRPr lang="en-US" dirty="0"/>
          </a:p>
          <a:p>
            <a:r>
              <a:rPr lang="en-US" b="1" dirty="0"/>
              <a:t>Listen for the Alarm: </a:t>
            </a:r>
            <a:r>
              <a:rPr lang="en-US" dirty="0"/>
              <a:t>The device will emit an audible alarm or show a reading increase when it passes over escaping refrigerant, even tiny leaks that might not show with dye.</a:t>
            </a:r>
          </a:p>
          <a:p>
            <a:endParaRPr lang="en-US" dirty="0"/>
          </a:p>
          <a:p>
            <a:r>
              <a:rPr lang="en-US" b="1" dirty="0"/>
              <a:t>Check Hard-to-Reach Areas</a:t>
            </a:r>
            <a:r>
              <a:rPr lang="en-US" dirty="0"/>
              <a:t>: This method is particularly useful for finding leaks in difficult areas like the evaporator core, which is inside the dashboard</a:t>
            </a:r>
          </a:p>
        </p:txBody>
      </p:sp>
    </p:spTree>
    <p:custDataLst>
      <p:tags r:id="rId1"/>
    </p:custDataLst>
    <p:extLst>
      <p:ext uri="{BB962C8B-B14F-4D97-AF65-F5344CB8AC3E}">
        <p14:creationId xmlns:p14="http://schemas.microsoft.com/office/powerpoint/2010/main" val="20992656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3CC80-9BF6-C2BD-692B-AA470A66FFE5}"/>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FC555021-A93D-333B-A762-BEFF1C2E37BB}"/>
              </a:ext>
            </a:extLst>
          </p:cNvPr>
          <p:cNvSpPr txBox="1"/>
          <p:nvPr>
            <p:custDataLst>
              <p:tags r:id="rId2"/>
            </p:custDataLst>
          </p:nvPr>
        </p:nvSpPr>
        <p:spPr>
          <a:xfrm>
            <a:off x="428389" y="989215"/>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a:extLst>
              <a:ext uri="{FF2B5EF4-FFF2-40B4-BE49-F238E27FC236}">
                <a16:creationId xmlns:a16="http://schemas.microsoft.com/office/drawing/2014/main" id="{5F84C6EE-A769-21F4-656F-812EC6A5D841}"/>
              </a:ext>
            </a:extLst>
          </p:cNvPr>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FA28EA5D-91FD-E221-FC8E-A9A64BCE397F}"/>
              </a:ext>
            </a:extLst>
          </p:cNvPr>
          <p:cNvSpPr txBox="1"/>
          <p:nvPr/>
        </p:nvSpPr>
        <p:spPr>
          <a:xfrm>
            <a:off x="600974" y="6210267"/>
            <a:ext cx="5659149"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5" name="TextBox 4">
            <a:extLst>
              <a:ext uri="{FF2B5EF4-FFF2-40B4-BE49-F238E27FC236}">
                <a16:creationId xmlns:a16="http://schemas.microsoft.com/office/drawing/2014/main" id="{978EC8EC-6583-61A3-51AB-703DECFC81A8}"/>
              </a:ext>
            </a:extLst>
          </p:cNvPr>
          <p:cNvSpPr txBox="1"/>
          <p:nvPr/>
        </p:nvSpPr>
        <p:spPr>
          <a:xfrm>
            <a:off x="428389" y="1520877"/>
            <a:ext cx="11050848" cy="2862322"/>
          </a:xfrm>
          <a:prstGeom prst="rect">
            <a:avLst/>
          </a:prstGeom>
          <a:noFill/>
        </p:spPr>
        <p:txBody>
          <a:bodyPr wrap="square">
            <a:spAutoFit/>
          </a:bodyPr>
          <a:lstStyle/>
          <a:p>
            <a:r>
              <a:rPr lang="en-US" b="1" dirty="0"/>
              <a:t>4. Soapy Water (Bubble) </a:t>
            </a:r>
            <a:r>
              <a:rPr lang="en-US" b="1" dirty="0" smtClean="0"/>
              <a:t>Test</a:t>
            </a:r>
          </a:p>
          <a:p>
            <a:endParaRPr lang="en-US" b="1" dirty="0"/>
          </a:p>
          <a:p>
            <a:r>
              <a:rPr lang="en-US" dirty="0"/>
              <a:t>This is a simple, inexpensive method for easily accessible components, though less effective for very small leaks. </a:t>
            </a:r>
          </a:p>
          <a:p>
            <a:endParaRPr lang="en-US" dirty="0"/>
          </a:p>
          <a:p>
            <a:r>
              <a:rPr lang="en-US" b="1" dirty="0"/>
              <a:t>Mix a Solution: </a:t>
            </a:r>
            <a:r>
              <a:rPr lang="en-US" dirty="0"/>
              <a:t>Prepare a spray bottle with a solution of water and a few drops of dish soap.</a:t>
            </a:r>
          </a:p>
          <a:p>
            <a:endParaRPr lang="en-US" dirty="0"/>
          </a:p>
          <a:p>
            <a:r>
              <a:rPr lang="en-US" b="1" dirty="0"/>
              <a:t>Spray Potential Leaks: </a:t>
            </a:r>
            <a:r>
              <a:rPr lang="en-US" dirty="0"/>
              <a:t>Spray the solution onto suspected leak points (connections, valves, hoses).</a:t>
            </a:r>
          </a:p>
          <a:p>
            <a:endParaRPr lang="en-US" dirty="0"/>
          </a:p>
          <a:p>
            <a:r>
              <a:rPr lang="en-US" b="1" dirty="0"/>
              <a:t>Look for Bubbles: </a:t>
            </a:r>
            <a:r>
              <a:rPr lang="en-US" dirty="0"/>
              <a:t>The escaping gas will create large bubbles at the leak location.</a:t>
            </a:r>
          </a:p>
        </p:txBody>
      </p:sp>
    </p:spTree>
    <p:custDataLst>
      <p:tags r:id="rId1"/>
    </p:custDataLst>
    <p:extLst>
      <p:ext uri="{BB962C8B-B14F-4D97-AF65-F5344CB8AC3E}">
        <p14:creationId xmlns:p14="http://schemas.microsoft.com/office/powerpoint/2010/main" val="38124144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C8EC6-FEE1-7244-1981-5B48ED8CCCE3}"/>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812DA139-62E4-C313-2320-6B431B0635BA}"/>
              </a:ext>
            </a:extLst>
          </p:cNvPr>
          <p:cNvSpPr txBox="1"/>
          <p:nvPr>
            <p:custDataLst>
              <p:tags r:id="rId2"/>
            </p:custDataLst>
          </p:nvPr>
        </p:nvSpPr>
        <p:spPr>
          <a:xfrm>
            <a:off x="428389" y="989215"/>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a:extLst>
              <a:ext uri="{FF2B5EF4-FFF2-40B4-BE49-F238E27FC236}">
                <a16:creationId xmlns:a16="http://schemas.microsoft.com/office/drawing/2014/main" id="{A0860D4A-218F-3014-ECF3-058D77FBC486}"/>
              </a:ext>
            </a:extLst>
          </p:cNvPr>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CBBDE3B3-8557-675B-EC51-7B0553C55A21}"/>
              </a:ext>
            </a:extLst>
          </p:cNvPr>
          <p:cNvSpPr txBox="1"/>
          <p:nvPr/>
        </p:nvSpPr>
        <p:spPr>
          <a:xfrm>
            <a:off x="600974" y="6210267"/>
            <a:ext cx="5659149"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TextBox 3">
            <a:extLst>
              <a:ext uri="{FF2B5EF4-FFF2-40B4-BE49-F238E27FC236}">
                <a16:creationId xmlns:a16="http://schemas.microsoft.com/office/drawing/2014/main" id="{3C52652F-871E-4442-2A8D-53649789026C}"/>
              </a:ext>
            </a:extLst>
          </p:cNvPr>
          <p:cNvSpPr txBox="1"/>
          <p:nvPr/>
        </p:nvSpPr>
        <p:spPr>
          <a:xfrm>
            <a:off x="428388" y="1500277"/>
            <a:ext cx="11177457" cy="1477328"/>
          </a:xfrm>
          <a:prstGeom prst="rect">
            <a:avLst/>
          </a:prstGeom>
          <a:noFill/>
        </p:spPr>
        <p:txBody>
          <a:bodyPr wrap="square">
            <a:spAutoFit/>
          </a:bodyPr>
          <a:lstStyle/>
          <a:p>
            <a:r>
              <a:rPr lang="en-US" b="1" dirty="0"/>
              <a:t>5. Nitrogen Pressure Test</a:t>
            </a:r>
          </a:p>
          <a:p>
            <a:endParaRPr lang="en-US" dirty="0"/>
          </a:p>
          <a:p>
            <a:r>
              <a:rPr lang="en-US" dirty="0"/>
              <a:t>This is a professional method used when the system is completely empty of refrigerant and cannot hold a charge. The system is pressurized with dry nitrogen, and a technician listens for hissing or uses a bubble solution to find the leak</a:t>
            </a:r>
          </a:p>
        </p:txBody>
      </p:sp>
      <p:pic>
        <p:nvPicPr>
          <p:cNvPr id="7" name="Picture 6">
            <a:extLst>
              <a:ext uri="{FF2B5EF4-FFF2-40B4-BE49-F238E27FC236}">
                <a16:creationId xmlns:a16="http://schemas.microsoft.com/office/drawing/2014/main" id="{8B31C30D-8660-534E-8755-990EED29A24D}"/>
              </a:ext>
            </a:extLst>
          </p:cNvPr>
          <p:cNvPicPr>
            <a:picLocks noChangeAspect="1"/>
          </p:cNvPicPr>
          <p:nvPr/>
        </p:nvPicPr>
        <p:blipFill>
          <a:blip r:embed="rId5"/>
          <a:stretch>
            <a:fillRect/>
          </a:stretch>
        </p:blipFill>
        <p:spPr>
          <a:xfrm>
            <a:off x="859009" y="3037446"/>
            <a:ext cx="3037743" cy="2958762"/>
          </a:xfrm>
          <a:prstGeom prst="rect">
            <a:avLst/>
          </a:prstGeom>
        </p:spPr>
      </p:pic>
      <p:pic>
        <p:nvPicPr>
          <p:cNvPr id="8" name="Picture 7">
            <a:extLst>
              <a:ext uri="{FF2B5EF4-FFF2-40B4-BE49-F238E27FC236}">
                <a16:creationId xmlns:a16="http://schemas.microsoft.com/office/drawing/2014/main" id="{7EE8DA5B-4D78-597F-D0DF-A8CE61412F1A}"/>
              </a:ext>
            </a:extLst>
          </p:cNvPr>
          <p:cNvPicPr>
            <a:picLocks noChangeAspect="1"/>
          </p:cNvPicPr>
          <p:nvPr/>
        </p:nvPicPr>
        <p:blipFill>
          <a:blip r:embed="rId6"/>
          <a:stretch>
            <a:fillRect/>
          </a:stretch>
        </p:blipFill>
        <p:spPr>
          <a:xfrm>
            <a:off x="4382096" y="2993880"/>
            <a:ext cx="7223749" cy="3539552"/>
          </a:xfrm>
          <a:prstGeom prst="rect">
            <a:avLst/>
          </a:prstGeom>
        </p:spPr>
      </p:pic>
    </p:spTree>
    <p:custDataLst>
      <p:tags r:id="rId1"/>
    </p:custDataLst>
    <p:extLst>
      <p:ext uri="{BB962C8B-B14F-4D97-AF65-F5344CB8AC3E}">
        <p14:creationId xmlns:p14="http://schemas.microsoft.com/office/powerpoint/2010/main" val="26106474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92696" y="1527335"/>
            <a:ext cx="10018643" cy="4086802"/>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0"/>
              </a:spcAft>
              <a:buClrTx/>
              <a:buSzPct val="100000"/>
              <a:buFont typeface="Courier New" panose="02070309020205020404" pitchFamily="49" charset="0"/>
              <a:buChar char="o"/>
              <a:tabLst/>
              <a:defRPr/>
            </a:pPr>
            <a:endPar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2" name="TextBox 1">
            <a:extLst>
              <a:ext uri="{FF2B5EF4-FFF2-40B4-BE49-F238E27FC236}">
                <a16:creationId xmlns:a16="http://schemas.microsoft.com/office/drawing/2014/main" id="{736D334A-8353-F612-C4E0-A0790F8E500E}"/>
              </a:ext>
            </a:extLst>
          </p:cNvPr>
          <p:cNvSpPr txBox="1"/>
          <p:nvPr/>
        </p:nvSpPr>
        <p:spPr>
          <a:xfrm>
            <a:off x="3677478" y="3309126"/>
            <a:ext cx="441297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rPr>
              <a:t>THANK YOU</a:t>
            </a:r>
          </a:p>
        </p:txBody>
      </p:sp>
    </p:spTree>
    <p:custDataLst>
      <p:tags r:id="rId1"/>
    </p:custDataLst>
    <p:extLst>
      <p:ext uri="{BB962C8B-B14F-4D97-AF65-F5344CB8AC3E}">
        <p14:creationId xmlns:p14="http://schemas.microsoft.com/office/powerpoint/2010/main" val="18558776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Q4MGY0NjJhMzczNGQ0NjZmYzYxODFkYTNkOWQ4NTQifQ=="/>
</p:tagLst>
</file>

<file path=ppt/tags/tag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223075"/>
  <p:tag name="KSO_WM_CHIP_COLORING" val="1"/>
</p:tagLst>
</file>

<file path=ppt/tags/tag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4*i*1"/>
  <p:tag name="KSO_WM_BEAUTIFY_FLAG" val="#wm#"/>
  <p:tag name="KSO_WM_TAG_VERSION" val="1.0"/>
  <p:tag name="KSO_WM_CHIP_GROUPID" val="62cb92ed67e1b3ac3a0df933"/>
  <p:tag name="KSO_WM_CHIP_XID" val="62cb92f267e1b3ac3a0dfd51"/>
  <p:tag name="KSO_WM_UNIT_DEC_AREA_ID" val="a11a73839daf4afd8c8eecb70bd8d2c5"/>
  <p:tag name="KSO_WM_CHIP_FILLAREA_FILL_RULE" val="{&quot;fill_align&quot;:&quot;cm&quot;,&quot;fill_effect&quot;:[],&quot;fill_mode&quot;:&quot;adaptive&quot;,&quot;sacle_strategy&quot;:&quot;stretch&quot;}"/>
  <p:tag name="KSO_WM_UNIT_DEC_SUPPORTCHANGEPIC" val="0"/>
  <p:tag name="KSO_WM_UNIT_DEC_CHANGEPICRESERVED" val="1"/>
  <p:tag name="KSO_WM_ASSEMBLE_CHIP_INDEX" val="74db68e000024515aa2d711777418aa1"/>
</p:tagLst>
</file>

<file path=ppt/tags/tag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6*i*1"/>
  <p:tag name="KSO_WM_BEAUTIFY_FLAG" val="#wm#"/>
  <p:tag name="KSO_WM_TAG_VERSION" val="1.0"/>
  <p:tag name="KSO_WM_CHIP_GROUPID" val="62cb92ed67e1b3ac3a0df933"/>
  <p:tag name="KSO_WM_CHIP_XID" val="62cb92f267e1b3ac3a0dfc96"/>
  <p:tag name="KSO_WM_UNIT_DEC_AREA_ID" val="9fcaac9ea3384a638db80c6bdc5589bd"/>
  <p:tag name="KSO_WM_CHIP_FILLAREA_FILL_RULE" val="{&quot;fill_align&quot;:&quot;lt&quot;,&quot;fill_effect&quot;:[],&quot;fill_mode&quot;:&quot;adaptive&quot;,&quot;sacle_strategy&quot;:&quot;stretch&quot;}"/>
  <p:tag name="KSO_WM_UNIT_DEC_SUPPORTCHANGEPIC" val="0"/>
  <p:tag name="KSO_WM_UNIT_DEC_CHANGEPICRESERVED" val="1"/>
  <p:tag name="KSO_WM_ASSEMBLE_CHIP_INDEX" val="fc0d64f86cd3483cab8a5ed4c0ff90c2"/>
</p:tagLst>
</file>

<file path=ppt/tags/tag1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8*i*1"/>
  <p:tag name="KSO_WM_BEAUTIFY_FLAG" val="#wm#"/>
  <p:tag name="KSO_WM_TAG_VERSION" val="1.0"/>
  <p:tag name="KSO_WM_CHIP_GROUPID" val="62cb92ed67e1b3ac3a0df933"/>
  <p:tag name="KSO_WM_CHIP_XID" val="62cb92f267e1b3ac3a0dfcb7"/>
  <p:tag name="KSO_WM_UNIT_DEC_AREA_ID" val="0b6e32bb8e9b4cd59a73ec1ab58588a3"/>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6252d6d1848c46529fc1ac4283ac4f73"/>
</p:tagLst>
</file>

<file path=ppt/tags/tag11.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15*i*1"/>
  <p:tag name="KSO_WM_BEAUTIFY_FLAG" val="#wm#"/>
  <p:tag name="KSO_WM_TAG_VERSION" val="1.0"/>
  <p:tag name="KSO_WM_CHIP_GROUPID" val="62cb92ed67e1b3ac3a0df933"/>
  <p:tag name="KSO_WM_CHIP_XID" val="62cb92f267e1b3ac3a0dfd31"/>
  <p:tag name="KSO_WM_UNIT_DEC_AREA_ID" val="cedfc75459a64b91839f7c4e93fc4ab0"/>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2307ef49eb7844ab8170517694ba29cf"/>
</p:tagLst>
</file>

<file path=ppt/tags/tag1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7*i*1"/>
  <p:tag name="KSO_WM_BEAUTIFY_FLAG" val="#wm#"/>
  <p:tag name="KSO_WM_TAG_VERSION" val="1.0"/>
  <p:tag name="KSO_WM_CHIP_GROUPID" val="62cb92ed67e1b3ac3a0df933"/>
  <p:tag name="KSO_WM_CHIP_XID" val="62cb92f267e1b3ac3a0dfcb1"/>
  <p:tag name="KSO_WM_UNIT_DEC_AREA_ID" val="d0ce6c47bdc440d196dfdadc5c19a3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b4fe2c4d5bb440eb7542455658eee6d"/>
</p:tagLst>
</file>

<file path=ppt/tags/tag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19.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2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i*1"/>
  <p:tag name="KSO_WM_BEAUTIFY_FLAG" val="#wm#"/>
  <p:tag name="KSO_WM_TAG_VERSION" val="1.0"/>
  <p:tag name="KSO_WM_CHIP_GROUPID" val="62cb92ed67e1b3ac3a0df933"/>
  <p:tag name="KSO_WM_CHIP_XID" val="62cb92f267e1b3ac3a0dfbd8"/>
  <p:tag name="KSO_WM_UNIT_DEC_AREA_ID" val="353a2ba7688d4d109d88d8fbf076f1be"/>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c821e70711df4ae0a04b6ba18360b869"/>
</p:tagLst>
</file>

<file path=ppt/tags/tag27.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4*i*1"/>
  <p:tag name="KSO_WM_BEAUTIFY_FLAG" val="#wm#"/>
  <p:tag name="KSO_WM_TAG_VERSION" val="1.0"/>
  <p:tag name="KSO_WM_CHIP_GROUPID" val="62cb92ed67e1b3ac3a0df933"/>
  <p:tag name="KSO_WM_CHIP_XID" val="62cb92f267e1b3ac3a0dfbcb"/>
  <p:tag name="KSO_WM_UNIT_DEC_AREA_ID" val="4ab4fedb6c6640b484a0fdb113c32716"/>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0b2380889160463abab291528e337d23"/>
</p:tagLst>
</file>

<file path=ppt/tags/tag28.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3*i*1"/>
  <p:tag name="KSO_WM_BEAUTIFY_FLAG" val="#wm#"/>
  <p:tag name="KSO_WM_TAG_VERSION" val="1.0"/>
  <p:tag name="KSO_WM_CHIP_GROUPID" val="62cb92ed67e1b3ac3a0df933"/>
  <p:tag name="KSO_WM_CHIP_XID" val="62cb92f267e1b3ac3a0dfbc7"/>
  <p:tag name="KSO_WM_UNIT_DEC_AREA_ID" val="f51db6bba423479a96c7def23f363aa5"/>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46eb048d58f74aaaaaf7557c2b39a70c"/>
</p:tagLst>
</file>

<file path=ppt/tags/tag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UNIT_DEFAULT_FONT" val="60;66;2"/>
  <p:tag name="KSO_WM_UNIT_BLOCK" val="0"/>
  <p:tag name="KSO_WM_UNIT_DEC_AREA_ID" val="e5577524724345448ce6d9c2ce3939e0"/>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15"/>
  <p:tag name="KSO_WM_UNIT_TEXT_FILL_FORE_SCHEMECOLOR_INDEX" val="13"/>
  <p:tag name="KSO_WM_UNIT_TEXT_FILL_TYPE" val="1"/>
  <p:tag name="KSO_WM_TEMPLATE_ASSEMBLE_XID" val="63156d2459d53ee3cde2290b"/>
  <p:tag name="KSO_WM_TEMPLATE_ASSEMBLE_GROUPID" val="62cb92ed67e1b3ac3a0df933"/>
</p:tagLst>
</file>

<file path=ppt/tags/tag3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为了演示发布的良好效果，请言简意赅地阐述您的观点。"/>
  <p:tag name="KSO_WM_UNIT_NOCLEAR" val="0"/>
  <p:tag name="KSO_WM_UNIT_VALUE" val="76"/>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UNIT_DEFAULT_FONT" val="14;14;2"/>
  <p:tag name="KSO_WM_UNIT_BLOCK" val="0"/>
  <p:tag name="KSO_WM_UNIT_DEC_AREA_ID" val="35127bff71ec4a98b1f1a512400e582e"/>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5"/>
  <p:tag name="KSO_WM_UNIT_TEXT_FILL_FORE_SCHEMECOLOR_INDEX" val="13"/>
  <p:tag name="KSO_WM_UNIT_TEXT_FILL_TYPE" val="1"/>
  <p:tag name="KSO_WM_TEMPLATE_ASSEMBLE_XID" val="63156d2459d53ee3cde2290b"/>
  <p:tag name="KSO_WM_TEMPLATE_ASSEMBLE_GROUPID" val="62cb92ed67e1b3ac3a0df933"/>
</p:tagLst>
</file>

<file path=ppt/tags/tag3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3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3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4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4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6*i*1"/>
  <p:tag name="KSO_WM_BEAUTIFY_FLAG" val="#wm#"/>
  <p:tag name="KSO_WM_TAG_VERSION" val="1.0"/>
  <p:tag name="KSO_WM_CHIP_GROUPID" val="62cb92ed67e1b3ac3a0df933"/>
  <p:tag name="KSO_WM_CHIP_XID" val="62cb92f267e1b3ac3a0df99b"/>
  <p:tag name="KSO_WM_UNIT_DEC_AREA_ID" val="7ae053233a014cf5b087ba4b069db752"/>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4d0fe025b92a4121b116f65108e5c0b7"/>
</p:tagLst>
</file>

<file path=ppt/tags/tag5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7*i*1"/>
  <p:tag name="KSO_WM_BEAUTIFY_FLAG" val="#wm#"/>
  <p:tag name="KSO_WM_TAG_VERSION" val="1.0"/>
  <p:tag name="KSO_WM_CHIP_GROUPID" val="62cb92ed67e1b3ac3a0df933"/>
  <p:tag name="KSO_WM_CHIP_XID" val="62cb92f267e1b3ac3a0df93d"/>
  <p:tag name="KSO_WM_UNIT_DEC_AREA_ID" val="7aac52c509324246a2139159652c9dce"/>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26a1af26a8d74008b1380f22ba29d46f"/>
</p:tagLst>
</file>

<file path=ppt/tags/tag56.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8*i*1"/>
  <p:tag name="KSO_WM_BEAUTIFY_FLAG" val="#wm#"/>
  <p:tag name="KSO_WM_TAG_VERSION" val="1.0"/>
  <p:tag name="KSO_WM_CHIP_GROUPID" val="62cb92ed67e1b3ac3a0df933"/>
  <p:tag name="KSO_WM_CHIP_XID" val="62cb92f267e1b3ac3a0df990"/>
  <p:tag name="KSO_WM_UNIT_DEC_AREA_ID" val="b20fbc8bd01f4b7ebdd46d90e2647b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68a292b1c74438a8be59c5e124aa1e5"/>
</p:tagLst>
</file>

<file path=ppt/tags/tag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6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6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7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7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1.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82.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83.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8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0*i*1"/>
  <p:tag name="KSO_WM_BEAUTIFY_FLAG" val="#wm#"/>
  <p:tag name="KSO_WM_TAG_VERSION" val="1.0"/>
  <p:tag name="KSO_WM_CHIP_GROUPID" val="62cb92ed67e1b3ac3a0df933"/>
  <p:tag name="KSO_WM_CHIP_XID" val="62cb92f267e1b3ac3a0dfaaf"/>
  <p:tag name="KSO_WM_UNIT_DEC_AREA_ID" val="511aa335ee7d4245a08946cb05b9faa4"/>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6cad2575e594576b80f3f7814fb0824"/>
</p:tagLst>
</file>

<file path=ppt/tags/tag89.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2*i*1"/>
  <p:tag name="KSO_WM_BEAUTIFY_FLAG" val="#wm#"/>
  <p:tag name="KSO_WM_TAG_VERSION" val="1.0"/>
  <p:tag name="KSO_WM_CHIP_GROUPID" val="62cb92ed67e1b3ac3a0df933"/>
  <p:tag name="KSO_WM_CHIP_XID" val="62cb92f267e1b3ac3a0dfa9c"/>
  <p:tag name="KSO_WM_UNIT_DEC_AREA_ID" val="cd0b699e343a426dbd8923da658f7258"/>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46079dca97b54b6f8f260c458203cdd5"/>
</p:tagLst>
</file>

<file path=ppt/tags/tag90.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1*i*1"/>
  <p:tag name="KSO_WM_BEAUTIFY_FLAG" val="#wm#"/>
  <p:tag name="KSO_WM_TAG_VERSION" val="1.0"/>
  <p:tag name="KSO_WM_CHIP_GROUPID" val="62cb92ed67e1b3ac3a0df933"/>
  <p:tag name="KSO_WM_CHIP_XID" val="62cb92f267e1b3ac3a0dfa7d"/>
  <p:tag name="KSO_WM_UNIT_DEC_AREA_ID" val="61fe8ffa078a456db36c7c5a609a0b36"/>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a3844cc6be254379824c635ec2fa7326"/>
</p:tagLst>
</file>

<file path=ppt/tags/tag9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4.xml><?xml version="1.0" encoding="utf-8"?>
<p:tagLst xmlns:a="http://schemas.openxmlformats.org/drawingml/2006/main" xmlns:r="http://schemas.openxmlformats.org/officeDocument/2006/relationships" xmlns:p="http://schemas.openxmlformats.org/presentationml/2006/main">
  <p:tag name="KSO_WM_UNIT_DEFAULT_FONT" val="66;74;2"/>
  <p:tag name="KSO_WM_UNIT_BLOCK" val="0"/>
  <p:tag name="KSO_WM_UNIT_DEC_AREA_ID" val="024cb455de114c8590873753d08ef7c9"/>
  <p:tag name="KSO_WM_UNIT_ISCONTENTSTITLE" val="0"/>
  <p:tag name="KSO_WM_UNIT_ISNUMDGMTITLE" val="0"/>
  <p:tag name="KSO_WM_UNIT_PRESET_TEXT" val="感谢各位的观看"/>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5.xml><?xml version="1.0" encoding="utf-8"?>
<p:tagLst xmlns:a="http://schemas.openxmlformats.org/drawingml/2006/main" xmlns:r="http://schemas.openxmlformats.org/officeDocument/2006/relationships" xmlns:p="http://schemas.openxmlformats.org/presentationml/2006/main">
  <p:tag name="KSO_WM_UNIT_DEFAULT_FONT" val="16;18;2"/>
  <p:tag name="KSO_WM_UNIT_BLOCK" val="0"/>
  <p:tag name="KSO_WM_UNIT_DEC_AREA_ID" val="59dd0d01bf8d46bc94fd640b0712b633"/>
  <p:tag name="KSO_WM_UNIT_SUBTYPE" val="a"/>
  <p:tag name="KSO_WM_UNIT_PRESET_TEXT" val="点击此处添加正文，文字是您思想的提炼，为了演示发布的良好效果，请言简意赅地阐述您的观点。"/>
  <p:tag name="KSO_WM_UNIT_NOCLEAR" val="0"/>
  <p:tag name="KSO_WM_UNIT_VALUE" val="68"/>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6.xml><?xml version="1.0" encoding="utf-8"?>
<p:tagLst xmlns:a="http://schemas.openxmlformats.org/drawingml/2006/main" xmlns:r="http://schemas.openxmlformats.org/officeDocument/2006/relationships" xmlns:p="http://schemas.openxmlformats.org/presentationml/2006/main">
  <p:tag name="KSO_WM_UNIT_DEFAULT_FONT" val="20;22;2"/>
  <p:tag name="KSO_WM_UNIT_BLOCK" val="0"/>
  <p:tag name="KSO_WM_UNIT_DEC_AREA_ID" val="c54f68c39bda4efea42a2b1659b9e2ea"/>
  <p:tag name="KSO_WM_UNIT_ISCONTENTSTITLE" val="0"/>
  <p:tag name="KSO_WM_UNIT_ISNUMDGMTITLE" val="0"/>
  <p:tag name="KSO_WM_UNIT_PRESET_TEXT" val="单击此处添加副标题"/>
  <p:tag name="KSO_WM_UNIT_NOCLEAR" val="0"/>
  <p:tag name="KSO_WM_UNIT_VALUE" val="31"/>
  <p:tag name="KSO_WM_UNIT_HIGHLIGHT" val="0"/>
  <p:tag name="KSO_WM_UNIT_COMPATIBLE" val="0"/>
  <p:tag name="KSO_WM_UNIT_DIAGRAM_ISNUMVISUAL" val="0"/>
  <p:tag name="KSO_WM_UNIT_DIAGRAM_ISREFERUNIT" val="0"/>
  <p:tag name="KSO_WM_UNIT_TYPE" val="b"/>
  <p:tag name="KSO_WM_UNIT_INDEX" val="1"/>
  <p:tag name="KSO_WM_UNIT_ID" val="custom20223075_1*b*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 name="KSO_WM_SLIDE_BACKGROUND_TYPE" val="general"/>
</p:tagLst>
</file>

<file path=ppt/tags/tag98.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 name="KSO_WM_SLIDE_BACKGROUND_TYPE" val="general"/>
</p:tagLst>
</file>

<file path=ppt/tags/tag9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 name="KSO_WM_SLIDE_BACKGROUND_TYPE" val="general"/>
</p:tagLst>
</file>

<file path=ppt/tags/tag100.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1.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2.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3.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5ce45d99c9346cabff41e6ef0eb7af0"/>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6537d4269ae34ae59ff37b0111906262"/>
  <p:tag name="KSO_WM_SLIDE_BACKGROUND_TYPE" val="frame"/>
</p:tagLst>
</file>

<file path=ppt/tags/tag105.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bg20220522_2*i*1"/>
  <p:tag name="KSO_WM_UNIT_LAYERLEVEL" val="1"/>
  <p:tag name="KSO_WM_TAG_VERSION" val="1.0"/>
  <p:tag name="KSO_WM_BEAUTIFY_FLAG" val="#wm#"/>
  <p:tag name="KSO_WM_UNIT_BK_DARK_LIGHT" val="2"/>
  <p:tag name="KSO_WM_UNIT_SUBTYPE" val="h"/>
  <p:tag name="KSO_WM_UNIT_TYPE" val="i"/>
  <p:tag name="KSO_WM_UNIT_INDEX" val="1"/>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9f"/>
</p:tagLst>
</file>

<file path=ppt/tags/tag10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42cf1ad8d3b4eb0bc92d6509446e45a"/>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d066acbe25924c35ba7e4d0e178721a0"/>
  <p:tag name="KSO_WM_SLIDE_BACKGROUND_TYPE" val="frame"/>
</p:tagLst>
</file>

<file path=ppt/tags/tag107.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8.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9.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0.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1.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2.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2039976cc11543efbf63e0c103feb90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eb60c42fd64e447c9b8f4cd9ce8e4ce2"/>
  <p:tag name="KSO_WM_SLIDE_BACKGROUND_TYPE" val="leftRight"/>
</p:tagLst>
</file>

<file path=ppt/tags/tag11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bg20220522_3*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0"/>
</p:tagLst>
</file>

<file path=ppt/tags/tag11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6.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20.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2ad48e2b17a4f77b87a10486738724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a3575a3699ba4e9590b75c31e722b4ff"/>
  <p:tag name="KSO_WM_SLIDE_BACKGROUND_TYPE" val="topBottom"/>
</p:tagLst>
</file>

<file path=ppt/tags/tag12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bg20220522_4*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1"/>
</p:tagLst>
</file>

<file path=ppt/tags/tag12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e58b3c5437b14b488da16b18285e6cbb"/>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49d04b894b834011bbf293d67fba658e"/>
  <p:tag name="KSO_WM_SLIDE_BACKGROUND_TYPE" val="topBottom"/>
</p:tagLst>
</file>

<file path=ppt/tags/tag12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9.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f00e2266f384317bf6fac64cc483ba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2e98fb069d54a89a4b8b1732f73ed81"/>
  <p:tag name="KSO_WM_SLIDE_BACKGROUND_TYPE" val="bottomTop"/>
</p:tagLst>
</file>

<file path=ppt/tags/tag13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bg20220522_5*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2"/>
</p:tagLst>
</file>

<file path=ppt/tags/tag13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2.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3.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4.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bb42711b180428ea5bd2cfefbce329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36697363c1ad4851b9c268ca0b1630f5"/>
  <p:tag name="KSO_WM_SLIDE_BACKGROUND_TYPE" val="navigation"/>
</p:tagLst>
</file>

<file path=ppt/tags/tag138.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bg20220522_6*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3"/>
</p:tagLst>
</file>

<file path=ppt/tags/tag13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2b1a7f510dda4678a34427de5d8de730"/>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1bf646edba524302864a0e38be5e443b"/>
  <p:tag name="KSO_WM_SLIDE_BACKGROUND_TYPE" val="navigation"/>
</p:tagLst>
</file>

<file path=ppt/tags/tag14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1.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2.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7.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a69f6163a09d4335b371cbcbaaa3e57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dcb46b93d9964b6e9394b5aded1e27e0"/>
  <p:tag name="KSO_WM_SLIDE_BACKGROUND_TYPE" val="belt"/>
</p:tagLst>
</file>

<file path=ppt/tags/tag149.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bg20220522_7*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4"/>
</p:tagLst>
</file>

<file path=ppt/tags/tag15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a4ccf5ccfb9b44a896f37319a9a629a5"/>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f530d658cf74450e8cb5f979b7fa71d8"/>
  <p:tag name="KSO_WM_SLIDE_BACKGROUND_TYPE" val="belt"/>
</p:tagLst>
</file>

<file path=ppt/tags/tag151.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2.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3.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4.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5.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5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5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5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0.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9.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0.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1.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2.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5.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0.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9.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0.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1.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2.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5.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2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2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2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30.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3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3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3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3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3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heme/theme1.xml><?xml version="1.0" encoding="utf-8"?>
<a:theme xmlns:a="http://schemas.openxmlformats.org/drawingml/2006/main" name="2_Office 主题​​">
  <a:themeElements>
    <a:clrScheme name="">
      <a:dk1>
        <a:srgbClr val="000000"/>
      </a:dk1>
      <a:lt1>
        <a:srgbClr val="FFFFFF"/>
      </a:lt1>
      <a:dk2>
        <a:srgbClr val="D88D7B"/>
      </a:dk2>
      <a:lt2>
        <a:srgbClr val="FFFFFF"/>
      </a:lt2>
      <a:accent1>
        <a:srgbClr val="FE7959"/>
      </a:accent1>
      <a:accent2>
        <a:srgbClr val="FE935E"/>
      </a:accent2>
      <a:accent3>
        <a:srgbClr val="FFAD63"/>
      </a:accent3>
      <a:accent4>
        <a:srgbClr val="FFA965"/>
      </a:accent4>
      <a:accent5>
        <a:srgbClr val="FF8864"/>
      </a:accent5>
      <a:accent6>
        <a:srgbClr val="FF6763"/>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976</TotalTime>
  <Words>1650</Words>
  <Application>Microsoft Office PowerPoint</Application>
  <PresentationFormat>Widescreen</PresentationFormat>
  <Paragraphs>228</Paragraphs>
  <Slides>27</Slides>
  <Notes>0</Notes>
  <HiddenSlides>0</HiddenSlides>
  <MMClips>1</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27</vt:i4>
      </vt:variant>
    </vt:vector>
  </HeadingPairs>
  <TitlesOfParts>
    <vt:vector size="38" baseType="lpstr">
      <vt:lpstr>微软雅黑</vt:lpstr>
      <vt:lpstr>宋体</vt:lpstr>
      <vt:lpstr>Arial</vt:lpstr>
      <vt:lpstr>Calibri</vt:lpstr>
      <vt:lpstr>Courier New</vt:lpstr>
      <vt:lpstr>Google Sans</vt:lpstr>
      <vt:lpstr>Times New Roman</vt:lpstr>
      <vt:lpstr>Wingdings</vt:lpstr>
      <vt:lpstr>汉仪文黑-55简</vt:lpstr>
      <vt:lpstr>汉仪文黑-85简</vt:lpstr>
      <vt:lpstr>2_Office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Su Jiajing</dc:creator>
  <cp:lastModifiedBy>Ibrahim Siraj</cp:lastModifiedBy>
  <cp:revision>233</cp:revision>
  <dcterms:created xsi:type="dcterms:W3CDTF">2019-06-19T02:08:00Z</dcterms:created>
  <dcterms:modified xsi:type="dcterms:W3CDTF">2026-04-22T10:43:16Z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A05E1846C5A840C580943081378365C3_11</vt:lpwstr>
  </property>
</Properties>
</file>