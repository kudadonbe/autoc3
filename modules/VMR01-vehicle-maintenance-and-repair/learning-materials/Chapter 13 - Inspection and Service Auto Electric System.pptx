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27"/>
  </p:notesMasterIdLst>
  <p:sldIdLst>
    <p:sldId id="348" r:id="rId2"/>
    <p:sldId id="350" r:id="rId3"/>
    <p:sldId id="351" r:id="rId4"/>
    <p:sldId id="358" r:id="rId5"/>
    <p:sldId id="359" r:id="rId6"/>
    <p:sldId id="360" r:id="rId7"/>
    <p:sldId id="362" r:id="rId8"/>
    <p:sldId id="363" r:id="rId9"/>
    <p:sldId id="364" r:id="rId10"/>
    <p:sldId id="365" r:id="rId11"/>
    <p:sldId id="361" r:id="rId12"/>
    <p:sldId id="352" r:id="rId13"/>
    <p:sldId id="353" r:id="rId14"/>
    <p:sldId id="354" r:id="rId15"/>
    <p:sldId id="355" r:id="rId16"/>
    <p:sldId id="356" r:id="rId17"/>
    <p:sldId id="357" r:id="rId18"/>
    <p:sldId id="366" r:id="rId19"/>
    <p:sldId id="367" r:id="rId20"/>
    <p:sldId id="368" r:id="rId21"/>
    <p:sldId id="369" r:id="rId22"/>
    <p:sldId id="370" r:id="rId23"/>
    <p:sldId id="371" r:id="rId24"/>
    <p:sldId id="372" r:id="rId25"/>
    <p:sldId id="295"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1" d="100"/>
          <a:sy n="111" d="100"/>
        </p:scale>
        <p:origin x="660"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2026/5/20</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2026/5/20</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Layout" Target="../slideLayouts/slideLayout1.xml"/><Relationship Id="rId4" Type="http://schemas.openxmlformats.org/officeDocument/2006/relationships/tags" Target="../tags/tag162.xml"/></Relationships>
</file>

<file path=ppt/slides/_rels/slide3.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15.png"/><Relationship Id="rId5" Type="http://schemas.openxmlformats.org/officeDocument/2006/relationships/slideLayout" Target="../slideLayouts/slideLayout1.xml"/><Relationship Id="rId4" Type="http://schemas.openxmlformats.org/officeDocument/2006/relationships/tags" Target="../tags/tag166.xml"/></Relationships>
</file>

<file path=ppt/slides/_rels/slide4.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tags" Target="../tags/tag190.xml"/><Relationship Id="rId7" Type="http://schemas.openxmlformats.org/officeDocument/2006/relationships/image" Target="../media/image20.png"/><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19.png"/><Relationship Id="rId5" Type="http://schemas.openxmlformats.org/officeDocument/2006/relationships/slideLayout" Target="../slideLayouts/slideLayout1.xml"/><Relationship Id="rId4" Type="http://schemas.openxmlformats.org/officeDocument/2006/relationships/video" Target="https://www.youtube.com/embed/MOENEG2KajY" TargetMode="External"/></Relationships>
</file>

<file path=ppt/slides/_rels/slide12.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slideLayout" Target="../slideLayouts/slideLayout1.xml"/><Relationship Id="rId4" Type="http://schemas.openxmlformats.org/officeDocument/2006/relationships/tags" Target="../tags/tag194.xml"/></Relationships>
</file>

<file path=ppt/slides/_rels/slide13.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22.png"/><Relationship Id="rId5" Type="http://schemas.openxmlformats.org/officeDocument/2006/relationships/slideLayout" Target="../slideLayouts/slideLayout1.xml"/><Relationship Id="rId4" Type="http://schemas.openxmlformats.org/officeDocument/2006/relationships/tags" Target="../tags/tag198.xml"/></Relationships>
</file>

<file path=ppt/slides/_rels/slide14.xml.rels><?xml version="1.0" encoding="UTF-8" standalone="yes"?>
<Relationships xmlns="http://schemas.openxmlformats.org/package/2006/relationships"><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23.png"/><Relationship Id="rId5" Type="http://schemas.openxmlformats.org/officeDocument/2006/relationships/slideLayout" Target="../slideLayouts/slideLayout1.xml"/><Relationship Id="rId4" Type="http://schemas.openxmlformats.org/officeDocument/2006/relationships/tags" Target="../tags/tag202.xml"/></Relationships>
</file>

<file path=ppt/slides/_rels/slide15.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24.png"/><Relationship Id="rId5" Type="http://schemas.openxmlformats.org/officeDocument/2006/relationships/slideLayout" Target="../slideLayouts/slideLayout1.xml"/><Relationship Id="rId4" Type="http://schemas.openxmlformats.org/officeDocument/2006/relationships/tags" Target="../tags/tag206.xml"/></Relationships>
</file>

<file path=ppt/slides/_rels/slide16.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slideLayout" Target="../slideLayouts/slideLayout1.xml"/><Relationship Id="rId4" Type="http://schemas.openxmlformats.org/officeDocument/2006/relationships/tags" Target="../tags/tag210.xml"/></Relationships>
</file>

<file path=ppt/slides/_rels/slide17.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5" Type="http://schemas.openxmlformats.org/officeDocument/2006/relationships/slideLayout" Target="../slideLayouts/slideLayout1.xml"/><Relationship Id="rId4" Type="http://schemas.openxmlformats.org/officeDocument/2006/relationships/tags" Target="../tags/tag214.xml"/></Relationships>
</file>

<file path=ppt/slides/_rels/slide18.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5" Type="http://schemas.openxmlformats.org/officeDocument/2006/relationships/image" Target="../media/image29.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5" Type="http://schemas.openxmlformats.org/officeDocument/2006/relationships/image" Target="../media/image30.png"/><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7.xml"/><Relationship Id="rId1" Type="http://schemas.openxmlformats.org/officeDocument/2006/relationships/tags" Target="../tags/tag2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smtClean="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355695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1047748"/>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687844" y="53830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1687844" y="1516101"/>
            <a:ext cx="10018643" cy="370371"/>
          </a:xfrm>
          <a:prstGeom prst="rect">
            <a:avLst/>
          </a:prstGeom>
          <a:noFill/>
        </p:spPr>
        <p:txBody>
          <a:bodyPr wrap="square" rtlCol="0">
            <a:noAutofit/>
          </a:bodyPr>
          <a:lstStyle/>
          <a:p>
            <a:r>
              <a:rPr lang="en-US" b="1" dirty="0" smtClean="0"/>
              <a:t>What is car Electric system</a:t>
            </a:r>
          </a:p>
        </p:txBody>
      </p:sp>
      <p:sp>
        <p:nvSpPr>
          <p:cNvPr id="2" name="Rectangle 1"/>
          <p:cNvSpPr/>
          <p:nvPr/>
        </p:nvSpPr>
        <p:spPr>
          <a:xfrm>
            <a:off x="1687844" y="2057358"/>
            <a:ext cx="9526496" cy="923330"/>
          </a:xfrm>
          <a:prstGeom prst="rect">
            <a:avLst/>
          </a:prstGeom>
        </p:spPr>
        <p:txBody>
          <a:bodyPr wrap="square">
            <a:spAutoFit/>
          </a:bodyPr>
          <a:lstStyle/>
          <a:p>
            <a:r>
              <a:rPr lang="en-US" dirty="0"/>
              <a:t>A car's electrical system is a complex network of components that generates, stores, and distributes electricity to power the vehicle's functions, from the engine starting to interior electronics like the radio and power windows.</a:t>
            </a:r>
          </a:p>
        </p:txBody>
      </p:sp>
      <p:sp>
        <p:nvSpPr>
          <p:cNvPr id="4" name="Rectangle 3"/>
          <p:cNvSpPr/>
          <p:nvPr/>
        </p:nvSpPr>
        <p:spPr>
          <a:xfrm>
            <a:off x="1687844" y="3320064"/>
            <a:ext cx="9121054" cy="1200329"/>
          </a:xfrm>
          <a:prstGeom prst="rect">
            <a:avLst/>
          </a:prstGeom>
        </p:spPr>
        <p:txBody>
          <a:bodyPr wrap="square">
            <a:spAutoFit/>
          </a:bodyPr>
          <a:lstStyle/>
          <a:p>
            <a:r>
              <a:rPr lang="en-US" dirty="0"/>
              <a:t>three core parts are the battery, alternator, and starter, which work together to start the engine, keep it running, and charge the battery. A modern system also includes extensive wiring, control modules, and fuses to manage all the vehicle's electrical needs. </a:t>
            </a:r>
          </a:p>
        </p:txBody>
      </p:sp>
    </p:spTree>
    <p:custDataLst>
      <p:tags r:id="rId1"/>
    </p:custDataLst>
    <p:extLst>
      <p:ext uri="{BB962C8B-B14F-4D97-AF65-F5344CB8AC3E}">
        <p14:creationId xmlns:p14="http://schemas.microsoft.com/office/powerpoint/2010/main" val="12691627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665378" y="901099"/>
            <a:ext cx="10018643" cy="370371"/>
          </a:xfrm>
          <a:prstGeom prst="rect">
            <a:avLst/>
          </a:prstGeom>
          <a:noFill/>
        </p:spPr>
        <p:txBody>
          <a:bodyPr wrap="square" rtlCol="0">
            <a:noAutofit/>
          </a:bodyPr>
          <a:lstStyle/>
          <a:p>
            <a:r>
              <a:rPr lang="en-US" b="1" dirty="0" smtClean="0"/>
              <a:t>What is car Electric system</a:t>
            </a:r>
          </a:p>
        </p:txBody>
      </p:sp>
      <p:pic>
        <p:nvPicPr>
          <p:cNvPr id="4" name="Picture 3"/>
          <p:cNvPicPr>
            <a:picLocks noChangeAspect="1"/>
          </p:cNvPicPr>
          <p:nvPr/>
        </p:nvPicPr>
        <p:blipFill>
          <a:blip r:embed="rId6"/>
          <a:stretch>
            <a:fillRect/>
          </a:stretch>
        </p:blipFill>
        <p:spPr>
          <a:xfrm>
            <a:off x="3156125" y="1437123"/>
            <a:ext cx="6314943" cy="4736207"/>
          </a:xfrm>
          <a:prstGeom prst="rect">
            <a:avLst/>
          </a:prstGeom>
        </p:spPr>
      </p:pic>
    </p:spTree>
    <p:custDataLst>
      <p:tags r:id="rId1"/>
    </p:custDataLst>
    <p:extLst>
      <p:ext uri="{BB962C8B-B14F-4D97-AF65-F5344CB8AC3E}">
        <p14:creationId xmlns:p14="http://schemas.microsoft.com/office/powerpoint/2010/main" val="29091681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6" name="Rectangle 5"/>
          <p:cNvSpPr/>
          <p:nvPr/>
        </p:nvSpPr>
        <p:spPr>
          <a:xfrm>
            <a:off x="807666" y="1270341"/>
            <a:ext cx="3377848" cy="369332"/>
          </a:xfrm>
          <a:prstGeom prst="rect">
            <a:avLst/>
          </a:prstGeom>
        </p:spPr>
        <p:txBody>
          <a:bodyPr wrap="none">
            <a:spAutoFit/>
          </a:bodyPr>
          <a:lstStyle/>
          <a:p>
            <a:r>
              <a:rPr lang="en-US" dirty="0"/>
              <a:t>Purpose of the Starting System</a:t>
            </a:r>
          </a:p>
        </p:txBody>
      </p:sp>
      <p:sp>
        <p:nvSpPr>
          <p:cNvPr id="7" name="Rectangle 6"/>
          <p:cNvSpPr/>
          <p:nvPr/>
        </p:nvSpPr>
        <p:spPr>
          <a:xfrm>
            <a:off x="745375" y="1833178"/>
            <a:ext cx="6096000" cy="2308324"/>
          </a:xfrm>
          <a:prstGeom prst="rect">
            <a:avLst/>
          </a:prstGeom>
        </p:spPr>
        <p:txBody>
          <a:bodyPr>
            <a:spAutoFit/>
          </a:bodyPr>
          <a:lstStyle/>
          <a:p>
            <a:r>
              <a:rPr lang="en-US" dirty="0"/>
              <a:t>Core Function: Converts stored chemical energy into mechanical cranking power</a:t>
            </a:r>
            <a:r>
              <a:rPr lang="en-US" dirty="0" smtClean="0"/>
              <a:t>.</a:t>
            </a:r>
          </a:p>
          <a:p>
            <a:endParaRPr lang="en-US" dirty="0"/>
          </a:p>
          <a:p>
            <a:r>
              <a:rPr lang="en-US" dirty="0" smtClean="0"/>
              <a:t>Cranking </a:t>
            </a:r>
            <a:r>
              <a:rPr lang="en-US" dirty="0"/>
              <a:t>RPM: Must spin the engine at 200–300 RPM to start the combustion cycle</a:t>
            </a:r>
            <a:r>
              <a:rPr lang="en-US" dirty="0" smtClean="0"/>
              <a:t>.</a:t>
            </a:r>
          </a:p>
          <a:p>
            <a:endParaRPr lang="en-US" dirty="0"/>
          </a:p>
          <a:p>
            <a:r>
              <a:rPr lang="en-US" dirty="0" smtClean="0"/>
              <a:t>Energy </a:t>
            </a:r>
            <a:r>
              <a:rPr lang="en-US" dirty="0"/>
              <a:t>Transfer: Draws massive current from the battery to power a high-torque electric motor</a:t>
            </a:r>
          </a:p>
        </p:txBody>
      </p:sp>
      <p:pic>
        <p:nvPicPr>
          <p:cNvPr id="8" name="Picture 7"/>
          <p:cNvPicPr>
            <a:picLocks noChangeAspect="1"/>
          </p:cNvPicPr>
          <p:nvPr/>
        </p:nvPicPr>
        <p:blipFill>
          <a:blip r:embed="rId5"/>
          <a:stretch>
            <a:fillRect/>
          </a:stretch>
        </p:blipFill>
        <p:spPr>
          <a:xfrm>
            <a:off x="7213960" y="2842952"/>
            <a:ext cx="4540235" cy="3199447"/>
          </a:xfrm>
          <a:prstGeom prst="rect">
            <a:avLst/>
          </a:prstGeom>
        </p:spPr>
      </p:pic>
    </p:spTree>
    <p:custDataLst>
      <p:tags r:id="rId1"/>
    </p:custDataLst>
    <p:extLst>
      <p:ext uri="{BB962C8B-B14F-4D97-AF65-F5344CB8AC3E}">
        <p14:creationId xmlns:p14="http://schemas.microsoft.com/office/powerpoint/2010/main" val="745371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6" name="Rectangle 5"/>
          <p:cNvSpPr/>
          <p:nvPr/>
        </p:nvSpPr>
        <p:spPr>
          <a:xfrm>
            <a:off x="807666" y="1270341"/>
            <a:ext cx="2980303" cy="369332"/>
          </a:xfrm>
          <a:prstGeom prst="rect">
            <a:avLst/>
          </a:prstGeom>
        </p:spPr>
        <p:txBody>
          <a:bodyPr wrap="none">
            <a:spAutoFit/>
          </a:bodyPr>
          <a:lstStyle/>
          <a:p>
            <a:r>
              <a:rPr lang="en-US" dirty="0"/>
              <a:t>Key Components Overview</a:t>
            </a:r>
          </a:p>
        </p:txBody>
      </p:sp>
      <p:sp>
        <p:nvSpPr>
          <p:cNvPr id="4" name="Rectangle 3"/>
          <p:cNvSpPr/>
          <p:nvPr/>
        </p:nvSpPr>
        <p:spPr>
          <a:xfrm>
            <a:off x="739969" y="1715837"/>
            <a:ext cx="6096000" cy="2862322"/>
          </a:xfrm>
          <a:prstGeom prst="rect">
            <a:avLst/>
          </a:prstGeom>
        </p:spPr>
        <p:txBody>
          <a:bodyPr>
            <a:spAutoFit/>
          </a:bodyPr>
          <a:lstStyle/>
          <a:p>
            <a:r>
              <a:rPr lang="en-US" dirty="0"/>
              <a:t>Battery: Supplies the high-amperage current needed for cranking</a:t>
            </a:r>
            <a:r>
              <a:rPr lang="en-US" dirty="0" smtClean="0"/>
              <a:t>.</a:t>
            </a:r>
          </a:p>
          <a:p>
            <a:r>
              <a:rPr lang="en-US" dirty="0" smtClean="0"/>
              <a:t>Ignition </a:t>
            </a:r>
            <a:r>
              <a:rPr lang="en-US" dirty="0"/>
              <a:t>Switch: The gateway control that triggers the starting circuit</a:t>
            </a:r>
            <a:r>
              <a:rPr lang="en-US" dirty="0" smtClean="0"/>
              <a:t>.</a:t>
            </a:r>
          </a:p>
          <a:p>
            <a:r>
              <a:rPr lang="en-US" dirty="0" smtClean="0"/>
              <a:t>Starter </a:t>
            </a:r>
            <a:r>
              <a:rPr lang="en-US" dirty="0"/>
              <a:t>Solenoid: An electromagnetic switch that engages the motor and gear</a:t>
            </a:r>
            <a:r>
              <a:rPr lang="en-US" dirty="0" smtClean="0"/>
              <a:t>.</a:t>
            </a:r>
          </a:p>
          <a:p>
            <a:r>
              <a:rPr lang="en-US" dirty="0" smtClean="0"/>
              <a:t>Starter </a:t>
            </a:r>
            <a:r>
              <a:rPr lang="en-US" dirty="0"/>
              <a:t>Motor: A powerful DC motor that physically cranks the engine</a:t>
            </a:r>
            <a:r>
              <a:rPr lang="en-US" dirty="0" smtClean="0"/>
              <a:t>.</a:t>
            </a:r>
          </a:p>
          <a:p>
            <a:r>
              <a:rPr lang="en-US" dirty="0" smtClean="0"/>
              <a:t>Flywheel </a:t>
            </a:r>
            <a:r>
              <a:rPr lang="en-US" dirty="0"/>
              <a:t>Ring Gear: The large gear on the engine that the starter meshes with</a:t>
            </a:r>
          </a:p>
        </p:txBody>
      </p:sp>
      <p:sp>
        <p:nvSpPr>
          <p:cNvPr id="10" name="Rectangle 9"/>
          <p:cNvSpPr/>
          <p:nvPr/>
        </p:nvSpPr>
        <p:spPr>
          <a:xfrm>
            <a:off x="8789324" y="1115435"/>
            <a:ext cx="2923309" cy="5078313"/>
          </a:xfrm>
          <a:prstGeom prst="rect">
            <a:avLst/>
          </a:prstGeom>
        </p:spPr>
        <p:txBody>
          <a:bodyPr wrap="square">
            <a:spAutoFit/>
          </a:bodyPr>
          <a:lstStyle/>
          <a:p>
            <a:r>
              <a:rPr lang="en-US" dirty="0"/>
              <a:t>Common battery faults, particularly in vehicles, include corroded terminals (17%), frequent battery drain/discharging (15%), and internal damage/shorted cells often caused by heat or age. Other common issues are </a:t>
            </a:r>
            <a:r>
              <a:rPr lang="en-US" dirty="0" err="1"/>
              <a:t>sulfation</a:t>
            </a:r>
            <a:r>
              <a:rPr lang="en-US" dirty="0"/>
              <a:t> from long-term low-charge states, broken internal connections, and swollen cases from overcharging. These result in poor performance, slow starting, or complete failure.</a:t>
            </a:r>
          </a:p>
        </p:txBody>
      </p:sp>
    </p:spTree>
    <p:custDataLst>
      <p:tags r:id="rId1"/>
    </p:custDataLst>
    <p:extLst>
      <p:ext uri="{BB962C8B-B14F-4D97-AF65-F5344CB8AC3E}">
        <p14:creationId xmlns:p14="http://schemas.microsoft.com/office/powerpoint/2010/main" val="26578751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6" name="Rectangle 5"/>
          <p:cNvSpPr/>
          <p:nvPr/>
        </p:nvSpPr>
        <p:spPr>
          <a:xfrm>
            <a:off x="807666" y="1270341"/>
            <a:ext cx="2980303" cy="369332"/>
          </a:xfrm>
          <a:prstGeom prst="rect">
            <a:avLst/>
          </a:prstGeom>
        </p:spPr>
        <p:txBody>
          <a:bodyPr wrap="none">
            <a:spAutoFit/>
          </a:bodyPr>
          <a:lstStyle/>
          <a:p>
            <a:r>
              <a:rPr lang="en-US" dirty="0"/>
              <a:t>The Starter Motor in Detail</a:t>
            </a:r>
          </a:p>
        </p:txBody>
      </p:sp>
      <p:sp>
        <p:nvSpPr>
          <p:cNvPr id="5" name="Rectangle 4"/>
          <p:cNvSpPr/>
          <p:nvPr/>
        </p:nvSpPr>
        <p:spPr>
          <a:xfrm>
            <a:off x="807666" y="1643077"/>
            <a:ext cx="5759389" cy="3139321"/>
          </a:xfrm>
          <a:prstGeom prst="rect">
            <a:avLst/>
          </a:prstGeom>
        </p:spPr>
        <p:txBody>
          <a:bodyPr wrap="square">
            <a:spAutoFit/>
          </a:bodyPr>
          <a:lstStyle/>
          <a:p>
            <a:r>
              <a:rPr lang="en-US" dirty="0"/>
              <a:t>DC Motor Operation: Uses Fleming's Left-Hand Rule to generate high rotational torque</a:t>
            </a:r>
            <a:r>
              <a:rPr lang="en-US" dirty="0" smtClean="0"/>
              <a:t>.</a:t>
            </a:r>
          </a:p>
          <a:p>
            <a:endParaRPr lang="en-US" dirty="0" smtClean="0"/>
          </a:p>
          <a:p>
            <a:r>
              <a:rPr lang="en-US" dirty="0" smtClean="0"/>
              <a:t>Armature</a:t>
            </a:r>
            <a:r>
              <a:rPr lang="en-US" dirty="0"/>
              <a:t>: The spinning component that creates the rotational force</a:t>
            </a:r>
            <a:r>
              <a:rPr lang="en-US" dirty="0" smtClean="0"/>
              <a:t>.</a:t>
            </a:r>
          </a:p>
          <a:p>
            <a:endParaRPr lang="en-US" dirty="0" smtClean="0"/>
          </a:p>
          <a:p>
            <a:r>
              <a:rPr lang="en-US" dirty="0" smtClean="0"/>
              <a:t>Commutator </a:t>
            </a:r>
            <a:r>
              <a:rPr lang="en-US" dirty="0"/>
              <a:t>&amp; Brushes: Delivers electrical current to the rotating armature</a:t>
            </a:r>
            <a:r>
              <a:rPr lang="en-US" dirty="0" smtClean="0"/>
              <a:t>.</a:t>
            </a:r>
          </a:p>
          <a:p>
            <a:endParaRPr lang="en-US" dirty="0" smtClean="0"/>
          </a:p>
          <a:p>
            <a:r>
              <a:rPr lang="en-US" dirty="0" smtClean="0"/>
              <a:t>Field </a:t>
            </a:r>
            <a:r>
              <a:rPr lang="en-US" dirty="0"/>
              <a:t>Windings/Permanent Magnets: Creates the strong magnetic field required for motor operation</a:t>
            </a:r>
          </a:p>
        </p:txBody>
      </p:sp>
      <p:pic>
        <p:nvPicPr>
          <p:cNvPr id="7" name="Picture 6"/>
          <p:cNvPicPr>
            <a:picLocks noChangeAspect="1"/>
          </p:cNvPicPr>
          <p:nvPr/>
        </p:nvPicPr>
        <p:blipFill>
          <a:blip r:embed="rId5"/>
          <a:stretch>
            <a:fillRect/>
          </a:stretch>
        </p:blipFill>
        <p:spPr>
          <a:xfrm>
            <a:off x="6938356" y="1639673"/>
            <a:ext cx="4838007" cy="3628505"/>
          </a:xfrm>
          <a:prstGeom prst="rect">
            <a:avLst/>
          </a:prstGeom>
        </p:spPr>
      </p:pic>
    </p:spTree>
    <p:custDataLst>
      <p:tags r:id="rId1"/>
    </p:custDataLst>
    <p:extLst>
      <p:ext uri="{BB962C8B-B14F-4D97-AF65-F5344CB8AC3E}">
        <p14:creationId xmlns:p14="http://schemas.microsoft.com/office/powerpoint/2010/main" val="4554048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8" name="Rectangle 7"/>
          <p:cNvSpPr/>
          <p:nvPr/>
        </p:nvSpPr>
        <p:spPr>
          <a:xfrm>
            <a:off x="746843" y="1341046"/>
            <a:ext cx="4014882" cy="369332"/>
          </a:xfrm>
          <a:prstGeom prst="rect">
            <a:avLst/>
          </a:prstGeom>
        </p:spPr>
        <p:txBody>
          <a:bodyPr wrap="none">
            <a:spAutoFit/>
          </a:bodyPr>
          <a:lstStyle/>
          <a:p>
            <a:r>
              <a:rPr lang="en-US" dirty="0"/>
              <a:t> The Drive Mechanism (Bendix Drive)</a:t>
            </a:r>
          </a:p>
        </p:txBody>
      </p:sp>
      <p:sp>
        <p:nvSpPr>
          <p:cNvPr id="9" name="Rectangle 8"/>
          <p:cNvSpPr/>
          <p:nvPr/>
        </p:nvSpPr>
        <p:spPr>
          <a:xfrm>
            <a:off x="746843" y="2120459"/>
            <a:ext cx="6096000" cy="2308324"/>
          </a:xfrm>
          <a:prstGeom prst="rect">
            <a:avLst/>
          </a:prstGeom>
        </p:spPr>
        <p:txBody>
          <a:bodyPr>
            <a:spAutoFit/>
          </a:bodyPr>
          <a:lstStyle/>
          <a:p>
            <a:r>
              <a:rPr lang="en-US" dirty="0"/>
              <a:t>Gear Reduction: Provides massive torque multiplication (typically 15:1 to 20:1</a:t>
            </a:r>
            <a:r>
              <a:rPr lang="en-US" dirty="0" smtClean="0"/>
              <a:t>).</a:t>
            </a:r>
          </a:p>
          <a:p>
            <a:endParaRPr lang="en-US" dirty="0"/>
          </a:p>
          <a:p>
            <a:r>
              <a:rPr lang="en-US" dirty="0" smtClean="0"/>
              <a:t>Pinion </a:t>
            </a:r>
            <a:r>
              <a:rPr lang="en-US" dirty="0"/>
              <a:t>Gear: Small gear on the starter that meshes with the flywheel</a:t>
            </a:r>
            <a:r>
              <a:rPr lang="en-US" dirty="0" smtClean="0"/>
              <a:t>.</a:t>
            </a:r>
          </a:p>
          <a:p>
            <a:endParaRPr lang="en-US" dirty="0"/>
          </a:p>
          <a:p>
            <a:r>
              <a:rPr lang="en-US" dirty="0" smtClean="0"/>
              <a:t>Overrunning </a:t>
            </a:r>
            <a:r>
              <a:rPr lang="en-US" dirty="0"/>
              <a:t>Clutch: Freewheels when the engine starts so the engine doesn’t spin the starter to destruction</a:t>
            </a:r>
          </a:p>
        </p:txBody>
      </p:sp>
      <p:pic>
        <p:nvPicPr>
          <p:cNvPr id="10" name="Picture 9"/>
          <p:cNvPicPr>
            <a:picLocks noChangeAspect="1"/>
          </p:cNvPicPr>
          <p:nvPr/>
        </p:nvPicPr>
        <p:blipFill>
          <a:blip r:embed="rId5"/>
          <a:stretch>
            <a:fillRect/>
          </a:stretch>
        </p:blipFill>
        <p:spPr>
          <a:xfrm>
            <a:off x="7341183" y="2184204"/>
            <a:ext cx="3781247" cy="3268946"/>
          </a:xfrm>
          <a:prstGeom prst="rect">
            <a:avLst/>
          </a:prstGeom>
        </p:spPr>
      </p:pic>
      <p:sp>
        <p:nvSpPr>
          <p:cNvPr id="11" name="AutoShape 2" descr="Honda K20/K24 Offset Starter Motor + Flywheel Kit — Ark Racing — Ark Rac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ustDataLst>
      <p:tags r:id="rId1"/>
    </p:custDataLst>
    <p:extLst>
      <p:ext uri="{BB962C8B-B14F-4D97-AF65-F5344CB8AC3E}">
        <p14:creationId xmlns:p14="http://schemas.microsoft.com/office/powerpoint/2010/main" val="17872193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8" name="Rectangle 7"/>
          <p:cNvSpPr/>
          <p:nvPr/>
        </p:nvSpPr>
        <p:spPr>
          <a:xfrm>
            <a:off x="746843" y="1341046"/>
            <a:ext cx="3506088" cy="369332"/>
          </a:xfrm>
          <a:prstGeom prst="rect">
            <a:avLst/>
          </a:prstGeom>
        </p:spPr>
        <p:txBody>
          <a:bodyPr wrap="none">
            <a:spAutoFit/>
          </a:bodyPr>
          <a:lstStyle/>
          <a:p>
            <a:r>
              <a:rPr lang="en-US" dirty="0"/>
              <a:t> Step-by-Step System Operation</a:t>
            </a:r>
          </a:p>
        </p:txBody>
      </p:sp>
      <p:sp>
        <p:nvSpPr>
          <p:cNvPr id="11" name="AutoShape 2" descr="Honda K20/K24 Offset Starter Motor + Flywheel Kit — Ark Racing — Ark Rac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853440" y="1808170"/>
            <a:ext cx="6096000" cy="3970318"/>
          </a:xfrm>
          <a:prstGeom prst="rect">
            <a:avLst/>
          </a:prstGeom>
        </p:spPr>
        <p:txBody>
          <a:bodyPr>
            <a:spAutoFit/>
          </a:bodyPr>
          <a:lstStyle/>
          <a:p>
            <a:r>
              <a:rPr lang="en-US" dirty="0"/>
              <a:t>Driver turns the key to "Start" or pushes the start button</a:t>
            </a:r>
            <a:r>
              <a:rPr lang="en-US" dirty="0" smtClean="0"/>
              <a:t>.</a:t>
            </a:r>
          </a:p>
          <a:p>
            <a:endParaRPr lang="en-US" dirty="0"/>
          </a:p>
          <a:p>
            <a:r>
              <a:rPr lang="en-US" dirty="0" smtClean="0"/>
              <a:t>Control </a:t>
            </a:r>
            <a:r>
              <a:rPr lang="en-US" dirty="0"/>
              <a:t>circuit sends low current to the starter solenoid</a:t>
            </a:r>
            <a:r>
              <a:rPr lang="en-US" dirty="0" smtClean="0"/>
              <a:t>.</a:t>
            </a:r>
          </a:p>
          <a:p>
            <a:endParaRPr lang="en-US" dirty="0"/>
          </a:p>
          <a:p>
            <a:r>
              <a:rPr lang="en-US" dirty="0" smtClean="0"/>
              <a:t>Solenoid </a:t>
            </a:r>
            <a:r>
              <a:rPr lang="en-US" dirty="0"/>
              <a:t>pushes the starter pinion gear into the flywheel ring gear</a:t>
            </a:r>
            <a:r>
              <a:rPr lang="en-US" dirty="0" smtClean="0"/>
              <a:t>.</a:t>
            </a:r>
          </a:p>
          <a:p>
            <a:endParaRPr lang="en-US" dirty="0"/>
          </a:p>
          <a:p>
            <a:r>
              <a:rPr lang="en-US" dirty="0" smtClean="0"/>
              <a:t>Solenoid </a:t>
            </a:r>
            <a:r>
              <a:rPr lang="en-US" dirty="0"/>
              <a:t>closes heavy contacts, sending high current to the starter motor</a:t>
            </a:r>
            <a:r>
              <a:rPr lang="en-US" dirty="0" smtClean="0"/>
              <a:t>.</a:t>
            </a:r>
          </a:p>
          <a:p>
            <a:endParaRPr lang="en-US" dirty="0"/>
          </a:p>
          <a:p>
            <a:r>
              <a:rPr lang="en-US" dirty="0" smtClean="0"/>
              <a:t>Starter </a:t>
            </a:r>
            <a:r>
              <a:rPr lang="en-US" dirty="0"/>
              <a:t>cranks the engine until it fires and runs on its own</a:t>
            </a:r>
            <a:r>
              <a:rPr lang="en-US" dirty="0" smtClean="0"/>
              <a:t>.</a:t>
            </a:r>
          </a:p>
          <a:p>
            <a:endParaRPr lang="en-US" dirty="0"/>
          </a:p>
          <a:p>
            <a:r>
              <a:rPr lang="en-US" dirty="0" smtClean="0"/>
              <a:t>Driver </a:t>
            </a:r>
            <a:r>
              <a:rPr lang="en-US" dirty="0"/>
              <a:t>releases the key; the return spring disengages the pinion gear.</a:t>
            </a:r>
          </a:p>
        </p:txBody>
      </p:sp>
    </p:spTree>
    <p:custDataLst>
      <p:tags r:id="rId1"/>
    </p:custDataLst>
    <p:extLst>
      <p:ext uri="{BB962C8B-B14F-4D97-AF65-F5344CB8AC3E}">
        <p14:creationId xmlns:p14="http://schemas.microsoft.com/office/powerpoint/2010/main" val="33424138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8" name="Rectangle 7"/>
          <p:cNvSpPr/>
          <p:nvPr/>
        </p:nvSpPr>
        <p:spPr>
          <a:xfrm>
            <a:off x="746843" y="1341046"/>
            <a:ext cx="3634328" cy="369332"/>
          </a:xfrm>
          <a:prstGeom prst="rect">
            <a:avLst/>
          </a:prstGeom>
        </p:spPr>
        <p:txBody>
          <a:bodyPr wrap="none">
            <a:spAutoFit/>
          </a:bodyPr>
          <a:lstStyle/>
          <a:p>
            <a:r>
              <a:rPr lang="en-US" dirty="0"/>
              <a:t> Safety Neutral &amp; Clutch Switches</a:t>
            </a:r>
          </a:p>
        </p:txBody>
      </p:sp>
      <p:sp>
        <p:nvSpPr>
          <p:cNvPr id="11" name="AutoShape 2" descr="Honda K20/K24 Offset Starter Motor + Flywheel Kit — Ark Racing — Ark Rac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4"/>
          <p:cNvSpPr/>
          <p:nvPr/>
        </p:nvSpPr>
        <p:spPr>
          <a:xfrm>
            <a:off x="820189" y="2130816"/>
            <a:ext cx="6096000" cy="2308324"/>
          </a:xfrm>
          <a:prstGeom prst="rect">
            <a:avLst/>
          </a:prstGeom>
        </p:spPr>
        <p:txBody>
          <a:bodyPr>
            <a:spAutoFit/>
          </a:bodyPr>
          <a:lstStyle/>
          <a:p>
            <a:r>
              <a:rPr lang="en-US" dirty="0"/>
              <a:t>Purpose: Prevents the car from starting while in gear to avoid accidents</a:t>
            </a:r>
            <a:r>
              <a:rPr lang="en-US" dirty="0" smtClean="0"/>
              <a:t>.</a:t>
            </a:r>
          </a:p>
          <a:p>
            <a:endParaRPr lang="en-US" dirty="0"/>
          </a:p>
          <a:p>
            <a:r>
              <a:rPr lang="en-US" dirty="0" smtClean="0"/>
              <a:t>Automatic </a:t>
            </a:r>
            <a:r>
              <a:rPr lang="en-US" dirty="0"/>
              <a:t>Transmission: Utilizes a Neutral Safety Switch (only starts in Park or Neutral</a:t>
            </a:r>
            <a:r>
              <a:rPr lang="en-US" dirty="0" smtClean="0"/>
              <a:t>).</a:t>
            </a:r>
          </a:p>
          <a:p>
            <a:endParaRPr lang="en-US" dirty="0"/>
          </a:p>
          <a:p>
            <a:r>
              <a:rPr lang="en-US" dirty="0" smtClean="0"/>
              <a:t>Manual </a:t>
            </a:r>
            <a:r>
              <a:rPr lang="en-US" dirty="0"/>
              <a:t>Transmission: Utilizes a Clutch Pedal Position Switch (must depress clutch to start)</a:t>
            </a:r>
          </a:p>
        </p:txBody>
      </p:sp>
    </p:spTree>
    <p:custDataLst>
      <p:tags r:id="rId1"/>
    </p:custDataLst>
    <p:extLst>
      <p:ext uri="{BB962C8B-B14F-4D97-AF65-F5344CB8AC3E}">
        <p14:creationId xmlns:p14="http://schemas.microsoft.com/office/powerpoint/2010/main" val="2328604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8" name="Rectangle 7"/>
          <p:cNvSpPr/>
          <p:nvPr/>
        </p:nvSpPr>
        <p:spPr>
          <a:xfrm>
            <a:off x="746843" y="1341046"/>
            <a:ext cx="3801041" cy="369332"/>
          </a:xfrm>
          <a:prstGeom prst="rect">
            <a:avLst/>
          </a:prstGeom>
        </p:spPr>
        <p:txBody>
          <a:bodyPr wrap="none">
            <a:spAutoFit/>
          </a:bodyPr>
          <a:lstStyle/>
          <a:p>
            <a:r>
              <a:rPr lang="en-US" dirty="0"/>
              <a:t> </a:t>
            </a:r>
            <a:r>
              <a:rPr lang="en-US" b="1" dirty="0"/>
              <a:t>Common Failures &amp; Diagnostics</a:t>
            </a:r>
          </a:p>
        </p:txBody>
      </p:sp>
      <p:sp>
        <p:nvSpPr>
          <p:cNvPr id="11" name="AutoShape 2" descr="Honda K20/K24 Offset Starter Motor + Flywheel Kit — Ark Racing — Ark Rac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878378" y="1792910"/>
            <a:ext cx="6096000" cy="3139321"/>
          </a:xfrm>
          <a:prstGeom prst="rect">
            <a:avLst/>
          </a:prstGeom>
        </p:spPr>
        <p:txBody>
          <a:bodyPr>
            <a:spAutoFit/>
          </a:bodyPr>
          <a:lstStyle/>
          <a:p>
            <a:r>
              <a:rPr lang="en-US" dirty="0"/>
              <a:t>Clicking Noise: Usually indicates a dead battery or loose/corroded terminals</a:t>
            </a:r>
            <a:r>
              <a:rPr lang="en-US" dirty="0" smtClean="0"/>
              <a:t>.</a:t>
            </a:r>
          </a:p>
          <a:p>
            <a:endParaRPr lang="en-US" dirty="0"/>
          </a:p>
          <a:p>
            <a:r>
              <a:rPr lang="en-US" dirty="0" smtClean="0"/>
              <a:t>Single </a:t>
            </a:r>
            <a:r>
              <a:rPr lang="en-US" dirty="0"/>
              <a:t>Loud Click: Often a bad starter solenoid or jammed starter motor</a:t>
            </a:r>
            <a:r>
              <a:rPr lang="en-US" dirty="0" smtClean="0"/>
              <a:t>.</a:t>
            </a:r>
          </a:p>
          <a:p>
            <a:endParaRPr lang="en-US" dirty="0"/>
          </a:p>
          <a:p>
            <a:r>
              <a:rPr lang="en-US" dirty="0" smtClean="0"/>
              <a:t>Whirring </a:t>
            </a:r>
            <a:r>
              <a:rPr lang="en-US" dirty="0"/>
              <a:t>Noise (No Crank): The starter is spinning, but the drive gear is not engaging the flywheel</a:t>
            </a:r>
            <a:r>
              <a:rPr lang="en-US" dirty="0" smtClean="0"/>
              <a:t>.</a:t>
            </a:r>
          </a:p>
          <a:p>
            <a:endParaRPr lang="en-US" dirty="0"/>
          </a:p>
          <a:p>
            <a:r>
              <a:rPr lang="en-US" dirty="0" smtClean="0"/>
              <a:t>No </a:t>
            </a:r>
            <a:r>
              <a:rPr lang="en-US" dirty="0"/>
              <a:t>Sound at All: Blown fuse, bad ignition switch, or neutral safety switch failure.</a:t>
            </a:r>
          </a:p>
        </p:txBody>
      </p:sp>
    </p:spTree>
    <p:custDataLst>
      <p:tags r:id="rId1"/>
    </p:custDataLst>
    <p:extLst>
      <p:ext uri="{BB962C8B-B14F-4D97-AF65-F5344CB8AC3E}">
        <p14:creationId xmlns:p14="http://schemas.microsoft.com/office/powerpoint/2010/main" val="26914118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65378" y="600304"/>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65378" y="6338984"/>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07436" y="970675"/>
            <a:ext cx="4846198" cy="369332"/>
          </a:xfrm>
          <a:prstGeom prst="rect">
            <a:avLst/>
          </a:prstGeom>
        </p:spPr>
        <p:txBody>
          <a:bodyPr wrap="none">
            <a:spAutoFit/>
          </a:bodyPr>
          <a:lstStyle/>
          <a:p>
            <a:pPr marL="285750" indent="-285750">
              <a:buFont typeface="Wingdings" panose="05000000000000000000" pitchFamily="2" charset="2"/>
              <a:buChar char="Ø"/>
            </a:pPr>
            <a:r>
              <a:rPr lang="en-US" dirty="0"/>
              <a:t>Automotive Starting System Fundamentals</a:t>
            </a:r>
          </a:p>
        </p:txBody>
      </p:sp>
      <p:sp>
        <p:nvSpPr>
          <p:cNvPr id="6" name="Rectangle 5"/>
          <p:cNvSpPr/>
          <p:nvPr/>
        </p:nvSpPr>
        <p:spPr>
          <a:xfrm>
            <a:off x="807666" y="1270341"/>
            <a:ext cx="3659976" cy="369332"/>
          </a:xfrm>
          <a:prstGeom prst="rect">
            <a:avLst/>
          </a:prstGeom>
        </p:spPr>
        <p:txBody>
          <a:bodyPr wrap="none">
            <a:spAutoFit/>
          </a:bodyPr>
          <a:lstStyle/>
          <a:p>
            <a:r>
              <a:rPr lang="en-US" dirty="0"/>
              <a:t>The Starter Solenoid (The Switch)</a:t>
            </a:r>
          </a:p>
        </p:txBody>
      </p:sp>
      <p:sp>
        <p:nvSpPr>
          <p:cNvPr id="4" name="Rectangle 3"/>
          <p:cNvSpPr/>
          <p:nvPr/>
        </p:nvSpPr>
        <p:spPr>
          <a:xfrm>
            <a:off x="807666" y="1710378"/>
            <a:ext cx="3897338" cy="3970318"/>
          </a:xfrm>
          <a:prstGeom prst="rect">
            <a:avLst/>
          </a:prstGeom>
        </p:spPr>
        <p:txBody>
          <a:bodyPr wrap="square">
            <a:spAutoFit/>
          </a:bodyPr>
          <a:lstStyle/>
          <a:p>
            <a:r>
              <a:rPr lang="en-US" dirty="0"/>
              <a:t>Dual Purpose: Acts as a high-current relay and a mechanical actuator</a:t>
            </a:r>
            <a:r>
              <a:rPr lang="en-US" dirty="0" smtClean="0"/>
              <a:t>.</a:t>
            </a:r>
          </a:p>
          <a:p>
            <a:endParaRPr lang="en-US" dirty="0"/>
          </a:p>
          <a:p>
            <a:r>
              <a:rPr lang="en-US" dirty="0" smtClean="0"/>
              <a:t>Pull-In </a:t>
            </a:r>
            <a:r>
              <a:rPr lang="en-US" dirty="0"/>
              <a:t>Winding: Pulls the plunger to engage the starter drive gear</a:t>
            </a:r>
            <a:r>
              <a:rPr lang="en-US" dirty="0" smtClean="0"/>
              <a:t>.</a:t>
            </a:r>
          </a:p>
          <a:p>
            <a:endParaRPr lang="en-US" dirty="0"/>
          </a:p>
          <a:p>
            <a:r>
              <a:rPr lang="en-US" dirty="0" smtClean="0"/>
              <a:t>Hold-In </a:t>
            </a:r>
            <a:r>
              <a:rPr lang="en-US" dirty="0"/>
              <a:t>Winding: Holds the plunger in place with less current once engaged</a:t>
            </a:r>
            <a:r>
              <a:rPr lang="en-US" dirty="0" smtClean="0"/>
              <a:t>.</a:t>
            </a:r>
          </a:p>
          <a:p>
            <a:endParaRPr lang="en-US" dirty="0"/>
          </a:p>
          <a:p>
            <a:r>
              <a:rPr lang="en-US" dirty="0"/>
              <a:t>Electrical Contact</a:t>
            </a:r>
            <a:r>
              <a:rPr lang="en-US" dirty="0" smtClean="0"/>
              <a:t>: Bridges </a:t>
            </a:r>
            <a:r>
              <a:rPr lang="en-US" dirty="0"/>
              <a:t>the thick battery cable directly to the starter motor</a:t>
            </a:r>
          </a:p>
        </p:txBody>
      </p:sp>
      <p:pic>
        <p:nvPicPr>
          <p:cNvPr id="8" name="Picture 7"/>
          <p:cNvPicPr>
            <a:picLocks noChangeAspect="1"/>
          </p:cNvPicPr>
          <p:nvPr/>
        </p:nvPicPr>
        <p:blipFill>
          <a:blip r:embed="rId6"/>
          <a:stretch>
            <a:fillRect/>
          </a:stretch>
        </p:blipFill>
        <p:spPr>
          <a:xfrm>
            <a:off x="8223453" y="4123217"/>
            <a:ext cx="3012778" cy="2069779"/>
          </a:xfrm>
          <a:prstGeom prst="rect">
            <a:avLst/>
          </a:prstGeom>
        </p:spPr>
      </p:pic>
      <p:pic>
        <p:nvPicPr>
          <p:cNvPr id="9" name="Picture 8"/>
          <p:cNvPicPr>
            <a:picLocks noChangeAspect="1"/>
          </p:cNvPicPr>
          <p:nvPr/>
        </p:nvPicPr>
        <p:blipFill>
          <a:blip r:embed="rId7"/>
          <a:stretch>
            <a:fillRect/>
          </a:stretch>
        </p:blipFill>
        <p:spPr>
          <a:xfrm>
            <a:off x="4960013" y="4166413"/>
            <a:ext cx="3155375" cy="2026583"/>
          </a:xfrm>
          <a:prstGeom prst="rect">
            <a:avLst/>
          </a:prstGeom>
        </p:spPr>
      </p:pic>
      <p:pic>
        <p:nvPicPr>
          <p:cNvPr id="10" name="MOENEG2KajY"/>
          <p:cNvPicPr>
            <a:picLocks noRot="1" noChangeAspect="1"/>
          </p:cNvPicPr>
          <p:nvPr>
            <a:videoFile r:link="rId4"/>
          </p:nvPr>
        </p:nvPicPr>
        <p:blipFill>
          <a:blip r:embed="rId8"/>
          <a:stretch>
            <a:fillRect/>
          </a:stretch>
        </p:blipFill>
        <p:spPr>
          <a:xfrm>
            <a:off x="6047809" y="1325814"/>
            <a:ext cx="4572000" cy="2571750"/>
          </a:xfrm>
          <a:prstGeom prst="rect">
            <a:avLst/>
          </a:prstGeom>
        </p:spPr>
      </p:pic>
    </p:spTree>
    <p:custDataLst>
      <p:tags r:id="rId1"/>
    </p:custDataLst>
    <p:extLst>
      <p:ext uri="{BB962C8B-B14F-4D97-AF65-F5344CB8AC3E}">
        <p14:creationId xmlns:p14="http://schemas.microsoft.com/office/powerpoint/2010/main" val="1579188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1047748"/>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687844" y="53830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1687844" y="1516101"/>
            <a:ext cx="10018643" cy="370371"/>
          </a:xfrm>
          <a:prstGeom prst="rect">
            <a:avLst/>
          </a:prstGeom>
          <a:noFill/>
        </p:spPr>
        <p:txBody>
          <a:bodyPr wrap="square" rtlCol="0">
            <a:noAutofit/>
          </a:bodyPr>
          <a:lstStyle/>
          <a:p>
            <a:r>
              <a:rPr lang="en-US" b="1" dirty="0" smtClean="0"/>
              <a:t>What is car Electric system</a:t>
            </a:r>
          </a:p>
        </p:txBody>
      </p:sp>
      <p:graphicFrame>
        <p:nvGraphicFramePr>
          <p:cNvPr id="4" name="Table 3"/>
          <p:cNvGraphicFramePr>
            <a:graphicFrameLocks noGrp="1"/>
          </p:cNvGraphicFramePr>
          <p:nvPr>
            <p:extLst>
              <p:ext uri="{D42A27DB-BD31-4B8C-83A1-F6EECF244321}">
                <p14:modId xmlns:p14="http://schemas.microsoft.com/office/powerpoint/2010/main" val="2589879302"/>
              </p:ext>
            </p:extLst>
          </p:nvPr>
        </p:nvGraphicFramePr>
        <p:xfrm>
          <a:off x="1483742" y="1984454"/>
          <a:ext cx="10015268" cy="3398570"/>
        </p:xfrm>
        <a:graphic>
          <a:graphicData uri="http://schemas.openxmlformats.org/drawingml/2006/table">
            <a:tbl>
              <a:tblPr firstRow="1" firstCol="1" bandRow="1">
                <a:tableStyleId>{5C22544A-7EE6-4342-B048-85BDC9FD1C3A}</a:tableStyleId>
              </a:tblPr>
              <a:tblGrid>
                <a:gridCol w="2441277">
                  <a:extLst>
                    <a:ext uri="{9D8B030D-6E8A-4147-A177-3AD203B41FA5}">
                      <a16:colId xmlns:a16="http://schemas.microsoft.com/office/drawing/2014/main" val="1272758376"/>
                    </a:ext>
                  </a:extLst>
                </a:gridCol>
                <a:gridCol w="7573991">
                  <a:extLst>
                    <a:ext uri="{9D8B030D-6E8A-4147-A177-3AD203B41FA5}">
                      <a16:colId xmlns:a16="http://schemas.microsoft.com/office/drawing/2014/main" val="394009878"/>
                    </a:ext>
                  </a:extLst>
                </a:gridCol>
              </a:tblGrid>
              <a:tr h="283215">
                <a:tc>
                  <a:txBody>
                    <a:bodyPr/>
                    <a:lstStyle/>
                    <a:p>
                      <a:pPr marL="0" marR="0">
                        <a:lnSpc>
                          <a:spcPct val="107000"/>
                        </a:lnSpc>
                        <a:spcBef>
                          <a:spcPts val="0"/>
                        </a:spcBef>
                        <a:spcAft>
                          <a:spcPts val="800"/>
                        </a:spcAft>
                      </a:pPr>
                      <a:r>
                        <a:rPr lang="en-US" sz="1100">
                          <a:effectLst/>
                        </a:rPr>
                        <a:t>Component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Function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2891155"/>
                  </a:ext>
                </a:extLst>
              </a:tr>
              <a:tr h="566428">
                <a:tc>
                  <a:txBody>
                    <a:bodyPr/>
                    <a:lstStyle/>
                    <a:p>
                      <a:pPr marL="0" marR="0">
                        <a:lnSpc>
                          <a:spcPct val="107000"/>
                        </a:lnSpc>
                        <a:spcBef>
                          <a:spcPts val="0"/>
                        </a:spcBef>
                        <a:spcAft>
                          <a:spcPts val="800"/>
                        </a:spcAft>
                      </a:pPr>
                      <a:r>
                        <a:rPr lang="en-US" sz="1100">
                          <a:effectLst/>
                        </a:rPr>
                        <a:t>Battery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The primary energy source, storing chemical energy and supplying electrical current to start the engine and power components when the engine is off. Most use a 12-volt DC system.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7587698"/>
                  </a:ext>
                </a:extLst>
              </a:tr>
              <a:tr h="566428">
                <a:tc>
                  <a:txBody>
                    <a:bodyPr/>
                    <a:lstStyle/>
                    <a:p>
                      <a:pPr marL="0" marR="0">
                        <a:lnSpc>
                          <a:spcPct val="107000"/>
                        </a:lnSpc>
                        <a:spcBef>
                          <a:spcPts val="0"/>
                        </a:spcBef>
                        <a:spcAft>
                          <a:spcPts val="800"/>
                        </a:spcAft>
                      </a:pPr>
                      <a:r>
                        <a:rPr lang="en-US" sz="1100">
                          <a:effectLst/>
                        </a:rPr>
                        <a:t>Alternator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Once the engine is running, the alternator converts mechanical energy into electrical energy (AC, then rectified to DC) to power the car's systems and recharge the battery.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9124402"/>
                  </a:ext>
                </a:extLst>
              </a:tr>
              <a:tr h="283215">
                <a:tc>
                  <a:txBody>
                    <a:bodyPr/>
                    <a:lstStyle/>
                    <a:p>
                      <a:pPr marL="0" marR="0">
                        <a:lnSpc>
                          <a:spcPct val="107000"/>
                        </a:lnSpc>
                        <a:spcBef>
                          <a:spcPts val="0"/>
                        </a:spcBef>
                        <a:spcAft>
                          <a:spcPts val="800"/>
                        </a:spcAft>
                      </a:pPr>
                      <a:r>
                        <a:rPr lang="en-US" sz="1100">
                          <a:effectLst/>
                        </a:rPr>
                        <a:t>Starter Motor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A powerful electric motor that uses battery power to rotate the engine's flywheel, initiating the combustion process.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8925955"/>
                  </a:ext>
                </a:extLst>
              </a:tr>
              <a:tr h="566428">
                <a:tc>
                  <a:txBody>
                    <a:bodyPr/>
                    <a:lstStyle/>
                    <a:p>
                      <a:pPr marL="0" marR="0">
                        <a:lnSpc>
                          <a:spcPct val="107000"/>
                        </a:lnSpc>
                        <a:spcBef>
                          <a:spcPts val="0"/>
                        </a:spcBef>
                        <a:spcAft>
                          <a:spcPts val="800"/>
                        </a:spcAft>
                      </a:pPr>
                      <a:r>
                        <a:rPr lang="en-US" sz="1100">
                          <a:effectLst/>
                        </a:rPr>
                        <a:t>Wiring &amp; Connectors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A network of cables and terminals that act as the vehicle's "nervous system," transmitting power and signals throughout the car.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6716760"/>
                  </a:ext>
                </a:extLst>
              </a:tr>
              <a:tr h="566428">
                <a:tc>
                  <a:txBody>
                    <a:bodyPr/>
                    <a:lstStyle/>
                    <a:p>
                      <a:pPr marL="0" marR="0">
                        <a:lnSpc>
                          <a:spcPct val="107000"/>
                        </a:lnSpc>
                        <a:spcBef>
                          <a:spcPts val="0"/>
                        </a:spcBef>
                        <a:spcAft>
                          <a:spcPts val="800"/>
                        </a:spcAft>
                      </a:pPr>
                      <a:r>
                        <a:rPr lang="en-US" sz="1100">
                          <a:effectLst/>
                        </a:rPr>
                        <a:t>Fuses &amp; Relays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a:effectLst/>
                        </a:rPr>
                        <a:t>Safety devices that protect circuits from overloads (fuses) and use low-power signals to control high-power devices like headlights and the horn (relays).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3816944"/>
                  </a:ext>
                </a:extLst>
              </a:tr>
              <a:tr h="566428">
                <a:tc>
                  <a:txBody>
                    <a:bodyPr/>
                    <a:lstStyle/>
                    <a:p>
                      <a:pPr marL="0" marR="0">
                        <a:lnSpc>
                          <a:spcPct val="107000"/>
                        </a:lnSpc>
                        <a:spcBef>
                          <a:spcPts val="0"/>
                        </a:spcBef>
                        <a:spcAft>
                          <a:spcPts val="800"/>
                        </a:spcAft>
                      </a:pPr>
                      <a:r>
                        <a:rPr lang="en-US" sz="1100">
                          <a:effectLst/>
                        </a:rPr>
                        <a:t>Electronic Control Units (ECUs)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US" sz="1100" dirty="0">
                          <a:effectLst/>
                        </a:rPr>
                        <a:t>Miniature computers that manage and regulate the power distribution and operation of various subsystems, from optimizing fuel efficiency to managing advanced driver assistance systems (ADAS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1553856"/>
                  </a:ext>
                </a:extLst>
              </a:tr>
            </a:tbl>
          </a:graphicData>
        </a:graphic>
      </p:graphicFrame>
    </p:spTree>
    <p:custDataLst>
      <p:tags r:id="rId1"/>
    </p:custDataLst>
    <p:extLst>
      <p:ext uri="{BB962C8B-B14F-4D97-AF65-F5344CB8AC3E}">
        <p14:creationId xmlns:p14="http://schemas.microsoft.com/office/powerpoint/2010/main" val="1753879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1047748"/>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0915" y="608176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1687844" y="1516101"/>
            <a:ext cx="10018643" cy="370371"/>
          </a:xfrm>
          <a:prstGeom prst="rect">
            <a:avLst/>
          </a:prstGeom>
          <a:noFill/>
        </p:spPr>
        <p:txBody>
          <a:bodyPr wrap="square" rtlCol="0">
            <a:noAutofit/>
          </a:bodyPr>
          <a:lstStyle/>
          <a:p>
            <a:r>
              <a:rPr lang="en-US" b="1" dirty="0" smtClean="0"/>
              <a:t>What is car Electric system</a:t>
            </a:r>
          </a:p>
        </p:txBody>
      </p:sp>
      <p:pic>
        <p:nvPicPr>
          <p:cNvPr id="11" name="Picture 10"/>
          <p:cNvPicPr>
            <a:picLocks noChangeAspect="1"/>
          </p:cNvPicPr>
          <p:nvPr/>
        </p:nvPicPr>
        <p:blipFill>
          <a:blip r:embed="rId6"/>
          <a:stretch>
            <a:fillRect/>
          </a:stretch>
        </p:blipFill>
        <p:spPr>
          <a:xfrm>
            <a:off x="5494713" y="1638993"/>
            <a:ext cx="4563514" cy="4563514"/>
          </a:xfrm>
          <a:prstGeom prst="rect">
            <a:avLst/>
          </a:prstGeom>
        </p:spPr>
      </p:pic>
    </p:spTree>
    <p:custDataLst>
      <p:tags r:id="rId1"/>
    </p:custDataLst>
    <p:extLst>
      <p:ext uri="{BB962C8B-B14F-4D97-AF65-F5344CB8AC3E}">
        <p14:creationId xmlns:p14="http://schemas.microsoft.com/office/powerpoint/2010/main" val="31622739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3995" y="677377"/>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71519" y="614214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1083995" y="1047748"/>
            <a:ext cx="10018643" cy="370371"/>
          </a:xfrm>
          <a:prstGeom prst="rect">
            <a:avLst/>
          </a:prstGeom>
          <a:noFill/>
        </p:spPr>
        <p:txBody>
          <a:bodyPr wrap="square" rtlCol="0">
            <a:noAutofit/>
          </a:bodyPr>
          <a:lstStyle/>
          <a:p>
            <a:r>
              <a:rPr lang="en-US" b="1" dirty="0" smtClean="0"/>
              <a:t>What is car Electric system</a:t>
            </a:r>
          </a:p>
        </p:txBody>
      </p:sp>
      <p:pic>
        <p:nvPicPr>
          <p:cNvPr id="2" name="Picture 1"/>
          <p:cNvPicPr>
            <a:picLocks noChangeAspect="1"/>
          </p:cNvPicPr>
          <p:nvPr/>
        </p:nvPicPr>
        <p:blipFill>
          <a:blip r:embed="rId6"/>
          <a:stretch>
            <a:fillRect/>
          </a:stretch>
        </p:blipFill>
        <p:spPr>
          <a:xfrm>
            <a:off x="471520" y="1418119"/>
            <a:ext cx="11167042" cy="4646251"/>
          </a:xfrm>
          <a:prstGeom prst="rect">
            <a:avLst/>
          </a:prstGeom>
        </p:spPr>
      </p:pic>
    </p:spTree>
    <p:custDataLst>
      <p:tags r:id="rId1"/>
    </p:custDataLst>
    <p:extLst>
      <p:ext uri="{BB962C8B-B14F-4D97-AF65-F5344CB8AC3E}">
        <p14:creationId xmlns:p14="http://schemas.microsoft.com/office/powerpoint/2010/main" val="26954976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07436" y="603972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626795" y="1166180"/>
            <a:ext cx="10018643" cy="370371"/>
          </a:xfrm>
          <a:prstGeom prst="rect">
            <a:avLst/>
          </a:prstGeom>
          <a:noFill/>
        </p:spPr>
        <p:txBody>
          <a:bodyPr wrap="square" rtlCol="0">
            <a:noAutofit/>
          </a:bodyPr>
          <a:lstStyle/>
          <a:p>
            <a:r>
              <a:rPr lang="en-US" b="1" dirty="0" smtClean="0"/>
              <a:t>What is car Electric system</a:t>
            </a:r>
          </a:p>
        </p:txBody>
      </p:sp>
      <p:sp>
        <p:nvSpPr>
          <p:cNvPr id="4" name="Rectangle 3"/>
          <p:cNvSpPr/>
          <p:nvPr/>
        </p:nvSpPr>
        <p:spPr>
          <a:xfrm>
            <a:off x="626795" y="1651031"/>
            <a:ext cx="10659373" cy="923330"/>
          </a:xfrm>
          <a:prstGeom prst="rect">
            <a:avLst/>
          </a:prstGeom>
        </p:spPr>
        <p:txBody>
          <a:bodyPr wrap="square">
            <a:spAutoFit/>
          </a:bodyPr>
          <a:lstStyle/>
          <a:p>
            <a:r>
              <a:rPr lang="en-US" dirty="0"/>
              <a:t>The term </a:t>
            </a:r>
            <a:r>
              <a:rPr lang="en-US" b="1" dirty="0">
                <a:solidFill>
                  <a:srgbClr val="0A0A0A"/>
                </a:solidFill>
                <a:latin typeface="Google Sans"/>
              </a:rPr>
              <a:t>ECU</a:t>
            </a:r>
            <a:r>
              <a:rPr lang="en-US" dirty="0">
                <a:solidFill>
                  <a:srgbClr val="0A0A0A"/>
                </a:solidFill>
                <a:latin typeface="Google Sans"/>
              </a:rPr>
              <a:t> in a car commonly refers to the </a:t>
            </a:r>
            <a:r>
              <a:rPr lang="en-US" b="1" dirty="0"/>
              <a:t>Engine Control Unit</a:t>
            </a:r>
            <a:r>
              <a:rPr lang="en-US" dirty="0">
                <a:solidFill>
                  <a:srgbClr val="0A0A0A"/>
                </a:solidFill>
                <a:latin typeface="Google Sans"/>
              </a:rPr>
              <a:t> (or Engine Control Module, ECM), which acts as the </a:t>
            </a:r>
            <a:r>
              <a:rPr lang="en-US" b="1" dirty="0">
                <a:solidFill>
                  <a:srgbClr val="0A0A0A"/>
                </a:solidFill>
                <a:latin typeface="Google Sans"/>
              </a:rPr>
              <a:t>"brain" of the engine's management system</a:t>
            </a:r>
            <a:r>
              <a:rPr lang="en-US" dirty="0">
                <a:solidFill>
                  <a:srgbClr val="0A0A0A"/>
                </a:solidFill>
                <a:latin typeface="Google Sans"/>
              </a:rPr>
              <a:t>. It is a small, powerful computer that uses data from various sensors to monitor and regulate critical engine functions in real-time.</a:t>
            </a:r>
            <a:endParaRPr lang="en-US" dirty="0"/>
          </a:p>
        </p:txBody>
      </p:sp>
      <p:pic>
        <p:nvPicPr>
          <p:cNvPr id="6" name="Picture 5"/>
          <p:cNvPicPr>
            <a:picLocks noChangeAspect="1"/>
          </p:cNvPicPr>
          <p:nvPr/>
        </p:nvPicPr>
        <p:blipFill>
          <a:blip r:embed="rId6"/>
          <a:stretch>
            <a:fillRect/>
          </a:stretch>
        </p:blipFill>
        <p:spPr>
          <a:xfrm>
            <a:off x="4371975" y="2688841"/>
            <a:ext cx="6191250" cy="3771900"/>
          </a:xfrm>
          <a:prstGeom prst="rect">
            <a:avLst/>
          </a:prstGeom>
        </p:spPr>
      </p:pic>
    </p:spTree>
    <p:custDataLst>
      <p:tags r:id="rId1"/>
    </p:custDataLst>
    <p:extLst>
      <p:ext uri="{BB962C8B-B14F-4D97-AF65-F5344CB8AC3E}">
        <p14:creationId xmlns:p14="http://schemas.microsoft.com/office/powerpoint/2010/main" val="32989417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87185" y="6105389"/>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626794" y="1015614"/>
            <a:ext cx="10018643" cy="370371"/>
          </a:xfrm>
          <a:prstGeom prst="rect">
            <a:avLst/>
          </a:prstGeom>
          <a:noFill/>
        </p:spPr>
        <p:txBody>
          <a:bodyPr wrap="square" rtlCol="0">
            <a:noAutofit/>
          </a:bodyPr>
          <a:lstStyle/>
          <a:p>
            <a:r>
              <a:rPr lang="en-US" b="1" dirty="0" smtClean="0"/>
              <a:t>What is car Electric system</a:t>
            </a:r>
          </a:p>
        </p:txBody>
      </p:sp>
      <p:sp>
        <p:nvSpPr>
          <p:cNvPr id="2" name="Rectangle 1"/>
          <p:cNvSpPr/>
          <p:nvPr/>
        </p:nvSpPr>
        <p:spPr>
          <a:xfrm>
            <a:off x="687185" y="1417932"/>
            <a:ext cx="10751128" cy="646331"/>
          </a:xfrm>
          <a:prstGeom prst="rect">
            <a:avLst/>
          </a:prstGeom>
        </p:spPr>
        <p:txBody>
          <a:bodyPr wrap="square">
            <a:spAutoFit/>
          </a:bodyPr>
          <a:lstStyle/>
          <a:p>
            <a:r>
              <a:rPr lang="en-US" dirty="0">
                <a:latin typeface="Google Sans"/>
              </a:rPr>
              <a:t>When turning the key (or pushing the start button) to ON in a Mazda </a:t>
            </a:r>
            <a:r>
              <a:rPr lang="en-US" dirty="0" err="1">
                <a:latin typeface="Google Sans"/>
              </a:rPr>
              <a:t>Demio</a:t>
            </a:r>
            <a:r>
              <a:rPr lang="en-US" dirty="0">
                <a:latin typeface="Google Sans"/>
              </a:rPr>
              <a:t> </a:t>
            </a:r>
            <a:r>
              <a:rPr lang="en-US" dirty="0" err="1">
                <a:latin typeface="Google Sans"/>
              </a:rPr>
              <a:t>Skyactiv</a:t>
            </a:r>
            <a:r>
              <a:rPr lang="en-US" dirty="0">
                <a:latin typeface="Google Sans"/>
              </a:rPr>
              <a:t>, most dashboard lights illuminate briefly for a "bulb check" and should turn off after a few seconds</a:t>
            </a:r>
            <a:r>
              <a:rPr lang="en-US" dirty="0"/>
              <a:t>.</a:t>
            </a:r>
          </a:p>
        </p:txBody>
      </p:sp>
      <p:sp>
        <p:nvSpPr>
          <p:cNvPr id="4" name="Rectangle 3"/>
          <p:cNvSpPr/>
          <p:nvPr/>
        </p:nvSpPr>
        <p:spPr>
          <a:xfrm>
            <a:off x="687185" y="2182882"/>
            <a:ext cx="6096000" cy="3539430"/>
          </a:xfrm>
          <a:prstGeom prst="rect">
            <a:avLst/>
          </a:prstGeom>
        </p:spPr>
        <p:txBody>
          <a:bodyPr>
            <a:spAutoFit/>
          </a:bodyPr>
          <a:lstStyle/>
          <a:p>
            <a:r>
              <a:rPr lang="en-US" sz="1600" dirty="0" smtClean="0"/>
              <a:t>[</a:t>
            </a:r>
            <a:r>
              <a:rPr lang="en-US" sz="1600" dirty="0" smtClean="0">
                <a:solidFill>
                  <a:schemeClr val="accent6">
                    <a:lumMod val="50000"/>
                  </a:schemeClr>
                </a:solidFill>
              </a:rPr>
              <a:t>Red</a:t>
            </a:r>
            <a:r>
              <a:rPr lang="en-US" sz="1600" dirty="0"/>
              <a:t>] Check Engine Light: Stays on until the engine </a:t>
            </a:r>
            <a:r>
              <a:rPr lang="en-US" sz="1600" dirty="0" smtClean="0"/>
              <a:t>starts</a:t>
            </a:r>
          </a:p>
          <a:p>
            <a:r>
              <a:rPr lang="en-US" sz="1600" dirty="0" smtClean="0">
                <a:solidFill>
                  <a:schemeClr val="accent6">
                    <a:lumMod val="50000"/>
                  </a:schemeClr>
                </a:solidFill>
              </a:rPr>
              <a:t>[</a:t>
            </a:r>
            <a:r>
              <a:rPr lang="en-US" sz="1600" dirty="0">
                <a:solidFill>
                  <a:schemeClr val="accent6">
                    <a:lumMod val="50000"/>
                  </a:schemeClr>
                </a:solidFill>
              </a:rPr>
              <a:t>Red</a:t>
            </a:r>
            <a:r>
              <a:rPr lang="en-US" sz="1600" dirty="0"/>
              <a:t>] Battery/Charging System: Indicates the electrical system is active</a:t>
            </a:r>
            <a:r>
              <a:rPr lang="en-US" sz="1600" dirty="0" smtClean="0"/>
              <a:t>.</a:t>
            </a:r>
          </a:p>
          <a:p>
            <a:r>
              <a:rPr lang="en-US" sz="1600" dirty="0" smtClean="0"/>
              <a:t>[</a:t>
            </a:r>
            <a:r>
              <a:rPr lang="en-US" sz="1600" dirty="0">
                <a:solidFill>
                  <a:schemeClr val="accent6">
                    <a:lumMod val="50000"/>
                  </a:schemeClr>
                </a:solidFill>
              </a:rPr>
              <a:t>Red</a:t>
            </a:r>
            <a:r>
              <a:rPr lang="en-US" sz="1600" dirty="0"/>
              <a:t>] Oil Pressure/Level Light: Signals check oil system</a:t>
            </a:r>
            <a:r>
              <a:rPr lang="en-US" sz="1600" dirty="0" smtClean="0"/>
              <a:t>.</a:t>
            </a:r>
          </a:p>
          <a:p>
            <a:r>
              <a:rPr lang="en-US" sz="1600" dirty="0" smtClean="0"/>
              <a:t>[</a:t>
            </a:r>
            <a:r>
              <a:rPr lang="en-US" sz="1600" dirty="0">
                <a:solidFill>
                  <a:schemeClr val="accent6">
                    <a:lumMod val="50000"/>
                  </a:schemeClr>
                </a:solidFill>
              </a:rPr>
              <a:t>Red</a:t>
            </a:r>
            <a:r>
              <a:rPr lang="en-US" sz="1600" dirty="0"/>
              <a:t>] Air Bag/Seat Belt </a:t>
            </a:r>
            <a:r>
              <a:rPr lang="en-US" sz="1600" dirty="0" smtClean="0"/>
              <a:t>Pre tensioner</a:t>
            </a:r>
            <a:r>
              <a:rPr lang="en-US" sz="1600" dirty="0"/>
              <a:t>: Indicates system check</a:t>
            </a:r>
            <a:r>
              <a:rPr lang="en-US" sz="1600" dirty="0" smtClean="0"/>
              <a:t>.</a:t>
            </a:r>
          </a:p>
          <a:p>
            <a:r>
              <a:rPr lang="en-US" sz="1600" dirty="0" smtClean="0"/>
              <a:t>[</a:t>
            </a:r>
            <a:r>
              <a:rPr lang="en-US" sz="1600" dirty="0">
                <a:solidFill>
                  <a:schemeClr val="accent6">
                    <a:lumMod val="50000"/>
                  </a:schemeClr>
                </a:solidFill>
              </a:rPr>
              <a:t>Red</a:t>
            </a:r>
            <a:r>
              <a:rPr lang="en-US" sz="1600" dirty="0"/>
              <a:t>] Brake System/Parking Brake: Lights up, especially if the handbrake is on</a:t>
            </a:r>
            <a:r>
              <a:rPr lang="en-US" sz="1600" dirty="0" smtClean="0"/>
              <a:t>.</a:t>
            </a:r>
          </a:p>
          <a:p>
            <a:r>
              <a:rPr lang="en-US" sz="1600" dirty="0" smtClean="0"/>
              <a:t>[</a:t>
            </a:r>
            <a:r>
              <a:rPr lang="en-US" sz="1600" dirty="0">
                <a:solidFill>
                  <a:srgbClr val="FFFF00"/>
                </a:solidFill>
              </a:rPr>
              <a:t>Yellow</a:t>
            </a:r>
            <a:r>
              <a:rPr lang="en-US" sz="1600" dirty="0"/>
              <a:t>] ABS (Anti-lock Brake System): Lights up for self-test</a:t>
            </a:r>
            <a:r>
              <a:rPr lang="en-US" sz="1600" dirty="0" smtClean="0"/>
              <a:t>.</a:t>
            </a:r>
          </a:p>
          <a:p>
            <a:r>
              <a:rPr lang="en-US" sz="1600" dirty="0" smtClean="0"/>
              <a:t>[</a:t>
            </a:r>
            <a:r>
              <a:rPr lang="en-US" sz="1600" dirty="0">
                <a:solidFill>
                  <a:srgbClr val="FFFF00"/>
                </a:solidFill>
              </a:rPr>
              <a:t>Yellow</a:t>
            </a:r>
            <a:r>
              <a:rPr lang="en-US" sz="1600" dirty="0"/>
              <a:t>] TCS/DSC (Traction Control System): A car icon with swerving lines</a:t>
            </a:r>
            <a:r>
              <a:rPr lang="en-US" sz="1600" dirty="0" smtClean="0"/>
              <a:t>.</a:t>
            </a:r>
          </a:p>
          <a:p>
            <a:r>
              <a:rPr lang="en-US" sz="1600" dirty="0" smtClean="0"/>
              <a:t>[</a:t>
            </a:r>
            <a:r>
              <a:rPr lang="en-US" sz="1600" dirty="0">
                <a:solidFill>
                  <a:srgbClr val="FFFF00"/>
                </a:solidFill>
              </a:rPr>
              <a:t>Yellow</a:t>
            </a:r>
            <a:r>
              <a:rPr lang="en-US" sz="1600" dirty="0"/>
              <a:t>] Tire Pressure Monitoring (TPMS): Tire with an exclamation mark</a:t>
            </a:r>
            <a:r>
              <a:rPr lang="en-US" sz="1600" dirty="0" smtClean="0"/>
              <a:t>.</a:t>
            </a:r>
          </a:p>
          <a:p>
            <a:r>
              <a:rPr lang="en-US" sz="1600" dirty="0" smtClean="0"/>
              <a:t>[</a:t>
            </a:r>
            <a:r>
              <a:rPr lang="en-US" sz="1600" dirty="0">
                <a:solidFill>
                  <a:srgbClr val="FF0000"/>
                </a:solidFill>
              </a:rPr>
              <a:t>Red</a:t>
            </a:r>
            <a:r>
              <a:rPr lang="en-US" sz="1600" dirty="0"/>
              <a:t>/</a:t>
            </a:r>
            <a:r>
              <a:rPr lang="en-US" sz="1600" dirty="0">
                <a:solidFill>
                  <a:srgbClr val="FFFF00"/>
                </a:solidFill>
              </a:rPr>
              <a:t>Yellow</a:t>
            </a:r>
            <a:r>
              <a:rPr lang="en-US" sz="1600" dirty="0"/>
              <a:t>] Key Indicator Light: Displays the status of the key fob and security system.</a:t>
            </a:r>
          </a:p>
        </p:txBody>
      </p:sp>
      <p:sp>
        <p:nvSpPr>
          <p:cNvPr id="7" name="Rectangle 6"/>
          <p:cNvSpPr/>
          <p:nvPr/>
        </p:nvSpPr>
        <p:spPr>
          <a:xfrm>
            <a:off x="7631085" y="2564549"/>
            <a:ext cx="3408218" cy="3416320"/>
          </a:xfrm>
          <a:prstGeom prst="rect">
            <a:avLst/>
          </a:prstGeom>
        </p:spPr>
        <p:txBody>
          <a:bodyPr wrap="square">
            <a:spAutoFit/>
          </a:bodyPr>
          <a:lstStyle/>
          <a:p>
            <a:r>
              <a:rPr lang="en-US" dirty="0" smtClean="0">
                <a:solidFill>
                  <a:schemeClr val="accent6">
                    <a:lumMod val="50000"/>
                  </a:schemeClr>
                </a:solidFill>
              </a:rPr>
              <a:t>Important </a:t>
            </a:r>
            <a:r>
              <a:rPr lang="en-US" dirty="0">
                <a:solidFill>
                  <a:schemeClr val="accent6">
                    <a:lumMod val="50000"/>
                  </a:schemeClr>
                </a:solidFill>
              </a:rPr>
              <a:t>Notes</a:t>
            </a:r>
            <a:r>
              <a:rPr lang="en-US" dirty="0" smtClean="0">
                <a:solidFill>
                  <a:schemeClr val="accent6">
                    <a:lumMod val="50000"/>
                  </a:schemeClr>
                </a:solidFill>
              </a:rPr>
              <a:t>:</a:t>
            </a:r>
          </a:p>
          <a:p>
            <a:endParaRPr lang="en-US" dirty="0" smtClean="0">
              <a:solidFill>
                <a:schemeClr val="accent6">
                  <a:lumMod val="50000"/>
                </a:schemeClr>
              </a:solidFill>
            </a:endParaRPr>
          </a:p>
          <a:p>
            <a:r>
              <a:rPr lang="en-US" dirty="0" smtClean="0">
                <a:solidFill>
                  <a:schemeClr val="accent6">
                    <a:lumMod val="50000"/>
                  </a:schemeClr>
                </a:solidFill>
              </a:rPr>
              <a:t>If </a:t>
            </a:r>
            <a:r>
              <a:rPr lang="en-US" dirty="0">
                <a:solidFill>
                  <a:schemeClr val="accent6">
                    <a:lumMod val="50000"/>
                  </a:schemeClr>
                </a:solidFill>
              </a:rPr>
              <a:t>red lights remain on after starting, there is a potential issue</a:t>
            </a:r>
            <a:r>
              <a:rPr lang="en-US" dirty="0" smtClean="0">
                <a:solidFill>
                  <a:schemeClr val="accent6">
                    <a:lumMod val="50000"/>
                  </a:schemeClr>
                </a:solidFill>
              </a:rPr>
              <a:t>.</a:t>
            </a:r>
          </a:p>
          <a:p>
            <a:endParaRPr lang="en-US" dirty="0" smtClean="0">
              <a:solidFill>
                <a:schemeClr val="accent6">
                  <a:lumMod val="50000"/>
                </a:schemeClr>
              </a:solidFill>
            </a:endParaRPr>
          </a:p>
          <a:p>
            <a:r>
              <a:rPr lang="en-US" dirty="0" smtClean="0">
                <a:solidFill>
                  <a:schemeClr val="accent6">
                    <a:lumMod val="50000"/>
                  </a:schemeClr>
                </a:solidFill>
              </a:rPr>
              <a:t>If </a:t>
            </a:r>
            <a:r>
              <a:rPr lang="en-US" dirty="0">
                <a:solidFill>
                  <a:schemeClr val="accent6">
                    <a:lumMod val="50000"/>
                  </a:schemeClr>
                </a:solidFill>
              </a:rPr>
              <a:t>yellow lights remain on, it suggests an immediate check of a system is needed</a:t>
            </a:r>
            <a:r>
              <a:rPr lang="en-US" dirty="0" smtClean="0">
                <a:solidFill>
                  <a:schemeClr val="accent6">
                    <a:lumMod val="50000"/>
                  </a:schemeClr>
                </a:solidFill>
              </a:rPr>
              <a:t>.</a:t>
            </a:r>
          </a:p>
          <a:p>
            <a:endParaRPr lang="en-US" dirty="0">
              <a:solidFill>
                <a:schemeClr val="accent6">
                  <a:lumMod val="50000"/>
                </a:schemeClr>
              </a:solidFill>
            </a:endParaRPr>
          </a:p>
          <a:p>
            <a:r>
              <a:rPr lang="en-US" dirty="0" smtClean="0">
                <a:solidFill>
                  <a:schemeClr val="accent6">
                    <a:lumMod val="50000"/>
                  </a:schemeClr>
                </a:solidFill>
              </a:rPr>
              <a:t>A </a:t>
            </a:r>
            <a:r>
              <a:rPr lang="en-US" dirty="0">
                <a:solidFill>
                  <a:schemeClr val="accent6">
                    <a:lumMod val="50000"/>
                  </a:schemeClr>
                </a:solidFill>
              </a:rPr>
              <a:t>"Wrench" indicator may appear if maintenance is due.</a:t>
            </a:r>
          </a:p>
        </p:txBody>
      </p:sp>
    </p:spTree>
    <p:custDataLst>
      <p:tags r:id="rId1"/>
    </p:custDataLst>
    <p:extLst>
      <p:ext uri="{BB962C8B-B14F-4D97-AF65-F5344CB8AC3E}">
        <p14:creationId xmlns:p14="http://schemas.microsoft.com/office/powerpoint/2010/main" val="41355465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626795" y="994197"/>
            <a:ext cx="10018643" cy="370371"/>
          </a:xfrm>
          <a:prstGeom prst="rect">
            <a:avLst/>
          </a:prstGeom>
          <a:noFill/>
        </p:spPr>
        <p:txBody>
          <a:bodyPr wrap="square" rtlCol="0">
            <a:noAutofit/>
          </a:bodyPr>
          <a:lstStyle/>
          <a:p>
            <a:r>
              <a:rPr lang="en-US" dirty="0"/>
              <a:t>Key Starting System Features</a:t>
            </a:r>
            <a:endParaRPr lang="en-US" b="1" dirty="0" smtClean="0"/>
          </a:p>
        </p:txBody>
      </p:sp>
      <p:sp>
        <p:nvSpPr>
          <p:cNvPr id="4" name="Rectangle 3"/>
          <p:cNvSpPr/>
          <p:nvPr/>
        </p:nvSpPr>
        <p:spPr>
          <a:xfrm>
            <a:off x="626794" y="1582443"/>
            <a:ext cx="6096000" cy="4524315"/>
          </a:xfrm>
          <a:prstGeom prst="rect">
            <a:avLst/>
          </a:prstGeom>
        </p:spPr>
        <p:txBody>
          <a:bodyPr>
            <a:spAutoFit/>
          </a:bodyPr>
          <a:lstStyle/>
          <a:p>
            <a:r>
              <a:rPr lang="en-US" dirty="0"/>
              <a:t>Push-Button Start: A keyless entry system is standard, allowing the engine to start by pressing a button while holding the brake pedal (automatic) or clutch pedal (manual</a:t>
            </a:r>
            <a:r>
              <a:rPr lang="en-US" dirty="0" smtClean="0"/>
              <a:t>)</a:t>
            </a:r>
          </a:p>
          <a:p>
            <a:endParaRPr lang="en-US" dirty="0"/>
          </a:p>
          <a:p>
            <a:r>
              <a:rPr lang="en-US" dirty="0" smtClean="0"/>
              <a:t>.</a:t>
            </a:r>
            <a:r>
              <a:rPr lang="en-US" dirty="0" err="1"/>
              <a:t>i</a:t>
            </a:r>
            <a:r>
              <a:rPr lang="en-US" dirty="0"/>
              <a:t>-stop System: This system automatically shuts down the engine when the car comes to a stop to conserve fuel and restarts it instantly when the brake pedal is released</a:t>
            </a:r>
            <a:r>
              <a:rPr lang="en-US" dirty="0" smtClean="0"/>
              <a:t>.</a:t>
            </a:r>
          </a:p>
          <a:p>
            <a:endParaRPr lang="en-US" dirty="0"/>
          </a:p>
          <a:p>
            <a:r>
              <a:rPr lang="en-US" dirty="0" smtClean="0"/>
              <a:t>Keyless </a:t>
            </a:r>
            <a:r>
              <a:rPr lang="en-US" dirty="0"/>
              <a:t>Entry/Operation: The system works when the key is within operational range (inside the vehicle</a:t>
            </a:r>
            <a:r>
              <a:rPr lang="en-US" dirty="0" smtClean="0"/>
              <a:t>).</a:t>
            </a:r>
          </a:p>
          <a:p>
            <a:endParaRPr lang="en-US" dirty="0"/>
          </a:p>
          <a:p>
            <a:r>
              <a:rPr lang="en-US" dirty="0" smtClean="0"/>
              <a:t>Safety </a:t>
            </a:r>
            <a:r>
              <a:rPr lang="en-US" dirty="0"/>
              <a:t>Features: If the engine does not start, it may be due to the steering wheel being locked or the smart key battery being dead (you can press the button with the key itself to start in this case).</a:t>
            </a:r>
          </a:p>
        </p:txBody>
      </p:sp>
      <p:sp>
        <p:nvSpPr>
          <p:cNvPr id="6" name="Rectangle 5"/>
          <p:cNvSpPr/>
          <p:nvPr/>
        </p:nvSpPr>
        <p:spPr>
          <a:xfrm>
            <a:off x="7811192" y="1305443"/>
            <a:ext cx="3693623" cy="3139321"/>
          </a:xfrm>
          <a:prstGeom prst="rect">
            <a:avLst/>
          </a:prstGeom>
        </p:spPr>
        <p:txBody>
          <a:bodyPr wrap="square">
            <a:spAutoFit/>
          </a:bodyPr>
          <a:lstStyle/>
          <a:p>
            <a:r>
              <a:rPr lang="en-US" b="1" dirty="0"/>
              <a:t>An engine immobilizer </a:t>
            </a:r>
            <a:r>
              <a:rPr lang="en-US" dirty="0"/>
              <a:t>is an electronic anti-theft security system that prevents a vehicle's engine from starting unless the correct transponder key or smart key fob is present. It works by disabling the fuel system, ignition, or starter motor when it fails to recognize a unique code from the key, making "hot-wiring" nearly impossible</a:t>
            </a:r>
          </a:p>
        </p:txBody>
      </p:sp>
    </p:spTree>
    <p:custDataLst>
      <p:tags r:id="rId1"/>
    </p:custDataLst>
    <p:extLst>
      <p:ext uri="{BB962C8B-B14F-4D97-AF65-F5344CB8AC3E}">
        <p14:creationId xmlns:p14="http://schemas.microsoft.com/office/powerpoint/2010/main" val="5605321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626794" y="1047748"/>
            <a:ext cx="4836645" cy="369332"/>
          </a:xfrm>
          <a:prstGeom prst="rect">
            <a:avLst/>
          </a:prstGeom>
        </p:spPr>
        <p:txBody>
          <a:bodyPr wrap="none">
            <a:spAutoFit/>
          </a:bodyPr>
          <a:lstStyle/>
          <a:p>
            <a:r>
              <a:rPr lang="en-US" dirty="0"/>
              <a:t>Core Functions Activated in the "ON" Position</a:t>
            </a:r>
          </a:p>
        </p:txBody>
      </p:sp>
      <p:sp>
        <p:nvSpPr>
          <p:cNvPr id="7" name="Rectangle 6"/>
          <p:cNvSpPr/>
          <p:nvPr/>
        </p:nvSpPr>
        <p:spPr>
          <a:xfrm>
            <a:off x="626794" y="1414167"/>
            <a:ext cx="10844770" cy="4770537"/>
          </a:xfrm>
          <a:prstGeom prst="rect">
            <a:avLst/>
          </a:prstGeom>
        </p:spPr>
        <p:txBody>
          <a:bodyPr wrap="square">
            <a:spAutoFit/>
          </a:bodyPr>
          <a:lstStyle/>
          <a:p>
            <a:r>
              <a:rPr lang="en-US" sz="1600" b="1" dirty="0"/>
              <a:t>Instrument Cluster and Dashboard</a:t>
            </a:r>
            <a:r>
              <a:rPr lang="en-US" sz="1600" dirty="0"/>
              <a:t>: All warning lights illuminate briefly as a bulb check, and digital displays or gauges activate to show fuel levels and system status</a:t>
            </a:r>
            <a:r>
              <a:rPr lang="en-US" sz="1600" dirty="0" smtClean="0"/>
              <a:t>.</a:t>
            </a:r>
          </a:p>
          <a:p>
            <a:endParaRPr lang="en-US" sz="1600" dirty="0"/>
          </a:p>
          <a:p>
            <a:r>
              <a:rPr lang="en-US" sz="1600" b="1" dirty="0" smtClean="0"/>
              <a:t>Fuel </a:t>
            </a:r>
            <a:r>
              <a:rPr lang="en-US" sz="1600" b="1" dirty="0"/>
              <a:t>Delivery System</a:t>
            </a:r>
            <a:r>
              <a:rPr lang="en-US" sz="1600" dirty="0"/>
              <a:t>: The electric fuel pump primes for a few seconds to pressurize the fuel lines for starting</a:t>
            </a:r>
            <a:r>
              <a:rPr lang="en-US" sz="1600" dirty="0" smtClean="0"/>
              <a:t>.</a:t>
            </a:r>
          </a:p>
          <a:p>
            <a:endParaRPr lang="en-US" sz="1600" dirty="0"/>
          </a:p>
          <a:p>
            <a:r>
              <a:rPr lang="en-US" sz="1600" b="1" dirty="0" smtClean="0"/>
              <a:t>Engine </a:t>
            </a:r>
            <a:r>
              <a:rPr lang="en-US" sz="1600" b="1" dirty="0"/>
              <a:t>Management</a:t>
            </a:r>
            <a:r>
              <a:rPr lang="en-US" sz="1600" dirty="0"/>
              <a:t>: The Engine Control Unit (ECU) powers up, runs self-diagnostics, and begins reading data from sensors like engine temperature</a:t>
            </a:r>
            <a:r>
              <a:rPr lang="en-US" sz="1600" dirty="0" smtClean="0"/>
              <a:t>.</a:t>
            </a:r>
          </a:p>
          <a:p>
            <a:endParaRPr lang="en-US" sz="1600" dirty="0"/>
          </a:p>
          <a:p>
            <a:r>
              <a:rPr lang="en-US" sz="1600" b="1" dirty="0" smtClean="0"/>
              <a:t>Ignition </a:t>
            </a:r>
            <a:r>
              <a:rPr lang="en-US" sz="1600" b="1" dirty="0"/>
              <a:t>System</a:t>
            </a:r>
            <a:r>
              <a:rPr lang="en-US" sz="1600" dirty="0"/>
              <a:t>: Power is supplied to the ignition coils (or glow plugs in diesels), preparing them to generate spark or heat</a:t>
            </a:r>
            <a:r>
              <a:rPr lang="en-US" sz="1600" dirty="0" smtClean="0"/>
              <a:t>.</a:t>
            </a:r>
          </a:p>
          <a:p>
            <a:endParaRPr lang="en-US" sz="1600" dirty="0"/>
          </a:p>
          <a:p>
            <a:r>
              <a:rPr lang="en-US" sz="1600" b="1" dirty="0" smtClean="0"/>
              <a:t>Climate </a:t>
            </a:r>
            <a:r>
              <a:rPr lang="en-US" sz="1600" b="1" dirty="0"/>
              <a:t>Control</a:t>
            </a:r>
            <a:r>
              <a:rPr lang="en-US" sz="1600" dirty="0"/>
              <a:t>: The blower motor and climate control interface become fully operational, though the air conditioning will not blow cold air since the belt-driven compressor requires a running engine</a:t>
            </a:r>
            <a:r>
              <a:rPr lang="en-US" sz="1600" dirty="0" smtClean="0"/>
              <a:t>.</a:t>
            </a:r>
          </a:p>
          <a:p>
            <a:endParaRPr lang="en-US" sz="1600" dirty="0"/>
          </a:p>
          <a:p>
            <a:r>
              <a:rPr lang="en-US" sz="1600" b="1" dirty="0" smtClean="0"/>
              <a:t>Safety </a:t>
            </a:r>
            <a:r>
              <a:rPr lang="en-US" sz="1600" b="1" dirty="0"/>
              <a:t>Systems: </a:t>
            </a:r>
            <a:r>
              <a:rPr lang="en-US" sz="1600" dirty="0"/>
              <a:t>Supplemental Restraint Systems (SRS) like airbags and Anti-lock Braking Systems (ABS) perform self-checks</a:t>
            </a:r>
            <a:r>
              <a:rPr lang="en-US" sz="1600" dirty="0" smtClean="0"/>
              <a:t>.</a:t>
            </a:r>
          </a:p>
          <a:p>
            <a:endParaRPr lang="en-US" sz="1600" dirty="0"/>
          </a:p>
          <a:p>
            <a:r>
              <a:rPr lang="en-US" sz="1600" b="1" dirty="0" smtClean="0"/>
              <a:t>Cabin </a:t>
            </a:r>
            <a:r>
              <a:rPr lang="en-US" sz="1600" b="1" dirty="0"/>
              <a:t>Electronics: </a:t>
            </a:r>
            <a:r>
              <a:rPr lang="en-US" sz="1600" dirty="0"/>
              <a:t>Power windows, windshield wipers, 12V power outlets, and full infotainment systems become usable.</a:t>
            </a:r>
          </a:p>
        </p:txBody>
      </p:sp>
    </p:spTree>
    <p:custDataLst>
      <p:tags r:id="rId1"/>
    </p:custDataLst>
    <p:extLst>
      <p:ext uri="{BB962C8B-B14F-4D97-AF65-F5344CB8AC3E}">
        <p14:creationId xmlns:p14="http://schemas.microsoft.com/office/powerpoint/2010/main" val="10265531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5" name="Rectangle 4"/>
          <p:cNvSpPr/>
          <p:nvPr/>
        </p:nvSpPr>
        <p:spPr>
          <a:xfrm>
            <a:off x="678228" y="2539619"/>
            <a:ext cx="6449683" cy="2308324"/>
          </a:xfrm>
          <a:prstGeom prst="rect">
            <a:avLst/>
          </a:prstGeom>
        </p:spPr>
        <p:txBody>
          <a:bodyPr wrap="square">
            <a:spAutoFit/>
          </a:bodyPr>
          <a:lstStyle/>
          <a:p>
            <a:r>
              <a:rPr lang="en-US" dirty="0"/>
              <a:t>Definition: "On-Board Diagnostics" refers to a vehicle's self-diagnostic and reporting capability</a:t>
            </a:r>
            <a:r>
              <a:rPr lang="en-US" dirty="0" smtClean="0"/>
              <a:t>.</a:t>
            </a:r>
          </a:p>
          <a:p>
            <a:endParaRPr lang="en-US" dirty="0"/>
          </a:p>
          <a:p>
            <a:r>
              <a:rPr lang="en-US" dirty="0" smtClean="0"/>
              <a:t>Purpose</a:t>
            </a:r>
            <a:r>
              <a:rPr lang="en-US" dirty="0"/>
              <a:t>: It gives the vehicle owner or repair technician access to the status of the various vehicle sub-systems</a:t>
            </a:r>
            <a:r>
              <a:rPr lang="en-US" dirty="0" smtClean="0"/>
              <a:t>.</a:t>
            </a:r>
          </a:p>
          <a:p>
            <a:endParaRPr lang="en-US" dirty="0"/>
          </a:p>
          <a:p>
            <a:r>
              <a:rPr lang="en-US" dirty="0" smtClean="0"/>
              <a:t>Core </a:t>
            </a:r>
            <a:r>
              <a:rPr lang="en-US" dirty="0"/>
              <a:t>Function: It acts as an early warning system for mechanical and electrical failures.</a:t>
            </a:r>
          </a:p>
        </p:txBody>
      </p:sp>
      <p:pic>
        <p:nvPicPr>
          <p:cNvPr id="6" name="Picture 5"/>
          <p:cNvPicPr>
            <a:picLocks noChangeAspect="1"/>
          </p:cNvPicPr>
          <p:nvPr/>
        </p:nvPicPr>
        <p:blipFill>
          <a:blip r:embed="rId5"/>
          <a:stretch>
            <a:fillRect/>
          </a:stretch>
        </p:blipFill>
        <p:spPr>
          <a:xfrm>
            <a:off x="7606004" y="3693781"/>
            <a:ext cx="3858862" cy="2544612"/>
          </a:xfrm>
          <a:prstGeom prst="rect">
            <a:avLst/>
          </a:prstGeom>
        </p:spPr>
      </p:pic>
      <p:sp>
        <p:nvSpPr>
          <p:cNvPr id="8" name="Rectangle 7"/>
          <p:cNvSpPr/>
          <p:nvPr/>
        </p:nvSpPr>
        <p:spPr>
          <a:xfrm>
            <a:off x="678228" y="5165201"/>
            <a:ext cx="4715778" cy="369332"/>
          </a:xfrm>
          <a:prstGeom prst="rect">
            <a:avLst/>
          </a:prstGeom>
        </p:spPr>
        <p:txBody>
          <a:bodyPr wrap="none">
            <a:spAutoFit/>
          </a:bodyPr>
          <a:lstStyle/>
          <a:p>
            <a:r>
              <a:rPr lang="en-US" dirty="0"/>
              <a:t>MIL stands for </a:t>
            </a:r>
            <a:r>
              <a:rPr lang="en-US" b="1" dirty="0"/>
              <a:t>Malfunction Indicator Lamp</a:t>
            </a:r>
          </a:p>
        </p:txBody>
      </p:sp>
      <p:sp>
        <p:nvSpPr>
          <p:cNvPr id="9" name="Rectangle 8"/>
          <p:cNvSpPr/>
          <p:nvPr/>
        </p:nvSpPr>
        <p:spPr>
          <a:xfrm>
            <a:off x="714716" y="5684395"/>
            <a:ext cx="4044697" cy="369332"/>
          </a:xfrm>
          <a:prstGeom prst="rect">
            <a:avLst/>
          </a:prstGeom>
        </p:spPr>
        <p:txBody>
          <a:bodyPr wrap="none">
            <a:spAutoFit/>
          </a:bodyPr>
          <a:lstStyle/>
          <a:p>
            <a:r>
              <a:rPr lang="en-US" dirty="0"/>
              <a:t>DLC stands for </a:t>
            </a:r>
            <a:r>
              <a:rPr lang="en-US" b="1" dirty="0"/>
              <a:t>Data Link Connector</a:t>
            </a:r>
          </a:p>
        </p:txBody>
      </p:sp>
      <p:sp>
        <p:nvSpPr>
          <p:cNvPr id="10" name="Rectangle 9"/>
          <p:cNvSpPr/>
          <p:nvPr/>
        </p:nvSpPr>
        <p:spPr>
          <a:xfrm>
            <a:off x="5325645" y="5165201"/>
            <a:ext cx="2348720" cy="369332"/>
          </a:xfrm>
          <a:prstGeom prst="rect">
            <a:avLst/>
          </a:prstGeom>
        </p:spPr>
        <p:txBody>
          <a:bodyPr wrap="none">
            <a:spAutoFit/>
          </a:bodyPr>
          <a:lstStyle/>
          <a:p>
            <a:r>
              <a:rPr lang="en-US" dirty="0"/>
              <a:t>"Check Engine Light"</a:t>
            </a:r>
          </a:p>
        </p:txBody>
      </p:sp>
      <p:sp>
        <p:nvSpPr>
          <p:cNvPr id="11" name="Rectangle 10"/>
          <p:cNvSpPr/>
          <p:nvPr/>
        </p:nvSpPr>
        <p:spPr>
          <a:xfrm>
            <a:off x="626794" y="1431623"/>
            <a:ext cx="11096829" cy="923330"/>
          </a:xfrm>
          <a:prstGeom prst="rect">
            <a:avLst/>
          </a:prstGeom>
        </p:spPr>
        <p:txBody>
          <a:bodyPr wrap="square">
            <a:spAutoFit/>
          </a:bodyPr>
          <a:lstStyle/>
          <a:p>
            <a:r>
              <a:rPr lang="en-US" dirty="0"/>
              <a:t>An OBD (On-Board Diagnostics) system is a computer inside your vehicle that monitors the engine, transmission, and emissions systems. When the computer detects a malfunction, it turns on your "Check Engine" light and stores a digital trouble code.</a:t>
            </a:r>
          </a:p>
        </p:txBody>
      </p:sp>
    </p:spTree>
    <p:custDataLst>
      <p:tags r:id="rId1"/>
    </p:custDataLst>
    <p:extLst>
      <p:ext uri="{BB962C8B-B14F-4D97-AF65-F5344CB8AC3E}">
        <p14:creationId xmlns:p14="http://schemas.microsoft.com/office/powerpoint/2010/main" val="9359744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2" name="Rectangle 1"/>
          <p:cNvSpPr/>
          <p:nvPr/>
        </p:nvSpPr>
        <p:spPr>
          <a:xfrm>
            <a:off x="726409" y="1414167"/>
            <a:ext cx="2578591" cy="369332"/>
          </a:xfrm>
          <a:prstGeom prst="rect">
            <a:avLst/>
          </a:prstGeom>
        </p:spPr>
        <p:txBody>
          <a:bodyPr wrap="none">
            <a:spAutoFit/>
          </a:bodyPr>
          <a:lstStyle/>
          <a:p>
            <a:r>
              <a:rPr lang="en-US" dirty="0"/>
              <a:t>How the System Works</a:t>
            </a:r>
          </a:p>
        </p:txBody>
      </p:sp>
      <p:sp>
        <p:nvSpPr>
          <p:cNvPr id="7" name="Rectangle 6"/>
          <p:cNvSpPr/>
          <p:nvPr/>
        </p:nvSpPr>
        <p:spPr>
          <a:xfrm>
            <a:off x="758611" y="1776634"/>
            <a:ext cx="3121367" cy="369332"/>
          </a:xfrm>
          <a:prstGeom prst="rect">
            <a:avLst/>
          </a:prstGeom>
        </p:spPr>
        <p:txBody>
          <a:bodyPr wrap="none">
            <a:spAutoFit/>
          </a:bodyPr>
          <a:lstStyle/>
          <a:p>
            <a:r>
              <a:rPr lang="en-US" b="1" dirty="0"/>
              <a:t>The Diagnostic Ecosystem</a:t>
            </a:r>
          </a:p>
        </p:txBody>
      </p:sp>
      <p:sp>
        <p:nvSpPr>
          <p:cNvPr id="12" name="Rectangle 11"/>
          <p:cNvSpPr/>
          <p:nvPr/>
        </p:nvSpPr>
        <p:spPr>
          <a:xfrm>
            <a:off x="3778310" y="1776634"/>
            <a:ext cx="8281417" cy="646331"/>
          </a:xfrm>
          <a:prstGeom prst="rect">
            <a:avLst/>
          </a:prstGeom>
        </p:spPr>
        <p:txBody>
          <a:bodyPr wrap="square">
            <a:spAutoFit/>
          </a:bodyPr>
          <a:lstStyle/>
          <a:p>
            <a:r>
              <a:rPr lang="en-US" dirty="0" smtClean="0"/>
              <a:t>An </a:t>
            </a:r>
            <a:r>
              <a:rPr lang="en-US" dirty="0"/>
              <a:t>interconnected network of hardware, software, data resources, and services that work together to identify diseases or monitor health </a:t>
            </a:r>
            <a:r>
              <a:rPr lang="en-US" dirty="0" smtClean="0"/>
              <a:t>conditions of vehicle</a:t>
            </a:r>
            <a:endParaRPr lang="en-US" dirty="0"/>
          </a:p>
        </p:txBody>
      </p:sp>
      <p:sp>
        <p:nvSpPr>
          <p:cNvPr id="13" name="Rectangle 12"/>
          <p:cNvSpPr/>
          <p:nvPr/>
        </p:nvSpPr>
        <p:spPr>
          <a:xfrm>
            <a:off x="831978" y="2586130"/>
            <a:ext cx="8760596" cy="2308324"/>
          </a:xfrm>
          <a:prstGeom prst="rect">
            <a:avLst/>
          </a:prstGeom>
        </p:spPr>
        <p:txBody>
          <a:bodyPr wrap="square">
            <a:spAutoFit/>
          </a:bodyPr>
          <a:lstStyle/>
          <a:p>
            <a:r>
              <a:rPr lang="en-US" dirty="0"/>
              <a:t>Sensors: Gather data (e.g., oxygen levels, engine temperature, wheel speed</a:t>
            </a:r>
            <a:r>
              <a:rPr lang="en-US" dirty="0" smtClean="0"/>
              <a:t>). Vehicle performance in real time.</a:t>
            </a:r>
          </a:p>
          <a:p>
            <a:endParaRPr lang="en-US" dirty="0"/>
          </a:p>
          <a:p>
            <a:r>
              <a:rPr lang="en-US" dirty="0" smtClean="0"/>
              <a:t>ECUs</a:t>
            </a:r>
            <a:r>
              <a:rPr lang="en-US" dirty="0"/>
              <a:t>: Computer brains process sensor data</a:t>
            </a:r>
            <a:r>
              <a:rPr lang="en-US" dirty="0" smtClean="0"/>
              <a:t>. Analyzing sensor data for error</a:t>
            </a:r>
          </a:p>
          <a:p>
            <a:endParaRPr lang="en-US" dirty="0"/>
          </a:p>
          <a:p>
            <a:r>
              <a:rPr lang="en-US" dirty="0" smtClean="0"/>
              <a:t>DTCs</a:t>
            </a:r>
            <a:r>
              <a:rPr lang="en-US" dirty="0"/>
              <a:t>: Fault codes generated when data falls outside safe limits</a:t>
            </a:r>
            <a:r>
              <a:rPr lang="en-US" dirty="0" smtClean="0"/>
              <a:t>.</a:t>
            </a:r>
          </a:p>
          <a:p>
            <a:endParaRPr lang="en-US" dirty="0"/>
          </a:p>
          <a:p>
            <a:r>
              <a:rPr lang="en-US" dirty="0" smtClean="0"/>
              <a:t>MIL</a:t>
            </a:r>
            <a:r>
              <a:rPr lang="en-US" dirty="0"/>
              <a:t>: The dashboard "Check Engine" light turns on to alert the driver.</a:t>
            </a:r>
          </a:p>
        </p:txBody>
      </p:sp>
      <p:sp>
        <p:nvSpPr>
          <p:cNvPr id="14" name="Rectangle 13"/>
          <p:cNvSpPr/>
          <p:nvPr/>
        </p:nvSpPr>
        <p:spPr>
          <a:xfrm>
            <a:off x="831978" y="4945731"/>
            <a:ext cx="7276852" cy="646331"/>
          </a:xfrm>
          <a:prstGeom prst="rect">
            <a:avLst/>
          </a:prstGeom>
        </p:spPr>
        <p:txBody>
          <a:bodyPr wrap="square">
            <a:spAutoFit/>
          </a:bodyPr>
          <a:lstStyle/>
          <a:p>
            <a:r>
              <a:rPr lang="en-US" i="1" dirty="0"/>
              <a:t>If a sensor reads something abnormal, it tells the computer. The computer logs a specific code and turns on the dashboard light.</a:t>
            </a:r>
          </a:p>
        </p:txBody>
      </p:sp>
      <p:pic>
        <p:nvPicPr>
          <p:cNvPr id="16" name="Picture 15"/>
          <p:cNvPicPr>
            <a:picLocks noChangeAspect="1"/>
          </p:cNvPicPr>
          <p:nvPr/>
        </p:nvPicPr>
        <p:blipFill>
          <a:blip r:embed="rId5"/>
          <a:stretch>
            <a:fillRect/>
          </a:stretch>
        </p:blipFill>
        <p:spPr>
          <a:xfrm>
            <a:off x="8747184" y="3286168"/>
            <a:ext cx="3009631" cy="2182979"/>
          </a:xfrm>
          <a:prstGeom prst="rect">
            <a:avLst/>
          </a:prstGeom>
        </p:spPr>
      </p:pic>
    </p:spTree>
    <p:custDataLst>
      <p:tags r:id="rId1"/>
    </p:custDataLst>
    <p:extLst>
      <p:ext uri="{BB962C8B-B14F-4D97-AF65-F5344CB8AC3E}">
        <p14:creationId xmlns:p14="http://schemas.microsoft.com/office/powerpoint/2010/main" val="14097682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5" name="Rectangle 4"/>
          <p:cNvSpPr/>
          <p:nvPr/>
        </p:nvSpPr>
        <p:spPr>
          <a:xfrm>
            <a:off x="735170" y="1484546"/>
            <a:ext cx="2129750" cy="369332"/>
          </a:xfrm>
          <a:prstGeom prst="rect">
            <a:avLst/>
          </a:prstGeom>
        </p:spPr>
        <p:txBody>
          <a:bodyPr wrap="none">
            <a:spAutoFit/>
          </a:bodyPr>
          <a:lstStyle/>
          <a:p>
            <a:r>
              <a:rPr lang="en-US" dirty="0"/>
              <a:t>🔌 The OBD-II Port</a:t>
            </a:r>
          </a:p>
        </p:txBody>
      </p:sp>
      <p:sp>
        <p:nvSpPr>
          <p:cNvPr id="6" name="Rectangle 5"/>
          <p:cNvSpPr/>
          <p:nvPr/>
        </p:nvSpPr>
        <p:spPr>
          <a:xfrm>
            <a:off x="735170" y="1921344"/>
            <a:ext cx="6588656" cy="1477328"/>
          </a:xfrm>
          <a:prstGeom prst="rect">
            <a:avLst/>
          </a:prstGeom>
        </p:spPr>
        <p:txBody>
          <a:bodyPr wrap="square">
            <a:spAutoFit/>
          </a:bodyPr>
          <a:lstStyle/>
          <a:p>
            <a:r>
              <a:rPr lang="en-US" dirty="0"/>
              <a:t>Location: Usually under the dashboard on the driver's side</a:t>
            </a:r>
            <a:r>
              <a:rPr lang="en-US" dirty="0" smtClean="0"/>
              <a:t>.</a:t>
            </a:r>
          </a:p>
          <a:p>
            <a:endParaRPr lang="en-US" dirty="0"/>
          </a:p>
          <a:p>
            <a:r>
              <a:rPr lang="en-US" dirty="0" smtClean="0"/>
              <a:t>Standard</a:t>
            </a:r>
            <a:r>
              <a:rPr lang="en-US" dirty="0"/>
              <a:t>: Mandatory on all US cars built since 1996</a:t>
            </a:r>
            <a:r>
              <a:rPr lang="en-US" dirty="0" smtClean="0"/>
              <a:t>.</a:t>
            </a:r>
          </a:p>
          <a:p>
            <a:endParaRPr lang="en-US" dirty="0"/>
          </a:p>
          <a:p>
            <a:r>
              <a:rPr lang="en-US" dirty="0" smtClean="0"/>
              <a:t>Shape</a:t>
            </a:r>
            <a:r>
              <a:rPr lang="en-US" dirty="0"/>
              <a:t>: A distinctive 16-pin trapezoidal connector.</a:t>
            </a:r>
          </a:p>
        </p:txBody>
      </p:sp>
      <p:pic>
        <p:nvPicPr>
          <p:cNvPr id="8" name="Picture 7"/>
          <p:cNvPicPr>
            <a:picLocks noChangeAspect="1"/>
          </p:cNvPicPr>
          <p:nvPr/>
        </p:nvPicPr>
        <p:blipFill>
          <a:blip r:embed="rId5"/>
          <a:stretch>
            <a:fillRect/>
          </a:stretch>
        </p:blipFill>
        <p:spPr>
          <a:xfrm>
            <a:off x="8427198" y="1921344"/>
            <a:ext cx="2790825" cy="1752600"/>
          </a:xfrm>
          <a:prstGeom prst="rect">
            <a:avLst/>
          </a:prstGeom>
        </p:spPr>
      </p:pic>
      <p:pic>
        <p:nvPicPr>
          <p:cNvPr id="9" name="Picture 8"/>
          <p:cNvPicPr>
            <a:picLocks noChangeAspect="1"/>
          </p:cNvPicPr>
          <p:nvPr/>
        </p:nvPicPr>
        <p:blipFill>
          <a:blip r:embed="rId6"/>
          <a:stretch>
            <a:fillRect/>
          </a:stretch>
        </p:blipFill>
        <p:spPr>
          <a:xfrm>
            <a:off x="8427198" y="3829408"/>
            <a:ext cx="2899285" cy="2392235"/>
          </a:xfrm>
          <a:prstGeom prst="rect">
            <a:avLst/>
          </a:prstGeom>
        </p:spPr>
      </p:pic>
    </p:spTree>
    <p:custDataLst>
      <p:tags r:id="rId1"/>
    </p:custDataLst>
    <p:extLst>
      <p:ext uri="{BB962C8B-B14F-4D97-AF65-F5344CB8AC3E}">
        <p14:creationId xmlns:p14="http://schemas.microsoft.com/office/powerpoint/2010/main" val="32029524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7" name="Rectangle 6"/>
          <p:cNvSpPr/>
          <p:nvPr/>
        </p:nvSpPr>
        <p:spPr>
          <a:xfrm>
            <a:off x="695804" y="1414167"/>
            <a:ext cx="6096000" cy="4524315"/>
          </a:xfrm>
          <a:prstGeom prst="rect">
            <a:avLst/>
          </a:prstGeom>
        </p:spPr>
        <p:txBody>
          <a:bodyPr>
            <a:spAutoFit/>
          </a:bodyPr>
          <a:lstStyle/>
          <a:p>
            <a:r>
              <a:rPr lang="en-US" dirty="0"/>
              <a:t>Continuous Monitoring: Internal Electronic Control Units (ECUs) read data from various sensors spread across the engine, transmission, and braking systems</a:t>
            </a:r>
            <a:r>
              <a:rPr lang="en-US" dirty="0" smtClean="0"/>
              <a:t>.</a:t>
            </a:r>
          </a:p>
          <a:p>
            <a:endParaRPr lang="en-US" dirty="0"/>
          </a:p>
          <a:p>
            <a:r>
              <a:rPr lang="en-US" dirty="0" smtClean="0"/>
              <a:t>Fault </a:t>
            </a:r>
            <a:r>
              <a:rPr lang="en-US" dirty="0"/>
              <a:t>Detection: If a sensor detects an operational metric outside acceptable limits, the system logs a Diagnostic Trouble Code (DTC</a:t>
            </a:r>
            <a:r>
              <a:rPr lang="en-US" dirty="0" smtClean="0"/>
              <a:t>).</a:t>
            </a:r>
          </a:p>
          <a:p>
            <a:endParaRPr lang="en-US" dirty="0"/>
          </a:p>
          <a:p>
            <a:r>
              <a:rPr lang="en-US" dirty="0" smtClean="0"/>
              <a:t>Driver </a:t>
            </a:r>
            <a:r>
              <a:rPr lang="en-US" dirty="0"/>
              <a:t>Notification: The system illuminates the Malfunction Indicator Light (MIL)—commonly known as the "Check Engine" light—on your dashboard</a:t>
            </a:r>
            <a:r>
              <a:rPr lang="en-US" dirty="0" smtClean="0"/>
              <a:t>.</a:t>
            </a:r>
          </a:p>
          <a:p>
            <a:endParaRPr lang="en-US" dirty="0"/>
          </a:p>
          <a:p>
            <a:r>
              <a:rPr lang="en-US" dirty="0" smtClean="0"/>
              <a:t>Data </a:t>
            </a:r>
            <a:r>
              <a:rPr lang="en-US" dirty="0"/>
              <a:t>Access: Mechanics or vehicle owners can plug an external scan tool into the physical 16-pin Diagnostic Link Connector (DLC) to read the fault codes and live data parameters.</a:t>
            </a:r>
          </a:p>
        </p:txBody>
      </p:sp>
      <p:pic>
        <p:nvPicPr>
          <p:cNvPr id="10" name="Picture 9"/>
          <p:cNvPicPr>
            <a:picLocks noChangeAspect="1"/>
          </p:cNvPicPr>
          <p:nvPr/>
        </p:nvPicPr>
        <p:blipFill>
          <a:blip r:embed="rId5"/>
          <a:stretch>
            <a:fillRect/>
          </a:stretch>
        </p:blipFill>
        <p:spPr>
          <a:xfrm>
            <a:off x="8348123" y="1501175"/>
            <a:ext cx="3340669" cy="2587745"/>
          </a:xfrm>
          <a:prstGeom prst="rect">
            <a:avLst/>
          </a:prstGeom>
        </p:spPr>
      </p:pic>
    </p:spTree>
    <p:custDataLst>
      <p:tags r:id="rId1"/>
    </p:custDataLst>
    <p:extLst>
      <p:ext uri="{BB962C8B-B14F-4D97-AF65-F5344CB8AC3E}">
        <p14:creationId xmlns:p14="http://schemas.microsoft.com/office/powerpoint/2010/main" val="35416394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2" name="Rectangle 1"/>
          <p:cNvSpPr/>
          <p:nvPr/>
        </p:nvSpPr>
        <p:spPr>
          <a:xfrm>
            <a:off x="704361" y="1414167"/>
            <a:ext cx="3416320" cy="369332"/>
          </a:xfrm>
          <a:prstGeom prst="rect">
            <a:avLst/>
          </a:prstGeom>
        </p:spPr>
        <p:txBody>
          <a:bodyPr wrap="none">
            <a:spAutoFit/>
          </a:bodyPr>
          <a:lstStyle/>
          <a:p>
            <a:r>
              <a:rPr lang="en-US" dirty="0"/>
              <a:t>The Physical Connection (DLC)</a:t>
            </a:r>
          </a:p>
        </p:txBody>
      </p:sp>
      <p:sp>
        <p:nvSpPr>
          <p:cNvPr id="5" name="Rectangle 4"/>
          <p:cNvSpPr/>
          <p:nvPr/>
        </p:nvSpPr>
        <p:spPr>
          <a:xfrm>
            <a:off x="4097357" y="1438660"/>
            <a:ext cx="3339376" cy="369332"/>
          </a:xfrm>
          <a:prstGeom prst="rect">
            <a:avLst/>
          </a:prstGeom>
        </p:spPr>
        <p:txBody>
          <a:bodyPr wrap="none">
            <a:spAutoFit/>
          </a:bodyPr>
          <a:lstStyle/>
          <a:p>
            <a:r>
              <a:rPr lang="en-US" dirty="0"/>
              <a:t>The Diagnostic Link Connector</a:t>
            </a:r>
          </a:p>
        </p:txBody>
      </p:sp>
      <p:sp>
        <p:nvSpPr>
          <p:cNvPr id="6" name="Rectangle 5"/>
          <p:cNvSpPr/>
          <p:nvPr/>
        </p:nvSpPr>
        <p:spPr>
          <a:xfrm>
            <a:off x="770627" y="1829572"/>
            <a:ext cx="6096000" cy="2308324"/>
          </a:xfrm>
          <a:prstGeom prst="rect">
            <a:avLst/>
          </a:prstGeom>
        </p:spPr>
        <p:txBody>
          <a:bodyPr>
            <a:spAutoFit/>
          </a:bodyPr>
          <a:lstStyle/>
          <a:p>
            <a:r>
              <a:rPr lang="en-US" dirty="0"/>
              <a:t>The Interface: A standardized 16-pin trapezoidal connector plug</a:t>
            </a:r>
            <a:r>
              <a:rPr lang="en-US" dirty="0" smtClean="0"/>
              <a:t>.</a:t>
            </a:r>
          </a:p>
          <a:p>
            <a:endParaRPr lang="en-US" dirty="0"/>
          </a:p>
          <a:p>
            <a:r>
              <a:rPr lang="en-US" dirty="0" smtClean="0"/>
              <a:t>Location</a:t>
            </a:r>
            <a:r>
              <a:rPr lang="en-US" dirty="0"/>
              <a:t>: Always located within 3 feet of the driver’s steering wheel (usually under the dashboard</a:t>
            </a:r>
            <a:r>
              <a:rPr lang="en-US" dirty="0" smtClean="0"/>
              <a:t>).</a:t>
            </a:r>
          </a:p>
          <a:p>
            <a:endParaRPr lang="en-US" dirty="0"/>
          </a:p>
          <a:p>
            <a:r>
              <a:rPr lang="en-US" dirty="0" smtClean="0"/>
              <a:t>Pins</a:t>
            </a:r>
            <a:r>
              <a:rPr lang="en-US" dirty="0"/>
              <a:t>: Separate pins are dedicated to battery power, grounding, and high-speed data communication lines.</a:t>
            </a:r>
          </a:p>
        </p:txBody>
      </p:sp>
      <p:pic>
        <p:nvPicPr>
          <p:cNvPr id="8" name="Picture 7"/>
          <p:cNvPicPr>
            <a:picLocks noChangeAspect="1"/>
          </p:cNvPicPr>
          <p:nvPr/>
        </p:nvPicPr>
        <p:blipFill>
          <a:blip r:embed="rId5"/>
          <a:stretch>
            <a:fillRect/>
          </a:stretch>
        </p:blipFill>
        <p:spPr>
          <a:xfrm>
            <a:off x="7436733" y="2449901"/>
            <a:ext cx="4096718" cy="3550489"/>
          </a:xfrm>
          <a:prstGeom prst="rect">
            <a:avLst/>
          </a:prstGeom>
        </p:spPr>
      </p:pic>
    </p:spTree>
    <p:custDataLst>
      <p:tags r:id="rId1"/>
    </p:custDataLst>
    <p:extLst>
      <p:ext uri="{BB962C8B-B14F-4D97-AF65-F5344CB8AC3E}">
        <p14:creationId xmlns:p14="http://schemas.microsoft.com/office/powerpoint/2010/main" val="20346144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626795" y="681329"/>
            <a:ext cx="10018643" cy="370371"/>
          </a:xfrm>
          <a:prstGeom prst="rect">
            <a:avLst/>
          </a:prstGeom>
          <a:noFill/>
        </p:spPr>
        <p:txBody>
          <a:bodyPr wrap="square" rtlCol="0">
            <a:noAutofit/>
          </a:bodyPr>
          <a:lstStyle/>
          <a:p>
            <a:r>
              <a:rPr lang="en-US" b="1" dirty="0" smtClean="0"/>
              <a:t>Chapter 13 Inspection and Service auto electric system service</a:t>
            </a:r>
          </a:p>
        </p:txBody>
      </p:sp>
      <p:sp>
        <p:nvSpPr>
          <p:cNvPr id="22" name="文本框 21"/>
          <p:cNvSpPr txBox="1"/>
          <p:nvPr>
            <p:custDataLst>
              <p:tags r:id="rId3"/>
            </p:custDataLst>
          </p:nvPr>
        </p:nvSpPr>
        <p:spPr>
          <a:xfrm>
            <a:off x="1687844" y="377711"/>
            <a:ext cx="8719930" cy="670037"/>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26794" y="6238393"/>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626794" y="1047748"/>
            <a:ext cx="4750018" cy="369332"/>
          </a:xfrm>
          <a:prstGeom prst="rect">
            <a:avLst/>
          </a:prstGeom>
        </p:spPr>
        <p:txBody>
          <a:bodyPr wrap="none">
            <a:spAutoFit/>
          </a:bodyPr>
          <a:lstStyle/>
          <a:p>
            <a:r>
              <a:rPr lang="en-US" dirty="0"/>
              <a:t> Introduction to On-Board Diagnostics (OBD)</a:t>
            </a:r>
          </a:p>
        </p:txBody>
      </p:sp>
      <p:sp>
        <p:nvSpPr>
          <p:cNvPr id="7" name="Rectangle 6"/>
          <p:cNvSpPr/>
          <p:nvPr/>
        </p:nvSpPr>
        <p:spPr>
          <a:xfrm>
            <a:off x="766064" y="1414167"/>
            <a:ext cx="4673139" cy="369332"/>
          </a:xfrm>
          <a:prstGeom prst="rect">
            <a:avLst/>
          </a:prstGeom>
        </p:spPr>
        <p:txBody>
          <a:bodyPr wrap="none">
            <a:spAutoFit/>
          </a:bodyPr>
          <a:lstStyle/>
          <a:p>
            <a:r>
              <a:rPr lang="en-US" dirty="0"/>
              <a:t>Decoding Diagnostic Trouble Codes (DTCs)</a:t>
            </a:r>
          </a:p>
        </p:txBody>
      </p:sp>
      <p:sp>
        <p:nvSpPr>
          <p:cNvPr id="9" name="Rectangle 8"/>
          <p:cNvSpPr/>
          <p:nvPr/>
        </p:nvSpPr>
        <p:spPr>
          <a:xfrm>
            <a:off x="5439203" y="1417080"/>
            <a:ext cx="2903359" cy="369332"/>
          </a:xfrm>
          <a:prstGeom prst="rect">
            <a:avLst/>
          </a:prstGeom>
        </p:spPr>
        <p:txBody>
          <a:bodyPr wrap="none">
            <a:spAutoFit/>
          </a:bodyPr>
          <a:lstStyle/>
          <a:p>
            <a:r>
              <a:rPr lang="en-US" dirty="0"/>
              <a:t>How to Read a Fault Code</a:t>
            </a:r>
          </a:p>
        </p:txBody>
      </p:sp>
      <p:sp>
        <p:nvSpPr>
          <p:cNvPr id="10" name="Rectangle 9"/>
          <p:cNvSpPr/>
          <p:nvPr/>
        </p:nvSpPr>
        <p:spPr>
          <a:xfrm>
            <a:off x="794882" y="1978164"/>
            <a:ext cx="6096000" cy="3693319"/>
          </a:xfrm>
          <a:prstGeom prst="rect">
            <a:avLst/>
          </a:prstGeom>
        </p:spPr>
        <p:txBody>
          <a:bodyPr>
            <a:spAutoFit/>
          </a:bodyPr>
          <a:lstStyle/>
          <a:p>
            <a:r>
              <a:rPr lang="en-US" dirty="0"/>
              <a:t>Structure: Standard codes use 5 alphanumeric characters (e.g., P0300</a:t>
            </a:r>
            <a:r>
              <a:rPr lang="en-US" dirty="0" smtClean="0"/>
              <a:t>).</a:t>
            </a:r>
          </a:p>
          <a:p>
            <a:endParaRPr lang="en-US" dirty="0"/>
          </a:p>
          <a:p>
            <a:r>
              <a:rPr lang="en-US" dirty="0" smtClean="0"/>
              <a:t>First </a:t>
            </a:r>
            <a:r>
              <a:rPr lang="en-US" dirty="0"/>
              <a:t>Letter (System): P = Powertrain (Engine/Trans), B = Body, C = Chassis, U = Network</a:t>
            </a:r>
            <a:r>
              <a:rPr lang="en-US" dirty="0" smtClean="0"/>
              <a:t>.</a:t>
            </a:r>
          </a:p>
          <a:p>
            <a:endParaRPr lang="en-US" dirty="0"/>
          </a:p>
          <a:p>
            <a:r>
              <a:rPr lang="en-US" dirty="0" smtClean="0"/>
              <a:t>Second </a:t>
            </a:r>
            <a:r>
              <a:rPr lang="en-US" dirty="0"/>
              <a:t>Digit (Type): 0 = Standard Generic Code, 1 = Manufacturer Specific Code</a:t>
            </a:r>
            <a:r>
              <a:rPr lang="en-US" dirty="0" smtClean="0"/>
              <a:t>.</a:t>
            </a:r>
          </a:p>
          <a:p>
            <a:endParaRPr lang="en-US" dirty="0"/>
          </a:p>
          <a:p>
            <a:r>
              <a:rPr lang="en-US" dirty="0" smtClean="0"/>
              <a:t>Third </a:t>
            </a:r>
            <a:r>
              <a:rPr lang="en-US" dirty="0"/>
              <a:t>Digit (Sub-system): 3 = Engine Misfire, 7 = Transmission, etc</a:t>
            </a:r>
            <a:r>
              <a:rPr lang="en-US" dirty="0" smtClean="0"/>
              <a:t>.</a:t>
            </a:r>
          </a:p>
          <a:p>
            <a:endParaRPr lang="en-US" dirty="0"/>
          </a:p>
          <a:p>
            <a:r>
              <a:rPr lang="en-US" dirty="0" smtClean="0"/>
              <a:t>Last </a:t>
            </a:r>
            <a:r>
              <a:rPr lang="en-US" dirty="0"/>
              <a:t>Two Digits: Specific fault description identifier</a:t>
            </a:r>
          </a:p>
        </p:txBody>
      </p:sp>
      <p:sp>
        <p:nvSpPr>
          <p:cNvPr id="11" name="Rectangle 10"/>
          <p:cNvSpPr/>
          <p:nvPr/>
        </p:nvSpPr>
        <p:spPr>
          <a:xfrm>
            <a:off x="8342562" y="1978164"/>
            <a:ext cx="3283789" cy="1754326"/>
          </a:xfrm>
          <a:prstGeom prst="rect">
            <a:avLst/>
          </a:prstGeom>
        </p:spPr>
        <p:txBody>
          <a:bodyPr wrap="square">
            <a:spAutoFit/>
          </a:bodyPr>
          <a:lstStyle/>
          <a:p>
            <a:r>
              <a:rPr lang="en-US" dirty="0"/>
              <a:t> P0300 is a classic example. "P" means it's an engine issue, "0" means it's a generic code any scanner can read, and "3" means there is a cylinder misfire</a:t>
            </a:r>
          </a:p>
        </p:txBody>
      </p:sp>
      <p:pic>
        <p:nvPicPr>
          <p:cNvPr id="12" name="Picture 11"/>
          <p:cNvPicPr>
            <a:picLocks noChangeAspect="1"/>
          </p:cNvPicPr>
          <p:nvPr/>
        </p:nvPicPr>
        <p:blipFill>
          <a:blip r:embed="rId5"/>
          <a:stretch>
            <a:fillRect/>
          </a:stretch>
        </p:blipFill>
        <p:spPr>
          <a:xfrm>
            <a:off x="8790317" y="4002250"/>
            <a:ext cx="2541382" cy="2466975"/>
          </a:xfrm>
          <a:prstGeom prst="rect">
            <a:avLst/>
          </a:prstGeom>
        </p:spPr>
      </p:pic>
    </p:spTree>
    <p:custDataLst>
      <p:tags r:id="rId1"/>
    </p:custDataLst>
    <p:extLst>
      <p:ext uri="{BB962C8B-B14F-4D97-AF65-F5344CB8AC3E}">
        <p14:creationId xmlns:p14="http://schemas.microsoft.com/office/powerpoint/2010/main" val="41168652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1053</TotalTime>
  <Words>2510</Words>
  <Application>Microsoft Office PowerPoint</Application>
  <PresentationFormat>Widescreen</PresentationFormat>
  <Paragraphs>288</Paragraphs>
  <Slides>25</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Microsoft YaHei</vt:lpstr>
      <vt:lpstr>SimSun</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244</cp:revision>
  <dcterms:created xsi:type="dcterms:W3CDTF">2019-06-19T02:08:00Z</dcterms:created>
  <dcterms:modified xsi:type="dcterms:W3CDTF">2026-05-20T09:15:26Z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