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19"/>
  </p:notesMasterIdLst>
  <p:sldIdLst>
    <p:sldId id="348" r:id="rId2"/>
    <p:sldId id="331" r:id="rId3"/>
    <p:sldId id="394" r:id="rId4"/>
    <p:sldId id="395" r:id="rId5"/>
    <p:sldId id="404" r:id="rId6"/>
    <p:sldId id="405" r:id="rId7"/>
    <p:sldId id="406" r:id="rId8"/>
    <p:sldId id="407" r:id="rId9"/>
    <p:sldId id="377" r:id="rId10"/>
    <p:sldId id="408" r:id="rId11"/>
    <p:sldId id="396" r:id="rId12"/>
    <p:sldId id="400" r:id="rId13"/>
    <p:sldId id="401" r:id="rId14"/>
    <p:sldId id="402" r:id="rId15"/>
    <p:sldId id="403" r:id="rId16"/>
    <p:sldId id="409" r:id="rId17"/>
    <p:sldId id="295"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2025/11/26</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7" Type="http://schemas.openxmlformats.org/officeDocument/2006/relationships/image" Target="../media/image15.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hyperlink" Target="https://www.google.com/search?q=fuel+injectors&amp;rlz=1C1GCEU_enMV1179MV1179&amp;oq=petrol+fuel+system&amp;gs_lcrp=EgZjaHJvbWUyCQgAEEUYORiABDIHCAEQABiABDIHCAIQABiABDIHCAMQABiABDIHCAQQABiABDIHCAUQABiABDIHCAYQABiABDIHCAcQABiABDIHCAgQABiABDIHCAkQABiABNIBCDc0MzhqMGo3qAIAsAIA&amp;sourceid=chrome&amp;ie=UTF-8&amp;mstk=AUtExfCoBkNLEj3uWHyaE6RZMinloR8xdQ-lC-2cSkiM9ZnOvQLhuLjnVdEnGB1aS3AYe1jQBWGG3XZi0-JSH3X8CTOubPq2qN7B9Dwjb9ppuvH2W-MeStVXzVvjlFrykjn65qFkXmh2gSPDEQOmu1UXFMR_eT8jJvf-Jgm3aCsZIhqkZfc&amp;csui=3&amp;ved=2ahUKEwj6_PWB5ICRAxXUe2wGHaXwKbEQgK4QegQIARAF" TargetMode="External"/><Relationship Id="rId5" Type="http://schemas.openxmlformats.org/officeDocument/2006/relationships/hyperlink" Target="https://www.google.com/search?q=carburetor&amp;rlz=1C1GCEU_enMV1179MV1179&amp;oq=petrol+fuel+system&amp;gs_lcrp=EgZjaHJvbWUyCQgAEEUYORiABDIHCAEQABiABDIHCAIQABiABDIHCAMQABiABDIHCAQQABiABDIHCAUQABiABDIHCAYQABiABDIHCAcQABiABDIHCAgQABiABDIHCAkQABiABNIBCDc0MzhqMGo3qAIAsAIA&amp;sourceid=chrome&amp;ie=UTF-8&amp;mstk=AUtExfCoBkNLEj3uWHyaE6RZMinloR8xdQ-lC-2cSkiM9ZnOvQLhuLjnVdEnGB1aS3AYe1jQBWGG3XZi0-JSH3X8CTOubPq2qN7B9Dwjb9ppuvH2W-MeStVXzVvjlFrykjn65qFkXmh2gSPDEQOmu1UXFMR_eT8jJvf-Jgm3aCsZIhqkZfc&amp;csui=3&amp;ved=2ahUKEwj6_PWB5ICRAxXUe2wGHaXwKbEQgK4QegQIARAE" TargetMode="Externa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7" Type="http://schemas.openxmlformats.org/officeDocument/2006/relationships/image" Target="../media/image20.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5.xml"/><Relationship Id="rId1" Type="http://schemas.openxmlformats.org/officeDocument/2006/relationships/tags" Target="../tags/tag2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471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79883" y="1044036"/>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181408" y="1384237"/>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912D715C-44A5-5D40-B731-A80D595A1046}"/>
              </a:ext>
            </a:extLst>
          </p:cNvPr>
          <p:cNvSpPr txBox="1"/>
          <p:nvPr/>
        </p:nvSpPr>
        <p:spPr>
          <a:xfrm>
            <a:off x="1181408" y="1830913"/>
            <a:ext cx="10018642" cy="923330"/>
          </a:xfrm>
          <a:prstGeom prst="rect">
            <a:avLst/>
          </a:prstGeom>
          <a:noFill/>
        </p:spPr>
        <p:txBody>
          <a:bodyPr wrap="square">
            <a:spAutoFit/>
          </a:bodyPr>
          <a:lstStyle/>
          <a:p>
            <a:r>
              <a:rPr lang="en-US" b="0" i="0" dirty="0">
                <a:solidFill>
                  <a:srgbClr val="0A0A0A"/>
                </a:solidFill>
                <a:effectLst/>
                <a:latin typeface="Google Sans"/>
              </a:rPr>
              <a:t>A petrol fuel system is </a:t>
            </a:r>
            <a:r>
              <a:rPr lang="en-US" dirty="0"/>
              <a:t>a system that stores and delivers fuel to an engine for combustion</a:t>
            </a:r>
            <a:r>
              <a:rPr lang="en-US" b="0" i="0" dirty="0">
                <a:solidFill>
                  <a:srgbClr val="0A0A0A"/>
                </a:solidFill>
                <a:effectLst/>
                <a:latin typeface="Google Sans"/>
              </a:rPr>
              <a:t>, consisting of a </a:t>
            </a:r>
            <a:r>
              <a:rPr lang="en-US" b="1" i="0" dirty="0">
                <a:solidFill>
                  <a:srgbClr val="0A0A0A"/>
                </a:solidFill>
                <a:effectLst/>
                <a:latin typeface="Google Sans"/>
              </a:rPr>
              <a:t>fuel tank</a:t>
            </a:r>
            <a:r>
              <a:rPr lang="en-US" b="0" i="0" dirty="0">
                <a:solidFill>
                  <a:srgbClr val="0A0A0A"/>
                </a:solidFill>
                <a:effectLst/>
                <a:latin typeface="Google Sans"/>
              </a:rPr>
              <a:t>, </a:t>
            </a:r>
            <a:r>
              <a:rPr lang="en-US" b="1" i="0" dirty="0">
                <a:solidFill>
                  <a:srgbClr val="0A0A0A"/>
                </a:solidFill>
                <a:effectLst/>
                <a:latin typeface="Google Sans"/>
              </a:rPr>
              <a:t>fuel pump</a:t>
            </a:r>
            <a:r>
              <a:rPr lang="en-US" b="0" i="0" dirty="0">
                <a:solidFill>
                  <a:srgbClr val="0A0A0A"/>
                </a:solidFill>
                <a:effectLst/>
                <a:latin typeface="Google Sans"/>
              </a:rPr>
              <a:t>, </a:t>
            </a:r>
            <a:r>
              <a:rPr lang="en-US" b="1" i="0" dirty="0">
                <a:solidFill>
                  <a:srgbClr val="0A0A0A"/>
                </a:solidFill>
                <a:effectLst/>
                <a:latin typeface="Google Sans"/>
              </a:rPr>
              <a:t>fuel lines</a:t>
            </a:r>
            <a:r>
              <a:rPr lang="en-US" b="0" i="0" dirty="0">
                <a:solidFill>
                  <a:srgbClr val="0A0A0A"/>
                </a:solidFill>
                <a:effectLst/>
                <a:latin typeface="Google Sans"/>
              </a:rPr>
              <a:t>, </a:t>
            </a:r>
            <a:r>
              <a:rPr lang="en-US" b="1" i="0" dirty="0">
                <a:solidFill>
                  <a:srgbClr val="0A0A0A"/>
                </a:solidFill>
                <a:effectLst/>
                <a:latin typeface="Google Sans"/>
              </a:rPr>
              <a:t>fuel filter</a:t>
            </a:r>
            <a:r>
              <a:rPr lang="en-US" b="0" i="0" dirty="0">
                <a:solidFill>
                  <a:srgbClr val="0A0A0A"/>
                </a:solidFill>
                <a:effectLst/>
                <a:latin typeface="Google Sans"/>
              </a:rPr>
              <a:t>, and either a </a:t>
            </a:r>
            <a:r>
              <a:rPr lang="en-US" b="1" i="0" dirty="0">
                <a:solidFill>
                  <a:srgbClr val="0A0A0A"/>
                </a:solidFill>
                <a:effectLst/>
                <a:latin typeface="Google Sans"/>
                <a:hlinkClick r:id="rId5"/>
              </a:rPr>
              <a:t>carburetor</a:t>
            </a:r>
            <a:r>
              <a:rPr lang="en-US" b="0" i="0" dirty="0">
                <a:solidFill>
                  <a:srgbClr val="0A0A0A"/>
                </a:solidFill>
                <a:effectLst/>
                <a:latin typeface="Google Sans"/>
              </a:rPr>
              <a:t> (in older cars) or </a:t>
            </a:r>
            <a:r>
              <a:rPr lang="en-US" b="1" i="0" dirty="0">
                <a:solidFill>
                  <a:srgbClr val="0A0A0A"/>
                </a:solidFill>
                <a:effectLst/>
                <a:latin typeface="Google Sans"/>
                <a:hlinkClick r:id="rId6"/>
              </a:rPr>
              <a:t>fuel injectors</a:t>
            </a:r>
            <a:r>
              <a:rPr lang="en-US" b="0" i="0" dirty="0">
                <a:solidFill>
                  <a:srgbClr val="0A0A0A"/>
                </a:solidFill>
                <a:effectLst/>
                <a:latin typeface="Google Sans"/>
              </a:rPr>
              <a:t> (in modern cars)</a:t>
            </a:r>
            <a:endParaRPr lang="en-US" dirty="0"/>
          </a:p>
        </p:txBody>
      </p:sp>
      <p:sp>
        <p:nvSpPr>
          <p:cNvPr id="8" name="TextBox 7">
            <a:extLst>
              <a:ext uri="{FF2B5EF4-FFF2-40B4-BE49-F238E27FC236}">
                <a16:creationId xmlns:a16="http://schemas.microsoft.com/office/drawing/2014/main" id="{72F38AFF-F982-1360-F4CC-D9C374C91488}"/>
              </a:ext>
            </a:extLst>
          </p:cNvPr>
          <p:cNvSpPr txBox="1"/>
          <p:nvPr/>
        </p:nvSpPr>
        <p:spPr>
          <a:xfrm>
            <a:off x="1181408" y="2843385"/>
            <a:ext cx="10117118" cy="646331"/>
          </a:xfrm>
          <a:prstGeom prst="rect">
            <a:avLst/>
          </a:prstGeom>
          <a:noFill/>
        </p:spPr>
        <p:txBody>
          <a:bodyPr wrap="square">
            <a:spAutoFit/>
          </a:bodyPr>
          <a:lstStyle/>
          <a:p>
            <a:r>
              <a:rPr lang="en-US" b="0" i="0" dirty="0">
                <a:solidFill>
                  <a:srgbClr val="0A0A0A"/>
                </a:solidFill>
                <a:effectLst/>
                <a:latin typeface="Google Sans"/>
              </a:rPr>
              <a:t>The system works by pumping fuel from the tank through filters to the carburetor or injectors, which mix it with air and deliver it to the engine's combustion chamber for power generation</a:t>
            </a:r>
            <a:endParaRPr lang="en-US" dirty="0"/>
          </a:p>
        </p:txBody>
      </p:sp>
      <p:pic>
        <p:nvPicPr>
          <p:cNvPr id="9" name="Picture 8">
            <a:extLst>
              <a:ext uri="{FF2B5EF4-FFF2-40B4-BE49-F238E27FC236}">
                <a16:creationId xmlns:a16="http://schemas.microsoft.com/office/drawing/2014/main" id="{B72B6170-A952-CF89-D352-C5F3B72A41D7}"/>
              </a:ext>
            </a:extLst>
          </p:cNvPr>
          <p:cNvPicPr>
            <a:picLocks noChangeAspect="1"/>
          </p:cNvPicPr>
          <p:nvPr/>
        </p:nvPicPr>
        <p:blipFill>
          <a:blip r:embed="rId7"/>
          <a:stretch>
            <a:fillRect/>
          </a:stretch>
        </p:blipFill>
        <p:spPr>
          <a:xfrm>
            <a:off x="5920348" y="3489716"/>
            <a:ext cx="5699566" cy="3096823"/>
          </a:xfrm>
          <a:prstGeom prst="rect">
            <a:avLst/>
          </a:prstGeom>
        </p:spPr>
      </p:pic>
    </p:spTree>
    <p:custDataLst>
      <p:tags r:id="rId1"/>
    </p:custDataLst>
    <p:extLst>
      <p:ext uri="{BB962C8B-B14F-4D97-AF65-F5344CB8AC3E}">
        <p14:creationId xmlns:p14="http://schemas.microsoft.com/office/powerpoint/2010/main" val="83779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FB8D-0C04-A66E-3609-C644F3132F6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436B917-99A1-F158-CA2E-4D138D594050}"/>
              </a:ext>
            </a:extLst>
          </p:cNvPr>
          <p:cNvSpPr txBox="1"/>
          <p:nvPr>
            <p:custDataLst>
              <p:tags r:id="rId2"/>
            </p:custDataLst>
          </p:nvPr>
        </p:nvSpPr>
        <p:spPr>
          <a:xfrm>
            <a:off x="1021236"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84C9A05B-5721-918A-EEE0-573DEA2FABC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173C050-1840-7D86-FA06-93D328E87DBC}"/>
              </a:ext>
            </a:extLst>
          </p:cNvPr>
          <p:cNvSpPr txBox="1"/>
          <p:nvPr/>
        </p:nvSpPr>
        <p:spPr>
          <a:xfrm>
            <a:off x="848751" y="610375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D431F7-B127-668D-72A3-0A92BB11CA58}"/>
              </a:ext>
            </a:extLst>
          </p:cNvPr>
          <p:cNvSpPr/>
          <p:nvPr/>
        </p:nvSpPr>
        <p:spPr>
          <a:xfrm>
            <a:off x="1163853" y="1435910"/>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9058E42-ED11-4D73-28FB-089D97775C0B}"/>
              </a:ext>
            </a:extLst>
          </p:cNvPr>
          <p:cNvPicPr>
            <a:picLocks noChangeAspect="1"/>
          </p:cNvPicPr>
          <p:nvPr/>
        </p:nvPicPr>
        <p:blipFill>
          <a:blip r:embed="rId5"/>
          <a:stretch>
            <a:fillRect/>
          </a:stretch>
        </p:blipFill>
        <p:spPr>
          <a:xfrm>
            <a:off x="1163853" y="1814947"/>
            <a:ext cx="10118436" cy="3931273"/>
          </a:xfrm>
          <a:prstGeom prst="rect">
            <a:avLst/>
          </a:prstGeom>
        </p:spPr>
      </p:pic>
    </p:spTree>
    <p:custDataLst>
      <p:tags r:id="rId1"/>
    </p:custDataLst>
    <p:extLst>
      <p:ext uri="{BB962C8B-B14F-4D97-AF65-F5344CB8AC3E}">
        <p14:creationId xmlns:p14="http://schemas.microsoft.com/office/powerpoint/2010/main" val="248387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4AD83-1389-D735-E342-2213DC4DF15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8BABBA8-242D-DEAA-4845-AD7376ACA2BE}"/>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E59E3584-03D2-B52C-F312-5BFB0F663997}"/>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B56021-0F46-355C-8F4F-A45AC8362648}"/>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1B80820-EC97-C9B7-306E-6FCD9026676C}"/>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F5C40D40-E231-7609-1C40-7A71700583A5}"/>
              </a:ext>
            </a:extLst>
          </p:cNvPr>
          <p:cNvSpPr txBox="1"/>
          <p:nvPr/>
        </p:nvSpPr>
        <p:spPr>
          <a:xfrm>
            <a:off x="410376" y="1814947"/>
            <a:ext cx="11240363" cy="4524315"/>
          </a:xfrm>
          <a:prstGeom prst="rect">
            <a:avLst/>
          </a:prstGeom>
          <a:noFill/>
        </p:spPr>
        <p:txBody>
          <a:bodyPr wrap="square">
            <a:spAutoFit/>
          </a:bodyPr>
          <a:lstStyle/>
          <a:p>
            <a:r>
              <a:rPr lang="en-US" dirty="0"/>
              <a:t>Fuel Tank: Stores the petrol for the vehicle.</a:t>
            </a:r>
          </a:p>
          <a:p>
            <a:endParaRPr lang="en-US" dirty="0"/>
          </a:p>
          <a:p>
            <a:r>
              <a:rPr lang="en-US" dirty="0"/>
              <a:t>Fuel Pump: Draws fuel from the tank and pumps it under pressure through the system to the injectors.</a:t>
            </a:r>
          </a:p>
          <a:p>
            <a:endParaRPr lang="en-US" dirty="0"/>
          </a:p>
          <a:p>
            <a:r>
              <a:rPr lang="en-US" dirty="0"/>
              <a:t>Fuel Filter: Cleans the fuel by removing any dirt or contaminants before it reaches the engine.</a:t>
            </a:r>
          </a:p>
          <a:p>
            <a:endParaRPr lang="en-US" dirty="0"/>
          </a:p>
          <a:p>
            <a:r>
              <a:rPr lang="en-US" dirty="0"/>
              <a:t>Fuel Lines: A network of hoses and pipes that transport the fuel from the tank to the engine components.</a:t>
            </a:r>
          </a:p>
          <a:p>
            <a:endParaRPr lang="en-US" dirty="0"/>
          </a:p>
          <a:p>
            <a:r>
              <a:rPr lang="en-US" dirty="0"/>
              <a:t>Carburetor (Older Cars): Manually mixes fuel and air in the correct ratio for combustion.</a:t>
            </a:r>
          </a:p>
          <a:p>
            <a:endParaRPr lang="en-US" dirty="0"/>
          </a:p>
          <a:p>
            <a:r>
              <a:rPr lang="en-US" dirty="0"/>
              <a:t>Fuel Injectors (Modern Cars): Electronically controlled nozzles that spray a precise, atomized mist of fuel directly into the combustion chamber or intake manifold.</a:t>
            </a:r>
          </a:p>
          <a:p>
            <a:endParaRPr lang="en-US" dirty="0"/>
          </a:p>
          <a:p>
            <a:r>
              <a:rPr lang="en-US" dirty="0"/>
              <a:t>Fuel Pressure Regulator: Maintains the correct fuel pressure for the injectors to operate efficiently.</a:t>
            </a:r>
          </a:p>
          <a:p>
            <a:endParaRPr lang="en-US" dirty="0"/>
          </a:p>
          <a:p>
            <a:r>
              <a:rPr lang="en-US" dirty="0"/>
              <a:t>Fuel Rail: Distributes fuel from the pump to the injectors in a fuel-injected system</a:t>
            </a:r>
          </a:p>
        </p:txBody>
      </p:sp>
    </p:spTree>
    <p:custDataLst>
      <p:tags r:id="rId1"/>
    </p:custDataLst>
    <p:extLst>
      <p:ext uri="{BB962C8B-B14F-4D97-AF65-F5344CB8AC3E}">
        <p14:creationId xmlns:p14="http://schemas.microsoft.com/office/powerpoint/2010/main" val="2736487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518F-FB1A-A309-0527-9162C2A3EBE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8AC95F8-96F5-96F0-02A6-93CAD6E1CC0C}"/>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F33AD89C-20BA-B1A4-5A3E-80641E37A49C}"/>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DB29EAF-A55E-329B-ECD5-2812B12D7967}"/>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F01EA934-14A9-6429-BA99-6E9F60B971F3}"/>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69DE02C5-2BF0-9A5E-E2F7-B064E030AD2C}"/>
              </a:ext>
            </a:extLst>
          </p:cNvPr>
          <p:cNvSpPr txBox="1"/>
          <p:nvPr/>
        </p:nvSpPr>
        <p:spPr>
          <a:xfrm>
            <a:off x="410376" y="1814947"/>
            <a:ext cx="11240363" cy="646331"/>
          </a:xfrm>
          <a:prstGeom prst="rect">
            <a:avLst/>
          </a:prstGeom>
          <a:noFill/>
        </p:spPr>
        <p:txBody>
          <a:bodyPr wrap="square">
            <a:spAutoFit/>
          </a:bodyPr>
          <a:lstStyle/>
          <a:p>
            <a:r>
              <a:rPr lang="en-US" dirty="0"/>
              <a:t>Fuel Tank: Stores the petrol for the vehicle.</a:t>
            </a:r>
          </a:p>
          <a:p>
            <a:endParaRPr lang="en-US" dirty="0"/>
          </a:p>
        </p:txBody>
      </p:sp>
      <p:sp>
        <p:nvSpPr>
          <p:cNvPr id="7" name="TextBox 6">
            <a:extLst>
              <a:ext uri="{FF2B5EF4-FFF2-40B4-BE49-F238E27FC236}">
                <a16:creationId xmlns:a16="http://schemas.microsoft.com/office/drawing/2014/main" id="{6E4E76F6-8709-B02A-E4C1-BB63AF743CC4}"/>
              </a:ext>
            </a:extLst>
          </p:cNvPr>
          <p:cNvSpPr txBox="1"/>
          <p:nvPr/>
        </p:nvSpPr>
        <p:spPr>
          <a:xfrm>
            <a:off x="156690" y="2368635"/>
            <a:ext cx="11167748" cy="2585323"/>
          </a:xfrm>
          <a:prstGeom prst="rect">
            <a:avLst/>
          </a:prstGeom>
          <a:noFill/>
        </p:spPr>
        <p:txBody>
          <a:bodyPr wrap="square">
            <a:spAutoFit/>
          </a:bodyPr>
          <a:lstStyle/>
          <a:p>
            <a:r>
              <a:rPr lang="en-US" b="1" dirty="0"/>
              <a:t>Key components</a:t>
            </a:r>
          </a:p>
          <a:p>
            <a:endParaRPr lang="en-US" b="1" dirty="0"/>
          </a:p>
          <a:p>
            <a:r>
              <a:rPr lang="en-US" dirty="0"/>
              <a:t>Filler neck: The opening where fuel is inserted, designed to carry fuel into the tank and prevent spills.</a:t>
            </a:r>
          </a:p>
          <a:p>
            <a:endParaRPr lang="en-US" dirty="0"/>
          </a:p>
          <a:p>
            <a:r>
              <a:rPr lang="en-US" dirty="0"/>
              <a:t>Fuel cap: Seals the tank to prevent leaks and contamination.</a:t>
            </a:r>
          </a:p>
          <a:p>
            <a:endParaRPr lang="en-US" dirty="0"/>
          </a:p>
          <a:p>
            <a:r>
              <a:rPr lang="en-US" dirty="0"/>
              <a:t>Baffles: Internal panels that help prevent fuel from sloshing around inside the tank.</a:t>
            </a:r>
          </a:p>
          <a:p>
            <a:endParaRPr lang="en-US" dirty="0"/>
          </a:p>
          <a:p>
            <a:r>
              <a:rPr lang="en-US" dirty="0"/>
              <a:t>Vent pipes: Allow air to escape from the tank as it fills with fuel</a:t>
            </a:r>
          </a:p>
        </p:txBody>
      </p:sp>
    </p:spTree>
    <p:custDataLst>
      <p:tags r:id="rId1"/>
    </p:custDataLst>
    <p:extLst>
      <p:ext uri="{BB962C8B-B14F-4D97-AF65-F5344CB8AC3E}">
        <p14:creationId xmlns:p14="http://schemas.microsoft.com/office/powerpoint/2010/main" val="1849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0D60-2223-338C-9179-3C9EF40313A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D1209F8-77DF-C6EA-EB8A-7616174EDF41}"/>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2855E02C-C929-C7ED-CB51-085EB514640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B18394C-B630-9B6C-3B21-83FCEB2B0110}"/>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13BA42C-9312-2684-2DDA-6E5BF5844395}"/>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FEB329C8-21B1-27D5-82CE-75F3D3DBC943}"/>
              </a:ext>
            </a:extLst>
          </p:cNvPr>
          <p:cNvSpPr txBox="1"/>
          <p:nvPr/>
        </p:nvSpPr>
        <p:spPr>
          <a:xfrm>
            <a:off x="410376" y="1814947"/>
            <a:ext cx="11240363" cy="646331"/>
          </a:xfrm>
          <a:prstGeom prst="rect">
            <a:avLst/>
          </a:prstGeom>
          <a:noFill/>
        </p:spPr>
        <p:txBody>
          <a:bodyPr wrap="square">
            <a:spAutoFit/>
          </a:bodyPr>
          <a:lstStyle/>
          <a:p>
            <a:r>
              <a:rPr lang="en-US" dirty="0"/>
              <a:t>Fuel Tank: Stores the petrol for the vehicle.</a:t>
            </a:r>
          </a:p>
          <a:p>
            <a:endParaRPr lang="en-US" dirty="0"/>
          </a:p>
        </p:txBody>
      </p:sp>
      <p:pic>
        <p:nvPicPr>
          <p:cNvPr id="6" name="Picture 5">
            <a:extLst>
              <a:ext uri="{FF2B5EF4-FFF2-40B4-BE49-F238E27FC236}">
                <a16:creationId xmlns:a16="http://schemas.microsoft.com/office/drawing/2014/main" id="{6E0778B1-8852-C0E2-350B-2A4F9D8BE5B5}"/>
              </a:ext>
            </a:extLst>
          </p:cNvPr>
          <p:cNvPicPr>
            <a:picLocks noChangeAspect="1"/>
          </p:cNvPicPr>
          <p:nvPr/>
        </p:nvPicPr>
        <p:blipFill>
          <a:blip r:embed="rId5"/>
          <a:stretch>
            <a:fillRect/>
          </a:stretch>
        </p:blipFill>
        <p:spPr>
          <a:xfrm>
            <a:off x="541261" y="2191643"/>
            <a:ext cx="11240363" cy="3874275"/>
          </a:xfrm>
          <a:prstGeom prst="rect">
            <a:avLst/>
          </a:prstGeom>
        </p:spPr>
      </p:pic>
    </p:spTree>
    <p:custDataLst>
      <p:tags r:id="rId1"/>
    </p:custDataLst>
    <p:extLst>
      <p:ext uri="{BB962C8B-B14F-4D97-AF65-F5344CB8AC3E}">
        <p14:creationId xmlns:p14="http://schemas.microsoft.com/office/powerpoint/2010/main" val="284468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B09D-3E79-F42F-6989-1B04E866879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4D2F367E-D1DC-59B2-A533-60ABE63ED756}"/>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3B51F1CD-DDE9-53ED-B1EB-3E557E0071AE}"/>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D47A09D-3EA8-3FB6-5D6F-1D6280C6A28F}"/>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8B28A666-8FC0-5234-05EF-AE9B8E995B2C}"/>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3EB1EFD1-1F1F-6665-748E-4B12CC53AA22}"/>
              </a:ext>
            </a:extLst>
          </p:cNvPr>
          <p:cNvSpPr txBox="1"/>
          <p:nvPr/>
        </p:nvSpPr>
        <p:spPr>
          <a:xfrm>
            <a:off x="410376" y="1814947"/>
            <a:ext cx="11240363" cy="369332"/>
          </a:xfrm>
          <a:prstGeom prst="rect">
            <a:avLst/>
          </a:prstGeom>
          <a:noFill/>
        </p:spPr>
        <p:txBody>
          <a:bodyPr wrap="square">
            <a:spAutoFit/>
          </a:bodyPr>
          <a:lstStyle/>
          <a:p>
            <a:r>
              <a:rPr lang="en-US" dirty="0"/>
              <a:t>Fuel Pump: Draws fuel from the tank and pumps it under pressure through the system to the injectors.</a:t>
            </a:r>
          </a:p>
        </p:txBody>
      </p:sp>
      <p:sp>
        <p:nvSpPr>
          <p:cNvPr id="6" name="TextBox 5">
            <a:extLst>
              <a:ext uri="{FF2B5EF4-FFF2-40B4-BE49-F238E27FC236}">
                <a16:creationId xmlns:a16="http://schemas.microsoft.com/office/drawing/2014/main" id="{D24F7AB7-50C4-1A46-8D03-996A1867A4D1}"/>
              </a:ext>
            </a:extLst>
          </p:cNvPr>
          <p:cNvSpPr txBox="1"/>
          <p:nvPr/>
        </p:nvSpPr>
        <p:spPr>
          <a:xfrm>
            <a:off x="410376" y="2200309"/>
            <a:ext cx="6098344" cy="369332"/>
          </a:xfrm>
          <a:prstGeom prst="rect">
            <a:avLst/>
          </a:prstGeom>
          <a:noFill/>
        </p:spPr>
        <p:txBody>
          <a:bodyPr wrap="square">
            <a:spAutoFit/>
          </a:bodyPr>
          <a:lstStyle/>
          <a:p>
            <a:r>
              <a:rPr lang="en-US" b="1" dirty="0"/>
              <a:t>Types of Fuel Pumps</a:t>
            </a:r>
          </a:p>
        </p:txBody>
      </p:sp>
      <p:sp>
        <p:nvSpPr>
          <p:cNvPr id="8" name="TextBox 7">
            <a:extLst>
              <a:ext uri="{FF2B5EF4-FFF2-40B4-BE49-F238E27FC236}">
                <a16:creationId xmlns:a16="http://schemas.microsoft.com/office/drawing/2014/main" id="{1DDE94B8-D5C4-AE57-9E92-C6E9364B9729}"/>
              </a:ext>
            </a:extLst>
          </p:cNvPr>
          <p:cNvSpPr txBox="1"/>
          <p:nvPr/>
        </p:nvSpPr>
        <p:spPr>
          <a:xfrm>
            <a:off x="482990" y="2585671"/>
            <a:ext cx="11240363" cy="2862322"/>
          </a:xfrm>
          <a:prstGeom prst="rect">
            <a:avLst/>
          </a:prstGeom>
          <a:noFill/>
        </p:spPr>
        <p:txBody>
          <a:bodyPr wrap="square">
            <a:spAutoFit/>
          </a:bodyPr>
          <a:lstStyle/>
          <a:p>
            <a:r>
              <a:rPr lang="en-US" dirty="0"/>
              <a:t>Mechanical Fuel Pumps: Found in older, carbureted engines, these pumps are driven by the engine's camshaft or crankshaft and operate at low pressure (around 3-5 PSI).</a:t>
            </a:r>
          </a:p>
          <a:p>
            <a:endParaRPr lang="en-US" dirty="0"/>
          </a:p>
          <a:p>
            <a:r>
              <a:rPr lang="en-US" dirty="0"/>
              <a:t>Electric Fuel Pumps: Common in most modern, fuel-injected cars, these are powered by an electric motor and are typically located inside the fuel tank. They provide higher, more consistent pressure (50-90 PSI).</a:t>
            </a:r>
          </a:p>
          <a:p>
            <a:endParaRPr lang="en-US" dirty="0"/>
          </a:p>
          <a:p>
            <a:r>
              <a:rPr lang="en-US" dirty="0"/>
              <a:t>High-Pressure Fuel Pumps (Direct Injection): Used in vehicles with direct injection (GDI) systems, these pumps pressurize fuel to significantly higher levels, injecting it directly into the combustion chamber for maximum efficiency. These systems often use a low-pressure electric pump in the tank to feed the high-pressure pump on the engine</a:t>
            </a:r>
          </a:p>
        </p:txBody>
      </p:sp>
    </p:spTree>
    <p:custDataLst>
      <p:tags r:id="rId1"/>
    </p:custDataLst>
    <p:extLst>
      <p:ext uri="{BB962C8B-B14F-4D97-AF65-F5344CB8AC3E}">
        <p14:creationId xmlns:p14="http://schemas.microsoft.com/office/powerpoint/2010/main" val="2582038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2F7F-A5FE-7329-18F4-ACA5FA2F824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FC8391F-9768-ED26-6ACA-3859B1F55403}"/>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429E0D26-1CF8-3BF4-D1EA-71FB2E83EC9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E644AAD-306F-56BE-4863-215A826008E8}"/>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7E3FDF1B-4B68-AED7-D054-78D5669DD392}"/>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61D5291D-3197-C344-FE79-CE26047470D7}"/>
              </a:ext>
            </a:extLst>
          </p:cNvPr>
          <p:cNvSpPr txBox="1"/>
          <p:nvPr/>
        </p:nvSpPr>
        <p:spPr>
          <a:xfrm>
            <a:off x="482991" y="2005770"/>
            <a:ext cx="11006402" cy="3970318"/>
          </a:xfrm>
          <a:prstGeom prst="rect">
            <a:avLst/>
          </a:prstGeom>
          <a:noFill/>
        </p:spPr>
        <p:txBody>
          <a:bodyPr wrap="square">
            <a:spAutoFit/>
          </a:bodyPr>
          <a:lstStyle/>
          <a:p>
            <a:r>
              <a:rPr lang="en-US" dirty="0"/>
              <a:t>Symptoms of a Clogged Fuel Filter</a:t>
            </a:r>
          </a:p>
          <a:p>
            <a:r>
              <a:rPr lang="en-US" dirty="0"/>
              <a:t>Over time, the filter element becomes saturated with contaminants, restricting fuel flow and causing performance issues. Symptoms include: </a:t>
            </a:r>
          </a:p>
          <a:p>
            <a:endParaRPr lang="en-US" dirty="0"/>
          </a:p>
          <a:p>
            <a:r>
              <a:rPr lang="en-US" dirty="0"/>
              <a:t>Difficulty starting the engine or the engine cranking for longer than usual.</a:t>
            </a:r>
          </a:p>
          <a:p>
            <a:endParaRPr lang="en-US" dirty="0"/>
          </a:p>
          <a:p>
            <a:r>
              <a:rPr lang="en-US" dirty="0"/>
              <a:t>Engine stalling unexpectedly, especially when idling or under load (e.g., driving uphill).</a:t>
            </a:r>
          </a:p>
          <a:p>
            <a:r>
              <a:rPr lang="en-US" dirty="0"/>
              <a:t>Engine misfires or rough idling, which feels like a vibration or shaking while the car is stationary.</a:t>
            </a:r>
          </a:p>
          <a:p>
            <a:r>
              <a:rPr lang="en-US" dirty="0"/>
              <a:t>Loss of power or sluggish acceleration when you press the gas pedal.</a:t>
            </a:r>
          </a:p>
          <a:p>
            <a:r>
              <a:rPr lang="en-US" dirty="0"/>
              <a:t>Poor fuel economy, as the engine may compensate for a lean fuel mixture by burning more fuel.</a:t>
            </a:r>
          </a:p>
          <a:p>
            <a:r>
              <a:rPr lang="en-US" dirty="0"/>
              <a:t>Unusual noises from the fuel pump (e.g., a whining sound), as it has to work harder to push fuel through the obstruction.</a:t>
            </a:r>
          </a:p>
          <a:p>
            <a:r>
              <a:rPr lang="en-US" dirty="0"/>
              <a:t>The "Check Engine" light illuminating, indicating the fuel system is running lean (too much air, not enough fuel).</a:t>
            </a:r>
          </a:p>
        </p:txBody>
      </p:sp>
    </p:spTree>
    <p:custDataLst>
      <p:tags r:id="rId1"/>
    </p:custDataLst>
    <p:extLst>
      <p:ext uri="{BB962C8B-B14F-4D97-AF65-F5344CB8AC3E}">
        <p14:creationId xmlns:p14="http://schemas.microsoft.com/office/powerpoint/2010/main" val="3345968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9E681-8D1B-EA20-4C01-6D4FF6B6B76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63F1E2C-FB8B-740B-3F04-E69C04E91511}"/>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15BCC33A-5C0E-120B-8E34-EB4AC49696FB}"/>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3366079-9524-6993-EC6E-D741CE21F08C}"/>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AB4632FF-818D-BDF5-F3D3-C837728FD8BC}"/>
              </a:ext>
            </a:extLst>
          </p:cNvPr>
          <p:cNvSpPr/>
          <p:nvPr/>
        </p:nvSpPr>
        <p:spPr>
          <a:xfrm>
            <a:off x="1086678" y="1430502"/>
            <a:ext cx="7738787" cy="369332"/>
          </a:xfrm>
          <a:prstGeom prst="rect">
            <a:avLst/>
          </a:prstGeom>
        </p:spPr>
        <p:txBody>
          <a:bodyPr wrap="square">
            <a:spAutoFit/>
          </a:bodyPr>
          <a:lstStyle/>
          <a:p>
            <a:r>
              <a:rPr lang="en-US" b="1" dirty="0"/>
              <a:t>Types of Diesel Fuel Filters</a:t>
            </a:r>
            <a:endParaRPr lang="en-US" sz="1400" b="1" dirty="0"/>
          </a:p>
        </p:txBody>
      </p:sp>
      <p:sp>
        <p:nvSpPr>
          <p:cNvPr id="7" name="TextBox 6">
            <a:extLst>
              <a:ext uri="{FF2B5EF4-FFF2-40B4-BE49-F238E27FC236}">
                <a16:creationId xmlns:a16="http://schemas.microsoft.com/office/drawing/2014/main" id="{61066402-CE71-C473-8A99-E483B4F1FAE2}"/>
              </a:ext>
            </a:extLst>
          </p:cNvPr>
          <p:cNvSpPr txBox="1"/>
          <p:nvPr/>
        </p:nvSpPr>
        <p:spPr>
          <a:xfrm>
            <a:off x="820616" y="1946982"/>
            <a:ext cx="8253046" cy="3416320"/>
          </a:xfrm>
          <a:prstGeom prst="rect">
            <a:avLst/>
          </a:prstGeom>
          <a:noFill/>
        </p:spPr>
        <p:txBody>
          <a:bodyPr wrap="square">
            <a:spAutoFit/>
          </a:bodyPr>
          <a:lstStyle/>
          <a:p>
            <a:r>
              <a:rPr lang="en-US" dirty="0"/>
              <a:t>Fuel filters generally fall into a few primary types based on their design and location in the fuel system. </a:t>
            </a:r>
          </a:p>
          <a:p>
            <a:endParaRPr lang="en-US" dirty="0"/>
          </a:p>
          <a:p>
            <a:r>
              <a:rPr lang="en-US" dirty="0"/>
              <a:t>In-line Fuel Filters: These are typically simple, disposable units installed in the fuel line itself.</a:t>
            </a:r>
          </a:p>
          <a:p>
            <a:endParaRPr lang="en-US" dirty="0"/>
          </a:p>
          <a:p>
            <a:r>
              <a:rPr lang="en-US" dirty="0"/>
              <a:t>Cartridge Fuel Filters: These use a replaceable filter element within a permanent housing, often with a transparent bowl and drain valve to visually inspect and remove water or impurities.</a:t>
            </a:r>
          </a:p>
          <a:p>
            <a:endParaRPr lang="en-US" dirty="0"/>
          </a:p>
          <a:p>
            <a:r>
              <a:rPr lang="en-US" dirty="0"/>
              <a:t>Spin-on Fuel Filters: These filters have a metal canister housing that spins onto a base on the engine or fuel system, similar to an oil filter</a:t>
            </a:r>
          </a:p>
        </p:txBody>
      </p:sp>
      <p:pic>
        <p:nvPicPr>
          <p:cNvPr id="1028" name="Picture 4" descr="Disposable Inline Fuel Filter, 07480 ...">
            <a:extLst>
              <a:ext uri="{FF2B5EF4-FFF2-40B4-BE49-F238E27FC236}">
                <a16:creationId xmlns:a16="http://schemas.microsoft.com/office/drawing/2014/main" id="{8436EE3E-1CA4-DDA7-A6E4-568D022B2B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34463" y="194698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F307083-A303-1C9E-1A8E-60738619D6EA}"/>
              </a:ext>
            </a:extLst>
          </p:cNvPr>
          <p:cNvPicPr>
            <a:picLocks noChangeAspect="1"/>
          </p:cNvPicPr>
          <p:nvPr/>
        </p:nvPicPr>
        <p:blipFill>
          <a:blip r:embed="rId6"/>
          <a:stretch>
            <a:fillRect/>
          </a:stretch>
        </p:blipFill>
        <p:spPr>
          <a:xfrm>
            <a:off x="9047284" y="3548300"/>
            <a:ext cx="2324100" cy="1962150"/>
          </a:xfrm>
          <a:prstGeom prst="rect">
            <a:avLst/>
          </a:prstGeom>
        </p:spPr>
      </p:pic>
      <p:pic>
        <p:nvPicPr>
          <p:cNvPr id="10" name="Picture 9">
            <a:extLst>
              <a:ext uri="{FF2B5EF4-FFF2-40B4-BE49-F238E27FC236}">
                <a16:creationId xmlns:a16="http://schemas.microsoft.com/office/drawing/2014/main" id="{28EE4A6D-E6F9-0373-5D24-C4CAD57AA6D4}"/>
              </a:ext>
            </a:extLst>
          </p:cNvPr>
          <p:cNvPicPr>
            <a:picLocks noChangeAspect="1"/>
          </p:cNvPicPr>
          <p:nvPr/>
        </p:nvPicPr>
        <p:blipFill>
          <a:blip r:embed="rId7"/>
          <a:stretch>
            <a:fillRect/>
          </a:stretch>
        </p:blipFill>
        <p:spPr>
          <a:xfrm>
            <a:off x="7460238" y="5088121"/>
            <a:ext cx="1587046" cy="1587046"/>
          </a:xfrm>
          <a:prstGeom prst="rect">
            <a:avLst/>
          </a:prstGeom>
        </p:spPr>
      </p:pic>
    </p:spTree>
    <p:custDataLst>
      <p:tags r:id="rId1"/>
    </p:custDataLst>
    <p:extLst>
      <p:ext uri="{BB962C8B-B14F-4D97-AF65-F5344CB8AC3E}">
        <p14:creationId xmlns:p14="http://schemas.microsoft.com/office/powerpoint/2010/main" val="1594293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0FA5-0FDD-30F2-D147-D34A0A1BDB19}"/>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917D12F-883D-AF0E-BB09-64D513945BCC}"/>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D8B328CA-7900-6F86-D324-A32C437E342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DA98054F-F6A3-855E-CD6D-4EE4A9370FD0}"/>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275FE05-FA63-E184-5D0C-708579DC09C7}"/>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DB8D6C29-34C8-12D0-D73B-BCA3B8C47CB7}"/>
              </a:ext>
            </a:extLst>
          </p:cNvPr>
          <p:cNvSpPr txBox="1"/>
          <p:nvPr/>
        </p:nvSpPr>
        <p:spPr>
          <a:xfrm>
            <a:off x="410376" y="1814947"/>
            <a:ext cx="11240363" cy="369332"/>
          </a:xfrm>
          <a:prstGeom prst="rect">
            <a:avLst/>
          </a:prstGeom>
          <a:noFill/>
        </p:spPr>
        <p:txBody>
          <a:bodyPr wrap="square">
            <a:spAutoFit/>
          </a:bodyPr>
          <a:lstStyle/>
          <a:p>
            <a:r>
              <a:rPr lang="en-US" dirty="0"/>
              <a:t>Fuel Lines: A network of hoses and pipes that transport the fuel from the tank to the engine components.</a:t>
            </a:r>
          </a:p>
        </p:txBody>
      </p:sp>
      <p:sp>
        <p:nvSpPr>
          <p:cNvPr id="6" name="TextBox 5">
            <a:extLst>
              <a:ext uri="{FF2B5EF4-FFF2-40B4-BE49-F238E27FC236}">
                <a16:creationId xmlns:a16="http://schemas.microsoft.com/office/drawing/2014/main" id="{933FD048-4209-C8FD-92DF-CC6D0F0684FE}"/>
              </a:ext>
            </a:extLst>
          </p:cNvPr>
          <p:cNvSpPr txBox="1"/>
          <p:nvPr/>
        </p:nvSpPr>
        <p:spPr>
          <a:xfrm>
            <a:off x="482991" y="2200309"/>
            <a:ext cx="11167748" cy="646331"/>
          </a:xfrm>
          <a:prstGeom prst="rect">
            <a:avLst/>
          </a:prstGeom>
          <a:noFill/>
        </p:spPr>
        <p:txBody>
          <a:bodyPr wrap="square">
            <a:spAutoFit/>
          </a:bodyPr>
          <a:lstStyle/>
          <a:p>
            <a:r>
              <a:rPr lang="en-US" dirty="0"/>
              <a:t>Petrol fuel lines in a car are pipes or hoses that carry fuel from the tank to the engine, ensuring a steady and clean supply for combustion</a:t>
            </a:r>
          </a:p>
        </p:txBody>
      </p:sp>
      <p:pic>
        <p:nvPicPr>
          <p:cNvPr id="7" name="Picture 6">
            <a:extLst>
              <a:ext uri="{FF2B5EF4-FFF2-40B4-BE49-F238E27FC236}">
                <a16:creationId xmlns:a16="http://schemas.microsoft.com/office/drawing/2014/main" id="{8ED52071-05F1-3C30-156C-42815230BC5D}"/>
              </a:ext>
            </a:extLst>
          </p:cNvPr>
          <p:cNvPicPr>
            <a:picLocks noChangeAspect="1"/>
          </p:cNvPicPr>
          <p:nvPr/>
        </p:nvPicPr>
        <p:blipFill>
          <a:blip r:embed="rId5"/>
          <a:stretch>
            <a:fillRect/>
          </a:stretch>
        </p:blipFill>
        <p:spPr>
          <a:xfrm>
            <a:off x="4268432" y="3017609"/>
            <a:ext cx="6887248" cy="2952750"/>
          </a:xfrm>
          <a:prstGeom prst="rect">
            <a:avLst/>
          </a:prstGeom>
        </p:spPr>
      </p:pic>
    </p:spTree>
    <p:custDataLst>
      <p:tags r:id="rId1"/>
    </p:custDataLst>
    <p:extLst>
      <p:ext uri="{BB962C8B-B14F-4D97-AF65-F5344CB8AC3E}">
        <p14:creationId xmlns:p14="http://schemas.microsoft.com/office/powerpoint/2010/main" val="86668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23D4F-8426-F290-740A-C9BC6281284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08D5D80-CB4C-F9D5-A8D7-3F1D768FF652}"/>
              </a:ext>
            </a:extLst>
          </p:cNvPr>
          <p:cNvSpPr txBox="1"/>
          <p:nvPr>
            <p:custDataLst>
              <p:tags r:id="rId2"/>
            </p:custDataLst>
          </p:nvPr>
        </p:nvSpPr>
        <p:spPr>
          <a:xfrm>
            <a:off x="801582" y="1062584"/>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F51DEFD3-94C7-7934-24A1-D31D52733C3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7352FDF-8676-7635-BC5B-2FBB8E3F82E3}"/>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EEFDCF5A-DEB6-E292-74CD-9ACA9657A6B3}"/>
              </a:ext>
            </a:extLst>
          </p:cNvPr>
          <p:cNvSpPr/>
          <p:nvPr/>
        </p:nvSpPr>
        <p:spPr>
          <a:xfrm>
            <a:off x="562430" y="1432955"/>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fuel delivery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62D0177B-1C11-FF98-19C9-9A7E3022398E}"/>
              </a:ext>
            </a:extLst>
          </p:cNvPr>
          <p:cNvSpPr txBox="1"/>
          <p:nvPr/>
        </p:nvSpPr>
        <p:spPr>
          <a:xfrm>
            <a:off x="801581" y="1803326"/>
            <a:ext cx="10846467" cy="646331"/>
          </a:xfrm>
          <a:prstGeom prst="rect">
            <a:avLst/>
          </a:prstGeom>
          <a:noFill/>
        </p:spPr>
        <p:txBody>
          <a:bodyPr wrap="square">
            <a:spAutoFit/>
          </a:bodyPr>
          <a:lstStyle/>
          <a:p>
            <a:r>
              <a:rPr lang="en-US" b="0" i="0" dirty="0">
                <a:solidFill>
                  <a:srgbClr val="0A0A0A"/>
                </a:solidFill>
                <a:effectLst/>
                <a:latin typeface="Google Sans"/>
              </a:rPr>
              <a:t>Modern petrol engines primarily use various forms of fuel injection, which offers better precision than older systems like gravity or basic pump-carburetor systems</a:t>
            </a:r>
            <a:endParaRPr lang="en-US" dirty="0"/>
          </a:p>
        </p:txBody>
      </p:sp>
      <p:sp>
        <p:nvSpPr>
          <p:cNvPr id="7" name="TextBox 6">
            <a:extLst>
              <a:ext uri="{FF2B5EF4-FFF2-40B4-BE49-F238E27FC236}">
                <a16:creationId xmlns:a16="http://schemas.microsoft.com/office/drawing/2014/main" id="{6F2FC6E5-3621-F1D7-9D0C-54E42C9B8871}"/>
              </a:ext>
            </a:extLst>
          </p:cNvPr>
          <p:cNvSpPr txBox="1"/>
          <p:nvPr/>
        </p:nvSpPr>
        <p:spPr>
          <a:xfrm>
            <a:off x="801580" y="2462494"/>
            <a:ext cx="10973077" cy="2326919"/>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Single-Point Injection (Throttle Body Injection):</a:t>
            </a:r>
            <a:r>
              <a:rPr lang="en-US" b="0" i="0" dirty="0">
                <a:solidFill>
                  <a:srgbClr val="0A0A0A"/>
                </a:solidFill>
                <a:effectLst/>
                <a:latin typeface="Google Sans"/>
              </a:rPr>
              <a:t> An early form of injection that uses one or two injectors in the throttle body, similar to a carburetor setup. It was a simple transition from carburetors but less precise than newer methods.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Multi-Point Injection (Port Injection):</a:t>
            </a:r>
            <a:r>
              <a:rPr lang="en-US" b="0" i="0" dirty="0">
                <a:solidFill>
                  <a:srgbClr val="0A0A0A"/>
                </a:solidFill>
                <a:effectLst/>
                <a:latin typeface="Google Sans"/>
              </a:rPr>
              <a:t> Uses a separate injector for each cylinder, located just upstream of the intake valve. This allows for more even fuel distribution and better control of the air-fuel ratio than single-point injection.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Sequential Fuel Injection:</a:t>
            </a:r>
            <a:r>
              <a:rPr lang="en-US" b="0" i="0" dirty="0">
                <a:solidFill>
                  <a:srgbClr val="0A0A0A"/>
                </a:solidFill>
                <a:effectLst/>
                <a:latin typeface="Google Sans"/>
              </a:rPr>
              <a:t> An advancement of multi-point injection where the fuel is injected in precise timing with each cylinder's intake stroke, further improving efficiency and reducing emissions.</a:t>
            </a:r>
          </a:p>
        </p:txBody>
      </p:sp>
    </p:spTree>
    <p:custDataLst>
      <p:tags r:id="rId1"/>
    </p:custDataLst>
    <p:extLst>
      <p:ext uri="{BB962C8B-B14F-4D97-AF65-F5344CB8AC3E}">
        <p14:creationId xmlns:p14="http://schemas.microsoft.com/office/powerpoint/2010/main" val="317300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05D6-FC35-E0DC-CE41-2EB56858A42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C26763E9-DE4B-75CC-C8B0-D07485C55275}"/>
              </a:ext>
            </a:extLst>
          </p:cNvPr>
          <p:cNvSpPr txBox="1"/>
          <p:nvPr>
            <p:custDataLst>
              <p:tags r:id="rId2"/>
            </p:custDataLst>
          </p:nvPr>
        </p:nvSpPr>
        <p:spPr>
          <a:xfrm>
            <a:off x="801582" y="1062584"/>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F03554AF-5167-6FC1-4CF6-B05562CD8449}"/>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07BD967-FC0C-BD36-184F-79E729555BCB}"/>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0CE83D64-896D-3FA8-1142-DF4C06D06994}"/>
              </a:ext>
            </a:extLst>
          </p:cNvPr>
          <p:cNvSpPr/>
          <p:nvPr/>
        </p:nvSpPr>
        <p:spPr>
          <a:xfrm>
            <a:off x="562430" y="1432955"/>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fuel delivery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B9EB7C3A-A426-6719-C877-0D9A4A43A7B7}"/>
              </a:ext>
            </a:extLst>
          </p:cNvPr>
          <p:cNvSpPr txBox="1"/>
          <p:nvPr/>
        </p:nvSpPr>
        <p:spPr>
          <a:xfrm>
            <a:off x="801581" y="1803326"/>
            <a:ext cx="10846467" cy="646331"/>
          </a:xfrm>
          <a:prstGeom prst="rect">
            <a:avLst/>
          </a:prstGeom>
          <a:noFill/>
        </p:spPr>
        <p:txBody>
          <a:bodyPr wrap="square">
            <a:spAutoFit/>
          </a:bodyPr>
          <a:lstStyle/>
          <a:p>
            <a:r>
              <a:rPr lang="en-US" b="0" i="0" dirty="0">
                <a:solidFill>
                  <a:srgbClr val="0A0A0A"/>
                </a:solidFill>
                <a:effectLst/>
                <a:latin typeface="Google Sans"/>
              </a:rPr>
              <a:t>Modern petrol engines primarily use various forms of fuel injection, which offers better precision than older systems like gravity or basic pump-carburetor systems</a:t>
            </a:r>
            <a:endParaRPr lang="en-US" dirty="0"/>
          </a:p>
        </p:txBody>
      </p:sp>
      <p:sp>
        <p:nvSpPr>
          <p:cNvPr id="6" name="TextBox 5">
            <a:extLst>
              <a:ext uri="{FF2B5EF4-FFF2-40B4-BE49-F238E27FC236}">
                <a16:creationId xmlns:a16="http://schemas.microsoft.com/office/drawing/2014/main" id="{730B5F27-CE7D-6757-3343-9E8489880346}"/>
              </a:ext>
            </a:extLst>
          </p:cNvPr>
          <p:cNvSpPr txBox="1"/>
          <p:nvPr/>
        </p:nvSpPr>
        <p:spPr>
          <a:xfrm>
            <a:off x="801580" y="2931016"/>
            <a:ext cx="10551047" cy="923330"/>
          </a:xfrm>
          <a:prstGeom prst="rect">
            <a:avLst/>
          </a:prstGeom>
          <a:noFill/>
        </p:spPr>
        <p:txBody>
          <a:bodyPr wrap="square">
            <a:spAutoFit/>
          </a:bodyPr>
          <a:lstStyle/>
          <a:p>
            <a:r>
              <a:rPr lang="en-US" b="1" i="0" dirty="0">
                <a:solidFill>
                  <a:srgbClr val="0A0A0A"/>
                </a:solidFill>
                <a:effectLst/>
                <a:latin typeface="Google Sans"/>
              </a:rPr>
              <a:t>Direct Injection (Gasoline Direct Injection - GDI):</a:t>
            </a:r>
            <a:r>
              <a:rPr lang="en-US" b="0" i="0" dirty="0">
                <a:solidFill>
                  <a:srgbClr val="0A0A0A"/>
                </a:solidFill>
                <a:effectLst/>
                <a:latin typeface="Google Sans"/>
              </a:rPr>
              <a:t> The most advanced system, injecting high-pressure fuel directly into the combustion chamber. This provides maximum precision in fuel metering, leading to improved power output, better fuel economy, and lower emissions.</a:t>
            </a:r>
            <a:endParaRPr lang="en-US" dirty="0"/>
          </a:p>
        </p:txBody>
      </p:sp>
    </p:spTree>
    <p:custDataLst>
      <p:tags r:id="rId1"/>
    </p:custDataLst>
    <p:extLst>
      <p:ext uri="{BB962C8B-B14F-4D97-AF65-F5344CB8AC3E}">
        <p14:creationId xmlns:p14="http://schemas.microsoft.com/office/powerpoint/2010/main" val="2240893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5E55-CDEB-CD02-248C-61BE1CDFB82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79223E8-FD3D-F588-7C63-45BD9D1F19F7}"/>
              </a:ext>
            </a:extLst>
          </p:cNvPr>
          <p:cNvSpPr txBox="1"/>
          <p:nvPr>
            <p:custDataLst>
              <p:tags r:id="rId2"/>
            </p:custDataLst>
          </p:nvPr>
        </p:nvSpPr>
        <p:spPr>
          <a:xfrm>
            <a:off x="801582" y="1062584"/>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C78B583E-EB8B-B41C-C3CC-297B23D94F0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FD6B2CF-E493-6594-0AD4-02F1150E817A}"/>
              </a:ext>
            </a:extLst>
          </p:cNvPr>
          <p:cNvSpPr txBox="1"/>
          <p:nvPr/>
        </p:nvSpPr>
        <p:spPr>
          <a:xfrm>
            <a:off x="562430"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45D13F62-056E-0256-0542-753181B6C657}"/>
              </a:ext>
            </a:extLst>
          </p:cNvPr>
          <p:cNvSpPr/>
          <p:nvPr/>
        </p:nvSpPr>
        <p:spPr>
          <a:xfrm>
            <a:off x="562430" y="1432955"/>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fuel delivery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F01AD39C-AD87-7DE2-867F-E2523784A7EE}"/>
              </a:ext>
            </a:extLst>
          </p:cNvPr>
          <p:cNvSpPr txBox="1"/>
          <p:nvPr/>
        </p:nvSpPr>
        <p:spPr>
          <a:xfrm>
            <a:off x="801581" y="1803326"/>
            <a:ext cx="10846467" cy="646331"/>
          </a:xfrm>
          <a:prstGeom prst="rect">
            <a:avLst/>
          </a:prstGeom>
          <a:noFill/>
        </p:spPr>
        <p:txBody>
          <a:bodyPr wrap="square">
            <a:spAutoFit/>
          </a:bodyPr>
          <a:lstStyle/>
          <a:p>
            <a:r>
              <a:rPr lang="en-US" b="0" i="0" dirty="0">
                <a:solidFill>
                  <a:srgbClr val="0A0A0A"/>
                </a:solidFill>
                <a:effectLst/>
                <a:latin typeface="Google Sans"/>
              </a:rPr>
              <a:t>Modern petrol engines primarily use various forms of fuel injection, which offers better precision than older systems like gravity or basic pump-carburetor systems</a:t>
            </a:r>
            <a:endParaRPr lang="en-US" dirty="0"/>
          </a:p>
        </p:txBody>
      </p:sp>
      <p:sp>
        <p:nvSpPr>
          <p:cNvPr id="7" name="TextBox 6">
            <a:extLst>
              <a:ext uri="{FF2B5EF4-FFF2-40B4-BE49-F238E27FC236}">
                <a16:creationId xmlns:a16="http://schemas.microsoft.com/office/drawing/2014/main" id="{2E3AF37E-06FE-0F12-546B-520D3E62EFB8}"/>
              </a:ext>
            </a:extLst>
          </p:cNvPr>
          <p:cNvSpPr txBox="1"/>
          <p:nvPr/>
        </p:nvSpPr>
        <p:spPr>
          <a:xfrm>
            <a:off x="801580" y="2462494"/>
            <a:ext cx="10973077" cy="788036"/>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Single-Point Injection (Throttle Body Injection):</a:t>
            </a:r>
            <a:r>
              <a:rPr lang="en-US" b="0" i="0" dirty="0">
                <a:solidFill>
                  <a:srgbClr val="0A0A0A"/>
                </a:solidFill>
                <a:effectLst/>
                <a:latin typeface="Google Sans"/>
              </a:rPr>
              <a:t> An early form of injection that uses one or two injectors in the throttle body, similar to a carburetor setup. It was a simple transition from carburetors but less precise than newer methods.</a:t>
            </a:r>
          </a:p>
        </p:txBody>
      </p:sp>
      <p:pic>
        <p:nvPicPr>
          <p:cNvPr id="8" name="Picture 7">
            <a:extLst>
              <a:ext uri="{FF2B5EF4-FFF2-40B4-BE49-F238E27FC236}">
                <a16:creationId xmlns:a16="http://schemas.microsoft.com/office/drawing/2014/main" id="{13EC7401-BE2C-BEDB-688E-7591BD89A6AF}"/>
              </a:ext>
            </a:extLst>
          </p:cNvPr>
          <p:cNvPicPr>
            <a:picLocks noChangeAspect="1"/>
          </p:cNvPicPr>
          <p:nvPr/>
        </p:nvPicPr>
        <p:blipFill>
          <a:blip r:embed="rId5"/>
          <a:stretch>
            <a:fillRect/>
          </a:stretch>
        </p:blipFill>
        <p:spPr>
          <a:xfrm>
            <a:off x="4066442" y="3273918"/>
            <a:ext cx="4762500" cy="3095625"/>
          </a:xfrm>
          <a:prstGeom prst="rect">
            <a:avLst/>
          </a:prstGeom>
        </p:spPr>
      </p:pic>
    </p:spTree>
    <p:custDataLst>
      <p:tags r:id="rId1"/>
    </p:custDataLst>
    <p:extLst>
      <p:ext uri="{BB962C8B-B14F-4D97-AF65-F5344CB8AC3E}">
        <p14:creationId xmlns:p14="http://schemas.microsoft.com/office/powerpoint/2010/main" val="21450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5A8F6-BF29-5F29-AEA5-E32CB79C47A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E4B4F68-A1E7-01E9-B4ED-253A42A46AE4}"/>
              </a:ext>
            </a:extLst>
          </p:cNvPr>
          <p:cNvSpPr txBox="1"/>
          <p:nvPr>
            <p:custDataLst>
              <p:tags r:id="rId2"/>
            </p:custDataLst>
          </p:nvPr>
        </p:nvSpPr>
        <p:spPr>
          <a:xfrm>
            <a:off x="801582" y="1062584"/>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4CD10019-BA11-66EA-4031-C06B9126444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28A60E-AA9B-AF78-A8A3-CC41B8FE1E3F}"/>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54723CE9-3D80-D080-19B2-DC05ABB8C5CF}"/>
              </a:ext>
            </a:extLst>
          </p:cNvPr>
          <p:cNvSpPr/>
          <p:nvPr/>
        </p:nvSpPr>
        <p:spPr>
          <a:xfrm>
            <a:off x="562430" y="1432955"/>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fuel delivery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4E29D62D-3DD3-25A9-0099-BF8BEF28408D}"/>
              </a:ext>
            </a:extLst>
          </p:cNvPr>
          <p:cNvSpPr txBox="1"/>
          <p:nvPr/>
        </p:nvSpPr>
        <p:spPr>
          <a:xfrm>
            <a:off x="801581" y="1803326"/>
            <a:ext cx="10846467" cy="646331"/>
          </a:xfrm>
          <a:prstGeom prst="rect">
            <a:avLst/>
          </a:prstGeom>
          <a:noFill/>
        </p:spPr>
        <p:txBody>
          <a:bodyPr wrap="square">
            <a:spAutoFit/>
          </a:bodyPr>
          <a:lstStyle/>
          <a:p>
            <a:r>
              <a:rPr lang="en-US" b="0" i="0" dirty="0">
                <a:solidFill>
                  <a:srgbClr val="0A0A0A"/>
                </a:solidFill>
                <a:effectLst/>
                <a:latin typeface="Google Sans"/>
              </a:rPr>
              <a:t>Modern petrol engines primarily use various forms of fuel injection, which offers better precision than older systems like gravity or basic pump-carburetor systems</a:t>
            </a:r>
            <a:endParaRPr lang="en-US" dirty="0"/>
          </a:p>
        </p:txBody>
      </p:sp>
      <p:sp>
        <p:nvSpPr>
          <p:cNvPr id="7" name="TextBox 6">
            <a:extLst>
              <a:ext uri="{FF2B5EF4-FFF2-40B4-BE49-F238E27FC236}">
                <a16:creationId xmlns:a16="http://schemas.microsoft.com/office/drawing/2014/main" id="{B39ECB94-5FAF-8F68-68C8-CF3ECE8010D7}"/>
              </a:ext>
            </a:extLst>
          </p:cNvPr>
          <p:cNvSpPr txBox="1"/>
          <p:nvPr/>
        </p:nvSpPr>
        <p:spPr>
          <a:xfrm>
            <a:off x="801580" y="2462494"/>
            <a:ext cx="10973077" cy="557204"/>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Multi-Point Injection (Port Injection):</a:t>
            </a:r>
            <a:r>
              <a:rPr lang="en-US" b="0" i="0" dirty="0">
                <a:solidFill>
                  <a:srgbClr val="0A0A0A"/>
                </a:solidFill>
                <a:effectLst/>
                <a:latin typeface="Google Sans"/>
              </a:rPr>
              <a:t> Uses a separate injector for each cylinder, located just upstream of the intake valve. This allows for more even fuel distribution and better control of the air-fuel ratio than single-point injection.</a:t>
            </a:r>
          </a:p>
        </p:txBody>
      </p:sp>
      <p:pic>
        <p:nvPicPr>
          <p:cNvPr id="4" name="Picture 3">
            <a:extLst>
              <a:ext uri="{FF2B5EF4-FFF2-40B4-BE49-F238E27FC236}">
                <a16:creationId xmlns:a16="http://schemas.microsoft.com/office/drawing/2014/main" id="{4FEAEAC0-1291-82CD-81BF-03B1650F26BC}"/>
              </a:ext>
            </a:extLst>
          </p:cNvPr>
          <p:cNvPicPr>
            <a:picLocks noChangeAspect="1"/>
          </p:cNvPicPr>
          <p:nvPr/>
        </p:nvPicPr>
        <p:blipFill>
          <a:blip r:embed="rId5"/>
          <a:stretch>
            <a:fillRect/>
          </a:stretch>
        </p:blipFill>
        <p:spPr>
          <a:xfrm>
            <a:off x="5467055" y="3121662"/>
            <a:ext cx="6307602" cy="3550745"/>
          </a:xfrm>
          <a:prstGeom prst="rect">
            <a:avLst/>
          </a:prstGeom>
        </p:spPr>
      </p:pic>
    </p:spTree>
    <p:custDataLst>
      <p:tags r:id="rId1"/>
    </p:custDataLst>
    <p:extLst>
      <p:ext uri="{BB962C8B-B14F-4D97-AF65-F5344CB8AC3E}">
        <p14:creationId xmlns:p14="http://schemas.microsoft.com/office/powerpoint/2010/main" val="190009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E2F11-01AD-F19F-93A0-71C5CA7A365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40C32B4-5880-91A1-9BF8-E94A3A3F10D2}"/>
              </a:ext>
            </a:extLst>
          </p:cNvPr>
          <p:cNvSpPr txBox="1"/>
          <p:nvPr>
            <p:custDataLst>
              <p:tags r:id="rId2"/>
            </p:custDataLst>
          </p:nvPr>
        </p:nvSpPr>
        <p:spPr>
          <a:xfrm>
            <a:off x="801582" y="1062584"/>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6C9B999F-DD75-E8BA-EF8D-5E086F269C5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674C6D8-7167-6A6E-5A0A-A7976FF07D85}"/>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AE672217-9048-5460-B767-58AD92D483A2}"/>
              </a:ext>
            </a:extLst>
          </p:cNvPr>
          <p:cNvSpPr/>
          <p:nvPr/>
        </p:nvSpPr>
        <p:spPr>
          <a:xfrm>
            <a:off x="562430" y="1432955"/>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Types of fuel delivery system</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6C8B55-EED1-BED9-8724-2BB6FDC058D9}"/>
              </a:ext>
            </a:extLst>
          </p:cNvPr>
          <p:cNvSpPr txBox="1"/>
          <p:nvPr/>
        </p:nvSpPr>
        <p:spPr>
          <a:xfrm>
            <a:off x="801581" y="1803326"/>
            <a:ext cx="10846467" cy="646331"/>
          </a:xfrm>
          <a:prstGeom prst="rect">
            <a:avLst/>
          </a:prstGeom>
          <a:noFill/>
        </p:spPr>
        <p:txBody>
          <a:bodyPr wrap="square">
            <a:spAutoFit/>
          </a:bodyPr>
          <a:lstStyle/>
          <a:p>
            <a:r>
              <a:rPr lang="en-US" b="0" i="0" dirty="0">
                <a:solidFill>
                  <a:srgbClr val="0A0A0A"/>
                </a:solidFill>
                <a:effectLst/>
                <a:latin typeface="Google Sans"/>
              </a:rPr>
              <a:t>Modern petrol engines primarily use various forms of fuel injection, which offers better precision than older systems like gravity or basic pump-carburetor systems</a:t>
            </a:r>
            <a:endParaRPr lang="en-US" dirty="0"/>
          </a:p>
        </p:txBody>
      </p:sp>
      <p:sp>
        <p:nvSpPr>
          <p:cNvPr id="6" name="TextBox 5">
            <a:extLst>
              <a:ext uri="{FF2B5EF4-FFF2-40B4-BE49-F238E27FC236}">
                <a16:creationId xmlns:a16="http://schemas.microsoft.com/office/drawing/2014/main" id="{C3AA4546-865D-1CE2-4AEC-4F0013110A69}"/>
              </a:ext>
            </a:extLst>
          </p:cNvPr>
          <p:cNvSpPr txBox="1"/>
          <p:nvPr/>
        </p:nvSpPr>
        <p:spPr>
          <a:xfrm>
            <a:off x="820476" y="2488435"/>
            <a:ext cx="10551047" cy="923330"/>
          </a:xfrm>
          <a:prstGeom prst="rect">
            <a:avLst/>
          </a:prstGeom>
          <a:noFill/>
        </p:spPr>
        <p:txBody>
          <a:bodyPr wrap="square">
            <a:spAutoFit/>
          </a:bodyPr>
          <a:lstStyle/>
          <a:p>
            <a:r>
              <a:rPr lang="en-US" b="1" i="0" dirty="0">
                <a:solidFill>
                  <a:srgbClr val="0A0A0A"/>
                </a:solidFill>
                <a:effectLst/>
                <a:latin typeface="Google Sans"/>
              </a:rPr>
              <a:t>Direct Injection (Gasoline Direct Injection - GDI):</a:t>
            </a:r>
            <a:r>
              <a:rPr lang="en-US" b="0" i="0" dirty="0">
                <a:solidFill>
                  <a:srgbClr val="0A0A0A"/>
                </a:solidFill>
                <a:effectLst/>
                <a:latin typeface="Google Sans"/>
              </a:rPr>
              <a:t> The most advanced system, injecting high-pressure fuel directly into the combustion chamber. This provides maximum precision in fuel metering, leading to improved power output, better fuel economy, and lower emissions.</a:t>
            </a:r>
            <a:endParaRPr lang="en-US" dirty="0"/>
          </a:p>
        </p:txBody>
      </p:sp>
      <p:pic>
        <p:nvPicPr>
          <p:cNvPr id="4" name="Picture 3">
            <a:extLst>
              <a:ext uri="{FF2B5EF4-FFF2-40B4-BE49-F238E27FC236}">
                <a16:creationId xmlns:a16="http://schemas.microsoft.com/office/drawing/2014/main" id="{2628AFF1-83E6-2124-273F-0231BDB9B49E}"/>
              </a:ext>
            </a:extLst>
          </p:cNvPr>
          <p:cNvPicPr>
            <a:picLocks noChangeAspect="1"/>
          </p:cNvPicPr>
          <p:nvPr/>
        </p:nvPicPr>
        <p:blipFill>
          <a:blip r:embed="rId5"/>
          <a:stretch>
            <a:fillRect/>
          </a:stretch>
        </p:blipFill>
        <p:spPr>
          <a:xfrm>
            <a:off x="6414868" y="3411765"/>
            <a:ext cx="5397305" cy="3397202"/>
          </a:xfrm>
          <a:prstGeom prst="rect">
            <a:avLst/>
          </a:prstGeom>
        </p:spPr>
      </p:pic>
    </p:spTree>
    <p:custDataLst>
      <p:tags r:id="rId1"/>
    </p:custDataLst>
    <p:extLst>
      <p:ext uri="{BB962C8B-B14F-4D97-AF65-F5344CB8AC3E}">
        <p14:creationId xmlns:p14="http://schemas.microsoft.com/office/powerpoint/2010/main" val="44712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FEE5-DBF3-9CD2-CBBF-5452D1F2587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2F11616-3384-20CB-5F2E-1E2BB15467B3}"/>
              </a:ext>
            </a:extLst>
          </p:cNvPr>
          <p:cNvSpPr txBox="1"/>
          <p:nvPr>
            <p:custDataLst>
              <p:tags r:id="rId2"/>
            </p:custDataLst>
          </p:nvPr>
        </p:nvSpPr>
        <p:spPr>
          <a:xfrm>
            <a:off x="731243" y="1065539"/>
            <a:ext cx="10018643" cy="370371"/>
          </a:xfrm>
          <a:prstGeom prst="rect">
            <a:avLst/>
          </a:prstGeom>
          <a:noFill/>
        </p:spPr>
        <p:txBody>
          <a:bodyPr wrap="square" rtlCol="0">
            <a:noAutofit/>
          </a:bodyPr>
          <a:lstStyle/>
          <a:p>
            <a:r>
              <a:rPr lang="en-US" b="1" dirty="0"/>
              <a:t>Chapter 7 Undertake petrol fuel systems servicing</a:t>
            </a:r>
          </a:p>
        </p:txBody>
      </p:sp>
      <p:sp>
        <p:nvSpPr>
          <p:cNvPr id="22" name="文本框 21">
            <a:extLst>
              <a:ext uri="{FF2B5EF4-FFF2-40B4-BE49-F238E27FC236}">
                <a16:creationId xmlns:a16="http://schemas.microsoft.com/office/drawing/2014/main" id="{5D4552DF-FEAE-5CD8-4C08-645FAEEF3BA4}"/>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9A9BCB6-D2C6-6E81-0CF9-3468AECEADE2}"/>
              </a:ext>
            </a:extLst>
          </p:cNvPr>
          <p:cNvSpPr txBox="1"/>
          <p:nvPr/>
        </p:nvSpPr>
        <p:spPr>
          <a:xfrm>
            <a:off x="482991"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437019A2-E907-2950-BC7F-D247E86C65A1}"/>
              </a:ext>
            </a:extLst>
          </p:cNvPr>
          <p:cNvSpPr/>
          <p:nvPr/>
        </p:nvSpPr>
        <p:spPr>
          <a:xfrm>
            <a:off x="702607" y="1435910"/>
            <a:ext cx="7738787" cy="385362"/>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Petrol fuel </a:t>
            </a:r>
            <a:r>
              <a:rPr lang="en-US" b="1" kern="0" dirty="0">
                <a:latin typeface="Times New Roman" panose="02020603050405020304" pitchFamily="18" charset="0"/>
                <a:ea typeface="Calibri" panose="020F0502020204030204" pitchFamily="34" charset="0"/>
                <a:cs typeface="Arial" panose="020B0604020202020204" pitchFamily="34" charset="0"/>
              </a:rPr>
              <a:t>components</a:t>
            </a:r>
            <a:r>
              <a:rPr lang="en-US" sz="1600" b="1" kern="0" dirty="0">
                <a:latin typeface="Times New Roman" panose="02020603050405020304" pitchFamily="18" charset="0"/>
                <a:ea typeface="Calibri" panose="020F0502020204030204" pitchFamily="34" charset="0"/>
                <a:cs typeface="Arial" panose="020B0604020202020204" pitchFamily="34" charset="0"/>
              </a:rPr>
              <a:t> and their functions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0DC4D5CA-CC0E-52FD-FEC1-ED7D36A75DD9}"/>
              </a:ext>
            </a:extLst>
          </p:cNvPr>
          <p:cNvSpPr txBox="1"/>
          <p:nvPr/>
        </p:nvSpPr>
        <p:spPr>
          <a:xfrm>
            <a:off x="410376" y="1814947"/>
            <a:ext cx="11240363" cy="646331"/>
          </a:xfrm>
          <a:prstGeom prst="rect">
            <a:avLst/>
          </a:prstGeom>
          <a:noFill/>
        </p:spPr>
        <p:txBody>
          <a:bodyPr wrap="square">
            <a:spAutoFit/>
          </a:bodyPr>
          <a:lstStyle/>
          <a:p>
            <a:r>
              <a:rPr lang="en-US" dirty="0"/>
              <a:t>Carburetor (Older Cars): Manually mixes fuel and air in the correct ratio for combustion.</a:t>
            </a:r>
          </a:p>
          <a:p>
            <a:endParaRPr lang="en-US" dirty="0"/>
          </a:p>
        </p:txBody>
      </p:sp>
      <p:pic>
        <p:nvPicPr>
          <p:cNvPr id="4" name="Picture 3">
            <a:extLst>
              <a:ext uri="{FF2B5EF4-FFF2-40B4-BE49-F238E27FC236}">
                <a16:creationId xmlns:a16="http://schemas.microsoft.com/office/drawing/2014/main" id="{E4D465A9-6790-C4F0-7148-38EC61C89EE6}"/>
              </a:ext>
            </a:extLst>
          </p:cNvPr>
          <p:cNvPicPr>
            <a:picLocks noChangeAspect="1"/>
          </p:cNvPicPr>
          <p:nvPr/>
        </p:nvPicPr>
        <p:blipFill>
          <a:blip r:embed="rId5"/>
          <a:stretch>
            <a:fillRect/>
          </a:stretch>
        </p:blipFill>
        <p:spPr>
          <a:xfrm>
            <a:off x="8165903" y="2826283"/>
            <a:ext cx="4449239" cy="2950039"/>
          </a:xfrm>
          <a:prstGeom prst="rect">
            <a:avLst/>
          </a:prstGeom>
        </p:spPr>
      </p:pic>
      <p:sp>
        <p:nvSpPr>
          <p:cNvPr id="7" name="TextBox 6">
            <a:extLst>
              <a:ext uri="{FF2B5EF4-FFF2-40B4-BE49-F238E27FC236}">
                <a16:creationId xmlns:a16="http://schemas.microsoft.com/office/drawing/2014/main" id="{62C9A9B9-F868-6F6F-EF6C-8B6C2C77E07D}"/>
              </a:ext>
            </a:extLst>
          </p:cNvPr>
          <p:cNvSpPr txBox="1"/>
          <p:nvPr/>
        </p:nvSpPr>
        <p:spPr>
          <a:xfrm>
            <a:off x="482991" y="2200309"/>
            <a:ext cx="6309360" cy="369332"/>
          </a:xfrm>
          <a:prstGeom prst="rect">
            <a:avLst/>
          </a:prstGeom>
          <a:noFill/>
        </p:spPr>
        <p:txBody>
          <a:bodyPr wrap="square">
            <a:spAutoFit/>
          </a:bodyPr>
          <a:lstStyle/>
          <a:p>
            <a:r>
              <a:rPr lang="en-US" b="1" i="0" dirty="0">
                <a:solidFill>
                  <a:srgbClr val="0A0A0A"/>
                </a:solidFill>
                <a:effectLst/>
                <a:latin typeface="Google Sans"/>
              </a:rPr>
              <a:t>Key Components</a:t>
            </a:r>
            <a:endParaRPr lang="en-US" dirty="0"/>
          </a:p>
        </p:txBody>
      </p:sp>
      <p:sp>
        <p:nvSpPr>
          <p:cNvPr id="9" name="TextBox 8">
            <a:extLst>
              <a:ext uri="{FF2B5EF4-FFF2-40B4-BE49-F238E27FC236}">
                <a16:creationId xmlns:a16="http://schemas.microsoft.com/office/drawing/2014/main" id="{C1314F5E-38F2-C666-9F4F-492E57D58C5C}"/>
              </a:ext>
            </a:extLst>
          </p:cNvPr>
          <p:cNvSpPr txBox="1"/>
          <p:nvPr/>
        </p:nvSpPr>
        <p:spPr>
          <a:xfrm>
            <a:off x="482991" y="2712828"/>
            <a:ext cx="9071249" cy="3139321"/>
          </a:xfrm>
          <a:prstGeom prst="rect">
            <a:avLst/>
          </a:prstGeom>
          <a:noFill/>
        </p:spPr>
        <p:txBody>
          <a:bodyPr wrap="square">
            <a:spAutoFit/>
          </a:bodyPr>
          <a:lstStyle/>
          <a:p>
            <a:r>
              <a:rPr lang="en-US" dirty="0"/>
              <a:t>Float Chamber (Bowl): A small reservoir that holds a constant supply of fuel, regulated by a float and needle valve mechanism to prevent overflowing.</a:t>
            </a:r>
          </a:p>
          <a:p>
            <a:r>
              <a:rPr lang="en-US" dirty="0"/>
              <a:t>Venturi: The constricted passage that increases air velocity and lowers pressure to draw in fuel.</a:t>
            </a:r>
          </a:p>
          <a:p>
            <a:r>
              <a:rPr lang="en-US" dirty="0"/>
              <a:t>Jets: Precisely sized orifices (including main jets and idle jets) that control the flow rate of fuel into the air mixture at different engine speeds and loads.</a:t>
            </a:r>
          </a:p>
          <a:p>
            <a:r>
              <a:rPr lang="en-US" dirty="0"/>
              <a:t>Choke Valve: Located at the top of the carburetor, it restricts airflow during a cold start to create a fuel-rich mixture, which is easier to ignite when the engine is cold.</a:t>
            </a:r>
          </a:p>
          <a:p>
            <a:r>
              <a:rPr lang="en-US" dirty="0"/>
              <a:t>Throttle Valve (Plate): A butterfly valve located below the venturi, connected to the accelerator pedal. It controls the amount of the air-fuel mixture entering the engine, thus regulating engine power and speed.</a:t>
            </a:r>
          </a:p>
        </p:txBody>
      </p:sp>
    </p:spTree>
    <p:custDataLst>
      <p:tags r:id="rId1"/>
    </p:custDataLst>
    <p:extLst>
      <p:ext uri="{BB962C8B-B14F-4D97-AF65-F5344CB8AC3E}">
        <p14:creationId xmlns:p14="http://schemas.microsoft.com/office/powerpoint/2010/main" val="634286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1130</TotalTime>
  <Words>1362</Words>
  <Application>Microsoft Office PowerPoint</Application>
  <PresentationFormat>Widescreen</PresentationFormat>
  <Paragraphs>154</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238</cp:revision>
  <dcterms:created xsi:type="dcterms:W3CDTF">2019-06-19T02:08:00Z</dcterms:created>
  <dcterms:modified xsi:type="dcterms:W3CDTF">2025-11-26T16:07:34Z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