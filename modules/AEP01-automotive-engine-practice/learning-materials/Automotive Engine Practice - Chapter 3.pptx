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8"/>
  </p:notesMasterIdLst>
  <p:sldIdLst>
    <p:sldId id="265" r:id="rId2"/>
    <p:sldId id="331" r:id="rId3"/>
    <p:sldId id="332" r:id="rId4"/>
    <p:sldId id="333" r:id="rId5"/>
    <p:sldId id="346" r:id="rId6"/>
    <p:sldId id="334" r:id="rId7"/>
    <p:sldId id="347" r:id="rId8"/>
    <p:sldId id="349" r:id="rId9"/>
    <p:sldId id="350" r:id="rId10"/>
    <p:sldId id="351" r:id="rId11"/>
    <p:sldId id="352" r:id="rId12"/>
    <p:sldId id="353" r:id="rId13"/>
    <p:sldId id="354" r:id="rId14"/>
    <p:sldId id="355" r:id="rId15"/>
    <p:sldId id="335" r:id="rId16"/>
    <p:sldId id="336" r:id="rId17"/>
    <p:sldId id="337" r:id="rId18"/>
    <p:sldId id="338" r:id="rId19"/>
    <p:sldId id="339" r:id="rId20"/>
    <p:sldId id="340" r:id="rId21"/>
    <p:sldId id="341" r:id="rId22"/>
    <p:sldId id="342" r:id="rId23"/>
    <p:sldId id="343" r:id="rId24"/>
    <p:sldId id="344" r:id="rId25"/>
    <p:sldId id="345" r:id="rId26"/>
    <p:sldId id="295"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55" d="100"/>
          <a:sy n="55" d="100"/>
        </p:scale>
        <p:origin x="1356" y="35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711357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2026/4/15</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2026/4/15</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tags" Target="../tags/tag182.xml"/><Relationship Id="rId7" Type="http://schemas.openxmlformats.org/officeDocument/2006/relationships/image" Target="../media/image16.jpe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slideLayout" Target="../slideLayouts/slideLayout1.xml"/><Relationship Id="rId5" Type="http://schemas.openxmlformats.org/officeDocument/2006/relationships/video" Target="https://www.youtube.com/embed/xlfd_84Y3R4?feature=oembed" TargetMode="External"/><Relationship Id="rId4" Type="http://schemas.openxmlformats.org/officeDocument/2006/relationships/video" Target="https://www.youtube.com/embed/_ao9Tj_Aaok?feature=oembed" TargetMode="External"/><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2.xml"/><Relationship Id="rId1" Type="http://schemas.openxmlformats.org/officeDocument/2006/relationships/tags" Target="../tags/tag2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tx1">
                    <a:lumMod val="75000"/>
                    <a:lumOff val="25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kumimoji="0" lang="en-US" sz="2800" b="1" i="0" u="none" strike="noStrike" kern="100" cap="none" spc="0" normalizeH="0" baseline="0" noProof="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956263" y="2530770"/>
            <a:ext cx="6096000" cy="2318520"/>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kern="0" dirty="0">
                <a:latin typeface="+mj-lt"/>
                <a:ea typeface="Times New Roman" panose="02020603050405020304" pitchFamily="18" charset="0"/>
                <a:cs typeface="Arial" panose="020B0604020202020204" pitchFamily="34" charset="0"/>
              </a:rPr>
              <a:t>Even a well-maintained engine can develop faults over time due to:</a:t>
            </a:r>
            <a:endParaRPr lang="en-US" sz="1400" kern="100" dirty="0">
              <a:latin typeface="+mj-lt"/>
              <a:ea typeface="Calibri" panose="020F0502020204030204" pitchFamily="34" charset="0"/>
              <a:cs typeface="Arial" panose="020B0604020202020204" pitchFamily="34"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400" kern="0" dirty="0">
                <a:latin typeface="+mj-lt"/>
                <a:ea typeface="Times New Roman" panose="02020603050405020304" pitchFamily="18" charset="0"/>
                <a:cs typeface="Times New Roman" panose="02020603050405020304" pitchFamily="18" charset="0"/>
              </a:rPr>
              <a:t>Wear and tear</a:t>
            </a:r>
            <a:endParaRPr lang="en-US" sz="1400" kern="100" dirty="0">
              <a:latin typeface="+mj-lt"/>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400" kern="0" dirty="0">
                <a:latin typeface="+mj-lt"/>
                <a:ea typeface="Times New Roman" panose="02020603050405020304" pitchFamily="18" charset="0"/>
                <a:cs typeface="Times New Roman" panose="02020603050405020304" pitchFamily="18" charset="0"/>
              </a:rPr>
              <a:t>Improper maintenance</a:t>
            </a:r>
            <a:endParaRPr lang="en-US" sz="1400" kern="100" dirty="0">
              <a:latin typeface="+mj-lt"/>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400" kern="0" dirty="0">
                <a:latin typeface="+mj-lt"/>
                <a:ea typeface="Times New Roman" panose="02020603050405020304" pitchFamily="18" charset="0"/>
                <a:cs typeface="Times New Roman" panose="02020603050405020304" pitchFamily="18" charset="0"/>
              </a:rPr>
              <a:t>Fuel or lubrication issues</a:t>
            </a:r>
            <a:endParaRPr lang="en-US" sz="1400" kern="100" dirty="0">
              <a:latin typeface="+mj-lt"/>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400" kern="0" dirty="0">
                <a:latin typeface="+mj-lt"/>
                <a:ea typeface="Times New Roman" panose="02020603050405020304" pitchFamily="18" charset="0"/>
                <a:cs typeface="Times New Roman" panose="02020603050405020304" pitchFamily="18" charset="0"/>
              </a:rPr>
              <a:t>Overheating or contamination</a:t>
            </a:r>
            <a:endParaRPr lang="en-US" sz="1400" kern="100" dirty="0">
              <a:latin typeface="+mj-lt"/>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kern="0" dirty="0">
                <a:latin typeface="+mj-lt"/>
                <a:ea typeface="Times New Roman" panose="02020603050405020304" pitchFamily="18" charset="0"/>
                <a:cs typeface="Arial" panose="020B0604020202020204" pitchFamily="34" charset="0"/>
              </a:rPr>
              <a:t>Understanding common faults helps in </a:t>
            </a:r>
            <a:r>
              <a:rPr lang="en-US" sz="1400" b="1" kern="0" dirty="0">
                <a:latin typeface="+mj-lt"/>
                <a:ea typeface="Times New Roman" panose="02020603050405020304" pitchFamily="18" charset="0"/>
                <a:cs typeface="Arial" panose="020B0604020202020204" pitchFamily="34" charset="0"/>
              </a:rPr>
              <a:t>quick diagnosis and effective repair</a:t>
            </a:r>
            <a:r>
              <a:rPr lang="en-US" sz="1200" kern="0" dirty="0">
                <a:latin typeface="Times New Roman" panose="02020603050405020304" pitchFamily="18" charset="0"/>
                <a:ea typeface="Times New Roman" panose="02020603050405020304" pitchFamily="18"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83779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Objectives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869999" y="2347397"/>
            <a:ext cx="6096000" cy="1249573"/>
          </a:xfrm>
          <a:prstGeom prst="rect">
            <a:avLst/>
          </a:prstGeom>
        </p:spPr>
        <p:txBody>
          <a:bodyPr>
            <a:spAutoFit/>
          </a:bodyPr>
          <a:lstStyle/>
          <a:p>
            <a:pPr>
              <a:lnSpc>
                <a:spcPct val="115000"/>
              </a:lnSpc>
              <a:spcAft>
                <a:spcPts val="800"/>
              </a:spcAft>
            </a:pPr>
            <a:r>
              <a:rPr lang="en-US" sz="1200" kern="0" dirty="0">
                <a:latin typeface="+mj-lt"/>
                <a:ea typeface="Times New Roman" panose="02020603050405020304" pitchFamily="18" charset="0"/>
                <a:cs typeface="Arial" panose="020B0604020202020204" pitchFamily="34" charset="0"/>
              </a:rPr>
              <a:t>By the end of this presentation, you will be able to:</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kern="0" dirty="0">
                <a:latin typeface="+mj-lt"/>
                <a:ea typeface="Times New Roman" panose="02020603050405020304" pitchFamily="18" charset="0"/>
                <a:cs typeface="Arial" panose="020B0604020202020204" pitchFamily="34" charset="0"/>
              </a:rPr>
              <a:t>Identify common engine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kern="0" dirty="0">
                <a:latin typeface="+mj-lt"/>
                <a:ea typeface="Times New Roman" panose="02020603050405020304" pitchFamily="18" charset="0"/>
                <a:cs typeface="Arial" panose="020B0604020202020204" pitchFamily="34" charset="0"/>
              </a:rPr>
              <a:t>Understand their causes and symptoms.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kern="0" dirty="0">
                <a:latin typeface="+mj-lt"/>
                <a:ea typeface="Times New Roman" panose="02020603050405020304" pitchFamily="18" charset="0"/>
                <a:cs typeface="Arial" panose="020B0604020202020204" pitchFamily="34" charset="0"/>
              </a:rPr>
              <a:t>Learn basic rectification (repair) methods.</a:t>
            </a:r>
            <a:endParaRPr lang="en-US" sz="1200" kern="100" dirty="0">
              <a:effectLst/>
              <a:latin typeface="+mj-lt"/>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987000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Classification of Engine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956263" y="2530770"/>
            <a:ext cx="6096000" cy="1866088"/>
          </a:xfrm>
          <a:prstGeom prst="rect">
            <a:avLst/>
          </a:prstGeom>
        </p:spPr>
        <p:txBody>
          <a:bodyPr>
            <a:spAutoFit/>
          </a:bodyPr>
          <a:lstStyle/>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Starting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Performance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Overheating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Lubrication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Combustion / Firing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Mechanical / Noise Faults</a:t>
            </a:r>
            <a:endParaRPr lang="en-US" sz="1200" kern="100" dirty="0">
              <a:effectLst/>
              <a:latin typeface="+mj-lt"/>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58278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4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Classification of Engine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956263" y="2530770"/>
            <a:ext cx="6096000" cy="1866088"/>
          </a:xfrm>
          <a:prstGeom prst="rect">
            <a:avLst/>
          </a:prstGeom>
        </p:spPr>
        <p:txBody>
          <a:bodyPr>
            <a:spAutoFit/>
          </a:bodyPr>
          <a:lstStyle/>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Starting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Performance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Overheating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Lubrication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Combustion / Firing Faults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Font typeface="+mj-lt"/>
              <a:buAutoNum type="arabicPeriod"/>
              <a:tabLst>
                <a:tab pos="457200" algn="l"/>
              </a:tabLst>
            </a:pPr>
            <a:r>
              <a:rPr lang="en-US" sz="1200" b="1" kern="0" dirty="0">
                <a:latin typeface="+mj-lt"/>
                <a:ea typeface="Times New Roman" panose="02020603050405020304" pitchFamily="18" charset="0"/>
                <a:cs typeface="Arial" panose="020B0604020202020204" pitchFamily="34" charset="0"/>
              </a:rPr>
              <a:t>Mechanical / Noise Faults</a:t>
            </a:r>
            <a:endParaRPr lang="en-US" sz="1200" kern="100" dirty="0">
              <a:effectLst/>
              <a:latin typeface="+mj-lt"/>
              <a:ea typeface="Calibri" panose="020F0502020204030204" pitchFamily="34" charset="0"/>
              <a:cs typeface="Arial" panose="020B0604020202020204" pitchFamily="34" charset="0"/>
            </a:endParaRPr>
          </a:p>
        </p:txBody>
      </p:sp>
      <p:pic>
        <p:nvPicPr>
          <p:cNvPr id="4" name="Picture 3"/>
          <p:cNvPicPr>
            <a:picLocks noChangeAspect="1"/>
          </p:cNvPicPr>
          <p:nvPr/>
        </p:nvPicPr>
        <p:blipFill>
          <a:blip r:embed="rId5"/>
          <a:stretch>
            <a:fillRect/>
          </a:stretch>
        </p:blipFill>
        <p:spPr>
          <a:xfrm>
            <a:off x="5426015" y="2027208"/>
            <a:ext cx="5983753" cy="4252960"/>
          </a:xfrm>
          <a:prstGeom prst="rect">
            <a:avLst/>
          </a:prstGeom>
        </p:spPr>
      </p:pic>
    </p:spTree>
    <p:custDataLst>
      <p:tags r:id="rId1"/>
    </p:custDataLst>
    <p:extLst>
      <p:ext uri="{BB962C8B-B14F-4D97-AF65-F5344CB8AC3E}">
        <p14:creationId xmlns:p14="http://schemas.microsoft.com/office/powerpoint/2010/main" val="3873804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608654282"/>
              </p:ext>
            </p:extLst>
          </p:nvPr>
        </p:nvGraphicFramePr>
        <p:xfrm>
          <a:off x="669927" y="2530773"/>
          <a:ext cx="8258412" cy="1903205"/>
        </p:xfrm>
        <a:graphic>
          <a:graphicData uri="http://schemas.openxmlformats.org/drawingml/2006/table">
            <a:tbl>
              <a:tblPr firstRow="1" firstCol="1" bandRow="1">
                <a:tableStyleId>{5C22544A-7EE6-4342-B048-85BDC9FD1C3A}</a:tableStyleId>
              </a:tblPr>
              <a:tblGrid>
                <a:gridCol w="2752804">
                  <a:extLst>
                    <a:ext uri="{9D8B030D-6E8A-4147-A177-3AD203B41FA5}">
                      <a16:colId xmlns:a16="http://schemas.microsoft.com/office/drawing/2014/main" val="3823674468"/>
                    </a:ext>
                  </a:extLst>
                </a:gridCol>
                <a:gridCol w="2752804">
                  <a:extLst>
                    <a:ext uri="{9D8B030D-6E8A-4147-A177-3AD203B41FA5}">
                      <a16:colId xmlns:a16="http://schemas.microsoft.com/office/drawing/2014/main" val="801444371"/>
                    </a:ext>
                  </a:extLst>
                </a:gridCol>
                <a:gridCol w="2752804">
                  <a:extLst>
                    <a:ext uri="{9D8B030D-6E8A-4147-A177-3AD203B41FA5}">
                      <a16:colId xmlns:a16="http://schemas.microsoft.com/office/drawing/2014/main" val="296472709"/>
                    </a:ext>
                  </a:extLst>
                </a:gridCol>
              </a:tblGrid>
              <a:tr h="380641">
                <a:tc>
                  <a:txBody>
                    <a:bodyPr/>
                    <a:lstStyle/>
                    <a:p>
                      <a:pPr marL="0" marR="0" algn="ctr">
                        <a:lnSpc>
                          <a:spcPct val="115000"/>
                        </a:lnSpc>
                        <a:spcBef>
                          <a:spcPts val="0"/>
                        </a:spcBef>
                        <a:spcAft>
                          <a:spcPts val="0"/>
                        </a:spcAft>
                      </a:pPr>
                      <a:r>
                        <a:rPr lang="en-US" sz="1200" kern="0" dirty="0">
                          <a:effectLst/>
                        </a:rPr>
                        <a:t>Fault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Possible Cause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Rectification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2770184"/>
                  </a:ext>
                </a:extLst>
              </a:tr>
              <a:tr h="380641">
                <a:tc>
                  <a:txBody>
                    <a:bodyPr/>
                    <a:lstStyle/>
                    <a:p>
                      <a:pPr marL="0" marR="0">
                        <a:lnSpc>
                          <a:spcPct val="115000"/>
                        </a:lnSpc>
                        <a:spcBef>
                          <a:spcPts val="0"/>
                        </a:spcBef>
                        <a:spcAft>
                          <a:spcPts val="0"/>
                        </a:spcAft>
                      </a:pPr>
                      <a:r>
                        <a:rPr lang="en-US" sz="1200" kern="0">
                          <a:effectLst/>
                        </a:rPr>
                        <a:t>Engine fails to start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Weak or dead battery</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Recharge or replace battery</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640788019"/>
                  </a:ext>
                </a:extLst>
              </a:tr>
              <a:tr h="380641">
                <a:tc>
                  <a:txBody>
                    <a:bodyPr/>
                    <a:lstStyle/>
                    <a:p>
                      <a:pPr marL="0" marR="0">
                        <a:lnSpc>
                          <a:spcPct val="115000"/>
                        </a:lnSpc>
                        <a:spcBef>
                          <a:spcPts val="0"/>
                        </a:spcBef>
                        <a:spcAft>
                          <a:spcPts val="0"/>
                        </a:spcAft>
                      </a:pPr>
                      <a:r>
                        <a:rPr lang="en-US" sz="1200" kern="0">
                          <a:effectLst/>
                        </a:rPr>
                        <a:t>Hard starting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Faulty spark plug or ignition coil</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Clean or replace spark plug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26994263"/>
                  </a:ext>
                </a:extLst>
              </a:tr>
              <a:tr h="380641">
                <a:tc>
                  <a:txBody>
                    <a:bodyPr/>
                    <a:lstStyle/>
                    <a:p>
                      <a:pPr marL="0" marR="0">
                        <a:lnSpc>
                          <a:spcPct val="115000"/>
                        </a:lnSpc>
                        <a:spcBef>
                          <a:spcPts val="0"/>
                        </a:spcBef>
                        <a:spcAft>
                          <a:spcPts val="0"/>
                        </a:spcAft>
                      </a:pPr>
                      <a:r>
                        <a:rPr lang="en-US" sz="1200" kern="0">
                          <a:effectLst/>
                        </a:rPr>
                        <a:t>Poor compression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Worn piston rings or valves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Replace worn components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521616091"/>
                  </a:ext>
                </a:extLst>
              </a:tr>
              <a:tr h="380641">
                <a:tc>
                  <a:txBody>
                    <a:bodyPr/>
                    <a:lstStyle/>
                    <a:p>
                      <a:pPr marL="0" marR="0">
                        <a:lnSpc>
                          <a:spcPct val="115000"/>
                        </a:lnSpc>
                        <a:spcBef>
                          <a:spcPts val="0"/>
                        </a:spcBef>
                        <a:spcAft>
                          <a:spcPts val="0"/>
                        </a:spcAft>
                      </a:pPr>
                      <a:r>
                        <a:rPr lang="en-US" sz="1200" kern="0" dirty="0">
                          <a:effectLst/>
                        </a:rPr>
                        <a:t>Fuel not reaching carburetor/injector</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Blocked fuel line or filter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Clean fuel system</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89347648"/>
                  </a:ext>
                </a:extLst>
              </a:tr>
            </a:tbl>
          </a:graphicData>
        </a:graphic>
      </p:graphicFrame>
    </p:spTree>
    <p:custDataLst>
      <p:tags r:id="rId1"/>
    </p:custDataLst>
    <p:extLst>
      <p:ext uri="{BB962C8B-B14F-4D97-AF65-F5344CB8AC3E}">
        <p14:creationId xmlns:p14="http://schemas.microsoft.com/office/powerpoint/2010/main" val="4143724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2198038" cy="410882"/>
          </a:xfrm>
          <a:prstGeom prst="rect">
            <a:avLst/>
          </a:prstGeom>
        </p:spPr>
        <p:txBody>
          <a:bodyPr wrap="none">
            <a:spAutoFit/>
          </a:bodyPr>
          <a:lstStyle/>
          <a:p>
            <a:pPr>
              <a:lnSpc>
                <a:spcPct val="115000"/>
              </a:lnSpc>
              <a:spcAft>
                <a:spcPts val="800"/>
              </a:spcAft>
            </a:pPr>
            <a:r>
              <a:rPr lang="en-US" b="1" dirty="0"/>
              <a:t>Engine fail to start</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309093" y="2056017"/>
            <a:ext cx="11017876" cy="923330"/>
          </a:xfrm>
          <a:prstGeom prst="rect">
            <a:avLst/>
          </a:prstGeom>
        </p:spPr>
        <p:txBody>
          <a:bodyPr wrap="square">
            <a:spAutoFit/>
          </a:bodyPr>
          <a:lstStyle/>
          <a:p>
            <a:r>
              <a:rPr lang="en-US" b="1" dirty="0">
                <a:solidFill>
                  <a:srgbClr val="0A0A0A"/>
                </a:solidFill>
                <a:latin typeface="Google Sans"/>
              </a:rPr>
              <a:t>Weak or dead battery:</a:t>
            </a:r>
            <a:r>
              <a:rPr lang="en-US" dirty="0">
                <a:solidFill>
                  <a:srgbClr val="0A0A0A"/>
                </a:solidFill>
                <a:latin typeface="Google Sans"/>
              </a:rPr>
              <a:t> The most common cause. Your dashboard lights might flicker, or all power may be completely off. This can happen if you leave an interior light on, or due to a bad alternator not charging the battery</a:t>
            </a:r>
            <a:endParaRPr lang="en-US" dirty="0"/>
          </a:p>
        </p:txBody>
      </p:sp>
      <p:sp>
        <p:nvSpPr>
          <p:cNvPr id="7" name="Rectangle 6"/>
          <p:cNvSpPr/>
          <p:nvPr/>
        </p:nvSpPr>
        <p:spPr>
          <a:xfrm>
            <a:off x="309093" y="3083277"/>
            <a:ext cx="11017876" cy="646331"/>
          </a:xfrm>
          <a:prstGeom prst="rect">
            <a:avLst/>
          </a:prstGeom>
        </p:spPr>
        <p:txBody>
          <a:bodyPr wrap="square">
            <a:spAutoFit/>
          </a:bodyPr>
          <a:lstStyle/>
          <a:p>
            <a:r>
              <a:rPr lang="en-US" b="1" dirty="0">
                <a:solidFill>
                  <a:srgbClr val="0A0A0A"/>
                </a:solidFill>
                <a:latin typeface="Google Sans"/>
              </a:rPr>
              <a:t>What to do:</a:t>
            </a:r>
            <a:r>
              <a:rPr lang="en-US" dirty="0">
                <a:solidFill>
                  <a:srgbClr val="0A0A0A"/>
                </a:solidFill>
                <a:latin typeface="Google Sans"/>
              </a:rPr>
              <a:t> Jump-start the vehicle. If it starts, it confirms a battery or alternator issue. Drive to an auto parts store to get them tested.</a:t>
            </a:r>
            <a:endParaRPr lang="en-US" b="0" i="0" dirty="0">
              <a:solidFill>
                <a:srgbClr val="0A0A0A"/>
              </a:solidFill>
              <a:effectLst/>
              <a:latin typeface="Google Sans"/>
            </a:endParaRPr>
          </a:p>
        </p:txBody>
      </p:sp>
      <p:sp>
        <p:nvSpPr>
          <p:cNvPr id="8" name="Rectangle 7"/>
          <p:cNvSpPr/>
          <p:nvPr/>
        </p:nvSpPr>
        <p:spPr>
          <a:xfrm>
            <a:off x="309092" y="3833538"/>
            <a:ext cx="11642501" cy="369332"/>
          </a:xfrm>
          <a:prstGeom prst="rect">
            <a:avLst/>
          </a:prstGeom>
        </p:spPr>
        <p:txBody>
          <a:bodyPr wrap="square">
            <a:spAutoFit/>
          </a:bodyPr>
          <a:lstStyle/>
          <a:p>
            <a:r>
              <a:rPr lang="en-US" b="1" dirty="0">
                <a:solidFill>
                  <a:srgbClr val="0A0A0A"/>
                </a:solidFill>
                <a:latin typeface="Google Sans"/>
              </a:rPr>
              <a:t>Corroded battery terminals:</a:t>
            </a:r>
            <a:r>
              <a:rPr lang="en-US" dirty="0">
                <a:solidFill>
                  <a:srgbClr val="0A0A0A"/>
                </a:solidFill>
                <a:latin typeface="Google Sans"/>
              </a:rPr>
              <a:t> Dirty or loose connections on the battery posts can prevent proper electrical flow.</a:t>
            </a:r>
            <a:endParaRPr lang="en-US" dirty="0"/>
          </a:p>
        </p:txBody>
      </p:sp>
      <p:sp>
        <p:nvSpPr>
          <p:cNvPr id="9" name="Rectangle 8"/>
          <p:cNvSpPr/>
          <p:nvPr/>
        </p:nvSpPr>
        <p:spPr>
          <a:xfrm>
            <a:off x="309091" y="4176695"/>
            <a:ext cx="11526593" cy="646331"/>
          </a:xfrm>
          <a:prstGeom prst="rect">
            <a:avLst/>
          </a:prstGeom>
        </p:spPr>
        <p:txBody>
          <a:bodyPr wrap="square">
            <a:spAutoFit/>
          </a:bodyPr>
          <a:lstStyle/>
          <a:p>
            <a:r>
              <a:rPr lang="en-US" b="1" dirty="0">
                <a:solidFill>
                  <a:srgbClr val="0A0A0A"/>
                </a:solidFill>
                <a:latin typeface="Google Sans"/>
              </a:rPr>
              <a:t>What to do:</a:t>
            </a:r>
            <a:r>
              <a:rPr lang="en-US" dirty="0">
                <a:solidFill>
                  <a:srgbClr val="0A0A0A"/>
                </a:solidFill>
                <a:latin typeface="Google Sans"/>
              </a:rPr>
              <a:t> Inspect the terminals for white or greenish build-up. Carefully disconnect and clean them with a wire brush or a solution of baking soda and water.</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2757489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2198038" cy="410882"/>
          </a:xfrm>
          <a:prstGeom prst="rect">
            <a:avLst/>
          </a:prstGeom>
        </p:spPr>
        <p:txBody>
          <a:bodyPr wrap="none">
            <a:spAutoFit/>
          </a:bodyPr>
          <a:lstStyle/>
          <a:p>
            <a:pPr>
              <a:lnSpc>
                <a:spcPct val="115000"/>
              </a:lnSpc>
              <a:spcAft>
                <a:spcPts val="800"/>
              </a:spcAft>
            </a:pPr>
            <a:r>
              <a:rPr lang="en-US" b="1" dirty="0"/>
              <a:t>Engine fail to start</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330556" y="2030505"/>
            <a:ext cx="11375931" cy="646331"/>
          </a:xfrm>
          <a:prstGeom prst="rect">
            <a:avLst/>
          </a:prstGeom>
        </p:spPr>
        <p:txBody>
          <a:bodyPr wrap="square">
            <a:spAutoFit/>
          </a:bodyPr>
          <a:lstStyle/>
          <a:p>
            <a:r>
              <a:rPr lang="en-US" b="1" dirty="0">
                <a:solidFill>
                  <a:srgbClr val="0A0A0A"/>
                </a:solidFill>
                <a:latin typeface="Google Sans"/>
              </a:rPr>
              <a:t>Bad starter motor:</a:t>
            </a:r>
            <a:r>
              <a:rPr lang="en-US" dirty="0">
                <a:solidFill>
                  <a:srgbClr val="0A0A0A"/>
                </a:solidFill>
                <a:latin typeface="Google Sans"/>
              </a:rPr>
              <a:t> If the battery is healthy, the starter motor may be faulty. A single loud click when turning the key suggests the starter solenoid has failed.</a:t>
            </a:r>
            <a:endParaRPr lang="en-US" dirty="0"/>
          </a:p>
        </p:txBody>
      </p:sp>
      <p:sp>
        <p:nvSpPr>
          <p:cNvPr id="10" name="Rectangle 9"/>
          <p:cNvSpPr/>
          <p:nvPr/>
        </p:nvSpPr>
        <p:spPr>
          <a:xfrm>
            <a:off x="330556" y="2727859"/>
            <a:ext cx="11556644" cy="369332"/>
          </a:xfrm>
          <a:prstGeom prst="rect">
            <a:avLst/>
          </a:prstGeom>
        </p:spPr>
        <p:txBody>
          <a:bodyPr wrap="square">
            <a:spAutoFit/>
          </a:bodyPr>
          <a:lstStyle/>
          <a:p>
            <a:r>
              <a:rPr lang="en-US" b="1" dirty="0">
                <a:solidFill>
                  <a:srgbClr val="0A0A0A"/>
                </a:solidFill>
                <a:latin typeface="Google Sans"/>
              </a:rPr>
              <a:t>What to do:</a:t>
            </a:r>
            <a:r>
              <a:rPr lang="en-US" dirty="0">
                <a:solidFill>
                  <a:srgbClr val="0A0A0A"/>
                </a:solidFill>
                <a:latin typeface="Google Sans"/>
              </a:rPr>
              <a:t> If the battery and connections are fine, the starter motor likely needs to be replaced by a mechanic</a:t>
            </a:r>
            <a:endParaRPr lang="en-US" dirty="0"/>
          </a:p>
        </p:txBody>
      </p:sp>
      <p:sp>
        <p:nvSpPr>
          <p:cNvPr id="11" name="Rectangle 10"/>
          <p:cNvSpPr/>
          <p:nvPr/>
        </p:nvSpPr>
        <p:spPr>
          <a:xfrm>
            <a:off x="330555" y="3115539"/>
            <a:ext cx="11375931" cy="646331"/>
          </a:xfrm>
          <a:prstGeom prst="rect">
            <a:avLst/>
          </a:prstGeom>
        </p:spPr>
        <p:txBody>
          <a:bodyPr wrap="square">
            <a:spAutoFit/>
          </a:bodyPr>
          <a:lstStyle/>
          <a:p>
            <a:r>
              <a:rPr lang="en-US" b="1" dirty="0">
                <a:solidFill>
                  <a:srgbClr val="0A0A0A"/>
                </a:solidFill>
                <a:latin typeface="Google Sans"/>
              </a:rPr>
              <a:t>Faulty ignition switch:</a:t>
            </a:r>
            <a:r>
              <a:rPr lang="en-US" dirty="0">
                <a:solidFill>
                  <a:srgbClr val="0A0A0A"/>
                </a:solidFill>
                <a:latin typeface="Google Sans"/>
              </a:rPr>
              <a:t> The switch can fail to send the necessary power to the starter. If you have lights but no cranking, the switch could be the culprit.</a:t>
            </a:r>
            <a:endParaRPr lang="en-US" b="0" i="0" dirty="0">
              <a:solidFill>
                <a:srgbClr val="0A0A0A"/>
              </a:solidFill>
              <a:effectLst/>
              <a:latin typeface="Google Sans"/>
            </a:endParaRPr>
          </a:p>
        </p:txBody>
      </p:sp>
      <p:sp>
        <p:nvSpPr>
          <p:cNvPr id="12" name="Rectangle 11"/>
          <p:cNvSpPr/>
          <p:nvPr/>
        </p:nvSpPr>
        <p:spPr>
          <a:xfrm>
            <a:off x="330554" y="3761870"/>
            <a:ext cx="11556645" cy="646331"/>
          </a:xfrm>
          <a:prstGeom prst="rect">
            <a:avLst/>
          </a:prstGeom>
        </p:spPr>
        <p:txBody>
          <a:bodyPr wrap="square">
            <a:spAutoFit/>
          </a:bodyPr>
          <a:lstStyle/>
          <a:p>
            <a:r>
              <a:rPr lang="en-US" b="1" dirty="0">
                <a:solidFill>
                  <a:srgbClr val="0A0A0A"/>
                </a:solidFill>
                <a:latin typeface="Google Sans"/>
              </a:rPr>
              <a:t>Park/neutral safety switch failure:</a:t>
            </a:r>
            <a:r>
              <a:rPr lang="en-US" dirty="0">
                <a:solidFill>
                  <a:srgbClr val="0A0A0A"/>
                </a:solidFill>
                <a:latin typeface="Google Sans"/>
              </a:rPr>
              <a:t> Your car has a safety switch that prevents starting while in gear. If this switch is faulty, the car will not start even if the shifter is in "Park".</a:t>
            </a:r>
            <a:endParaRPr lang="en-US" dirty="0"/>
          </a:p>
        </p:txBody>
      </p:sp>
      <p:sp>
        <p:nvSpPr>
          <p:cNvPr id="13" name="Rectangle 12"/>
          <p:cNvSpPr/>
          <p:nvPr/>
        </p:nvSpPr>
        <p:spPr>
          <a:xfrm>
            <a:off x="330554" y="4523738"/>
            <a:ext cx="11260432" cy="369332"/>
          </a:xfrm>
          <a:prstGeom prst="rect">
            <a:avLst/>
          </a:prstGeom>
        </p:spPr>
        <p:txBody>
          <a:bodyPr wrap="square">
            <a:spAutoFit/>
          </a:bodyPr>
          <a:lstStyle/>
          <a:p>
            <a:r>
              <a:rPr lang="en-US" b="1" dirty="0">
                <a:solidFill>
                  <a:srgbClr val="0A0A0A"/>
                </a:solidFill>
                <a:latin typeface="Google Sans"/>
              </a:rPr>
              <a:t>What to do:</a:t>
            </a:r>
            <a:r>
              <a:rPr lang="en-US" dirty="0">
                <a:solidFill>
                  <a:srgbClr val="0A0A0A"/>
                </a:solidFill>
                <a:latin typeface="Google Sans"/>
              </a:rPr>
              <a:t> Try starting the vehicle in neutral, which uses a different part of the switch.</a:t>
            </a:r>
            <a:endParaRPr lang="en-US" dirty="0"/>
          </a:p>
        </p:txBody>
      </p:sp>
    </p:spTree>
    <p:custDataLst>
      <p:tags r:id="rId1"/>
    </p:custDataLst>
    <p:extLst>
      <p:ext uri="{BB962C8B-B14F-4D97-AF65-F5344CB8AC3E}">
        <p14:creationId xmlns:p14="http://schemas.microsoft.com/office/powerpoint/2010/main" val="3355502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2198038" cy="410882"/>
          </a:xfrm>
          <a:prstGeom prst="rect">
            <a:avLst/>
          </a:prstGeom>
        </p:spPr>
        <p:txBody>
          <a:bodyPr wrap="none">
            <a:spAutoFit/>
          </a:bodyPr>
          <a:lstStyle/>
          <a:p>
            <a:pPr>
              <a:lnSpc>
                <a:spcPct val="115000"/>
              </a:lnSpc>
              <a:spcAft>
                <a:spcPts val="800"/>
              </a:spcAft>
            </a:pPr>
            <a:r>
              <a:rPr lang="en-US" b="1" dirty="0"/>
              <a:t>Engine fail to start</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12" name="Rectangle 11"/>
          <p:cNvSpPr/>
          <p:nvPr/>
        </p:nvSpPr>
        <p:spPr>
          <a:xfrm>
            <a:off x="330554" y="1985540"/>
            <a:ext cx="11556645" cy="646331"/>
          </a:xfrm>
          <a:prstGeom prst="rect">
            <a:avLst/>
          </a:prstGeom>
        </p:spPr>
        <p:txBody>
          <a:bodyPr wrap="square">
            <a:spAutoFit/>
          </a:bodyPr>
          <a:lstStyle/>
          <a:p>
            <a:r>
              <a:rPr lang="en-US" b="1" dirty="0">
                <a:solidFill>
                  <a:srgbClr val="0A0A0A"/>
                </a:solidFill>
                <a:latin typeface="Google Sans"/>
              </a:rPr>
              <a:t>Park/neutral safety switch failure:</a:t>
            </a:r>
            <a:r>
              <a:rPr lang="en-US" dirty="0">
                <a:solidFill>
                  <a:srgbClr val="0A0A0A"/>
                </a:solidFill>
                <a:latin typeface="Google Sans"/>
              </a:rPr>
              <a:t> Your car has a safety switch that prevents starting while in gear. If this switch is faulty, the car will not start even if the shifter is in "Park".</a:t>
            </a:r>
            <a:endParaRPr lang="en-US" dirty="0"/>
          </a:p>
        </p:txBody>
      </p:sp>
      <p:sp>
        <p:nvSpPr>
          <p:cNvPr id="13" name="Rectangle 12"/>
          <p:cNvSpPr/>
          <p:nvPr/>
        </p:nvSpPr>
        <p:spPr>
          <a:xfrm>
            <a:off x="330554" y="2699202"/>
            <a:ext cx="11260432" cy="369332"/>
          </a:xfrm>
          <a:prstGeom prst="rect">
            <a:avLst/>
          </a:prstGeom>
        </p:spPr>
        <p:txBody>
          <a:bodyPr wrap="square">
            <a:spAutoFit/>
          </a:bodyPr>
          <a:lstStyle/>
          <a:p>
            <a:r>
              <a:rPr lang="en-US" b="1" dirty="0">
                <a:solidFill>
                  <a:srgbClr val="0A0A0A"/>
                </a:solidFill>
                <a:latin typeface="Google Sans"/>
              </a:rPr>
              <a:t>What to do:</a:t>
            </a:r>
            <a:r>
              <a:rPr lang="en-US" dirty="0">
                <a:solidFill>
                  <a:srgbClr val="0A0A0A"/>
                </a:solidFill>
                <a:latin typeface="Google Sans"/>
              </a:rPr>
              <a:t> Try starting the vehicle in neutral, which uses a different part of the switch.</a:t>
            </a:r>
            <a:endParaRPr lang="en-US" dirty="0"/>
          </a:p>
        </p:txBody>
      </p:sp>
      <p:pic>
        <p:nvPicPr>
          <p:cNvPr id="4" name="Online Media 3" title="Neutral Safety Switch Explained – Symptoms, Causes &amp; Fixes!">
            <a:hlinkClick r:id="" action="ppaction://media"/>
            <a:extLst>
              <a:ext uri="{FF2B5EF4-FFF2-40B4-BE49-F238E27FC236}">
                <a16:creationId xmlns:a16="http://schemas.microsoft.com/office/drawing/2014/main" id="{60D26509-AC53-8622-4C04-E51860BC9424}"/>
              </a:ext>
            </a:extLst>
          </p:cNvPr>
          <p:cNvPicPr>
            <a:picLocks noRot="1" noChangeAspect="1"/>
          </p:cNvPicPr>
          <p:nvPr>
            <a:videoFile r:link="rId4"/>
          </p:nvPr>
        </p:nvPicPr>
        <p:blipFill>
          <a:blip r:embed="rId7"/>
          <a:stretch>
            <a:fillRect/>
          </a:stretch>
        </p:blipFill>
        <p:spPr>
          <a:xfrm>
            <a:off x="517505" y="3135865"/>
            <a:ext cx="4247000" cy="2399560"/>
          </a:xfrm>
          <a:prstGeom prst="rect">
            <a:avLst/>
          </a:prstGeom>
        </p:spPr>
      </p:pic>
      <p:pic>
        <p:nvPicPr>
          <p:cNvPr id="6" name="Online Media 5" title="How to work Accelerator Of Car ?  #shorts #training #engineering">
            <a:hlinkClick r:id="" action="ppaction://media"/>
            <a:extLst>
              <a:ext uri="{FF2B5EF4-FFF2-40B4-BE49-F238E27FC236}">
                <a16:creationId xmlns:a16="http://schemas.microsoft.com/office/drawing/2014/main" id="{62EA8338-1F78-4449-B678-850AE9BC3FCD}"/>
              </a:ext>
            </a:extLst>
          </p:cNvPr>
          <p:cNvPicPr>
            <a:picLocks noRot="1" noChangeAspect="1"/>
          </p:cNvPicPr>
          <p:nvPr>
            <a:videoFile r:link="rId5"/>
          </p:nvPr>
        </p:nvPicPr>
        <p:blipFill>
          <a:blip r:embed="rId8"/>
          <a:stretch>
            <a:fillRect/>
          </a:stretch>
        </p:blipFill>
        <p:spPr>
          <a:xfrm>
            <a:off x="9389226" y="2430379"/>
            <a:ext cx="2285269" cy="4044392"/>
          </a:xfrm>
          <a:prstGeom prst="rect">
            <a:avLst/>
          </a:prstGeom>
        </p:spPr>
      </p:pic>
      <p:pic>
        <p:nvPicPr>
          <p:cNvPr id="7" name="Picture 6">
            <a:extLst>
              <a:ext uri="{FF2B5EF4-FFF2-40B4-BE49-F238E27FC236}">
                <a16:creationId xmlns:a16="http://schemas.microsoft.com/office/drawing/2014/main" id="{90A24038-9927-D60C-C3F3-149D91CBFF9B}"/>
              </a:ext>
            </a:extLst>
          </p:cNvPr>
          <p:cNvPicPr>
            <a:picLocks noChangeAspect="1"/>
          </p:cNvPicPr>
          <p:nvPr/>
        </p:nvPicPr>
        <p:blipFill>
          <a:blip r:embed="rId9"/>
          <a:stretch>
            <a:fillRect/>
          </a:stretch>
        </p:blipFill>
        <p:spPr>
          <a:xfrm>
            <a:off x="5798468" y="3602800"/>
            <a:ext cx="2905125" cy="1571625"/>
          </a:xfrm>
          <a:prstGeom prst="rect">
            <a:avLst/>
          </a:prstGeom>
        </p:spPr>
      </p:pic>
    </p:spTree>
    <p:custDataLst>
      <p:tags r:id="rId1"/>
    </p:custDataLst>
    <p:extLst>
      <p:ext uri="{BB962C8B-B14F-4D97-AF65-F5344CB8AC3E}">
        <p14:creationId xmlns:p14="http://schemas.microsoft.com/office/powerpoint/2010/main" val="204749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6"/>
                </p:tgtEl>
              </p:cMediaNode>
            </p:video>
            <p:seq concurrent="1" nextAc="seek">
              <p:cTn id="18" restart="whenNotActive" fill="hold" evtFilter="cancelBubble" nodeType="interactiveSeq">
                <p:stCondLst>
                  <p:cond evt="onClick" delay="0">
                    <p:tgtEl>
                      <p:spTgt spid="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1646605" cy="383823"/>
          </a:xfrm>
          <a:prstGeom prst="rect">
            <a:avLst/>
          </a:prstGeom>
        </p:spPr>
        <p:txBody>
          <a:bodyPr wrap="none">
            <a:spAutoFit/>
          </a:bodyPr>
          <a:lstStyle/>
          <a:p>
            <a:pPr>
              <a:lnSpc>
                <a:spcPct val="115000"/>
              </a:lnSpc>
              <a:spcAft>
                <a:spcPts val="800"/>
              </a:spcAft>
            </a:pPr>
            <a:r>
              <a:rPr lang="en-US" b="1" dirty="0"/>
              <a:t>Hard Starting</a:t>
            </a:r>
          </a:p>
        </p:txBody>
      </p:sp>
      <p:sp>
        <p:nvSpPr>
          <p:cNvPr id="4" name="Rectangle 3"/>
          <p:cNvSpPr/>
          <p:nvPr/>
        </p:nvSpPr>
        <p:spPr>
          <a:xfrm>
            <a:off x="710552" y="1894582"/>
            <a:ext cx="3996607" cy="369332"/>
          </a:xfrm>
          <a:prstGeom prst="rect">
            <a:avLst/>
          </a:prstGeom>
        </p:spPr>
        <p:txBody>
          <a:bodyPr wrap="none">
            <a:spAutoFit/>
          </a:bodyPr>
          <a:lstStyle/>
          <a:p>
            <a:r>
              <a:rPr lang="en-US" b="1" dirty="0">
                <a:solidFill>
                  <a:srgbClr val="0A0A0A"/>
                </a:solidFill>
                <a:latin typeface="Google Sans"/>
              </a:rPr>
              <a:t>If the engine cranks but won't start</a:t>
            </a:r>
            <a:endParaRPr lang="en-US" dirty="0"/>
          </a:p>
        </p:txBody>
      </p:sp>
      <p:sp>
        <p:nvSpPr>
          <p:cNvPr id="6" name="Rectangle 5"/>
          <p:cNvSpPr/>
          <p:nvPr/>
        </p:nvSpPr>
        <p:spPr>
          <a:xfrm>
            <a:off x="710552" y="2247959"/>
            <a:ext cx="11086496" cy="646331"/>
          </a:xfrm>
          <a:prstGeom prst="rect">
            <a:avLst/>
          </a:prstGeom>
        </p:spPr>
        <p:txBody>
          <a:bodyPr wrap="square">
            <a:spAutoFit/>
          </a:bodyPr>
          <a:lstStyle/>
          <a:p>
            <a:r>
              <a:rPr lang="en-US" dirty="0">
                <a:solidFill>
                  <a:srgbClr val="0A0A0A"/>
                </a:solidFill>
                <a:latin typeface="Google Sans"/>
              </a:rPr>
              <a:t>This means the starter is working, but the engine isn't completing the combustion cycle. The issue is likely with the fuel or spark</a:t>
            </a:r>
            <a:endParaRPr lang="en-US" dirty="0"/>
          </a:p>
        </p:txBody>
      </p:sp>
      <p:sp>
        <p:nvSpPr>
          <p:cNvPr id="7" name="Rectangle 6"/>
          <p:cNvSpPr/>
          <p:nvPr/>
        </p:nvSpPr>
        <p:spPr>
          <a:xfrm>
            <a:off x="710551" y="2894290"/>
            <a:ext cx="10841797" cy="646331"/>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No fuel:</a:t>
            </a:r>
            <a:r>
              <a:rPr lang="en-US" dirty="0">
                <a:solidFill>
                  <a:srgbClr val="0A0A0A"/>
                </a:solidFill>
                <a:latin typeface="Google Sans"/>
              </a:rPr>
              <a:t> You might have a faulty fuel gauge or are simply out of gas.</a:t>
            </a:r>
          </a:p>
          <a:p>
            <a:r>
              <a:rPr lang="en-US" b="1" dirty="0">
                <a:solidFill>
                  <a:srgbClr val="0A0A0A"/>
                </a:solidFill>
                <a:latin typeface="Google Sans"/>
              </a:rPr>
              <a:t>What to do:</a:t>
            </a:r>
            <a:r>
              <a:rPr lang="en-US" dirty="0">
                <a:solidFill>
                  <a:srgbClr val="0A0A0A"/>
                </a:solidFill>
                <a:latin typeface="Google Sans"/>
              </a:rPr>
              <a:t> Add fuel to your tank and see if it starts</a:t>
            </a:r>
            <a:endParaRPr lang="en-US" b="0" i="0" dirty="0">
              <a:solidFill>
                <a:srgbClr val="0A0A0A"/>
              </a:solidFill>
              <a:effectLst/>
              <a:latin typeface="Google Sans"/>
            </a:endParaRPr>
          </a:p>
        </p:txBody>
      </p:sp>
      <p:sp>
        <p:nvSpPr>
          <p:cNvPr id="8" name="Rectangle 7"/>
          <p:cNvSpPr/>
          <p:nvPr/>
        </p:nvSpPr>
        <p:spPr>
          <a:xfrm>
            <a:off x="710550" y="3524666"/>
            <a:ext cx="11086498" cy="1200329"/>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Bad fuel pump or relay:</a:t>
            </a:r>
            <a:r>
              <a:rPr lang="en-US" dirty="0">
                <a:solidFill>
                  <a:srgbClr val="0A0A0A"/>
                </a:solidFill>
                <a:latin typeface="Google Sans"/>
              </a:rPr>
              <a:t> The fuel pump moves gas from the tank to the engine. If it fails, the engine gets no fuel.</a:t>
            </a:r>
          </a:p>
          <a:p>
            <a:pPr>
              <a:buFont typeface="Arial" panose="020B0604020202020204" pitchFamily="34" charset="0"/>
              <a:buChar char="•"/>
            </a:pPr>
            <a:r>
              <a:rPr lang="en-US" b="1" dirty="0">
                <a:solidFill>
                  <a:srgbClr val="0A0A0A"/>
                </a:solidFill>
                <a:latin typeface="Google Sans"/>
              </a:rPr>
              <a:t>What to do:</a:t>
            </a:r>
            <a:r>
              <a:rPr lang="en-US" dirty="0">
                <a:solidFill>
                  <a:srgbClr val="0A0A0A"/>
                </a:solidFill>
                <a:latin typeface="Google Sans"/>
              </a:rPr>
              <a:t> Turn the key to the "on" position (without starting) and listen for a two-second hum from the rear of the car, which indicates the fuel pump is priming.</a:t>
            </a:r>
            <a:endParaRPr lang="en-US" b="0" i="0" dirty="0">
              <a:solidFill>
                <a:srgbClr val="0A0A0A"/>
              </a:solidFill>
              <a:effectLst/>
              <a:latin typeface="Google Sans"/>
            </a:endParaRPr>
          </a:p>
        </p:txBody>
      </p:sp>
      <p:sp>
        <p:nvSpPr>
          <p:cNvPr id="9" name="Rectangle 8"/>
          <p:cNvSpPr/>
          <p:nvPr/>
        </p:nvSpPr>
        <p:spPr>
          <a:xfrm>
            <a:off x="710549" y="4558203"/>
            <a:ext cx="6096000" cy="923330"/>
          </a:xfrm>
          <a:prstGeom prst="rect">
            <a:avLst/>
          </a:prstGeom>
        </p:spPr>
        <p:txBody>
          <a:bodyPr>
            <a:spAutoFit/>
          </a:bodyPr>
          <a:lstStyle/>
          <a:p>
            <a:pPr>
              <a:buFont typeface="Arial" panose="020B0604020202020204" pitchFamily="34" charset="0"/>
              <a:buChar char="•"/>
            </a:pPr>
            <a:r>
              <a:rPr lang="en-US" b="1" dirty="0">
                <a:solidFill>
                  <a:srgbClr val="0A0A0A"/>
                </a:solidFill>
                <a:latin typeface="Google Sans"/>
              </a:rPr>
              <a:t>Clogged fuel filter:</a:t>
            </a:r>
            <a:r>
              <a:rPr lang="en-US" dirty="0">
                <a:solidFill>
                  <a:srgbClr val="0A0A0A"/>
                </a:solidFill>
                <a:latin typeface="Google Sans"/>
              </a:rPr>
              <a:t> A dirty filter can restrict fuel flow and starve the engine. It's often a contributing factor rather than the sole cause.</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4096700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1646605" cy="383823"/>
          </a:xfrm>
          <a:prstGeom prst="rect">
            <a:avLst/>
          </a:prstGeom>
        </p:spPr>
        <p:txBody>
          <a:bodyPr wrap="none">
            <a:spAutoFit/>
          </a:bodyPr>
          <a:lstStyle/>
          <a:p>
            <a:pPr>
              <a:lnSpc>
                <a:spcPct val="115000"/>
              </a:lnSpc>
              <a:spcAft>
                <a:spcPts val="800"/>
              </a:spcAft>
            </a:pPr>
            <a:r>
              <a:rPr lang="en-US" b="1" dirty="0"/>
              <a:t>Hard Starting</a:t>
            </a:r>
          </a:p>
        </p:txBody>
      </p:sp>
      <p:sp>
        <p:nvSpPr>
          <p:cNvPr id="4" name="Rectangle 3"/>
          <p:cNvSpPr/>
          <p:nvPr/>
        </p:nvSpPr>
        <p:spPr>
          <a:xfrm>
            <a:off x="710552" y="1894582"/>
            <a:ext cx="3996607" cy="369332"/>
          </a:xfrm>
          <a:prstGeom prst="rect">
            <a:avLst/>
          </a:prstGeom>
        </p:spPr>
        <p:txBody>
          <a:bodyPr wrap="none">
            <a:spAutoFit/>
          </a:bodyPr>
          <a:lstStyle/>
          <a:p>
            <a:r>
              <a:rPr lang="en-US" b="1" dirty="0">
                <a:solidFill>
                  <a:srgbClr val="0A0A0A"/>
                </a:solidFill>
                <a:latin typeface="Google Sans"/>
              </a:rPr>
              <a:t>If the engine cranks but won't start</a:t>
            </a:r>
            <a:endParaRPr lang="en-US" dirty="0"/>
          </a:p>
        </p:txBody>
      </p:sp>
      <p:sp>
        <p:nvSpPr>
          <p:cNvPr id="10" name="Rectangle 9"/>
          <p:cNvSpPr/>
          <p:nvPr/>
        </p:nvSpPr>
        <p:spPr>
          <a:xfrm>
            <a:off x="638814" y="2230912"/>
            <a:ext cx="10995936" cy="646331"/>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No spark:</a:t>
            </a:r>
            <a:r>
              <a:rPr lang="en-US" dirty="0">
                <a:solidFill>
                  <a:srgbClr val="0A0A0A"/>
                </a:solidFill>
                <a:latin typeface="Google Sans"/>
              </a:rPr>
              <a:t> A lack of spark can be caused by failed spark plugs or ignition coils, which ignite the fuel. A bad crank position sensor can also prevent the engine computer from knowing when to send the spark.</a:t>
            </a:r>
            <a:endParaRPr lang="en-US" b="0" i="0" dirty="0">
              <a:solidFill>
                <a:srgbClr val="0A0A0A"/>
              </a:solidFill>
              <a:effectLst/>
              <a:latin typeface="Google Sans"/>
            </a:endParaRPr>
          </a:p>
        </p:txBody>
      </p:sp>
      <p:sp>
        <p:nvSpPr>
          <p:cNvPr id="11" name="Rectangle 10"/>
          <p:cNvSpPr/>
          <p:nvPr/>
        </p:nvSpPr>
        <p:spPr>
          <a:xfrm>
            <a:off x="710552" y="2806176"/>
            <a:ext cx="10995936" cy="646331"/>
          </a:xfrm>
          <a:prstGeom prst="rect">
            <a:avLst/>
          </a:prstGeom>
        </p:spPr>
        <p:txBody>
          <a:bodyPr wrap="square">
            <a:spAutoFit/>
          </a:bodyPr>
          <a:lstStyle/>
          <a:p>
            <a:r>
              <a:rPr lang="en-US" b="1" dirty="0">
                <a:solidFill>
                  <a:srgbClr val="0A0A0A"/>
                </a:solidFill>
                <a:latin typeface="Google Sans"/>
              </a:rPr>
              <a:t>Broken timing belt or chain:</a:t>
            </a:r>
            <a:r>
              <a:rPr lang="en-US" dirty="0">
                <a:solidFill>
                  <a:srgbClr val="0A0A0A"/>
                </a:solidFill>
                <a:latin typeface="Google Sans"/>
              </a:rPr>
              <a:t> If you hear the engine cranking faster than normal, the timing belt may have snapped. This is a severe problem that will require towing.</a:t>
            </a:r>
            <a:endParaRPr lang="en-US" dirty="0"/>
          </a:p>
        </p:txBody>
      </p:sp>
      <p:sp>
        <p:nvSpPr>
          <p:cNvPr id="12" name="Rectangle 1"/>
          <p:cNvSpPr>
            <a:spLocks noChangeArrowheads="1"/>
          </p:cNvSpPr>
          <p:nvPr/>
        </p:nvSpPr>
        <p:spPr bwMode="auto">
          <a:xfrm rot="10800000" flipV="1">
            <a:off x="638814" y="3469615"/>
            <a:ext cx="10625070" cy="2319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A0A0A"/>
                </a:solidFill>
                <a:effectLst/>
                <a:latin typeface="Google Sans"/>
              </a:rPr>
              <a:t>What to do next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rgbClr val="0A0A0A"/>
                </a:solidFill>
                <a:effectLst/>
                <a:latin typeface="Google Sans"/>
              </a:rPr>
              <a:t>Determine the sound:</a:t>
            </a:r>
            <a:r>
              <a:rPr kumimoji="0" lang="en-US" altLang="en-US" sz="1600" b="0" i="0" u="none" strike="noStrike" cap="none" normalizeH="0" baseline="0" dirty="0">
                <a:ln>
                  <a:noFill/>
                </a:ln>
                <a:solidFill>
                  <a:srgbClr val="0A0A0A"/>
                </a:solidFill>
                <a:effectLst/>
                <a:latin typeface="Google Sans"/>
              </a:rPr>
              <a:t> Listen carefully when you turn the key. Does it click, crank, or do nothing?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rgbClr val="0A0A0A"/>
                </a:solidFill>
                <a:effectLst/>
                <a:latin typeface="Google Sans"/>
              </a:rPr>
              <a:t>Perform basic checks:</a:t>
            </a:r>
            <a:r>
              <a:rPr kumimoji="0" lang="en-US" altLang="en-US" sz="1600" b="0" i="0" u="none" strike="noStrike" cap="none" normalizeH="0" baseline="0" dirty="0">
                <a:ln>
                  <a:noFill/>
                </a:ln>
                <a:solidFill>
                  <a:srgbClr val="0A0A0A"/>
                </a:solidFill>
                <a:effectLst/>
                <a:latin typeface="Google Sans"/>
              </a:rPr>
              <a:t> Start with the simplest fixes. Is the car in park? Do you have enough gas? Are the battery terminals clean and tight?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rgbClr val="0A0A0A"/>
                </a:solidFill>
                <a:effectLst/>
                <a:latin typeface="Google Sans"/>
              </a:rPr>
              <a:t>Try a jump-start:</a:t>
            </a:r>
            <a:r>
              <a:rPr kumimoji="0" lang="en-US" altLang="en-US" sz="1600" b="0" i="0" u="none" strike="noStrike" cap="none" normalizeH="0" baseline="0" dirty="0">
                <a:ln>
                  <a:noFill/>
                </a:ln>
                <a:solidFill>
                  <a:srgbClr val="0A0A0A"/>
                </a:solidFill>
                <a:effectLst/>
                <a:latin typeface="Google Sans"/>
              </a:rPr>
              <a:t> This is a good way to determine if a weak battery is the problem.</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rgbClr val="0A0A0A"/>
                </a:solidFill>
                <a:effectLst/>
                <a:latin typeface="Google Sans"/>
              </a:rPr>
              <a:t>Know when to call a pro:</a:t>
            </a:r>
            <a:r>
              <a:rPr kumimoji="0" lang="en-US" altLang="en-US" sz="1600" b="0" i="0" u="none" strike="noStrike" cap="none" normalizeH="0" baseline="0" dirty="0">
                <a:ln>
                  <a:noFill/>
                </a:ln>
                <a:solidFill>
                  <a:srgbClr val="0A0A0A"/>
                </a:solidFill>
                <a:effectLst/>
                <a:latin typeface="Google Sans"/>
              </a:rPr>
              <a:t> If a jump-start doesn't work or the problem seems to be with the starter, ignition, or fuel pump, it's best to have a qualified mechanic diagnose and repair the vehicle.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362190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2249334" cy="390363"/>
          </a:xfrm>
          <a:prstGeom prst="rect">
            <a:avLst/>
          </a:prstGeom>
        </p:spPr>
        <p:txBody>
          <a:bodyPr wrap="none">
            <a:spAutoFit/>
          </a:bodyPr>
          <a:lstStyle/>
          <a:p>
            <a:pPr>
              <a:lnSpc>
                <a:spcPct val="115000"/>
              </a:lnSpc>
              <a:spcAft>
                <a:spcPts val="800"/>
              </a:spcAft>
            </a:pPr>
            <a:r>
              <a:rPr lang="en-US" b="1" dirty="0"/>
              <a:t>Poor Compression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4143800" y="1541205"/>
            <a:ext cx="3724096" cy="369332"/>
          </a:xfrm>
          <a:prstGeom prst="rect">
            <a:avLst/>
          </a:prstGeom>
        </p:spPr>
        <p:txBody>
          <a:bodyPr wrap="none">
            <a:spAutoFit/>
          </a:bodyPr>
          <a:lstStyle/>
          <a:p>
            <a:r>
              <a:rPr lang="en-US" b="1" dirty="0">
                <a:solidFill>
                  <a:srgbClr val="0A0A0A"/>
                </a:solidFill>
                <a:latin typeface="Google Sans"/>
              </a:rPr>
              <a:t>Symptoms of poor compression</a:t>
            </a:r>
            <a:endParaRPr lang="en-US" dirty="0"/>
          </a:p>
        </p:txBody>
      </p:sp>
      <p:sp>
        <p:nvSpPr>
          <p:cNvPr id="6" name="Rectangle 5"/>
          <p:cNvSpPr/>
          <p:nvPr/>
        </p:nvSpPr>
        <p:spPr>
          <a:xfrm>
            <a:off x="220228" y="2002716"/>
            <a:ext cx="11486260" cy="646331"/>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Difficulty starting:</a:t>
            </a:r>
            <a:r>
              <a:rPr lang="en-US" dirty="0">
                <a:solidFill>
                  <a:srgbClr val="0A0A0A"/>
                </a:solidFill>
                <a:latin typeface="Google Sans"/>
              </a:rPr>
              <a:t> The engine may crank normally but fail to start, especially when cold. If compression is low across all cylinders, the engine will spin faster than normal and not start at all.</a:t>
            </a:r>
            <a:endParaRPr lang="en-US" b="0" i="0" dirty="0">
              <a:solidFill>
                <a:srgbClr val="0A0A0A"/>
              </a:solidFill>
              <a:effectLst/>
              <a:latin typeface="Google Sans"/>
            </a:endParaRPr>
          </a:p>
        </p:txBody>
      </p:sp>
      <p:sp>
        <p:nvSpPr>
          <p:cNvPr id="7" name="Rectangle 6"/>
          <p:cNvSpPr/>
          <p:nvPr/>
        </p:nvSpPr>
        <p:spPr>
          <a:xfrm>
            <a:off x="220228" y="2741226"/>
            <a:ext cx="11576820" cy="369332"/>
          </a:xfrm>
          <a:prstGeom prst="rect">
            <a:avLst/>
          </a:prstGeom>
        </p:spPr>
        <p:txBody>
          <a:bodyPr wrap="square">
            <a:spAutoFit/>
          </a:bodyPr>
          <a:lstStyle/>
          <a:p>
            <a:r>
              <a:rPr lang="en-US" b="1" dirty="0">
                <a:solidFill>
                  <a:srgbClr val="0A0A0A"/>
                </a:solidFill>
                <a:latin typeface="Google Sans"/>
              </a:rPr>
              <a:t>Rough idle:</a:t>
            </a:r>
            <a:r>
              <a:rPr lang="en-US" dirty="0">
                <a:solidFill>
                  <a:srgbClr val="0A0A0A"/>
                </a:solidFill>
                <a:latin typeface="Google Sans"/>
              </a:rPr>
              <a:t> An engine with poor compression in one or more cylinders will often have a rough or shaky idle</a:t>
            </a:r>
            <a:endParaRPr lang="en-US" dirty="0"/>
          </a:p>
        </p:txBody>
      </p:sp>
      <p:sp>
        <p:nvSpPr>
          <p:cNvPr id="8" name="Rectangle 7"/>
          <p:cNvSpPr/>
          <p:nvPr/>
        </p:nvSpPr>
        <p:spPr>
          <a:xfrm>
            <a:off x="220228" y="3105835"/>
            <a:ext cx="11576820" cy="369332"/>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Reduced power:</a:t>
            </a:r>
            <a:r>
              <a:rPr lang="en-US" dirty="0">
                <a:solidFill>
                  <a:srgbClr val="0A0A0A"/>
                </a:solidFill>
                <a:latin typeface="Google Sans"/>
              </a:rPr>
              <a:t> You may notice sluggish acceleration and a significant loss of overall power.</a:t>
            </a:r>
            <a:endParaRPr lang="en-US" b="0" i="0" dirty="0">
              <a:solidFill>
                <a:srgbClr val="0A0A0A"/>
              </a:solidFill>
              <a:effectLst/>
              <a:latin typeface="Google Sans"/>
            </a:endParaRPr>
          </a:p>
        </p:txBody>
      </p:sp>
      <p:sp>
        <p:nvSpPr>
          <p:cNvPr id="9" name="Rectangle 8"/>
          <p:cNvSpPr/>
          <p:nvPr/>
        </p:nvSpPr>
        <p:spPr>
          <a:xfrm>
            <a:off x="317678" y="3494748"/>
            <a:ext cx="11002851" cy="646331"/>
          </a:xfrm>
          <a:prstGeom prst="rect">
            <a:avLst/>
          </a:prstGeom>
        </p:spPr>
        <p:txBody>
          <a:bodyPr wrap="square">
            <a:spAutoFit/>
          </a:bodyPr>
          <a:lstStyle/>
          <a:p>
            <a:r>
              <a:rPr lang="en-US" b="1" dirty="0">
                <a:solidFill>
                  <a:srgbClr val="0A0A0A"/>
                </a:solidFill>
                <a:latin typeface="Google Sans"/>
              </a:rPr>
              <a:t>Misfires:</a:t>
            </a:r>
            <a:r>
              <a:rPr lang="en-US" dirty="0">
                <a:solidFill>
                  <a:srgbClr val="0A0A0A"/>
                </a:solidFill>
                <a:latin typeface="Google Sans"/>
              </a:rPr>
              <a:t> Insufficient cylinder pressure can cause misfires, leading to the engine stumbling or jerking, especially under load</a:t>
            </a:r>
            <a:endParaRPr lang="en-US" dirty="0"/>
          </a:p>
        </p:txBody>
      </p:sp>
      <p:sp>
        <p:nvSpPr>
          <p:cNvPr id="10" name="Rectangle 9"/>
          <p:cNvSpPr/>
          <p:nvPr/>
        </p:nvSpPr>
        <p:spPr>
          <a:xfrm>
            <a:off x="220228" y="4160660"/>
            <a:ext cx="11576820" cy="646331"/>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Increased oil consumption:</a:t>
            </a:r>
            <a:r>
              <a:rPr lang="en-US" dirty="0">
                <a:solidFill>
                  <a:srgbClr val="0A0A0A"/>
                </a:solidFill>
                <a:latin typeface="Google Sans"/>
              </a:rPr>
              <a:t> Worn rings can allow oil to enter the combustion chamber, leading to excessive oil consumption and blue smoke from the exhaust.</a:t>
            </a:r>
            <a:endParaRPr lang="en-US" b="0" i="0" dirty="0">
              <a:solidFill>
                <a:srgbClr val="0A0A0A"/>
              </a:solidFill>
              <a:effectLst/>
              <a:latin typeface="Google Sans"/>
            </a:endParaRPr>
          </a:p>
        </p:txBody>
      </p:sp>
      <p:sp>
        <p:nvSpPr>
          <p:cNvPr id="11" name="Rectangle 10"/>
          <p:cNvSpPr/>
          <p:nvPr/>
        </p:nvSpPr>
        <p:spPr>
          <a:xfrm>
            <a:off x="317678" y="4902496"/>
            <a:ext cx="11479370" cy="369332"/>
          </a:xfrm>
          <a:prstGeom prst="rect">
            <a:avLst/>
          </a:prstGeom>
        </p:spPr>
        <p:txBody>
          <a:bodyPr wrap="square">
            <a:spAutoFit/>
          </a:bodyPr>
          <a:lstStyle/>
          <a:p>
            <a:r>
              <a:rPr lang="en-US" b="1" dirty="0">
                <a:solidFill>
                  <a:srgbClr val="0A0A0A"/>
                </a:solidFill>
                <a:latin typeface="Google Sans"/>
              </a:rPr>
              <a:t>Increased fuel consumption:</a:t>
            </a:r>
            <a:r>
              <a:rPr lang="en-US" dirty="0">
                <a:solidFill>
                  <a:srgbClr val="0A0A0A"/>
                </a:solidFill>
                <a:latin typeface="Google Sans"/>
              </a:rPr>
              <a:t> The engine may use more fuel to compensate for inefficient combustion</a:t>
            </a:r>
            <a:endParaRPr lang="en-US" dirty="0"/>
          </a:p>
        </p:txBody>
      </p:sp>
    </p:spTree>
    <p:custDataLst>
      <p:tags r:id="rId1"/>
    </p:custDataLst>
    <p:extLst>
      <p:ext uri="{BB962C8B-B14F-4D97-AF65-F5344CB8AC3E}">
        <p14:creationId xmlns:p14="http://schemas.microsoft.com/office/powerpoint/2010/main" val="849929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333800" y="58442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2249334" cy="390363"/>
          </a:xfrm>
          <a:prstGeom prst="rect">
            <a:avLst/>
          </a:prstGeom>
        </p:spPr>
        <p:txBody>
          <a:bodyPr wrap="none">
            <a:spAutoFit/>
          </a:bodyPr>
          <a:lstStyle/>
          <a:p>
            <a:pPr>
              <a:lnSpc>
                <a:spcPct val="115000"/>
              </a:lnSpc>
              <a:spcAft>
                <a:spcPts val="800"/>
              </a:spcAft>
            </a:pPr>
            <a:r>
              <a:rPr lang="en-US" b="1" dirty="0"/>
              <a:t>Poor Compression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4143800" y="1541205"/>
            <a:ext cx="3724096" cy="369332"/>
          </a:xfrm>
          <a:prstGeom prst="rect">
            <a:avLst/>
          </a:prstGeom>
        </p:spPr>
        <p:txBody>
          <a:bodyPr wrap="none">
            <a:spAutoFit/>
          </a:bodyPr>
          <a:lstStyle/>
          <a:p>
            <a:r>
              <a:rPr lang="en-US" b="1" dirty="0">
                <a:solidFill>
                  <a:srgbClr val="0A0A0A"/>
                </a:solidFill>
                <a:latin typeface="Google Sans"/>
              </a:rPr>
              <a:t>Symptoms of poor compression</a:t>
            </a:r>
            <a:endParaRPr lang="en-US" dirty="0"/>
          </a:p>
        </p:txBody>
      </p:sp>
      <p:sp>
        <p:nvSpPr>
          <p:cNvPr id="12" name="Rectangle 11"/>
          <p:cNvSpPr/>
          <p:nvPr/>
        </p:nvSpPr>
        <p:spPr>
          <a:xfrm>
            <a:off x="333800" y="1931568"/>
            <a:ext cx="11372688" cy="1200329"/>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Abnormal exhaust smoke:</a:t>
            </a:r>
            <a:endParaRPr lang="en-US" dirty="0">
              <a:solidFill>
                <a:srgbClr val="0A0A0A"/>
              </a:solidFill>
              <a:latin typeface="Google Sans"/>
            </a:endParaRPr>
          </a:p>
          <a:p>
            <a:pPr marL="742950" lvl="1" indent="-285750">
              <a:buFont typeface="Arial" panose="020B0604020202020204" pitchFamily="34" charset="0"/>
              <a:buChar char="•"/>
            </a:pPr>
            <a:r>
              <a:rPr lang="en-US" b="1" dirty="0">
                <a:solidFill>
                  <a:srgbClr val="0A0A0A"/>
                </a:solidFill>
                <a:latin typeface="Google Sans"/>
              </a:rPr>
              <a:t>Blue smoke:</a:t>
            </a:r>
            <a:r>
              <a:rPr lang="en-US" dirty="0">
                <a:solidFill>
                  <a:srgbClr val="0A0A0A"/>
                </a:solidFill>
                <a:latin typeface="Google Sans"/>
              </a:rPr>
              <a:t> Indicates oil is burning, often from worn piston rings or valve seals.</a:t>
            </a:r>
          </a:p>
          <a:p>
            <a:pPr marL="742950" lvl="1" indent="-285750">
              <a:buFont typeface="Arial" panose="020B0604020202020204" pitchFamily="34" charset="0"/>
              <a:buChar char="•"/>
            </a:pPr>
            <a:r>
              <a:rPr lang="en-US" b="1" dirty="0">
                <a:solidFill>
                  <a:srgbClr val="0A0A0A"/>
                </a:solidFill>
                <a:latin typeface="Google Sans"/>
              </a:rPr>
              <a:t>White smoke:</a:t>
            </a:r>
            <a:r>
              <a:rPr lang="en-US" dirty="0">
                <a:solidFill>
                  <a:srgbClr val="0A0A0A"/>
                </a:solidFill>
                <a:latin typeface="Google Sans"/>
              </a:rPr>
              <a:t> Can point to a blown head gasket, which allows coolant to mix with the oil or enter the combustion chamber. </a:t>
            </a:r>
            <a:endParaRPr lang="en-US" b="0" i="0" dirty="0">
              <a:solidFill>
                <a:srgbClr val="0A0A0A"/>
              </a:solidFill>
              <a:effectLst/>
              <a:latin typeface="Google Sans"/>
            </a:endParaRPr>
          </a:p>
        </p:txBody>
      </p:sp>
      <p:sp>
        <p:nvSpPr>
          <p:cNvPr id="13" name="Rectangle 1"/>
          <p:cNvSpPr>
            <a:spLocks noChangeArrowheads="1"/>
          </p:cNvSpPr>
          <p:nvPr/>
        </p:nvSpPr>
        <p:spPr bwMode="auto">
          <a:xfrm rot="10800000" flipV="1">
            <a:off x="296366" y="3062768"/>
            <a:ext cx="11629471" cy="27814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A0A0A"/>
                </a:solidFill>
                <a:effectLst/>
                <a:latin typeface="Google Sans"/>
              </a:rPr>
              <a:t>Common causes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A0A0A"/>
                </a:solidFill>
                <a:effectLst/>
                <a:latin typeface="Google Sans"/>
              </a:rPr>
              <a:t>Worn piston rings:</a:t>
            </a:r>
            <a:r>
              <a:rPr kumimoji="0" lang="en-US" altLang="en-US" sz="1400" b="0" i="0" u="none" strike="noStrike" cap="none" normalizeH="0" baseline="0" dirty="0">
                <a:ln>
                  <a:noFill/>
                </a:ln>
                <a:solidFill>
                  <a:srgbClr val="0A0A0A"/>
                </a:solidFill>
                <a:effectLst/>
                <a:latin typeface="Google Sans"/>
              </a:rPr>
              <a:t> The rings on the piston seal against the cylinder wall to contain combustion pressure. Worn, broken, or carbonized rings will allow pressure to escape.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A0A0A"/>
                </a:solidFill>
                <a:effectLst/>
                <a:latin typeface="Google Sans"/>
              </a:rPr>
              <a:t>Damaged valves:</a:t>
            </a:r>
            <a:r>
              <a:rPr kumimoji="0" lang="en-US" altLang="en-US" sz="1400" b="0" i="0" u="none" strike="noStrike" cap="none" normalizeH="0" baseline="0" dirty="0">
                <a:ln>
                  <a:noFill/>
                </a:ln>
                <a:solidFill>
                  <a:srgbClr val="0A0A0A"/>
                </a:solidFill>
                <a:effectLst/>
                <a:latin typeface="Google Sans"/>
              </a:rPr>
              <a:t> Intake or exhaust valves that are burnt, bent, or not properly seated can leak, preventing the combustion chamber from sealing.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A0A0A"/>
                </a:solidFill>
                <a:effectLst/>
                <a:latin typeface="Google Sans"/>
              </a:rPr>
              <a:t>Blown head gasket:</a:t>
            </a:r>
            <a:r>
              <a:rPr kumimoji="0" lang="en-US" altLang="en-US" sz="1400" b="0" i="0" u="none" strike="noStrike" cap="none" normalizeH="0" baseline="0" dirty="0">
                <a:ln>
                  <a:noFill/>
                </a:ln>
                <a:solidFill>
                  <a:srgbClr val="0A0A0A"/>
                </a:solidFill>
                <a:effectLst/>
                <a:latin typeface="Google Sans"/>
              </a:rPr>
              <a:t> The gasket that seals the cylinder head to the engine block can fail, allowing combustion gases to leak. A gasket breach between two cylinders will cause low compression in both.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A0A0A"/>
                </a:solidFill>
                <a:effectLst/>
                <a:latin typeface="Google Sans"/>
              </a:rPr>
              <a:t>Worn cylinder walls:</a:t>
            </a:r>
            <a:r>
              <a:rPr kumimoji="0" lang="en-US" altLang="en-US" sz="1400" b="0" i="0" u="none" strike="noStrike" cap="none" normalizeH="0" baseline="0" dirty="0">
                <a:ln>
                  <a:noFill/>
                </a:ln>
                <a:solidFill>
                  <a:srgbClr val="0A0A0A"/>
                </a:solidFill>
                <a:effectLst/>
                <a:latin typeface="Google Sans"/>
              </a:rPr>
              <a:t> In high-mileage engines, the cylinder walls can become worn or scored, which prevents the piston rings from creating a tight seal.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A0A0A"/>
                </a:solidFill>
                <a:effectLst/>
                <a:latin typeface="Google Sans"/>
              </a:rPr>
              <a:t>Improper timing:</a:t>
            </a:r>
            <a:r>
              <a:rPr kumimoji="0" lang="en-US" altLang="en-US" sz="1400" b="0" i="0" u="none" strike="noStrike" cap="none" normalizeH="0" baseline="0" dirty="0">
                <a:ln>
                  <a:noFill/>
                </a:ln>
                <a:solidFill>
                  <a:srgbClr val="0A0A0A"/>
                </a:solidFill>
                <a:effectLst/>
                <a:latin typeface="Google Sans"/>
              </a:rPr>
              <a:t> A slipped or broken timing belt/chain can throw off the valve timing, causing them to open and close at the wrong time and leak compression.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936014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868054"/>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333800" y="58442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201439"/>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Common Starting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1541205"/>
            <a:ext cx="4108817" cy="410882"/>
          </a:xfrm>
          <a:prstGeom prst="rect">
            <a:avLst/>
          </a:prstGeom>
        </p:spPr>
        <p:txBody>
          <a:bodyPr wrap="none">
            <a:spAutoFit/>
          </a:bodyPr>
          <a:lstStyle/>
          <a:p>
            <a:pPr>
              <a:lnSpc>
                <a:spcPct val="115000"/>
              </a:lnSpc>
              <a:spcAft>
                <a:spcPts val="800"/>
              </a:spcAft>
            </a:pPr>
            <a:r>
              <a:rPr lang="en-US" b="1" dirty="0"/>
              <a:t>Fuel Not reaching Carburetor issue </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A24820A6-2688-21E5-22D0-E55A1635684C}"/>
              </a:ext>
            </a:extLst>
          </p:cNvPr>
          <p:cNvSpPr txBox="1"/>
          <p:nvPr/>
        </p:nvSpPr>
        <p:spPr>
          <a:xfrm>
            <a:off x="1687845" y="2149266"/>
            <a:ext cx="9489492" cy="1839606"/>
          </a:xfrm>
          <a:prstGeom prst="rect">
            <a:avLst/>
          </a:prstGeom>
          <a:noFill/>
        </p:spPr>
        <p:txBody>
          <a:bodyPr wrap="square">
            <a:spAutoFit/>
          </a:bodyPr>
          <a:lstStyle/>
          <a:p>
            <a:pPr algn="l">
              <a:lnSpc>
                <a:spcPts val="1800"/>
              </a:lnSpc>
              <a:spcBef>
                <a:spcPts val="750"/>
              </a:spcBef>
              <a:spcAft>
                <a:spcPts val="600"/>
              </a:spcAft>
              <a:buFont typeface="Arial" panose="020B0604020202020204" pitchFamily="34" charset="0"/>
              <a:buChar char="•"/>
            </a:pPr>
            <a:r>
              <a:rPr lang="en-US" b="1" i="0" dirty="0">
                <a:solidFill>
                  <a:srgbClr val="0A0A0A"/>
                </a:solidFill>
                <a:effectLst/>
                <a:latin typeface="Google Sans"/>
              </a:rPr>
              <a:t>Check the fuel level.</a:t>
            </a:r>
            <a:r>
              <a:rPr lang="en-US" b="0" i="0" dirty="0">
                <a:solidFill>
                  <a:srgbClr val="0A0A0A"/>
                </a:solidFill>
                <a:effectLst/>
                <a:latin typeface="Google Sans"/>
              </a:rPr>
              <a:t> This may seem obvious, but make sure the tank has a sufficient amount of fresh gasoline.</a:t>
            </a:r>
          </a:p>
          <a:p>
            <a:pPr algn="l">
              <a:lnSpc>
                <a:spcPts val="1800"/>
              </a:lnSpc>
              <a:spcBef>
                <a:spcPts val="750"/>
              </a:spcBef>
              <a:spcAft>
                <a:spcPts val="600"/>
              </a:spcAft>
              <a:buFont typeface="Arial" panose="020B0604020202020204" pitchFamily="34" charset="0"/>
              <a:buChar char="•"/>
            </a:pPr>
            <a:r>
              <a:rPr lang="en-US" b="1" i="0" dirty="0">
                <a:solidFill>
                  <a:srgbClr val="0A0A0A"/>
                </a:solidFill>
                <a:effectLst/>
                <a:latin typeface="Google Sans"/>
              </a:rPr>
              <a:t>Verify the fuel shut-off valve.</a:t>
            </a:r>
            <a:r>
              <a:rPr lang="en-US" b="0" i="0" dirty="0">
                <a:solidFill>
                  <a:srgbClr val="0A0A0A"/>
                </a:solidFill>
                <a:effectLst/>
                <a:latin typeface="Google Sans"/>
              </a:rPr>
              <a:t> For equipment like lawnmowers, make sure the fuel petcock or shut-off valve is in the "on" or "open" position.</a:t>
            </a:r>
          </a:p>
          <a:p>
            <a:pPr algn="l">
              <a:lnSpc>
                <a:spcPts val="1800"/>
              </a:lnSpc>
              <a:spcBef>
                <a:spcPts val="750"/>
              </a:spcBef>
              <a:spcAft>
                <a:spcPts val="600"/>
              </a:spcAft>
              <a:buFont typeface="Arial" panose="020B0604020202020204" pitchFamily="34" charset="0"/>
              <a:buChar char="•"/>
            </a:pPr>
            <a:r>
              <a:rPr lang="en-US" b="1" i="0" dirty="0">
                <a:solidFill>
                  <a:srgbClr val="0A0A0A"/>
                </a:solidFill>
                <a:effectLst/>
                <a:latin typeface="Google Sans"/>
              </a:rPr>
              <a:t>Inspect the fuel lines.</a:t>
            </a:r>
            <a:r>
              <a:rPr lang="en-US" b="0" i="0" dirty="0">
                <a:solidFill>
                  <a:srgbClr val="0A0A0A"/>
                </a:solidFill>
                <a:effectLst/>
                <a:latin typeface="Google Sans"/>
              </a:rPr>
              <a:t> Follow the lines from the tank to the carburetor. Look for any kinks, cracks, or signs of blockage. </a:t>
            </a:r>
          </a:p>
        </p:txBody>
      </p:sp>
    </p:spTree>
    <p:custDataLst>
      <p:tags r:id="rId1"/>
    </p:custDataLst>
    <p:extLst>
      <p:ext uri="{BB962C8B-B14F-4D97-AF65-F5344CB8AC3E}">
        <p14:creationId xmlns:p14="http://schemas.microsoft.com/office/powerpoint/2010/main" val="2438213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Poor Engine Performance</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021172429"/>
              </p:ext>
            </p:extLst>
          </p:nvPr>
        </p:nvGraphicFramePr>
        <p:xfrm>
          <a:off x="669926" y="2432647"/>
          <a:ext cx="9569631" cy="1966825"/>
        </p:xfrm>
        <a:graphic>
          <a:graphicData uri="http://schemas.openxmlformats.org/drawingml/2006/table">
            <a:tbl>
              <a:tblPr firstRow="1" firstCol="1" bandRow="1">
                <a:tableStyleId>{5C22544A-7EE6-4342-B048-85BDC9FD1C3A}</a:tableStyleId>
              </a:tblPr>
              <a:tblGrid>
                <a:gridCol w="3189877">
                  <a:extLst>
                    <a:ext uri="{9D8B030D-6E8A-4147-A177-3AD203B41FA5}">
                      <a16:colId xmlns:a16="http://schemas.microsoft.com/office/drawing/2014/main" val="588824978"/>
                    </a:ext>
                  </a:extLst>
                </a:gridCol>
                <a:gridCol w="3189877">
                  <a:extLst>
                    <a:ext uri="{9D8B030D-6E8A-4147-A177-3AD203B41FA5}">
                      <a16:colId xmlns:a16="http://schemas.microsoft.com/office/drawing/2014/main" val="2011790153"/>
                    </a:ext>
                  </a:extLst>
                </a:gridCol>
                <a:gridCol w="3189877">
                  <a:extLst>
                    <a:ext uri="{9D8B030D-6E8A-4147-A177-3AD203B41FA5}">
                      <a16:colId xmlns:a16="http://schemas.microsoft.com/office/drawing/2014/main" val="725932867"/>
                    </a:ext>
                  </a:extLst>
                </a:gridCol>
              </a:tblGrid>
              <a:tr h="393365">
                <a:tc>
                  <a:txBody>
                    <a:bodyPr/>
                    <a:lstStyle/>
                    <a:p>
                      <a:pPr marL="0" marR="0" algn="ctr">
                        <a:lnSpc>
                          <a:spcPct val="115000"/>
                        </a:lnSpc>
                        <a:spcBef>
                          <a:spcPts val="0"/>
                        </a:spcBef>
                        <a:spcAft>
                          <a:spcPts val="0"/>
                        </a:spcAft>
                      </a:pPr>
                      <a:r>
                        <a:rPr lang="en-US" sz="1200" kern="0">
                          <a:effectLst/>
                        </a:rPr>
                        <a:t>Symptom</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Possible Cause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Rectification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12856420"/>
                  </a:ext>
                </a:extLst>
              </a:tr>
              <a:tr h="393365">
                <a:tc>
                  <a:txBody>
                    <a:bodyPr/>
                    <a:lstStyle/>
                    <a:p>
                      <a:pPr marL="0" marR="0">
                        <a:lnSpc>
                          <a:spcPct val="115000"/>
                        </a:lnSpc>
                        <a:spcBef>
                          <a:spcPts val="0"/>
                        </a:spcBef>
                        <a:spcAft>
                          <a:spcPts val="0"/>
                        </a:spcAft>
                      </a:pPr>
                      <a:r>
                        <a:rPr lang="en-US" sz="1200" kern="0">
                          <a:effectLst/>
                        </a:rPr>
                        <a:t>Lack of power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Clogged air filter or fuel injector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Clean or replace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893345642"/>
                  </a:ext>
                </a:extLst>
              </a:tr>
              <a:tr h="393365">
                <a:tc>
                  <a:txBody>
                    <a:bodyPr/>
                    <a:lstStyle/>
                    <a:p>
                      <a:pPr marL="0" marR="0">
                        <a:lnSpc>
                          <a:spcPct val="115000"/>
                        </a:lnSpc>
                        <a:spcBef>
                          <a:spcPts val="0"/>
                        </a:spcBef>
                        <a:spcAft>
                          <a:spcPts val="0"/>
                        </a:spcAft>
                      </a:pPr>
                      <a:r>
                        <a:rPr lang="en-US" sz="1200" kern="0">
                          <a:effectLst/>
                        </a:rPr>
                        <a:t>Engine misfires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Faulty spark plug, plug wire, or injector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Inspect and replace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237931799"/>
                  </a:ext>
                </a:extLst>
              </a:tr>
              <a:tr h="393365">
                <a:tc>
                  <a:txBody>
                    <a:bodyPr/>
                    <a:lstStyle/>
                    <a:p>
                      <a:pPr marL="0" marR="0">
                        <a:lnSpc>
                          <a:spcPct val="115000"/>
                        </a:lnSpc>
                        <a:spcBef>
                          <a:spcPts val="0"/>
                        </a:spcBef>
                        <a:spcAft>
                          <a:spcPts val="0"/>
                        </a:spcAft>
                      </a:pPr>
                      <a:r>
                        <a:rPr lang="en-US" sz="1200" kern="0">
                          <a:effectLst/>
                        </a:rPr>
                        <a:t>High fuel consumption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Incorrect carburetor/injection setting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Tune the fuel system</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45500286"/>
                  </a:ext>
                </a:extLst>
              </a:tr>
              <a:tr h="393365">
                <a:tc>
                  <a:txBody>
                    <a:bodyPr/>
                    <a:lstStyle/>
                    <a:p>
                      <a:pPr marL="0" marR="0">
                        <a:lnSpc>
                          <a:spcPct val="115000"/>
                        </a:lnSpc>
                        <a:spcBef>
                          <a:spcPts val="0"/>
                        </a:spcBef>
                        <a:spcAft>
                          <a:spcPts val="0"/>
                        </a:spcAft>
                      </a:pPr>
                      <a:r>
                        <a:rPr lang="en-US" sz="1200" kern="0">
                          <a:effectLst/>
                        </a:rPr>
                        <a:t>Irregular idling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Vacuum leak or improper timing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Adjust timing and check hoses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78608083"/>
                  </a:ext>
                </a:extLst>
              </a:tr>
            </a:tbl>
          </a:graphicData>
        </a:graphic>
      </p:graphicFrame>
    </p:spTree>
    <p:custDataLst>
      <p:tags r:id="rId1"/>
    </p:custDataLst>
    <p:extLst>
      <p:ext uri="{BB962C8B-B14F-4D97-AF65-F5344CB8AC3E}">
        <p14:creationId xmlns:p14="http://schemas.microsoft.com/office/powerpoint/2010/main" val="1278721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Engine Overheating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562206904"/>
              </p:ext>
            </p:extLst>
          </p:nvPr>
        </p:nvGraphicFramePr>
        <p:xfrm>
          <a:off x="1799986" y="2608411"/>
          <a:ext cx="7706325" cy="1631020"/>
        </p:xfrm>
        <a:graphic>
          <a:graphicData uri="http://schemas.openxmlformats.org/drawingml/2006/table">
            <a:tbl>
              <a:tblPr firstRow="1" firstCol="1" bandRow="1">
                <a:tableStyleId>{5C22544A-7EE6-4342-B048-85BDC9FD1C3A}</a:tableStyleId>
              </a:tblPr>
              <a:tblGrid>
                <a:gridCol w="2568775">
                  <a:extLst>
                    <a:ext uri="{9D8B030D-6E8A-4147-A177-3AD203B41FA5}">
                      <a16:colId xmlns:a16="http://schemas.microsoft.com/office/drawing/2014/main" val="290345211"/>
                    </a:ext>
                  </a:extLst>
                </a:gridCol>
                <a:gridCol w="2568775">
                  <a:extLst>
                    <a:ext uri="{9D8B030D-6E8A-4147-A177-3AD203B41FA5}">
                      <a16:colId xmlns:a16="http://schemas.microsoft.com/office/drawing/2014/main" val="3892346923"/>
                    </a:ext>
                  </a:extLst>
                </a:gridCol>
                <a:gridCol w="2568775">
                  <a:extLst>
                    <a:ext uri="{9D8B030D-6E8A-4147-A177-3AD203B41FA5}">
                      <a16:colId xmlns:a16="http://schemas.microsoft.com/office/drawing/2014/main" val="2716341381"/>
                    </a:ext>
                  </a:extLst>
                </a:gridCol>
              </a:tblGrid>
              <a:tr h="326204">
                <a:tc>
                  <a:txBody>
                    <a:bodyPr/>
                    <a:lstStyle/>
                    <a:p>
                      <a:pPr marL="0" marR="0" algn="ctr">
                        <a:lnSpc>
                          <a:spcPct val="115000"/>
                        </a:lnSpc>
                        <a:spcBef>
                          <a:spcPts val="0"/>
                        </a:spcBef>
                        <a:spcAft>
                          <a:spcPts val="0"/>
                        </a:spcAft>
                      </a:pPr>
                      <a:r>
                        <a:rPr lang="en-US" sz="1200" kern="0">
                          <a:effectLst/>
                        </a:rPr>
                        <a:t>Fault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dirty="0">
                          <a:effectLst/>
                        </a:rPr>
                        <a:t>Cause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Rectification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1108116"/>
                  </a:ext>
                </a:extLst>
              </a:tr>
              <a:tr h="326204">
                <a:tc>
                  <a:txBody>
                    <a:bodyPr/>
                    <a:lstStyle/>
                    <a:p>
                      <a:pPr marL="0" marR="0">
                        <a:lnSpc>
                          <a:spcPct val="115000"/>
                        </a:lnSpc>
                        <a:spcBef>
                          <a:spcPts val="0"/>
                        </a:spcBef>
                        <a:spcAft>
                          <a:spcPts val="0"/>
                        </a:spcAft>
                      </a:pPr>
                      <a:r>
                        <a:rPr lang="en-US" sz="1200" kern="0">
                          <a:effectLst/>
                        </a:rPr>
                        <a:t>Engine temperature too high</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Low coolant level or leaking radiator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Refill coolant, repair leak</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502811350"/>
                  </a:ext>
                </a:extLst>
              </a:tr>
              <a:tr h="326204">
                <a:tc>
                  <a:txBody>
                    <a:bodyPr/>
                    <a:lstStyle/>
                    <a:p>
                      <a:pPr marL="0" marR="0">
                        <a:lnSpc>
                          <a:spcPct val="115000"/>
                        </a:lnSpc>
                        <a:spcBef>
                          <a:spcPts val="0"/>
                        </a:spcBef>
                        <a:spcAft>
                          <a:spcPts val="0"/>
                        </a:spcAft>
                      </a:pPr>
                      <a:r>
                        <a:rPr lang="en-US" sz="1200" kern="0">
                          <a:effectLst/>
                        </a:rPr>
                        <a:t>Thermostat stuck closed</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Faulty thermostat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Replace thermostat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231960267"/>
                  </a:ext>
                </a:extLst>
              </a:tr>
              <a:tr h="326204">
                <a:tc>
                  <a:txBody>
                    <a:bodyPr/>
                    <a:lstStyle/>
                    <a:p>
                      <a:pPr marL="0" marR="0">
                        <a:lnSpc>
                          <a:spcPct val="115000"/>
                        </a:lnSpc>
                        <a:spcBef>
                          <a:spcPts val="0"/>
                        </a:spcBef>
                        <a:spcAft>
                          <a:spcPts val="0"/>
                        </a:spcAft>
                      </a:pPr>
                      <a:r>
                        <a:rPr lang="en-US" sz="1200" kern="0">
                          <a:effectLst/>
                        </a:rPr>
                        <a:t>Blocked radiator fins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Dirt or debris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Clean radiator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79726928"/>
                  </a:ext>
                </a:extLst>
              </a:tr>
              <a:tr h="326204">
                <a:tc>
                  <a:txBody>
                    <a:bodyPr/>
                    <a:lstStyle/>
                    <a:p>
                      <a:pPr marL="0" marR="0">
                        <a:lnSpc>
                          <a:spcPct val="115000"/>
                        </a:lnSpc>
                        <a:spcBef>
                          <a:spcPts val="0"/>
                        </a:spcBef>
                        <a:spcAft>
                          <a:spcPts val="0"/>
                        </a:spcAft>
                      </a:pPr>
                      <a:r>
                        <a:rPr lang="en-US" sz="1200" kern="0">
                          <a:effectLst/>
                        </a:rPr>
                        <a:t>Water pump failure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Broken impeller or belt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Replace defective parts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4815801"/>
                  </a:ext>
                </a:extLst>
              </a:tr>
            </a:tbl>
          </a:graphicData>
        </a:graphic>
      </p:graphicFrame>
    </p:spTree>
    <p:custDataLst>
      <p:tags r:id="rId1"/>
    </p:custDataLst>
    <p:extLst>
      <p:ext uri="{BB962C8B-B14F-4D97-AF65-F5344CB8AC3E}">
        <p14:creationId xmlns:p14="http://schemas.microsoft.com/office/powerpoint/2010/main" val="2759757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Lubrication System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158058451"/>
              </p:ext>
            </p:extLst>
          </p:nvPr>
        </p:nvGraphicFramePr>
        <p:xfrm>
          <a:off x="1687845" y="2530770"/>
          <a:ext cx="7749456" cy="1383190"/>
        </p:xfrm>
        <a:graphic>
          <a:graphicData uri="http://schemas.openxmlformats.org/drawingml/2006/table">
            <a:tbl>
              <a:tblPr firstRow="1" firstCol="1" bandRow="1">
                <a:tableStyleId>{5C22544A-7EE6-4342-B048-85BDC9FD1C3A}</a:tableStyleId>
              </a:tblPr>
              <a:tblGrid>
                <a:gridCol w="2583152">
                  <a:extLst>
                    <a:ext uri="{9D8B030D-6E8A-4147-A177-3AD203B41FA5}">
                      <a16:colId xmlns:a16="http://schemas.microsoft.com/office/drawing/2014/main" val="281568568"/>
                    </a:ext>
                  </a:extLst>
                </a:gridCol>
                <a:gridCol w="2583152">
                  <a:extLst>
                    <a:ext uri="{9D8B030D-6E8A-4147-A177-3AD203B41FA5}">
                      <a16:colId xmlns:a16="http://schemas.microsoft.com/office/drawing/2014/main" val="2860919555"/>
                    </a:ext>
                  </a:extLst>
                </a:gridCol>
                <a:gridCol w="2583152">
                  <a:extLst>
                    <a:ext uri="{9D8B030D-6E8A-4147-A177-3AD203B41FA5}">
                      <a16:colId xmlns:a16="http://schemas.microsoft.com/office/drawing/2014/main" val="2893519317"/>
                    </a:ext>
                  </a:extLst>
                </a:gridCol>
              </a:tblGrid>
              <a:tr h="276638">
                <a:tc>
                  <a:txBody>
                    <a:bodyPr/>
                    <a:lstStyle/>
                    <a:p>
                      <a:pPr marL="0" marR="0" algn="ctr">
                        <a:lnSpc>
                          <a:spcPct val="115000"/>
                        </a:lnSpc>
                        <a:spcBef>
                          <a:spcPts val="0"/>
                        </a:spcBef>
                        <a:spcAft>
                          <a:spcPts val="0"/>
                        </a:spcAft>
                      </a:pPr>
                      <a:r>
                        <a:rPr lang="en-US" sz="1200" kern="0">
                          <a:effectLst/>
                        </a:rPr>
                        <a:t>Fault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Cause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Rectification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28816038"/>
                  </a:ext>
                </a:extLst>
              </a:tr>
              <a:tr h="276638">
                <a:tc>
                  <a:txBody>
                    <a:bodyPr/>
                    <a:lstStyle/>
                    <a:p>
                      <a:pPr marL="0" marR="0">
                        <a:lnSpc>
                          <a:spcPct val="115000"/>
                        </a:lnSpc>
                        <a:spcBef>
                          <a:spcPts val="0"/>
                        </a:spcBef>
                        <a:spcAft>
                          <a:spcPts val="0"/>
                        </a:spcAft>
                      </a:pPr>
                      <a:r>
                        <a:rPr lang="en-US" sz="1200" kern="0">
                          <a:effectLst/>
                        </a:rPr>
                        <a:t>Low oil pressure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Insufficient oil or clogged filter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Add oil, replace filter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0881692"/>
                  </a:ext>
                </a:extLst>
              </a:tr>
              <a:tr h="276638">
                <a:tc>
                  <a:txBody>
                    <a:bodyPr/>
                    <a:lstStyle/>
                    <a:p>
                      <a:pPr marL="0" marR="0">
                        <a:lnSpc>
                          <a:spcPct val="115000"/>
                        </a:lnSpc>
                        <a:spcBef>
                          <a:spcPts val="0"/>
                        </a:spcBef>
                        <a:spcAft>
                          <a:spcPts val="0"/>
                        </a:spcAft>
                      </a:pPr>
                      <a:r>
                        <a:rPr lang="en-US" sz="1200" kern="0">
                          <a:effectLst/>
                        </a:rPr>
                        <a:t>Excessive oil consumption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Worn piston rings or valve seals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Replace worn parts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712646086"/>
                  </a:ext>
                </a:extLst>
              </a:tr>
              <a:tr h="276638">
                <a:tc>
                  <a:txBody>
                    <a:bodyPr/>
                    <a:lstStyle/>
                    <a:p>
                      <a:pPr marL="0" marR="0">
                        <a:lnSpc>
                          <a:spcPct val="115000"/>
                        </a:lnSpc>
                        <a:spcBef>
                          <a:spcPts val="0"/>
                        </a:spcBef>
                        <a:spcAft>
                          <a:spcPts val="0"/>
                        </a:spcAft>
                      </a:pPr>
                      <a:r>
                        <a:rPr lang="en-US" sz="1200" kern="0">
                          <a:effectLst/>
                        </a:rPr>
                        <a:t>Engine knocking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Wrong oil grade or low oil</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Use correct grade, refill</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98039452"/>
                  </a:ext>
                </a:extLst>
              </a:tr>
              <a:tr h="276638">
                <a:tc>
                  <a:txBody>
                    <a:bodyPr/>
                    <a:lstStyle/>
                    <a:p>
                      <a:pPr marL="0" marR="0">
                        <a:lnSpc>
                          <a:spcPct val="115000"/>
                        </a:lnSpc>
                        <a:spcBef>
                          <a:spcPts val="0"/>
                        </a:spcBef>
                        <a:spcAft>
                          <a:spcPts val="0"/>
                        </a:spcAft>
                      </a:pPr>
                      <a:r>
                        <a:rPr lang="en-US" sz="1200" kern="0">
                          <a:effectLst/>
                        </a:rPr>
                        <a:t>Oil leakage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Damaged gasket or seal</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Replace gasket/seal</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81702206"/>
                  </a:ext>
                </a:extLst>
              </a:tr>
            </a:tbl>
          </a:graphicData>
        </a:graphic>
      </p:graphicFrame>
    </p:spTree>
    <p:custDataLst>
      <p:tags r:id="rId1"/>
    </p:custDataLst>
    <p:extLst>
      <p:ext uri="{BB962C8B-B14F-4D97-AF65-F5344CB8AC3E}">
        <p14:creationId xmlns:p14="http://schemas.microsoft.com/office/powerpoint/2010/main" val="3712081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Combustion / Firing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111690888"/>
              </p:ext>
            </p:extLst>
          </p:nvPr>
        </p:nvGraphicFramePr>
        <p:xfrm>
          <a:off x="1756855" y="2427256"/>
          <a:ext cx="8543085" cy="1631020"/>
        </p:xfrm>
        <a:graphic>
          <a:graphicData uri="http://schemas.openxmlformats.org/drawingml/2006/table">
            <a:tbl>
              <a:tblPr firstRow="1" firstCol="1" bandRow="1">
                <a:tableStyleId>{5C22544A-7EE6-4342-B048-85BDC9FD1C3A}</a:tableStyleId>
              </a:tblPr>
              <a:tblGrid>
                <a:gridCol w="2847695">
                  <a:extLst>
                    <a:ext uri="{9D8B030D-6E8A-4147-A177-3AD203B41FA5}">
                      <a16:colId xmlns:a16="http://schemas.microsoft.com/office/drawing/2014/main" val="379564064"/>
                    </a:ext>
                  </a:extLst>
                </a:gridCol>
                <a:gridCol w="2847695">
                  <a:extLst>
                    <a:ext uri="{9D8B030D-6E8A-4147-A177-3AD203B41FA5}">
                      <a16:colId xmlns:a16="http://schemas.microsoft.com/office/drawing/2014/main" val="179083620"/>
                    </a:ext>
                  </a:extLst>
                </a:gridCol>
                <a:gridCol w="2847695">
                  <a:extLst>
                    <a:ext uri="{9D8B030D-6E8A-4147-A177-3AD203B41FA5}">
                      <a16:colId xmlns:a16="http://schemas.microsoft.com/office/drawing/2014/main" val="865578678"/>
                    </a:ext>
                  </a:extLst>
                </a:gridCol>
              </a:tblGrid>
              <a:tr h="326204">
                <a:tc>
                  <a:txBody>
                    <a:bodyPr/>
                    <a:lstStyle/>
                    <a:p>
                      <a:pPr marL="0" marR="0" algn="ctr">
                        <a:lnSpc>
                          <a:spcPct val="115000"/>
                        </a:lnSpc>
                        <a:spcBef>
                          <a:spcPts val="0"/>
                        </a:spcBef>
                        <a:spcAft>
                          <a:spcPts val="0"/>
                        </a:spcAft>
                      </a:pPr>
                      <a:r>
                        <a:rPr lang="en-US" sz="1200" kern="0">
                          <a:effectLst/>
                        </a:rPr>
                        <a:t>Fault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Cause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Rectification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74160104"/>
                  </a:ext>
                </a:extLst>
              </a:tr>
              <a:tr h="326204">
                <a:tc>
                  <a:txBody>
                    <a:bodyPr/>
                    <a:lstStyle/>
                    <a:p>
                      <a:pPr marL="0" marR="0">
                        <a:lnSpc>
                          <a:spcPct val="115000"/>
                        </a:lnSpc>
                        <a:spcBef>
                          <a:spcPts val="0"/>
                        </a:spcBef>
                        <a:spcAft>
                          <a:spcPts val="0"/>
                        </a:spcAft>
                      </a:pPr>
                      <a:r>
                        <a:rPr lang="en-US" sz="1200" kern="0">
                          <a:effectLst/>
                        </a:rPr>
                        <a:t>Pre-ignition (engine knocking)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Low octane fuel, carbon deposits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Use correct fuel, clean chamber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26710783"/>
                  </a:ext>
                </a:extLst>
              </a:tr>
              <a:tr h="326204">
                <a:tc>
                  <a:txBody>
                    <a:bodyPr/>
                    <a:lstStyle/>
                    <a:p>
                      <a:pPr marL="0" marR="0">
                        <a:lnSpc>
                          <a:spcPct val="115000"/>
                        </a:lnSpc>
                        <a:spcBef>
                          <a:spcPts val="0"/>
                        </a:spcBef>
                        <a:spcAft>
                          <a:spcPts val="0"/>
                        </a:spcAft>
                      </a:pPr>
                      <a:r>
                        <a:rPr lang="en-US" sz="1200" kern="0">
                          <a:effectLst/>
                        </a:rPr>
                        <a:t>Backfiring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Incorrect ignition timing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Adjust timing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606283093"/>
                  </a:ext>
                </a:extLst>
              </a:tr>
              <a:tr h="326204">
                <a:tc>
                  <a:txBody>
                    <a:bodyPr/>
                    <a:lstStyle/>
                    <a:p>
                      <a:pPr marL="0" marR="0">
                        <a:lnSpc>
                          <a:spcPct val="115000"/>
                        </a:lnSpc>
                        <a:spcBef>
                          <a:spcPts val="0"/>
                        </a:spcBef>
                        <a:spcAft>
                          <a:spcPts val="0"/>
                        </a:spcAft>
                      </a:pPr>
                      <a:r>
                        <a:rPr lang="en-US" sz="1200" kern="0">
                          <a:effectLst/>
                        </a:rPr>
                        <a:t>Detonation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Overheating or high compression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Cool engine, check compression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967881818"/>
                  </a:ext>
                </a:extLst>
              </a:tr>
              <a:tr h="326204">
                <a:tc>
                  <a:txBody>
                    <a:bodyPr/>
                    <a:lstStyle/>
                    <a:p>
                      <a:pPr marL="0" marR="0">
                        <a:lnSpc>
                          <a:spcPct val="115000"/>
                        </a:lnSpc>
                        <a:spcBef>
                          <a:spcPts val="0"/>
                        </a:spcBef>
                        <a:spcAft>
                          <a:spcPts val="0"/>
                        </a:spcAft>
                      </a:pPr>
                      <a:r>
                        <a:rPr lang="en-US" sz="1200" kern="0">
                          <a:effectLst/>
                        </a:rPr>
                        <a:t>Smoke emission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Faulty injector or carburetor setting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Adjust or replace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83107771"/>
                  </a:ext>
                </a:extLst>
              </a:tr>
            </a:tbl>
          </a:graphicData>
        </a:graphic>
      </p:graphicFrame>
    </p:spTree>
    <p:custDataLst>
      <p:tags r:id="rId1"/>
    </p:custDataLst>
    <p:extLst>
      <p:ext uri="{BB962C8B-B14F-4D97-AF65-F5344CB8AC3E}">
        <p14:creationId xmlns:p14="http://schemas.microsoft.com/office/powerpoint/2010/main" val="1134319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Types of Exhaust Smoke and Their Causes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221074469"/>
              </p:ext>
            </p:extLst>
          </p:nvPr>
        </p:nvGraphicFramePr>
        <p:xfrm>
          <a:off x="1799986" y="2467153"/>
          <a:ext cx="8180778" cy="1517744"/>
        </p:xfrm>
        <a:graphic>
          <a:graphicData uri="http://schemas.openxmlformats.org/drawingml/2006/table">
            <a:tbl>
              <a:tblPr firstRow="1" firstCol="1" bandRow="1">
                <a:tableStyleId>{5C22544A-7EE6-4342-B048-85BDC9FD1C3A}</a:tableStyleId>
              </a:tblPr>
              <a:tblGrid>
                <a:gridCol w="2726926">
                  <a:extLst>
                    <a:ext uri="{9D8B030D-6E8A-4147-A177-3AD203B41FA5}">
                      <a16:colId xmlns:a16="http://schemas.microsoft.com/office/drawing/2014/main" val="3182719181"/>
                    </a:ext>
                  </a:extLst>
                </a:gridCol>
                <a:gridCol w="2726926">
                  <a:extLst>
                    <a:ext uri="{9D8B030D-6E8A-4147-A177-3AD203B41FA5}">
                      <a16:colId xmlns:a16="http://schemas.microsoft.com/office/drawing/2014/main" val="1752731385"/>
                    </a:ext>
                  </a:extLst>
                </a:gridCol>
                <a:gridCol w="2726926">
                  <a:extLst>
                    <a:ext uri="{9D8B030D-6E8A-4147-A177-3AD203B41FA5}">
                      <a16:colId xmlns:a16="http://schemas.microsoft.com/office/drawing/2014/main" val="3977081164"/>
                    </a:ext>
                  </a:extLst>
                </a:gridCol>
              </a:tblGrid>
              <a:tr h="363865">
                <a:tc>
                  <a:txBody>
                    <a:bodyPr/>
                    <a:lstStyle/>
                    <a:p>
                      <a:pPr marL="0" marR="0" algn="ctr">
                        <a:lnSpc>
                          <a:spcPct val="115000"/>
                        </a:lnSpc>
                        <a:spcBef>
                          <a:spcPts val="0"/>
                        </a:spcBef>
                        <a:spcAft>
                          <a:spcPts val="0"/>
                        </a:spcAft>
                      </a:pPr>
                      <a:r>
                        <a:rPr lang="en-US" sz="1200" kern="0">
                          <a:effectLst/>
                        </a:rPr>
                        <a:t>Smoke Color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Possible Cause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Rectification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62732490"/>
                  </a:ext>
                </a:extLst>
              </a:tr>
              <a:tr h="363865">
                <a:tc>
                  <a:txBody>
                    <a:bodyPr/>
                    <a:lstStyle/>
                    <a:p>
                      <a:pPr marL="0" marR="0">
                        <a:lnSpc>
                          <a:spcPct val="115000"/>
                        </a:lnSpc>
                        <a:spcBef>
                          <a:spcPts val="0"/>
                        </a:spcBef>
                        <a:spcAft>
                          <a:spcPts val="0"/>
                        </a:spcAft>
                      </a:pPr>
                      <a:r>
                        <a:rPr lang="en-US" sz="1200" kern="0">
                          <a:effectLst/>
                        </a:rPr>
                        <a:t>Black Smoke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Excess fuel / rich mixture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Adjust air-fuel ratio</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99424283"/>
                  </a:ext>
                </a:extLst>
              </a:tr>
              <a:tr h="363865">
                <a:tc>
                  <a:txBody>
                    <a:bodyPr/>
                    <a:lstStyle/>
                    <a:p>
                      <a:pPr marL="0" marR="0">
                        <a:lnSpc>
                          <a:spcPct val="115000"/>
                        </a:lnSpc>
                        <a:spcBef>
                          <a:spcPts val="0"/>
                        </a:spcBef>
                        <a:spcAft>
                          <a:spcPts val="0"/>
                        </a:spcAft>
                      </a:pPr>
                      <a:r>
                        <a:rPr lang="en-US" sz="1200" kern="0">
                          <a:effectLst/>
                        </a:rPr>
                        <a:t>Blue Smoke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Oil burning (worn rings, valve seals)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Replace worn components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982147811"/>
                  </a:ext>
                </a:extLst>
              </a:tr>
              <a:tr h="363865">
                <a:tc>
                  <a:txBody>
                    <a:bodyPr/>
                    <a:lstStyle/>
                    <a:p>
                      <a:pPr marL="0" marR="0">
                        <a:lnSpc>
                          <a:spcPct val="115000"/>
                        </a:lnSpc>
                        <a:spcBef>
                          <a:spcPts val="0"/>
                        </a:spcBef>
                        <a:spcAft>
                          <a:spcPts val="0"/>
                        </a:spcAft>
                      </a:pPr>
                      <a:r>
                        <a:rPr lang="en-US" sz="1200" kern="0">
                          <a:effectLst/>
                        </a:rPr>
                        <a:t>White Smoke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Coolant leakage into combustion chamber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Check head gasket, repair leak</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995674311"/>
                  </a:ext>
                </a:extLst>
              </a:tr>
            </a:tbl>
          </a:graphicData>
        </a:graphic>
      </p:graphicFrame>
    </p:spTree>
    <p:custDataLst>
      <p:tags r:id="rId1"/>
    </p:custDataLst>
    <p:extLst>
      <p:ext uri="{BB962C8B-B14F-4D97-AF65-F5344CB8AC3E}">
        <p14:creationId xmlns:p14="http://schemas.microsoft.com/office/powerpoint/2010/main" val="73673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Mechanical Faults (Noise &amp; Vibration)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614135700"/>
              </p:ext>
            </p:extLst>
          </p:nvPr>
        </p:nvGraphicFramePr>
        <p:xfrm>
          <a:off x="1687846" y="2480083"/>
          <a:ext cx="8258412" cy="1694635"/>
        </p:xfrm>
        <a:graphic>
          <a:graphicData uri="http://schemas.openxmlformats.org/drawingml/2006/table">
            <a:tbl>
              <a:tblPr firstRow="1" firstCol="1" bandRow="1">
                <a:tableStyleId>{5C22544A-7EE6-4342-B048-85BDC9FD1C3A}</a:tableStyleId>
              </a:tblPr>
              <a:tblGrid>
                <a:gridCol w="2752804">
                  <a:extLst>
                    <a:ext uri="{9D8B030D-6E8A-4147-A177-3AD203B41FA5}">
                      <a16:colId xmlns:a16="http://schemas.microsoft.com/office/drawing/2014/main" val="706792962"/>
                    </a:ext>
                  </a:extLst>
                </a:gridCol>
                <a:gridCol w="2752804">
                  <a:extLst>
                    <a:ext uri="{9D8B030D-6E8A-4147-A177-3AD203B41FA5}">
                      <a16:colId xmlns:a16="http://schemas.microsoft.com/office/drawing/2014/main" val="2081716980"/>
                    </a:ext>
                  </a:extLst>
                </a:gridCol>
                <a:gridCol w="2752804">
                  <a:extLst>
                    <a:ext uri="{9D8B030D-6E8A-4147-A177-3AD203B41FA5}">
                      <a16:colId xmlns:a16="http://schemas.microsoft.com/office/drawing/2014/main" val="2163012272"/>
                    </a:ext>
                  </a:extLst>
                </a:gridCol>
              </a:tblGrid>
              <a:tr h="338927">
                <a:tc>
                  <a:txBody>
                    <a:bodyPr/>
                    <a:lstStyle/>
                    <a:p>
                      <a:pPr marL="0" marR="0" algn="ctr">
                        <a:lnSpc>
                          <a:spcPct val="115000"/>
                        </a:lnSpc>
                        <a:spcBef>
                          <a:spcPts val="0"/>
                        </a:spcBef>
                        <a:spcAft>
                          <a:spcPts val="0"/>
                        </a:spcAft>
                      </a:pPr>
                      <a:r>
                        <a:rPr lang="en-US" sz="1200" kern="0">
                          <a:effectLst/>
                        </a:rPr>
                        <a:t>Symptom</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Cause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Rectification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272959368"/>
                  </a:ext>
                </a:extLst>
              </a:tr>
              <a:tr h="338927">
                <a:tc>
                  <a:txBody>
                    <a:bodyPr/>
                    <a:lstStyle/>
                    <a:p>
                      <a:pPr marL="0" marR="0">
                        <a:lnSpc>
                          <a:spcPct val="115000"/>
                        </a:lnSpc>
                        <a:spcBef>
                          <a:spcPts val="0"/>
                        </a:spcBef>
                        <a:spcAft>
                          <a:spcPts val="0"/>
                        </a:spcAft>
                      </a:pPr>
                      <a:r>
                        <a:rPr lang="en-US" sz="1200" kern="0">
                          <a:effectLst/>
                        </a:rPr>
                        <a:t>Knocking sound</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Loose connecting rod or worn bearing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Tighten or replace parts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64125896"/>
                  </a:ext>
                </a:extLst>
              </a:tr>
              <a:tr h="338927">
                <a:tc>
                  <a:txBody>
                    <a:bodyPr/>
                    <a:lstStyle/>
                    <a:p>
                      <a:pPr marL="0" marR="0">
                        <a:lnSpc>
                          <a:spcPct val="115000"/>
                        </a:lnSpc>
                        <a:spcBef>
                          <a:spcPts val="0"/>
                        </a:spcBef>
                        <a:spcAft>
                          <a:spcPts val="0"/>
                        </a:spcAft>
                      </a:pPr>
                      <a:r>
                        <a:rPr lang="en-US" sz="1200" kern="0">
                          <a:effectLst/>
                        </a:rPr>
                        <a:t>Tapping noise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Incorrect valve clearance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Adjust clearance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60137491"/>
                  </a:ext>
                </a:extLst>
              </a:tr>
              <a:tr h="338927">
                <a:tc>
                  <a:txBody>
                    <a:bodyPr/>
                    <a:lstStyle/>
                    <a:p>
                      <a:pPr marL="0" marR="0">
                        <a:lnSpc>
                          <a:spcPct val="115000"/>
                        </a:lnSpc>
                        <a:spcBef>
                          <a:spcPts val="0"/>
                        </a:spcBef>
                        <a:spcAft>
                          <a:spcPts val="0"/>
                        </a:spcAft>
                      </a:pPr>
                      <a:r>
                        <a:rPr lang="en-US" sz="1200" kern="0">
                          <a:effectLst/>
                        </a:rPr>
                        <a:t>Vibrations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Unbalanced crankshaft or loose mounts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Balance and tighten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214618511"/>
                  </a:ext>
                </a:extLst>
              </a:tr>
              <a:tr h="338927">
                <a:tc>
                  <a:txBody>
                    <a:bodyPr/>
                    <a:lstStyle/>
                    <a:p>
                      <a:pPr marL="0" marR="0">
                        <a:lnSpc>
                          <a:spcPct val="115000"/>
                        </a:lnSpc>
                        <a:spcBef>
                          <a:spcPts val="0"/>
                        </a:spcBef>
                        <a:spcAft>
                          <a:spcPts val="0"/>
                        </a:spcAft>
                      </a:pPr>
                      <a:r>
                        <a:rPr lang="en-US" sz="1200" kern="0">
                          <a:effectLst/>
                        </a:rPr>
                        <a:t>Timing chain noise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Slack or worn chain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Replace or adjust chain tensioner</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62353480"/>
                  </a:ext>
                </a:extLst>
              </a:tr>
            </a:tbl>
          </a:graphicData>
        </a:graphic>
      </p:graphicFrame>
    </p:spTree>
    <p:custDataLst>
      <p:tags r:id="rId1"/>
    </p:custDataLst>
    <p:extLst>
      <p:ext uri="{BB962C8B-B14F-4D97-AF65-F5344CB8AC3E}">
        <p14:creationId xmlns:p14="http://schemas.microsoft.com/office/powerpoint/2010/main" val="205332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Diagnostic Tools Used</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857555" y="2530770"/>
            <a:ext cx="6096000" cy="2095445"/>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Compression tester</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Vacuum gauge</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err="1">
                <a:latin typeface="+mj-lt"/>
                <a:ea typeface="Times New Roman" panose="02020603050405020304" pitchFamily="18" charset="0"/>
                <a:cs typeface="Arial" panose="020B0604020202020204" pitchFamily="34" charset="0"/>
              </a:rPr>
              <a:t>Multimeter</a:t>
            </a:r>
            <a:r>
              <a:rPr lang="en-US" kern="0" dirty="0">
                <a:latin typeface="+mj-lt"/>
                <a:ea typeface="Times New Roman" panose="02020603050405020304" pitchFamily="18" charset="0"/>
                <a:cs typeface="Arial" panose="020B0604020202020204" pitchFamily="34" charset="0"/>
              </a:rPr>
              <a:t> (for electrical faults)</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Engine scanner (OBD-II)</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Stethoscope (for detecting internal noises)</a:t>
            </a:r>
            <a:endParaRPr lang="en-US" kern="100" dirty="0">
              <a:latin typeface="+mj-lt"/>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765119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Preventive Maintenance Tips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883434" y="2474818"/>
            <a:ext cx="6096000" cy="2516586"/>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Regular oil and filter change</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Maintain correct coolant level</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Use manufacturer-recommended fuel and oil</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Periodic cleaning of air and fuel filters</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Check spark plugs and timing regularly</a:t>
            </a:r>
            <a:endParaRPr lang="en-US"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mj-lt"/>
                <a:ea typeface="Times New Roman" panose="02020603050405020304" pitchFamily="18" charset="0"/>
                <a:cs typeface="Arial" panose="020B0604020202020204" pitchFamily="34" charset="0"/>
              </a:rPr>
              <a:t>Avoid engine overload and overheating</a:t>
            </a:r>
            <a:endParaRPr lang="en-US" kern="100" dirty="0">
              <a:latin typeface="+mj-lt"/>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861426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Summary</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814423" y="2530770"/>
            <a:ext cx="6096000" cy="1890261"/>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Most engine faults arise from </a:t>
            </a:r>
            <a:r>
              <a:rPr lang="en-US" b="1" kern="0" dirty="0">
                <a:latin typeface="Times New Roman" panose="02020603050405020304" pitchFamily="18" charset="0"/>
                <a:ea typeface="Times New Roman" panose="02020603050405020304" pitchFamily="18" charset="0"/>
                <a:cs typeface="Arial" panose="020B0604020202020204" pitchFamily="34" charset="0"/>
              </a:rPr>
              <a:t>neglect or poor maintenance</a:t>
            </a:r>
            <a:r>
              <a:rPr lang="en-US" kern="0" dirty="0">
                <a:latin typeface="Times New Roman" panose="02020603050405020304" pitchFamily="18" charset="0"/>
                <a:ea typeface="Times New Roman" panose="02020603050405020304" pitchFamily="18" charset="0"/>
                <a:cs typeface="Arial" panose="020B0604020202020204" pitchFamily="34" charset="0"/>
              </a:rPr>
              <a:t>.</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Early diagnosis</a:t>
            </a:r>
            <a:r>
              <a:rPr lang="en-US" kern="0" dirty="0">
                <a:latin typeface="Times New Roman" panose="02020603050405020304" pitchFamily="18" charset="0"/>
                <a:ea typeface="Times New Roman" panose="02020603050405020304" pitchFamily="18" charset="0"/>
                <a:cs typeface="Arial" panose="020B0604020202020204" pitchFamily="34" charset="0"/>
              </a:rPr>
              <a:t> prevents costly repairs.</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Understanding symptoms helps in quick </a:t>
            </a:r>
            <a:r>
              <a:rPr lang="en-US" b="1" kern="0" dirty="0">
                <a:latin typeface="Times New Roman" panose="02020603050405020304" pitchFamily="18" charset="0"/>
                <a:ea typeface="Times New Roman" panose="02020603050405020304" pitchFamily="18" charset="0"/>
                <a:cs typeface="Arial" panose="020B0604020202020204" pitchFamily="34" charset="0"/>
              </a:rPr>
              <a:t>rectification</a:t>
            </a:r>
            <a:r>
              <a:rPr lang="en-US" kern="0" dirty="0">
                <a:latin typeface="Times New Roman" panose="02020603050405020304" pitchFamily="18" charset="0"/>
                <a:ea typeface="Times New Roman" panose="02020603050405020304" pitchFamily="18" charset="0"/>
                <a:cs typeface="Arial" panose="020B0604020202020204" pitchFamily="34" charset="0"/>
              </a:rPr>
              <a:t> and ensures </a:t>
            </a:r>
            <a:r>
              <a:rPr lang="en-US" b="1" kern="0" dirty="0">
                <a:latin typeface="Times New Roman" panose="02020603050405020304" pitchFamily="18" charset="0"/>
                <a:ea typeface="Times New Roman" panose="02020603050405020304" pitchFamily="18" charset="0"/>
                <a:cs typeface="Arial" panose="020B0604020202020204" pitchFamily="34" charset="0"/>
              </a:rPr>
              <a:t>long engine life</a:t>
            </a:r>
            <a:r>
              <a:rPr lang="en-US" kern="0" dirty="0">
                <a:latin typeface="Times New Roman" panose="02020603050405020304" pitchFamily="18" charset="0"/>
                <a:ea typeface="Times New Roman" panose="02020603050405020304" pitchFamily="18" charset="0"/>
                <a:cs typeface="Arial" panose="020B0604020202020204" pitchFamily="34" charset="0"/>
              </a:rPr>
              <a:t>.</a:t>
            </a:r>
            <a:endParaRPr lang="en-US" kern="100" dirty="0">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333592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Conclusion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687845" y="2530770"/>
            <a:ext cx="6096000" cy="1890261"/>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The efficiency and reliability of an engine depend on proper </a:t>
            </a:r>
            <a:r>
              <a:rPr lang="en-US" b="1" kern="0" dirty="0">
                <a:latin typeface="Times New Roman" panose="02020603050405020304" pitchFamily="18" charset="0"/>
                <a:ea typeface="Times New Roman" panose="02020603050405020304" pitchFamily="18" charset="0"/>
                <a:cs typeface="Arial" panose="020B0604020202020204" pitchFamily="34" charset="0"/>
              </a:rPr>
              <a:t>inspection, maintenance, and timely repairs</a:t>
            </a:r>
            <a:r>
              <a:rPr lang="en-US" kern="0" dirty="0">
                <a:latin typeface="Times New Roman" panose="02020603050405020304" pitchFamily="18" charset="0"/>
                <a:ea typeface="Times New Roman" panose="02020603050405020304" pitchFamily="18" charset="0"/>
                <a:cs typeface="Arial" panose="020B0604020202020204" pitchFamily="34" charset="0"/>
              </a:rPr>
              <a:t>.</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Preventive care is more cost-effective than major overhaul.</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Skilled technicians play a vital role in fault diagnosis and correction.</a:t>
            </a:r>
            <a:endParaRPr lang="en-US" kern="100" dirty="0">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614946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3 Common Faults and Rectification of an Internal Combustion Engine</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References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956263" y="2700777"/>
            <a:ext cx="6096000" cy="1674305"/>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i="1" kern="0" dirty="0">
                <a:latin typeface="Times New Roman" panose="02020603050405020304" pitchFamily="18" charset="0"/>
                <a:ea typeface="Times New Roman" panose="02020603050405020304" pitchFamily="18" charset="0"/>
                <a:cs typeface="Arial" panose="020B0604020202020204" pitchFamily="34" charset="0"/>
              </a:rPr>
              <a:t>Internal Combustion Engines</a:t>
            </a:r>
            <a:r>
              <a:rPr lang="en-US" kern="0" dirty="0">
                <a:latin typeface="Times New Roman" panose="02020603050405020304" pitchFamily="18" charset="0"/>
                <a:ea typeface="Times New Roman" panose="02020603050405020304" pitchFamily="18" charset="0"/>
                <a:cs typeface="Arial" panose="020B0604020202020204" pitchFamily="34" charset="0"/>
              </a:rPr>
              <a:t> by V. </a:t>
            </a:r>
            <a:r>
              <a:rPr lang="en-US" kern="0" dirty="0" err="1">
                <a:latin typeface="Times New Roman" panose="02020603050405020304" pitchFamily="18" charset="0"/>
                <a:ea typeface="Times New Roman" panose="02020603050405020304" pitchFamily="18" charset="0"/>
                <a:cs typeface="Arial" panose="020B0604020202020204" pitchFamily="34" charset="0"/>
              </a:rPr>
              <a:t>Ganesan</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i="1" kern="0" dirty="0">
                <a:latin typeface="Times New Roman" panose="02020603050405020304" pitchFamily="18" charset="0"/>
                <a:ea typeface="Times New Roman" panose="02020603050405020304" pitchFamily="18" charset="0"/>
                <a:cs typeface="Arial" panose="020B0604020202020204" pitchFamily="34" charset="0"/>
              </a:rPr>
              <a:t>Automobile Mechanics</a:t>
            </a:r>
            <a:r>
              <a:rPr lang="en-US" kern="0" dirty="0">
                <a:latin typeface="Times New Roman" panose="02020603050405020304" pitchFamily="18" charset="0"/>
                <a:ea typeface="Times New Roman" panose="02020603050405020304" pitchFamily="18" charset="0"/>
                <a:cs typeface="Arial" panose="020B0604020202020204" pitchFamily="34" charset="0"/>
              </a:rPr>
              <a:t> by Joseph </a:t>
            </a:r>
            <a:r>
              <a:rPr lang="en-US" kern="0" dirty="0" err="1">
                <a:latin typeface="Times New Roman" panose="02020603050405020304" pitchFamily="18" charset="0"/>
                <a:ea typeface="Times New Roman" panose="02020603050405020304" pitchFamily="18" charset="0"/>
                <a:cs typeface="Arial" panose="020B0604020202020204" pitchFamily="34" charset="0"/>
              </a:rPr>
              <a:t>Heitner</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Manufacturer service manuals (Toyota, Cummins, Honda)</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SAE Technical Papers</a:t>
            </a:r>
            <a:endParaRPr lang="en-US" kern="100" dirty="0">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724676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1044</TotalTime>
  <Words>2266</Words>
  <Application>Microsoft Office PowerPoint</Application>
  <PresentationFormat>Widescreen</PresentationFormat>
  <Paragraphs>324</Paragraphs>
  <Slides>26</Slides>
  <Notes>0</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微软雅黑</vt:lpstr>
      <vt:lpstr>Arial</vt:lpstr>
      <vt:lpstr>Calibri</vt:lpstr>
      <vt:lpstr>Courier New</vt:lpstr>
      <vt:lpstr>Google Sans</vt:lpstr>
      <vt:lpstr>Symbol</vt:lpstr>
      <vt:lpstr>Times New Roman</vt:lpstr>
      <vt:lpstr>Wingdings</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Lecturers</cp:lastModifiedBy>
  <cp:revision>232</cp:revision>
  <dcterms:created xsi:type="dcterms:W3CDTF">2019-06-19T02:08:00Z</dcterms:created>
  <dcterms:modified xsi:type="dcterms:W3CDTF">2026-04-15T12:09:14Z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