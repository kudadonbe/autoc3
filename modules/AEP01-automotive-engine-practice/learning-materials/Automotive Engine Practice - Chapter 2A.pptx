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heme/theme2.xml" ContentType="application/vnd.openxmlformats-officedocument.them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8" r:id="rId1"/>
  </p:sldMasterIdLst>
  <p:notesMasterIdLst>
    <p:notesMasterId r:id="rId18"/>
  </p:notesMasterIdLst>
  <p:sldIdLst>
    <p:sldId id="265" r:id="rId2"/>
    <p:sldId id="269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295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98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image" Target="../media/image1.png"/><Relationship Id="rId2" Type="http://schemas.openxmlformats.org/officeDocument/2006/relationships/tags" Target="../tags/tag9.xml"/><Relationship Id="rId16" Type="http://schemas.openxmlformats.org/officeDocument/2006/relationships/image" Target="../media/image5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15" Type="http://schemas.openxmlformats.org/officeDocument/2006/relationships/image" Target="../media/image4.pn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7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6.png"/><Relationship Id="rId5" Type="http://schemas.openxmlformats.org/officeDocument/2006/relationships/tags" Target="../tags/tag22.xml"/><Relationship Id="rId10" Type="http://schemas.openxmlformats.org/officeDocument/2006/relationships/image" Target="../media/image1.png"/><Relationship Id="rId4" Type="http://schemas.openxmlformats.org/officeDocument/2006/relationships/tags" Target="../tags/tag21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9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8.png"/><Relationship Id="rId5" Type="http://schemas.openxmlformats.org/officeDocument/2006/relationships/tags" Target="../tags/tag30.xml"/><Relationship Id="rId10" Type="http://schemas.openxmlformats.org/officeDocument/2006/relationships/image" Target="../media/image1.png"/><Relationship Id="rId4" Type="http://schemas.openxmlformats.org/officeDocument/2006/relationships/tags" Target="../tags/tag29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7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image" Target="../media/image6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1.png"/><Relationship Id="rId5" Type="http://schemas.openxmlformats.org/officeDocument/2006/relationships/tags" Target="../tags/tag3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7.xml"/><Relationship Id="rId9" Type="http://schemas.openxmlformats.org/officeDocument/2006/relationships/tags" Target="../tags/tag42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image" Target="../media/image1.pn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image" Target="../media/image7.png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11.png"/><Relationship Id="rId5" Type="http://schemas.openxmlformats.org/officeDocument/2006/relationships/tags" Target="../tags/tag58.xml"/><Relationship Id="rId10" Type="http://schemas.openxmlformats.org/officeDocument/2006/relationships/image" Target="../media/image10.png"/><Relationship Id="rId4" Type="http://schemas.openxmlformats.org/officeDocument/2006/relationships/tags" Target="../tags/tag57.xml"/><Relationship Id="rId9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7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6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1.png"/><Relationship Id="rId5" Type="http://schemas.openxmlformats.org/officeDocument/2006/relationships/tags" Target="../tags/tag6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7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6.png"/><Relationship Id="rId5" Type="http://schemas.openxmlformats.org/officeDocument/2006/relationships/tags" Target="../tags/tag77.xml"/><Relationship Id="rId10" Type="http://schemas.openxmlformats.org/officeDocument/2006/relationships/image" Target="../media/image1.png"/><Relationship Id="rId4" Type="http://schemas.openxmlformats.org/officeDocument/2006/relationships/tags" Target="../tags/tag76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7.png"/><Relationship Id="rId5" Type="http://schemas.openxmlformats.org/officeDocument/2006/relationships/tags" Target="../tags/tag85.xml"/><Relationship Id="rId10" Type="http://schemas.openxmlformats.org/officeDocument/2006/relationships/image" Target="../media/image6.png"/><Relationship Id="rId4" Type="http://schemas.openxmlformats.org/officeDocument/2006/relationships/tags" Target="../tags/tag84.xml"/><Relationship Id="rId9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../media/image13.png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12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1.png"/><Relationship Id="rId5" Type="http://schemas.openxmlformats.org/officeDocument/2006/relationships/tags" Target="../tags/tag9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7.png"/><Relationship Id="rId5" Type="http://schemas.openxmlformats.org/officeDocument/2006/relationships/tags" Target="../tags/tag101.xml"/><Relationship Id="rId10" Type="http://schemas.openxmlformats.org/officeDocument/2006/relationships/image" Target="../media/image6.png"/><Relationship Id="rId4" Type="http://schemas.openxmlformats.org/officeDocument/2006/relationships/tags" Target="../tags/tag100.xml"/><Relationship Id="rId9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7.png"/><Relationship Id="rId5" Type="http://schemas.openxmlformats.org/officeDocument/2006/relationships/tags" Target="../tags/tag108.xml"/><Relationship Id="rId10" Type="http://schemas.openxmlformats.org/officeDocument/2006/relationships/image" Target="../media/image1.png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image" Target="../media/image1.png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image" Target="../media/image7.pn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image" Target="../media/image1.png"/><Relationship Id="rId5" Type="http://schemas.openxmlformats.org/officeDocument/2006/relationships/tags" Target="../tags/tag12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3.xml"/><Relationship Id="rId9" Type="http://schemas.openxmlformats.org/officeDocument/2006/relationships/tags" Target="../tags/tag128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10" Type="http://schemas.openxmlformats.org/officeDocument/2006/relationships/image" Target="../media/image1.png"/><Relationship Id="rId4" Type="http://schemas.openxmlformats.org/officeDocument/2006/relationships/tags" Target="../tags/tag132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image" Target="../media/image1.png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0" Type="http://schemas.openxmlformats.org/officeDocument/2006/relationships/tags" Target="../tags/tag146.xml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image" Target="../media/image7.png"/><Relationship Id="rId5" Type="http://schemas.openxmlformats.org/officeDocument/2006/relationships/tags" Target="../tags/tag152.xml"/><Relationship Id="rId10" Type="http://schemas.openxmlformats.org/officeDocument/2006/relationships/image" Target="../media/image1.png"/><Relationship Id="rId4" Type="http://schemas.openxmlformats.org/officeDocument/2006/relationships/tags" Target="../tags/tag151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-5556"/>
            <a:ext cx="12192000" cy="6856730"/>
          </a:xfrm>
          <a:prstGeom prst="rect">
            <a:avLst/>
          </a:prstGeom>
        </p:spPr>
      </p:pic>
      <p:pic>
        <p:nvPicPr>
          <p:cNvPr id="21" name="图片 20" descr="JY01-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2032000" cy="1009020"/>
          </a:xfrm>
          <a:prstGeom prst="rect">
            <a:avLst/>
          </a:prstGeom>
        </p:spPr>
      </p:pic>
      <p:pic>
        <p:nvPicPr>
          <p:cNvPr id="23" name="图片 22" descr="JY01-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5611495"/>
            <a:ext cx="1257294" cy="1252220"/>
          </a:xfrm>
          <a:prstGeom prst="rect">
            <a:avLst/>
          </a:prstGeom>
        </p:spPr>
      </p:pic>
      <p:pic>
        <p:nvPicPr>
          <p:cNvPr id="22" name="图片 21" descr="JY01-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790440" y="2028565"/>
            <a:ext cx="7401560" cy="4829423"/>
          </a:xfrm>
          <a:prstGeom prst="rect">
            <a:avLst/>
          </a:prstGeom>
        </p:spPr>
      </p:pic>
      <p:pic>
        <p:nvPicPr>
          <p:cNvPr id="19" name="图片 18" descr="JY01-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250805" y="-24765"/>
            <a:ext cx="1941195" cy="3671639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1137137" y="1044416"/>
            <a:ext cx="8927126" cy="3333296"/>
          </a:xfrm>
          <a:noFill/>
        </p:spPr>
        <p:txBody>
          <a:bodyPr wrap="square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</a:t>
            </a:r>
          </a:p>
          <a:p>
            <a:pPr lvl="0"/>
            <a:r>
              <a:rPr>
                <a:sym typeface="+mn-ea"/>
              </a:rPr>
              <a:t>标题</a:t>
            </a:r>
          </a:p>
        </p:txBody>
      </p:sp>
      <p:sp>
        <p:nvSpPr>
          <p:cNvPr id="7" name="副标题 6"/>
          <p:cNvSpPr txBox="1">
            <a:spLocks noGrp="1"/>
          </p:cNvSpPr>
          <p:nvPr>
            <p:ph type="subTitle" idx="2" hasCustomPrompt="1"/>
            <p:custDataLst>
              <p:tags r:id="rId10"/>
            </p:custDataLst>
          </p:nvPr>
        </p:nvSpPr>
        <p:spPr>
          <a:xfrm>
            <a:off x="1137137" y="4429560"/>
            <a:ext cx="7629063" cy="1183999"/>
          </a:xfrm>
          <a:noFill/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2800" b="1" i="0" u="none" strike="noStrike" kern="1200" cap="all" spc="40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8" name="图片 7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7" name="图片 6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94" y="-318"/>
            <a:ext cx="12192000" cy="6858318"/>
          </a:xfrm>
          <a:prstGeom prst="rect">
            <a:avLst/>
          </a:prstGeom>
        </p:spPr>
      </p:pic>
      <p:pic>
        <p:nvPicPr>
          <p:cNvPr id="3" name="图片 2" descr="JY01_章节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479507" y="5458144"/>
            <a:ext cx="4703272" cy="1398270"/>
          </a:xfrm>
          <a:prstGeom prst="rect">
            <a:avLst/>
          </a:prstGeom>
        </p:spPr>
      </p:pic>
      <p:pic>
        <p:nvPicPr>
          <p:cNvPr id="2" name="图片 1" descr="JY01_章节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35" y="0"/>
            <a:ext cx="195453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ctrTitle" idx="1" hasCustomPrompt="1"/>
            <p:custDataLst>
              <p:tags r:id="rId7"/>
            </p:custDataLst>
          </p:nvPr>
        </p:nvSpPr>
        <p:spPr>
          <a:xfrm>
            <a:off x="2112431" y="2833012"/>
            <a:ext cx="7967137" cy="1200150"/>
          </a:xfrm>
          <a:noFill/>
        </p:spPr>
        <p:txBody>
          <a:bodyPr vert="horz" wrap="square" lIns="101600" tIns="38100" rIns="76200" bIns="381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600" b="0" i="0" u="none" strike="noStrike" kern="1200" cap="none" spc="1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85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2680121" y="4295417"/>
            <a:ext cx="6831757" cy="827115"/>
          </a:xfrm>
        </p:spPr>
        <p:txBody>
          <a:bodyPr vert="horz" wrap="square" lIns="101600" tIns="0" rIns="82550" bIns="0" rtlCol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9" name="图片 8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8" name="图片 7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11" name="图片 10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10" name="图片 9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8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-318"/>
            <a:ext cx="12192000" cy="6858635"/>
          </a:xfrm>
          <a:prstGeom prst="rect">
            <a:avLst/>
          </a:prstGeom>
        </p:spPr>
      </p:pic>
      <p:pic>
        <p:nvPicPr>
          <p:cNvPr id="7" name="图片 6" descr="JY01_目录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388868"/>
            <a:ext cx="2132952" cy="1469132"/>
          </a:xfrm>
          <a:prstGeom prst="rect">
            <a:avLst/>
          </a:prstGeom>
        </p:spPr>
      </p:pic>
      <p:pic>
        <p:nvPicPr>
          <p:cNvPr id="6" name="图片 5" descr="JY01_目录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445375" y="0"/>
            <a:ext cx="4746625" cy="44114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9" name="图片 8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8" name="图片 7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6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2026/4/18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8" name="图片 7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7" name="图片 6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2" name="图片 1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94" y="-318"/>
            <a:ext cx="12192000" cy="6858318"/>
          </a:xfrm>
          <a:prstGeom prst="rect">
            <a:avLst/>
          </a:prstGeom>
        </p:spPr>
      </p:pic>
      <p:pic>
        <p:nvPicPr>
          <p:cNvPr id="6" name="图片 5" descr="JY01_结束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479507" y="5458144"/>
            <a:ext cx="4703272" cy="1398270"/>
          </a:xfrm>
          <a:prstGeom prst="rect">
            <a:avLst/>
          </a:prstGeom>
        </p:spPr>
      </p:pic>
      <p:pic>
        <p:nvPicPr>
          <p:cNvPr id="2" name="图片 1" descr="JY01_结束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35" y="0"/>
            <a:ext cx="195453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2153288" y="2533739"/>
            <a:ext cx="7885427" cy="1353881"/>
          </a:xfrm>
          <a:noFill/>
        </p:spPr>
        <p:txBody>
          <a:bodyPr vert="horz" wrap="square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7200" b="1" i="0" u="none" strike="noStrike" kern="0" cap="none" spc="3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85简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 flipH="1">
            <a:off x="2153285" y="3996025"/>
            <a:ext cx="7885428" cy="928995"/>
          </a:xfrm>
          <a:noFill/>
        </p:spPr>
        <p:txBody>
          <a:bodyPr vert="horz" wrap="square" lIns="0" tIns="0" rIns="0" bIns="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0" i="0" u="none" strike="noStrike" kern="0" cap="none" spc="1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  <p:sp>
        <p:nvSpPr>
          <p:cNvPr id="10" name="副标题 3"/>
          <p:cNvSpPr>
            <a:spLocks noGrp="1"/>
          </p:cNvSpPr>
          <p:nvPr>
            <p:ph type="subTitle" idx="3" hasCustomPrompt="1"/>
            <p:custDataLst>
              <p:tags r:id="rId9"/>
            </p:custDataLst>
          </p:nvPr>
        </p:nvSpPr>
        <p:spPr>
          <a:xfrm>
            <a:off x="2153288" y="1932968"/>
            <a:ext cx="7885427" cy="492366"/>
          </a:xfrm>
          <a:noFill/>
        </p:spPr>
        <p:txBody>
          <a:bodyPr vert="horz" wrap="square" lIns="90000" tIns="46800" rIns="90000" bIns="4680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400" b="1" i="0" u="none" strike="noStrike" kern="0" cap="none" spc="6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7" name="图片 6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3594" y="304200"/>
            <a:ext cx="11606400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5" y="5589270"/>
            <a:ext cx="1314622" cy="12687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35" y="-318"/>
            <a:ext cx="12192622" cy="685863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794" y="1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94" y="0"/>
            <a:ext cx="12192000" cy="6858318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59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9" y="5029202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35" y="317"/>
            <a:ext cx="12192000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59" y="3175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5636260"/>
            <a:ext cx="1266591" cy="12223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429" y="958590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635625"/>
            <a:ext cx="1266591" cy="12223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4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084128" y="5658615"/>
            <a:ext cx="7629063" cy="118399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17C5F-D582-80A6-4DE3-CCB3F46FE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125" y="466312"/>
            <a:ext cx="904875" cy="1428750"/>
          </a:xfrm>
          <a:prstGeom prst="rect">
            <a:avLst/>
          </a:prstGeom>
        </p:spPr>
      </p:pic>
      <p:sp>
        <p:nvSpPr>
          <p:cNvPr id="5" name="文本框 21">
            <a:extLst>
              <a:ext uri="{FF2B5EF4-FFF2-40B4-BE49-F238E27FC236}">
                <a16:creationId xmlns:a16="http://schemas.microsoft.com/office/drawing/2014/main" id="{8291BEAF-DC80-7114-D7E5-4D33D4D73E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17374" y="2036310"/>
            <a:ext cx="8719930" cy="174052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CERTIFICATE III IN AUTOMOTIVE REPAIR &amp; MAINTE</a:t>
            </a: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NANCE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B25F2-350A-E959-A436-C1320A9A1827}"/>
              </a:ext>
            </a:extLst>
          </p:cNvPr>
          <p:cNvSpPr txBox="1"/>
          <p:nvPr/>
        </p:nvSpPr>
        <p:spPr>
          <a:xfrm>
            <a:off x="821635" y="4015155"/>
            <a:ext cx="9415669" cy="55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AD63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SUBJECT:  </a:t>
            </a:r>
            <a:r>
              <a:rPr lang="en-US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</a:t>
            </a:r>
            <a:r>
              <a:rPr lang="en-US" sz="2800" b="1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Practice 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232451" y="1911648"/>
            <a:ext cx="10018643" cy="31771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kumimoji="0" lang="en-US" altLang="zh-CN" sz="2400" b="1" i="0" u="none" strike="noStrike" kern="1200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en-US" dirty="0"/>
              <a:t>Internal combustion (IC) engines convert chemical energy in fuel into mechanical work.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Two main types: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lvl="1"/>
            <a:r>
              <a:rPr lang="en-US" b="1" dirty="0"/>
              <a:t>Petrol (Gasoline) Engines</a:t>
            </a:r>
            <a:endParaRPr lang="en-US" dirty="0"/>
          </a:p>
          <a:p>
            <a:pPr lvl="1"/>
            <a:r>
              <a:rPr lang="en-US" b="1" dirty="0"/>
              <a:t>Diesel Engines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Both are widely used in transportation, power generation, and industrial applications.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1404730" y="57386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082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54481" y="1325053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255" y="1691227"/>
            <a:ext cx="5305722" cy="3983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990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71653" y="1128420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654481" y="1651809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705" y="1450606"/>
            <a:ext cx="3802530" cy="500943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70911" y="2021141"/>
            <a:ext cx="2751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Timing of the Engine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70911" y="244585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A0A0A"/>
                </a:solidFill>
                <a:latin typeface="Google Sans"/>
              </a:rPr>
              <a:t>Engine timing is </a:t>
            </a:r>
            <a:r>
              <a:rPr lang="en-US" dirty="0"/>
              <a:t>the precise synchronization between an engine's crankshaft (pistons) and camshaft (valves), managed by a timing belt or chain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. It ensures valves open/close at the correct moment relative to piston position, optimizing combustion and preventing engine damage. It includes valve timing and ignition timing (spark plug firing)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549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17859" y="1041229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654481" y="1651809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70911" y="2021141"/>
            <a:ext cx="4833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Measurement of Compression Pressure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70911" y="2390473"/>
            <a:ext cx="6096000" cy="30940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Warm up engine.</a:t>
            </a:r>
            <a:endParaRPr lang="en-US" sz="1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Turn ignition switch OFF.</a:t>
            </a:r>
            <a:endParaRPr lang="en-US" sz="1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5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Release fuel </a:t>
            </a:r>
            <a:r>
              <a:rPr lang="en-US" sz="1400" dirty="0" smtClean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pressure.</a:t>
            </a:r>
            <a:endParaRPr lang="en-US" sz="1600" dirty="0" smtClea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5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 smtClean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Refer </a:t>
            </a: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to EC-40, “Releasing Fuel Pressure”.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Remove ignition coils.</a:t>
            </a:r>
            <a:endParaRPr lang="en-US" sz="1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Remove spark </a:t>
            </a:r>
            <a:r>
              <a:rPr lang="en-US" sz="1400" dirty="0" smtClean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plugs.</a:t>
            </a:r>
            <a:endParaRPr lang="en-US" sz="1400" dirty="0">
              <a:solidFill>
                <a:srgbClr val="181717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 smtClean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Clean </a:t>
            </a: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area around plug with compressed air before removing the spark plug</a:t>
            </a:r>
            <a:r>
              <a:rPr lang="en-US" sz="1400" dirty="0" smtClean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600" dirty="0" smtClean="0">
                <a:solidFill>
                  <a:srgbClr val="18171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Attached a compression tester to NO 1cylinder</a:t>
            </a: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/>
              <a:t>Depress accelerator pedal fully to keep throttle valve wide </a:t>
            </a:r>
            <a:r>
              <a:rPr lang="en-US" sz="1400" dirty="0" smtClean="0"/>
              <a:t>open</a:t>
            </a: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/>
              <a:t>Crank engine and record highest gauge </a:t>
            </a:r>
            <a:r>
              <a:rPr lang="en-US" sz="1400" dirty="0" smtClean="0"/>
              <a:t>indication</a:t>
            </a: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/>
              <a:t>Repeat the measurement on each cylinder as shown above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9410912" y="974009"/>
            <a:ext cx="2485884" cy="3482137"/>
            <a:chOff x="0" y="0"/>
            <a:chExt cx="2486391" cy="3482726"/>
          </a:xfrm>
        </p:grpSpPr>
        <p:pic>
          <p:nvPicPr>
            <p:cNvPr id="12" name="Picture 11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" y="0"/>
              <a:ext cx="2365235" cy="1690092"/>
            </a:xfrm>
            <a:prstGeom prst="rect">
              <a:avLst/>
            </a:prstGeom>
          </p:spPr>
        </p:pic>
        <p:sp>
          <p:nvSpPr>
            <p:cNvPr id="13" name="Shape 1566"/>
            <p:cNvSpPr/>
            <p:nvPr/>
          </p:nvSpPr>
          <p:spPr>
            <a:xfrm>
              <a:off x="0" y="849024"/>
              <a:ext cx="6337" cy="0"/>
            </a:xfrm>
            <a:custGeom>
              <a:avLst/>
              <a:gdLst/>
              <a:ahLst/>
              <a:cxnLst/>
              <a:rect l="0" t="0" r="0" b="0"/>
              <a:pathLst>
                <a:path w="6337">
                  <a:moveTo>
                    <a:pt x="0" y="0"/>
                  </a:moveTo>
                  <a:lnTo>
                    <a:pt x="6337" y="0"/>
                  </a:lnTo>
                </a:path>
              </a:pathLst>
            </a:custGeom>
            <a:ln w="1698054" cap="flat">
              <a:miter lim="127000"/>
            </a:ln>
          </p:spPr>
          <p:style>
            <a:lnRef idx="1">
              <a:srgbClr val="18171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Shape 1567"/>
            <p:cNvSpPr/>
            <p:nvPr/>
          </p:nvSpPr>
          <p:spPr>
            <a:xfrm>
              <a:off x="6337" y="3166"/>
              <a:ext cx="2363330" cy="0"/>
            </a:xfrm>
            <a:custGeom>
              <a:avLst/>
              <a:gdLst/>
              <a:ahLst/>
              <a:cxnLst/>
              <a:rect l="0" t="0" r="0" b="0"/>
              <a:pathLst>
                <a:path w="2363330">
                  <a:moveTo>
                    <a:pt x="0" y="0"/>
                  </a:moveTo>
                  <a:lnTo>
                    <a:pt x="2363330" y="0"/>
                  </a:lnTo>
                </a:path>
              </a:pathLst>
            </a:custGeom>
            <a:ln w="6337" cap="flat">
              <a:miter lim="127000"/>
            </a:ln>
          </p:spPr>
          <p:style>
            <a:lnRef idx="1">
              <a:srgbClr val="18171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Shape 1568"/>
            <p:cNvSpPr/>
            <p:nvPr/>
          </p:nvSpPr>
          <p:spPr>
            <a:xfrm>
              <a:off x="2363330" y="849024"/>
              <a:ext cx="6337" cy="0"/>
            </a:xfrm>
            <a:custGeom>
              <a:avLst/>
              <a:gdLst/>
              <a:ahLst/>
              <a:cxnLst/>
              <a:rect l="0" t="0" r="0" b="0"/>
              <a:pathLst>
                <a:path w="6337">
                  <a:moveTo>
                    <a:pt x="0" y="0"/>
                  </a:moveTo>
                  <a:lnTo>
                    <a:pt x="6337" y="0"/>
                  </a:lnTo>
                </a:path>
              </a:pathLst>
            </a:custGeom>
            <a:ln w="1698054" cap="flat">
              <a:miter lim="127000"/>
            </a:ln>
          </p:spPr>
          <p:style>
            <a:lnRef idx="1">
              <a:srgbClr val="18171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Shape 1569"/>
            <p:cNvSpPr/>
            <p:nvPr/>
          </p:nvSpPr>
          <p:spPr>
            <a:xfrm>
              <a:off x="0" y="1694882"/>
              <a:ext cx="2363330" cy="0"/>
            </a:xfrm>
            <a:custGeom>
              <a:avLst/>
              <a:gdLst/>
              <a:ahLst/>
              <a:cxnLst/>
              <a:rect l="0" t="0" r="0" b="0"/>
              <a:pathLst>
                <a:path w="2363330">
                  <a:moveTo>
                    <a:pt x="0" y="0"/>
                  </a:moveTo>
                  <a:lnTo>
                    <a:pt x="2363330" y="0"/>
                  </a:lnTo>
                </a:path>
              </a:pathLst>
            </a:custGeom>
            <a:ln w="6337" cap="flat">
              <a:miter lim="127000"/>
            </a:ln>
          </p:spPr>
          <p:style>
            <a:lnRef idx="1">
              <a:srgbClr val="18171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955229" y="1599502"/>
              <a:ext cx="531162" cy="10913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700" dirty="0">
                  <a:solidFill>
                    <a:srgbClr val="181717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SEM973E</a:t>
              </a:r>
              <a:endParaRPr lang="en-US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18" name="Picture 17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" y="1774081"/>
              <a:ext cx="2365248" cy="1676376"/>
            </a:xfrm>
            <a:prstGeom prst="rect">
              <a:avLst/>
            </a:prstGeom>
          </p:spPr>
        </p:pic>
        <p:sp>
          <p:nvSpPr>
            <p:cNvPr id="19" name="Shape 1572"/>
            <p:cNvSpPr/>
            <p:nvPr/>
          </p:nvSpPr>
          <p:spPr>
            <a:xfrm>
              <a:off x="0" y="2623100"/>
              <a:ext cx="6337" cy="0"/>
            </a:xfrm>
            <a:custGeom>
              <a:avLst/>
              <a:gdLst/>
              <a:ahLst/>
              <a:cxnLst/>
              <a:rect l="0" t="0" r="0" b="0"/>
              <a:pathLst>
                <a:path w="6337">
                  <a:moveTo>
                    <a:pt x="0" y="0"/>
                  </a:moveTo>
                  <a:lnTo>
                    <a:pt x="6337" y="0"/>
                  </a:lnTo>
                </a:path>
              </a:pathLst>
            </a:custGeom>
            <a:ln w="1698054" cap="flat">
              <a:miter lim="127000"/>
            </a:ln>
          </p:spPr>
          <p:style>
            <a:lnRef idx="1">
              <a:srgbClr val="18171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Shape 1573"/>
            <p:cNvSpPr/>
            <p:nvPr/>
          </p:nvSpPr>
          <p:spPr>
            <a:xfrm>
              <a:off x="6337" y="1777254"/>
              <a:ext cx="2363330" cy="0"/>
            </a:xfrm>
            <a:custGeom>
              <a:avLst/>
              <a:gdLst/>
              <a:ahLst/>
              <a:cxnLst/>
              <a:rect l="0" t="0" r="0" b="0"/>
              <a:pathLst>
                <a:path w="2363330">
                  <a:moveTo>
                    <a:pt x="0" y="0"/>
                  </a:moveTo>
                  <a:lnTo>
                    <a:pt x="2363330" y="0"/>
                  </a:lnTo>
                </a:path>
              </a:pathLst>
            </a:custGeom>
            <a:ln w="6337" cap="flat">
              <a:miter lim="127000"/>
            </a:ln>
          </p:spPr>
          <p:style>
            <a:lnRef idx="1">
              <a:srgbClr val="18171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Shape 1574"/>
            <p:cNvSpPr/>
            <p:nvPr/>
          </p:nvSpPr>
          <p:spPr>
            <a:xfrm>
              <a:off x="2363330" y="2623100"/>
              <a:ext cx="6337" cy="0"/>
            </a:xfrm>
            <a:custGeom>
              <a:avLst/>
              <a:gdLst/>
              <a:ahLst/>
              <a:cxnLst/>
              <a:rect l="0" t="0" r="0" b="0"/>
              <a:pathLst>
                <a:path w="6337">
                  <a:moveTo>
                    <a:pt x="0" y="0"/>
                  </a:moveTo>
                  <a:lnTo>
                    <a:pt x="6337" y="0"/>
                  </a:lnTo>
                </a:path>
              </a:pathLst>
            </a:custGeom>
            <a:ln w="1698054" cap="flat">
              <a:miter lim="127000"/>
            </a:ln>
          </p:spPr>
          <p:style>
            <a:lnRef idx="1">
              <a:srgbClr val="18171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Shape 1575"/>
            <p:cNvSpPr/>
            <p:nvPr/>
          </p:nvSpPr>
          <p:spPr>
            <a:xfrm>
              <a:off x="0" y="3468958"/>
              <a:ext cx="2363330" cy="0"/>
            </a:xfrm>
            <a:custGeom>
              <a:avLst/>
              <a:gdLst/>
              <a:ahLst/>
              <a:cxnLst/>
              <a:rect l="0" t="0" r="0" b="0"/>
              <a:pathLst>
                <a:path w="2363330">
                  <a:moveTo>
                    <a:pt x="0" y="0"/>
                  </a:moveTo>
                  <a:lnTo>
                    <a:pt x="2363330" y="0"/>
                  </a:lnTo>
                </a:path>
              </a:pathLst>
            </a:custGeom>
            <a:ln w="6337" cap="flat">
              <a:miter lim="127000"/>
            </a:ln>
          </p:spPr>
          <p:style>
            <a:lnRef idx="1">
              <a:srgbClr val="18171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014385" y="3373591"/>
              <a:ext cx="452467" cy="10913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700">
                  <a:solidFill>
                    <a:srgbClr val="181717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AEM308</a:t>
              </a:r>
              <a:endParaRPr lang="en-US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6096000" y="4259880"/>
            <a:ext cx="6096000" cy="25464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605155" marR="0" indent="-6350">
              <a:lnSpc>
                <a:spcPct val="112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QG15DE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9870" marR="218440" indent="-6350" algn="ctr">
              <a:lnSpc>
                <a:spcPct val="110000"/>
              </a:lnSpc>
              <a:spcBef>
                <a:spcPts val="0"/>
              </a:spcBef>
              <a:spcAft>
                <a:spcPts val="15"/>
              </a:spcAft>
            </a:pP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Standard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9870" marR="218440" indent="-6350" algn="ctr">
              <a:lnSpc>
                <a:spcPct val="110000"/>
              </a:lnSpc>
              <a:spcBef>
                <a:spcPts val="0"/>
              </a:spcBef>
              <a:spcAft>
                <a:spcPts val="15"/>
              </a:spcAft>
            </a:pP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1,372 (13.720, 13.99, 198.9)/350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9870" marR="218440" indent="-6350" algn="ctr">
              <a:lnSpc>
                <a:spcPct val="110000"/>
              </a:lnSpc>
              <a:spcBef>
                <a:spcPts val="0"/>
              </a:spcBef>
              <a:spcAft>
                <a:spcPts val="15"/>
              </a:spcAft>
            </a:pP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Minimum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9870" marR="218440" indent="-6350" algn="ctr">
              <a:lnSpc>
                <a:spcPct val="110000"/>
              </a:lnSpc>
              <a:spcBef>
                <a:spcPts val="0"/>
              </a:spcBef>
              <a:spcAft>
                <a:spcPts val="15"/>
              </a:spcAft>
            </a:pP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1,176 (11.759, 11.99, 170.5)/350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05155" marR="0" indent="-6350">
              <a:lnSpc>
                <a:spcPct val="112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Maximum allowable difference between cylinders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427480" marR="0" indent="-6350" algn="ctr">
              <a:lnSpc>
                <a:spcPct val="110000"/>
              </a:lnSpc>
              <a:spcBef>
                <a:spcPts val="0"/>
              </a:spcBef>
              <a:spcAft>
                <a:spcPts val="15"/>
              </a:spcAft>
            </a:pP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98 (0.98, 1.0, 14)/350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391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17859" y="1041229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654481" y="1651809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70911" y="2021141"/>
            <a:ext cx="1930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Timing Chain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321" y="417429"/>
            <a:ext cx="1739373" cy="644057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0614" y="2399795"/>
            <a:ext cx="5369099" cy="3748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7620" lvl="0" algn="just" fontAlgn="base">
              <a:lnSpc>
                <a:spcPct val="102000"/>
              </a:lnSpc>
              <a:spcBef>
                <a:spcPts val="0"/>
              </a:spcBef>
              <a:spcAft>
                <a:spcPts val="12885"/>
              </a:spcAft>
              <a:buClr>
                <a:srgbClr val="181717"/>
              </a:buClr>
              <a:buSzPts val="1050"/>
            </a:pPr>
            <a:r>
              <a:rPr lang="en-US" dirty="0" smtClean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No. 1 piston at TDC on its compression stroke.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0614" y="285907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Rotate </a:t>
            </a:r>
            <a:r>
              <a:rPr lang="en-US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crankshaft until mating mark on camshaft sprocket is set at position indicated in figure at left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840614" y="3490374"/>
            <a:ext cx="6096000" cy="960006"/>
          </a:xfrm>
          <a:prstGeom prst="rect">
            <a:avLst/>
          </a:prstGeom>
        </p:spPr>
        <p:txBody>
          <a:bodyPr>
            <a:spAutoFit/>
          </a:bodyPr>
          <a:lstStyle/>
          <a:p>
            <a:pPr marR="7620" lvl="0" algn="just" fontAlgn="base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Clr>
                <a:srgbClr val="181717"/>
              </a:buClr>
              <a:buSzPts val="1050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Remove timing chain guide from camshaft bracket.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R="7620" lvl="0" algn="just" fontAlgn="base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Clr>
                <a:srgbClr val="181717"/>
              </a:buClr>
              <a:buSzPts val="1050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Attach a suitable stopper pin to chain tensioner.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Remove chain tensioner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840614" y="4677978"/>
            <a:ext cx="76867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Before assemble inspect and wash the parts for any damage of cavitation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28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54481" y="821861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577601" y="-2217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587979" y="1158337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87979" y="1494813"/>
            <a:ext cx="3213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Timing Chain Installation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4482" y="576669"/>
            <a:ext cx="1709346" cy="628133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1103" y="1864145"/>
            <a:ext cx="4372992" cy="3568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7620" lvl="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crankshaft sprocket on crankshaft.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3359" y="2183023"/>
            <a:ext cx="6096000" cy="3047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8445" marR="7620" indent="-253365" algn="just">
              <a:lnSpc>
                <a:spcPct val="103000"/>
              </a:lnSpc>
              <a:spcBef>
                <a:spcPts val="0"/>
              </a:spcBef>
              <a:spcAft>
                <a:spcPts val="8690"/>
              </a:spcAft>
            </a:pP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Make sure mating marks on crankshaft sprocket face front of engine.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3359" y="2498785"/>
            <a:ext cx="8113221" cy="531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7620" lvl="0" algn="just" fontAlgn="base">
              <a:lnSpc>
                <a:spcPct val="102000"/>
              </a:lnSpc>
              <a:spcBef>
                <a:spcPts val="0"/>
              </a:spcBef>
              <a:spcAft>
                <a:spcPts val="11690"/>
              </a:spcAft>
              <a:buClr>
                <a:srgbClr val="181717"/>
              </a:buClr>
              <a:buSzPts val="1050"/>
            </a:pPr>
            <a:r>
              <a:rPr lang="en-US" sz="1400" dirty="0" smtClean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Position </a:t>
            </a:r>
            <a:r>
              <a:rPr lang="en-US" sz="14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crankshaft so that No. 1 piston is at TDC and key way is at 12 </a:t>
            </a:r>
            <a:r>
              <a:rPr lang="en-US" sz="1400" dirty="0" smtClean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o’clock. Install slack side               timing chain guide and timing chain tension guide.</a:t>
            </a:r>
            <a:endParaRPr lang="en-US" sz="1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8450" y="3143140"/>
            <a:ext cx="4924425" cy="3748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7620" lvl="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</a:pPr>
            <a:r>
              <a:rPr lang="en-US" dirty="0" smtClean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     Install </a:t>
            </a: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timing chain on crankshaft sprocket.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0839" y="3474555"/>
            <a:ext cx="8208330" cy="835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8445" marR="7620" indent="-253365" algn="just">
              <a:lnSpc>
                <a:spcPct val="103000"/>
              </a:lnSpc>
              <a:spcBef>
                <a:spcPts val="0"/>
              </a:spcBef>
              <a:spcAft>
                <a:spcPts val="255"/>
              </a:spcAft>
            </a:pP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Support chain with a suitable tool to keep the mating mark aligned.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58445" marR="7620" indent="-253365" algn="just">
              <a:lnSpc>
                <a:spcPct val="103000"/>
              </a:lnSpc>
              <a:spcBef>
                <a:spcPts val="0"/>
              </a:spcBef>
              <a:spcAft>
                <a:spcPts val="255"/>
              </a:spcAft>
            </a:pPr>
            <a:r>
              <a:rPr lang="en-US" sz="1400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Set timing chain by aligning its mating mark with that on the crankshaft sprocket.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1430" marR="7620" indent="-6350" algn="just">
              <a:lnSpc>
                <a:spcPct val="103000"/>
              </a:lnSpc>
              <a:spcBef>
                <a:spcPts val="0"/>
              </a:spcBef>
              <a:spcAft>
                <a:spcPts val="6565"/>
              </a:spcAft>
            </a:pPr>
            <a:r>
              <a:rPr lang="en-US" sz="1400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Make sure sprocket’s mating mark faces engine front.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6850" y="4266559"/>
            <a:ext cx="2795637" cy="3734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7620" lvl="0" algn="just" fontAlgn="base">
              <a:lnSpc>
                <a:spcPct val="110000"/>
              </a:lnSpc>
              <a:spcBef>
                <a:spcPts val="0"/>
              </a:spcBef>
              <a:spcAft>
                <a:spcPts val="235"/>
              </a:spcAft>
              <a:buClr>
                <a:srgbClr val="181717"/>
              </a:buClr>
              <a:buSzPts val="1050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camshaft sprocket.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0838" y="4585586"/>
            <a:ext cx="80123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Set timing chain by aligning mating marks with those of camshaft sprockets.</a:t>
            </a: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7863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54481" y="821861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577601" y="-2217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587979" y="1158337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87979" y="1494813"/>
            <a:ext cx="3213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Timing Chain Installation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08" y="821861"/>
            <a:ext cx="1556647" cy="576397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5151" y="1889058"/>
            <a:ext cx="8722276" cy="374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7620" lvl="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</a:pPr>
            <a:r>
              <a:rPr lang="en-US" dirty="0" smtClean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</a:t>
            </a: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camshaft sprocket bolts and tighten them to correct torque.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5151" y="2137092"/>
            <a:ext cx="44326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Apply new engine oil to bolt threads and seat surface.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415151" y="2429738"/>
            <a:ext cx="2475101" cy="3568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7620" lvl="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chain tensioner.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6854" y="2670559"/>
            <a:ext cx="7001226" cy="57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8445" marR="7620" indent="-253365" algn="just">
              <a:lnSpc>
                <a:spcPct val="103000"/>
              </a:lnSpc>
              <a:spcBef>
                <a:spcPts val="0"/>
              </a:spcBef>
              <a:spcAft>
                <a:spcPts val="255"/>
              </a:spcAft>
            </a:pP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Before installing chain tensioner, insert a suitable pin into pin hole of chain tensioner.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1430" marR="7620" indent="-6350" algn="just">
              <a:lnSpc>
                <a:spcPct val="103000"/>
              </a:lnSpc>
              <a:spcBef>
                <a:spcPts val="0"/>
              </a:spcBef>
              <a:spcAft>
                <a:spcPts val="255"/>
              </a:spcAft>
            </a:pPr>
            <a:r>
              <a:rPr lang="en-US" sz="1400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After installing chain tensioner, remove the pin.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387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54481" y="821861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577601" y="-2217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587979" y="1158337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87979" y="1494813"/>
            <a:ext cx="5500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Install cylinder head bolts at engine front side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-1" t="39610" r="-6568" b="2480"/>
          <a:stretch/>
        </p:blipFill>
        <p:spPr>
          <a:xfrm>
            <a:off x="9601200" y="1679479"/>
            <a:ext cx="1673193" cy="336665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6815" y="1956003"/>
            <a:ext cx="6096000" cy="4892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7325" marR="175895" indent="-6350" algn="ctr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lang="en-US" sz="1200" b="1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200" b="1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Tightening procedure</a:t>
            </a:r>
            <a:endParaRPr lang="en-US" sz="1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1430" marR="7620" indent="-6350" algn="just">
              <a:lnSpc>
                <a:spcPct val="103000"/>
              </a:lnSpc>
              <a:spcBef>
                <a:spcPts val="0"/>
              </a:spcBef>
              <a:spcAft>
                <a:spcPts val="9120"/>
              </a:spcAft>
            </a:pPr>
            <a:r>
              <a:rPr lang="en-US" sz="1200" b="1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Tightening bolts (1 - 4) to 6.3 to 8.3 </a:t>
            </a:r>
            <a:r>
              <a:rPr lang="en-US" sz="1200" b="1" dirty="0" err="1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N·m</a:t>
            </a:r>
            <a:r>
              <a:rPr lang="en-US" sz="1200" b="1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(0.64 to 0.85 kg-m, 55.8 to 73.5 in-</a:t>
            </a:r>
            <a:r>
              <a:rPr lang="en-US" sz="1200" b="1" dirty="0" err="1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lb</a:t>
            </a:r>
            <a:r>
              <a:rPr lang="en-US" sz="1200" b="1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).</a:t>
            </a:r>
            <a:endParaRPr lang="en-US" sz="1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392" y="2537097"/>
            <a:ext cx="3044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Install oil pump drive spacer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95992" y="2906429"/>
            <a:ext cx="8398625" cy="2206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12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water pump and water pump pulley</a:t>
            </a:r>
            <a:r>
              <a:rPr lang="en-US" dirty="0" smtClean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 Refer </a:t>
            </a: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 LC-14, “Water Pump”.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10000"/>
              </a:lnSpc>
              <a:spcBef>
                <a:spcPts val="0"/>
              </a:spcBef>
              <a:spcAft>
                <a:spcPts val="2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idler pulley and bracket.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10000"/>
              </a:lnSpc>
              <a:spcBef>
                <a:spcPts val="0"/>
              </a:spcBef>
              <a:spcAft>
                <a:spcPts val="2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RH engine mounting bracket.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10000"/>
              </a:lnSpc>
              <a:spcBef>
                <a:spcPts val="0"/>
              </a:spcBef>
              <a:spcAft>
                <a:spcPts val="2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RH engine mounting.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10000"/>
              </a:lnSpc>
              <a:spcBef>
                <a:spcPts val="0"/>
              </a:spcBef>
              <a:spcAft>
                <a:spcPts val="2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oil strainer.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oil pan. Refer to EM-21, “Installation”.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10000"/>
              </a:lnSpc>
              <a:spcBef>
                <a:spcPts val="0"/>
              </a:spcBef>
              <a:spcAft>
                <a:spcPts val="2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crankshaft pulley.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263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54481" y="821861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577601" y="-2217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587979" y="1158337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87979" y="1494813"/>
            <a:ext cx="5500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Install cylinder head bolts at engine front side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499" y="2076481"/>
            <a:ext cx="4143330" cy="44012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929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54481" y="821861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577601" y="-2217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587979" y="1158337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87979" y="1494813"/>
            <a:ext cx="5500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Install cylinder head bolts at engine front side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t="80781"/>
          <a:stretch/>
        </p:blipFill>
        <p:spPr>
          <a:xfrm>
            <a:off x="1184647" y="2419003"/>
            <a:ext cx="3943193" cy="27847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637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54481" y="821861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577601" y="-2217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587979" y="1158337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87979" y="1494813"/>
            <a:ext cx="2230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Valve Clearance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765" y="1749883"/>
            <a:ext cx="2372056" cy="16956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4481" y="2126132"/>
            <a:ext cx="7858299" cy="3074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25"/>
              </a:spcAft>
              <a:tabLst>
                <a:tab pos="2927985" algn="ctr"/>
                <a:tab pos="6464935" algn="r"/>
              </a:tabLst>
            </a:pPr>
            <a:r>
              <a:rPr lang="en-US" sz="2400" b="1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CHECKING	</a:t>
            </a:r>
            <a:r>
              <a:rPr lang="en-US" sz="1200" baseline="-250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NJEM0041S01</a:t>
            </a:r>
            <a:endParaRPr lang="en-US" sz="2400" b="1" dirty="0">
              <a:solidFill>
                <a:srgbClr val="181717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430" marR="7620" indent="-6350" algn="just">
              <a:lnSpc>
                <a:spcPct val="103000"/>
              </a:lnSpc>
              <a:spcBef>
                <a:spcPts val="0"/>
              </a:spcBef>
              <a:spcAft>
                <a:spcPts val="255"/>
              </a:spcAft>
            </a:pPr>
            <a:r>
              <a:rPr lang="en-US" b="1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Check valve clearance while engine is warm and not running.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7620" lvl="0" indent="-342900" algn="just" fontAlgn="base">
              <a:lnSpc>
                <a:spcPct val="110000"/>
              </a:lnSpc>
              <a:spcBef>
                <a:spcPts val="0"/>
              </a:spcBef>
              <a:spcAft>
                <a:spcPts val="235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Remove rocker cover.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10000"/>
              </a:lnSpc>
              <a:spcBef>
                <a:spcPts val="0"/>
              </a:spcBef>
              <a:spcAft>
                <a:spcPts val="235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Remove all spark plugs.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27000"/>
              </a:lnSpc>
              <a:spcBef>
                <a:spcPts val="0"/>
              </a:spcBef>
              <a:spcAft>
                <a:spcPts val="5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Set No. 1 cylinder at TDC on its compression stroke. </a:t>
            </a: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+ </a:t>
            </a: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Align pointer with TDC mark on crankshaft pulley.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58445" marR="7620" indent="-253365" algn="just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</a:pPr>
            <a:r>
              <a:rPr lang="en-US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Check that valve lifters on No. 1 cylinder are loose and valve lifters on No. 4 are tight.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58445" marR="7620" indent="-253365" algn="just">
              <a:lnSpc>
                <a:spcPct val="102000"/>
              </a:lnSpc>
              <a:spcBef>
                <a:spcPts val="0"/>
              </a:spcBef>
              <a:spcAft>
                <a:spcPts val="13330"/>
              </a:spcAft>
            </a:pPr>
            <a:r>
              <a:rPr lang="en-US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If not, turn crankshaft one revolution (360°) and align as described above.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01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54481" y="821861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577601" y="-2217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587979" y="1158337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87979" y="1494813"/>
            <a:ext cx="2230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Valve Clearance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077" y="1282477"/>
            <a:ext cx="2372056" cy="522995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4481" y="1889058"/>
            <a:ext cx="5091137" cy="3748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1292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dirty="0" smtClean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Check </a:t>
            </a:r>
            <a:r>
              <a:rPr lang="en-US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only those valves shown in the figure.</a:t>
            </a:r>
            <a:endParaRPr lang="en-US" sz="20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9368" y="2320988"/>
            <a:ext cx="8496640" cy="2844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8445" marR="7620" indent="-253365" algn="just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6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Using a feeler gauge, measure clearance between valve lifter and camshaft.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58445" marR="7620" indent="-253365" algn="just">
              <a:lnSpc>
                <a:spcPct val="102000"/>
              </a:lnSpc>
              <a:spcBef>
                <a:spcPts val="0"/>
              </a:spcBef>
              <a:spcAft>
                <a:spcPts val="110"/>
              </a:spcAft>
            </a:pPr>
            <a:r>
              <a:rPr lang="en-US" sz="1600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6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Record any valve clearance measurements which are out of specification. They will be used later to determine the required replacement adjusting shim.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05155" marR="0" indent="-6350">
              <a:lnSpc>
                <a:spcPct val="112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Valve clearance for checking (Hot</a:t>
            </a:r>
            <a:r>
              <a:rPr lang="en-US" sz="1600" b="1" dirty="0" smtClean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):</a:t>
            </a:r>
          </a:p>
          <a:p>
            <a:pPr marL="605155" marR="0" indent="-6350">
              <a:lnSpc>
                <a:spcPct val="112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600" b="1" dirty="0" smtClean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Intake 0.21 </a:t>
            </a:r>
            <a:r>
              <a:rPr 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- 0.49 mm (0.008 - 0.019 in) </a:t>
            </a:r>
            <a:endParaRPr lang="en-US" sz="1600" b="1" dirty="0" smtClean="0">
              <a:solidFill>
                <a:srgbClr val="0000F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05155" marR="0" indent="-6350">
              <a:lnSpc>
                <a:spcPct val="112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600" b="1" dirty="0" smtClean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Exhaust 0.30 </a:t>
            </a:r>
            <a:r>
              <a:rPr 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- 0.58 mm (0.012 - 0.023 in)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6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Turn crankshaft one revolution (360°) and align mark on crankshaft pulley with pointer.</a:t>
            </a:r>
            <a:endParaRPr lang="en-US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6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Check only those valves shown in the figure.</a:t>
            </a:r>
            <a:endParaRPr lang="en-US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1430" marR="7620" indent="-6350" algn="just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600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6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Use the same procedure as mentioned in step 4.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6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If all valve clearances are within specification, install the following parts:</a:t>
            </a:r>
            <a:endParaRPr lang="en-US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829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54481" y="821861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577601" y="-2217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587979" y="1158337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87979" y="1494813"/>
            <a:ext cx="17427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Crankshaft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04306" y="1920262"/>
            <a:ext cx="7858298" cy="1312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signal plate to crankshaft.</a:t>
            </a:r>
            <a:endParaRPr lang="en-US" sz="1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Set main bearings in their proper positions on cylinder block and main bearing cap.</a:t>
            </a:r>
            <a:endParaRPr lang="en-US" sz="1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58445" marR="7620" indent="-253365" algn="just">
              <a:lnSpc>
                <a:spcPct val="103000"/>
              </a:lnSpc>
              <a:spcBef>
                <a:spcPts val="0"/>
              </a:spcBef>
              <a:spcAft>
                <a:spcPts val="255"/>
              </a:spcAft>
            </a:pPr>
            <a:r>
              <a:rPr lang="en-US" sz="1400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Confirm that correct main bearings are selected by using Method A or Method B. Refer to EM-59.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1430" marR="7620" indent="-6350" algn="just">
              <a:lnSpc>
                <a:spcPct val="103000"/>
              </a:lnSpc>
              <a:spcBef>
                <a:spcPts val="0"/>
              </a:spcBef>
              <a:spcAft>
                <a:spcPts val="255"/>
              </a:spcAft>
            </a:pPr>
            <a:r>
              <a:rPr lang="en-US" sz="1400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Apply new engine oil to bearing surfaces.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4305" y="3289367"/>
            <a:ext cx="10019608" cy="1949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260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dirty="0" smtClean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nstall </a:t>
            </a:r>
            <a:r>
              <a:rPr lang="en-US" sz="14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crankshaft and main bearing caps and tighten bolts to the specified torque.</a:t>
            </a:r>
            <a:endParaRPr lang="en-US" sz="1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1430" marR="7620" indent="-6350" algn="just">
              <a:lnSpc>
                <a:spcPct val="103000"/>
              </a:lnSpc>
              <a:spcBef>
                <a:spcPts val="0"/>
              </a:spcBef>
              <a:spcAft>
                <a:spcPts val="255"/>
              </a:spcAft>
            </a:pPr>
            <a:r>
              <a:rPr lang="en-US" sz="1400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Apply new engine oil to the bolt thread and seat surface. </a:t>
            </a:r>
            <a:r>
              <a:rPr lang="en-US" sz="1400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Prior to tightening bearing cap bolts, shift crankshaft back and forth to properly seat the bearing caps. </a:t>
            </a:r>
            <a:r>
              <a:rPr lang="en-US" sz="1400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Tighten bearing cap bolts gradually in two or three stages. Start with center bearing and move outward as shown in figure.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58445" marR="7620" indent="-253365" algn="just">
              <a:lnSpc>
                <a:spcPct val="103000"/>
              </a:lnSpc>
              <a:spcBef>
                <a:spcPts val="0"/>
              </a:spcBef>
              <a:spcAft>
                <a:spcPts val="1705"/>
              </a:spcAft>
            </a:pPr>
            <a:r>
              <a:rPr lang="en-US" sz="1400" dirty="0">
                <a:solidFill>
                  <a:srgbClr val="18171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After securing bearing cap bolts, make sure crankshaft turns smoothly by hand.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7620" lvl="0" indent="-342900" algn="just" fontAlgn="base">
              <a:lnSpc>
                <a:spcPct val="102000"/>
              </a:lnSpc>
              <a:spcBef>
                <a:spcPts val="0"/>
              </a:spcBef>
              <a:spcAft>
                <a:spcPts val="125"/>
              </a:spcAft>
              <a:buClr>
                <a:srgbClr val="181717"/>
              </a:buClr>
              <a:buSzPts val="1050"/>
              <a:buFont typeface="+mj-lt"/>
              <a:buAutoNum type="arabicPeriod"/>
            </a:pPr>
            <a:r>
              <a:rPr lang="en-US" sz="1400" dirty="0">
                <a:solidFill>
                  <a:srgbClr val="181717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Measure crankshaft end play. </a:t>
            </a:r>
            <a:r>
              <a:rPr lang="en-US" sz="140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Crankshaft end </a:t>
            </a:r>
            <a:r>
              <a:rPr lang="en-US" sz="1400" dirty="0" smtClean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play:</a:t>
            </a:r>
            <a:r>
              <a:rPr lang="en-US" sz="1400" dirty="0" smtClean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Standard0.060 </a:t>
            </a:r>
            <a:r>
              <a:rPr lang="en-US" sz="1400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- 0.220 mm (0.0024 - 0.0087 </a:t>
            </a:r>
            <a:r>
              <a:rPr lang="en-US" sz="1400" dirty="0" smtClean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in)Limit0.3 mm(0.012 </a:t>
            </a:r>
            <a:r>
              <a:rPr lang="en-US" sz="1400" dirty="0">
                <a:solidFill>
                  <a:srgbClr val="0000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in)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1430" marR="7620" indent="-6350" algn="just">
              <a:lnSpc>
                <a:spcPct val="103000"/>
              </a:lnSpc>
              <a:spcBef>
                <a:spcPts val="0"/>
              </a:spcBef>
              <a:spcAft>
                <a:spcPts val="4640"/>
              </a:spcAft>
            </a:pPr>
            <a:r>
              <a:rPr lang="en-US" sz="1400" dirty="0">
                <a:solidFill>
                  <a:srgbClr val="181717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If beyond the limit, replace thrust bearing with new ones.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639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54481" y="821861"/>
            <a:ext cx="8946719" cy="4606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</a:t>
            </a:r>
            <a:r>
              <a:rPr lang="en-US" sz="2000" b="1" dirty="0" smtClean="0"/>
              <a:t>2  Identify Different Parts And Their Functions Of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577601" y="-2217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654481" y="6135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587979" y="1158337"/>
            <a:ext cx="4933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Disassemble and Assemble the Engine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87979" y="1494813"/>
            <a:ext cx="17427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Crankshaft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903" y="1343003"/>
            <a:ext cx="4788813" cy="508693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36522" y="1891815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20 Thrust Bearing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98903" y="223163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A0A0A"/>
                </a:solidFill>
                <a:latin typeface="Google Sans"/>
              </a:rPr>
              <a:t>An engine thrust bearing is </a:t>
            </a:r>
            <a:r>
              <a:rPr lang="en-US" dirty="0"/>
              <a:t>a specialized, high-load rotary component designed to control the axial movement (end play) of a rotating shaft, specifically supporting the crankshaft and preventing it from moving longitudinally due to force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899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192696" y="1527335"/>
            <a:ext cx="10018643" cy="40868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endParaRPr kumimoji="0" lang="en-US" altLang="zh-CN" sz="2400" b="1" i="0" u="none" strike="noStrike" kern="1200" cap="all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6D334A-8353-F612-C4E0-A0790F8E500E}"/>
              </a:ext>
            </a:extLst>
          </p:cNvPr>
          <p:cNvSpPr txBox="1"/>
          <p:nvPr/>
        </p:nvSpPr>
        <p:spPr>
          <a:xfrm>
            <a:off x="3677478" y="3309126"/>
            <a:ext cx="4412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587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Q4MGY0NjJhMzczNGQ0NjZmYzYxODFkYTNkOWQ4N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07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0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23075"/>
  <p:tag name="KSO_WM_CHIP_COLORIN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4*i*1"/>
  <p:tag name="KSO_WM_BEAUTIFY_FLAG" val="#wm#"/>
  <p:tag name="KSO_WM_TAG_VERSION" val="1.0"/>
  <p:tag name="KSO_WM_CHIP_GROUPID" val="62cb92ed67e1b3ac3a0df933"/>
  <p:tag name="KSO_WM_CHIP_XID" val="62cb92f267e1b3ac3a0dfd51"/>
  <p:tag name="KSO_WM_UNIT_DEC_AREA_ID" val="a11a73839daf4afd8c8eecb70bd8d2c5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4db68e000024515aa2d711777418aa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6*i*1"/>
  <p:tag name="KSO_WM_BEAUTIFY_FLAG" val="#wm#"/>
  <p:tag name="KSO_WM_TAG_VERSION" val="1.0"/>
  <p:tag name="KSO_WM_CHIP_GROUPID" val="62cb92ed67e1b3ac3a0df933"/>
  <p:tag name="KSO_WM_CHIP_XID" val="62cb92f267e1b3ac3a0dfc96"/>
  <p:tag name="KSO_WM_UNIT_DEC_AREA_ID" val="9fcaac9ea3384a638db80c6bdc5589bd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c0d64f86cd3483cab8a5ed4c0ff90c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8*i*1"/>
  <p:tag name="KSO_WM_BEAUTIFY_FLAG" val="#wm#"/>
  <p:tag name="KSO_WM_TAG_VERSION" val="1.0"/>
  <p:tag name="KSO_WM_CHIP_GROUPID" val="62cb92ed67e1b3ac3a0df933"/>
  <p:tag name="KSO_WM_CHIP_XID" val="62cb92f267e1b3ac3a0dfcb7"/>
  <p:tag name="KSO_WM_UNIT_DEC_AREA_ID" val="0b6e32bb8e9b4cd59a73ec1ab58588a3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252d6d1848c46529fc1ac4283ac4f7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15*i*1"/>
  <p:tag name="KSO_WM_BEAUTIFY_FLAG" val="#wm#"/>
  <p:tag name="KSO_WM_TAG_VERSION" val="1.0"/>
  <p:tag name="KSO_WM_CHIP_GROUPID" val="62cb92ed67e1b3ac3a0df933"/>
  <p:tag name="KSO_WM_CHIP_XID" val="62cb92f267e1b3ac3a0dfd31"/>
  <p:tag name="KSO_WM_UNIT_DEC_AREA_ID" val="cedfc75459a64b91839f7c4e93fc4ab0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307ef49eb7844ab8170517694ba29c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7*i*1"/>
  <p:tag name="KSO_WM_BEAUTIFY_FLAG" val="#wm#"/>
  <p:tag name="KSO_WM_TAG_VERSION" val="1.0"/>
  <p:tag name="KSO_WM_CHIP_GROUPID" val="62cb92ed67e1b3ac3a0df933"/>
  <p:tag name="KSO_WM_CHIP_XID" val="62cb92f267e1b3ac3a0dfcb1"/>
  <p:tag name="KSO_WM_UNIT_DEC_AREA_ID" val="d0ce6c47bdc440d196dfdadc5c19a3bf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b4fe2c4d5bb440eb7542455658eee6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2*i*1"/>
  <p:tag name="KSO_WM_BEAUTIFY_FLAG" val="#wm#"/>
  <p:tag name="KSO_WM_TAG_VERSION" val="1.0"/>
  <p:tag name="KSO_WM_CHIP_GROUPID" val="62cb92ed67e1b3ac3a0df933"/>
  <p:tag name="KSO_WM_CHIP_XID" val="62cb92f267e1b3ac3a0dfbd8"/>
  <p:tag name="KSO_WM_UNIT_DEC_AREA_ID" val="353a2ba7688d4d109d88d8fbf076f1b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821e70711df4ae0a04b6ba18360b86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4*i*1"/>
  <p:tag name="KSO_WM_BEAUTIFY_FLAG" val="#wm#"/>
  <p:tag name="KSO_WM_TAG_VERSION" val="1.0"/>
  <p:tag name="KSO_WM_CHIP_GROUPID" val="62cb92ed67e1b3ac3a0df933"/>
  <p:tag name="KSO_WM_CHIP_XID" val="62cb92f267e1b3ac3a0dfbcb"/>
  <p:tag name="KSO_WM_UNIT_DEC_AREA_ID" val="4ab4fedb6c6640b484a0fdb113c32716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b2380889160463abab291528e337d2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3*i*1"/>
  <p:tag name="KSO_WM_BEAUTIFY_FLAG" val="#wm#"/>
  <p:tag name="KSO_WM_TAG_VERSION" val="1.0"/>
  <p:tag name="KSO_WM_CHIP_GROUPID" val="62cb92ed67e1b3ac3a0df933"/>
  <p:tag name="KSO_WM_CHIP_XID" val="62cb92f267e1b3ac3a0dfbc7"/>
  <p:tag name="KSO_WM_UNIT_DEC_AREA_ID" val="f51db6bba423479a96c7def23f363aa5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6eb048d58f74aaaaaf7557c2b39a70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075_1*a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UNIT_DEFAULT_FONT" val="60;66;2"/>
  <p:tag name="KSO_WM_UNIT_BLOCK" val="0"/>
  <p:tag name="KSO_WM_UNIT_DEC_AREA_ID" val="e5577524724345448ce6d9c2ce3939e0"/>
  <p:tag name="KSO_WM_CHIP_GROUPID" val="61849109a6a891b1f9dbb830"/>
  <p:tag name="KSO_WM_CHIP_XID" val="61849109a6a891b1f9dbb82d"/>
  <p:tag name="KSO_WM_CHIP_FILLAREA_FILL_RULE" val="{&quot;fill_align&quot;:&quot;cm&quot;,&quot;fill_mode&quot;:&quot;adaptive&quot;,&quot;sacle_strategy&quot;:&quot;smart&quot;}"/>
  <p:tag name="KSO_WM_ASSEMBLE_CHIP_INDEX" val="a3eb76d9cecc488caa04c4a7a8fcd523"/>
  <p:tag name="KSO_WM_UNIT_TEXT_FILL_FORE_SCHEMECOLOR_INDEX_BRIGHTNESS" val="0.15"/>
  <p:tag name="KSO_WM_UNIT_TEXT_FILL_FORE_SCHEMECOLOR_INDEX" val="13"/>
  <p:tag name="KSO_WM_UNIT_TEXT_FILL_TYPE" val="1"/>
  <p:tag name="KSO_WM_TEMPLATE_ASSEMBLE_XID" val="63156d2459d53ee3cde2290b"/>
  <p:tag name="KSO_WM_TEMPLATE_ASSEMBLE_GROUPID" val="62cb92ed67e1b3ac3a0df93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为了演示发布的良好效果，请言简意赅地阐述您的观点。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075_1*f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UNIT_DEFAULT_FONT" val="14;14;2"/>
  <p:tag name="KSO_WM_UNIT_BLOCK" val="0"/>
  <p:tag name="KSO_WM_UNIT_DEC_AREA_ID" val="35127bff71ec4a98b1f1a512400e582e"/>
  <p:tag name="KSO_WM_CHIP_GROUPID" val="61849109a6a891b1f9dbb830"/>
  <p:tag name="KSO_WM_CHIP_XID" val="61849109a6a891b1f9dbb82d"/>
  <p:tag name="KSO_WM_CHIP_FILLAREA_FILL_RULE" val="{&quot;fill_align&quot;:&quot;cm&quot;,&quot;fill_mode&quot;:&quot;adaptive&quot;,&quot;sacle_strategy&quot;:&quot;smart&quot;}"/>
  <p:tag name="KSO_WM_ASSEMBLE_CHIP_INDEX" val="a3eb76d9cecc488caa04c4a7a8fcd523"/>
  <p:tag name="KSO_WM_UNIT_TEXT_FILL_FORE_SCHEMECOLOR_INDEX_BRIGHTNESS" val="0.5"/>
  <p:tag name="KSO_WM_UNIT_TEXT_FILL_FORE_SCHEMECOLOR_INDEX" val="13"/>
  <p:tag name="KSO_WM_UNIT_TEXT_FILL_TYPE" val="1"/>
  <p:tag name="KSO_WM_TEMPLATE_ASSEMBLE_XID" val="63156d2459d53ee3cde2290b"/>
  <p:tag name="KSO_WM_TEMPLATE_ASSEMBLE_GROUPID" val="62cb92ed67e1b3ac3a0df93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6*i*1"/>
  <p:tag name="KSO_WM_BEAUTIFY_FLAG" val="#wm#"/>
  <p:tag name="KSO_WM_TAG_VERSION" val="1.0"/>
  <p:tag name="KSO_WM_CHIP_GROUPID" val="62cb92ed67e1b3ac3a0df933"/>
  <p:tag name="KSO_WM_CHIP_XID" val="62cb92f267e1b3ac3a0df99b"/>
  <p:tag name="KSO_WM_UNIT_DEC_AREA_ID" val="7ae053233a014cf5b087ba4b069db75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d0fe025b92a4121b116f65108e5c0b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7*i*1"/>
  <p:tag name="KSO_WM_BEAUTIFY_FLAG" val="#wm#"/>
  <p:tag name="KSO_WM_TAG_VERSION" val="1.0"/>
  <p:tag name="KSO_WM_CHIP_GROUPID" val="62cb92ed67e1b3ac3a0df933"/>
  <p:tag name="KSO_WM_CHIP_XID" val="62cb92f267e1b3ac3a0df93d"/>
  <p:tag name="KSO_WM_UNIT_DEC_AREA_ID" val="7aac52c509324246a2139159652c9dce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6a1af26a8d74008b1380f22ba29d46f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8*i*1"/>
  <p:tag name="KSO_WM_BEAUTIFY_FLAG" val="#wm#"/>
  <p:tag name="KSO_WM_TAG_VERSION" val="1.0"/>
  <p:tag name="KSO_WM_CHIP_GROUPID" val="62cb92ed67e1b3ac3a0df933"/>
  <p:tag name="KSO_WM_CHIP_XID" val="62cb92f267e1b3ac3a0df990"/>
  <p:tag name="KSO_WM_UNIT_DEC_AREA_ID" val="b20fbc8bd01f4b7ebdd46d90e2647bbf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68a292b1c74438a8be59c5e124aa1e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20*i*1"/>
  <p:tag name="KSO_WM_BEAUTIFY_FLAG" val="#wm#"/>
  <p:tag name="KSO_WM_TAG_VERSION" val="1.0"/>
  <p:tag name="KSO_WM_CHIP_GROUPID" val="62cb92ed67e1b3ac3a0df933"/>
  <p:tag name="KSO_WM_CHIP_XID" val="62cb92f267e1b3ac3a0dfaaf"/>
  <p:tag name="KSO_WM_UNIT_DEC_AREA_ID" val="511aa335ee7d4245a08946cb05b9faa4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6cad2575e594576b80f3f7814fb082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22*i*1"/>
  <p:tag name="KSO_WM_BEAUTIFY_FLAG" val="#wm#"/>
  <p:tag name="KSO_WM_TAG_VERSION" val="1.0"/>
  <p:tag name="KSO_WM_CHIP_GROUPID" val="62cb92ed67e1b3ac3a0df933"/>
  <p:tag name="KSO_WM_CHIP_XID" val="62cb92f267e1b3ac3a0dfa9c"/>
  <p:tag name="KSO_WM_UNIT_DEC_AREA_ID" val="cd0b699e343a426dbd8923da658f7258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6079dca97b54b6f8f260c458203cdd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21*i*1"/>
  <p:tag name="KSO_WM_BEAUTIFY_FLAG" val="#wm#"/>
  <p:tag name="KSO_WM_TAG_VERSION" val="1.0"/>
  <p:tag name="KSO_WM_CHIP_GROUPID" val="62cb92ed67e1b3ac3a0df933"/>
  <p:tag name="KSO_WM_CHIP_XID" val="62cb92f267e1b3ac3a0dfa7d"/>
  <p:tag name="KSO_WM_UNIT_DEC_AREA_ID" val="61fe8ffa078a456db36c7c5a609a0b36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844cc6be254379824c635ec2fa732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66;74;2"/>
  <p:tag name="KSO_WM_UNIT_BLOCK" val="0"/>
  <p:tag name="KSO_WM_UNIT_DEC_AREA_ID" val="024cb455de114c8590873753d08ef7c9"/>
  <p:tag name="KSO_WM_UNIT_ISCONTENTSTITLE" val="0"/>
  <p:tag name="KSO_WM_UNIT_ISNUMDGMTITLE" val="0"/>
  <p:tag name="KSO_WM_UNIT_PRESET_TEXT" val="感谢各位的观看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075_1*a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16;18;2"/>
  <p:tag name="KSO_WM_UNIT_BLOCK" val="0"/>
  <p:tag name="KSO_WM_UNIT_DEC_AREA_ID" val="59dd0d01bf8d46bc94fd640b0712b633"/>
  <p:tag name="KSO_WM_UNIT_SUBTYPE" val="a"/>
  <p:tag name="KSO_WM_UNIT_PRESET_TEXT" val="点击此处添加正文，文字是您思想的提炼，为了演示发布的良好效果，请言简意赅地阐述您的观点。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075_1*f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0;22;2"/>
  <p:tag name="KSO_WM_UNIT_BLOCK" val="0"/>
  <p:tag name="KSO_WM_UNIT_DEC_AREA_ID" val="c54f68c39bda4efea42a2b1659b9e2ea"/>
  <p:tag name="KSO_WM_UNIT_ISCONTENTSTITLE" val="0"/>
  <p:tag name="KSO_WM_UNIT_ISNUMDGMTITLE" val="0"/>
  <p:tag name="KSO_WM_UNIT_PRESET_TEXT" val="单击此处添加副标题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3075_1*b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  <p:tag name="KSO_WM_SLIDE_BACKGROUND_TYPE" val="genera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  <p:tag name="KSO_WM_SLIDE_BACKGROUND_TYPE" val="genera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  <p:tag name="KSO_WM_SLIDE_BACKGROUND_TYPE" val="genera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5ce45d99c9346cabff41e6ef0eb7af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537d4269ae34ae59ff37b0111906262"/>
  <p:tag name="KSO_WM_SLIDE_BACKGROUND_TYPE" val="fram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9f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42cf1ad8d3b4eb0bc92d6509446e45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066acbe25924c35ba7e4d0e178721a0"/>
  <p:tag name="KSO_WM_SLIDE_BACKGROUND_TYPE" val="fram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2039976cc11543efbf63e0c103feb90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b60c42fd64e447c9b8f4cd9ce8e4ce2"/>
  <p:tag name="KSO_WM_SLIDE_BACKGROUND_TYPE" val="leftRigh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2ad48e2b17a4f77b87a10486738724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3575a3699ba4e9590b75c31e722b4ff"/>
  <p:tag name="KSO_WM_SLIDE_BACKGROUND_TYPE" val="topBotto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e58b3c5437b14b488da16b18285e6cbb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9d04b894b834011bbf293d67fba658e"/>
  <p:tag name="KSO_WM_SLIDE_BACKGROUND_TYPE" val="topBotto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f00e2266f384317bf6fac64cc483b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2e98fb069d54a89a4b8b1732f73ed81"/>
  <p:tag name="KSO_WM_SLIDE_BACKGROUND_TYPE" val="bottomTop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bb42711b180428ea5bd2cfefbce329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6697363c1ad4851b9c268ca0b1630f5"/>
  <p:tag name="KSO_WM_SLIDE_BACKGROUND_TYPE" val="navigation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2b1a7f510dda4678a34427de5d8de730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bf646edba524302864a0e38be5e443b"/>
  <p:tag name="KSO_WM_SLIDE_BACKGROUND_TYPE" val="navigation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a69f6163a09d4335b371cbcbaaa3e57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cb46b93d9964b6e9394b5aded1e27e0"/>
  <p:tag name="KSO_WM_SLIDE_BACKGROUND_TYPE" val="bel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a4ccf5ccfb9b44a896f37319a9a629a5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530d658cf74450e8cb5f979b7fa71d8"/>
  <p:tag name="KSO_WM_SLIDE_BACKGROUND_TYPE" val="bel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D88D7B"/>
      </a:dk2>
      <a:lt2>
        <a:srgbClr val="FFFFFF"/>
      </a:lt2>
      <a:accent1>
        <a:srgbClr val="FE7959"/>
      </a:accent1>
      <a:accent2>
        <a:srgbClr val="FE935E"/>
      </a:accent2>
      <a:accent3>
        <a:srgbClr val="FFAD63"/>
      </a:accent3>
      <a:accent4>
        <a:srgbClr val="FFA965"/>
      </a:accent4>
      <a:accent5>
        <a:srgbClr val="FF8864"/>
      </a:accent5>
      <a:accent6>
        <a:srgbClr val="FF6763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3077</TotalTime>
  <Words>1103</Words>
  <Application>Microsoft Office PowerPoint</Application>
  <PresentationFormat>Widescreen</PresentationFormat>
  <Paragraphs>171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微软雅黑</vt:lpstr>
      <vt:lpstr>宋体</vt:lpstr>
      <vt:lpstr>Arial</vt:lpstr>
      <vt:lpstr>Calibri</vt:lpstr>
      <vt:lpstr>Courier New</vt:lpstr>
      <vt:lpstr>Google Sans</vt:lpstr>
      <vt:lpstr>Times New Roman</vt:lpstr>
      <vt:lpstr>Wingdings</vt:lpstr>
      <vt:lpstr>汉仪文黑-55简</vt:lpstr>
      <vt:lpstr>汉仪文黑-85简</vt:lpstr>
      <vt:lpstr>2_Office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Su Jiajing</dc:creator>
  <cp:lastModifiedBy>Ibrahim Siraj</cp:lastModifiedBy>
  <cp:revision>224</cp:revision>
  <dcterms:created xsi:type="dcterms:W3CDTF">2019-06-19T02:08:00Z</dcterms:created>
  <dcterms:modified xsi:type="dcterms:W3CDTF">2026-04-18T09:17:36Z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A05E1846C5A840C580943081378365C3_11</vt:lpwstr>
  </property>
</Properties>
</file>