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2.xml" ContentType="application/vnd.openxmlformats-officedocument.them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8" r:id="rId1"/>
  </p:sldMasterIdLst>
  <p:notesMasterIdLst>
    <p:notesMasterId r:id="rId24"/>
  </p:notesMasterIdLst>
  <p:sldIdLst>
    <p:sldId id="265" r:id="rId2"/>
    <p:sldId id="269" r:id="rId3"/>
    <p:sldId id="335" r:id="rId4"/>
    <p:sldId id="334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25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7" r:id="rId22"/>
    <p:sldId id="295" r:id="rId23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98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1.png"/><Relationship Id="rId2" Type="http://schemas.openxmlformats.org/officeDocument/2006/relationships/tags" Target="../tags/tag9.xml"/><Relationship Id="rId16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15" Type="http://schemas.openxmlformats.org/officeDocument/2006/relationships/image" Target="../media/image4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6.png"/><Relationship Id="rId5" Type="http://schemas.openxmlformats.org/officeDocument/2006/relationships/tags" Target="../tags/tag22.xml"/><Relationship Id="rId10" Type="http://schemas.openxmlformats.org/officeDocument/2006/relationships/image" Target="../media/image1.pn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8.png"/><Relationship Id="rId5" Type="http://schemas.openxmlformats.org/officeDocument/2006/relationships/tags" Target="../tags/tag30.xml"/><Relationship Id="rId10" Type="http://schemas.openxmlformats.org/officeDocument/2006/relationships/image" Target="../media/image1.png"/><Relationship Id="rId4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7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1.png"/><Relationship Id="rId5" Type="http://schemas.openxmlformats.org/officeDocument/2006/relationships/tags" Target="../tags/tag3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1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7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11.png"/><Relationship Id="rId5" Type="http://schemas.openxmlformats.org/officeDocument/2006/relationships/tags" Target="../tags/tag58.xml"/><Relationship Id="rId10" Type="http://schemas.openxmlformats.org/officeDocument/2006/relationships/image" Target="../media/image10.png"/><Relationship Id="rId4" Type="http://schemas.openxmlformats.org/officeDocument/2006/relationships/tags" Target="../tags/tag57.xml"/><Relationship Id="rId9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7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png"/><Relationship Id="rId5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6.png"/><Relationship Id="rId5" Type="http://schemas.openxmlformats.org/officeDocument/2006/relationships/tags" Target="../tags/tag77.xml"/><Relationship Id="rId10" Type="http://schemas.openxmlformats.org/officeDocument/2006/relationships/image" Target="../media/image1.png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.png"/><Relationship Id="rId5" Type="http://schemas.openxmlformats.org/officeDocument/2006/relationships/tags" Target="../tags/tag85.xml"/><Relationship Id="rId10" Type="http://schemas.openxmlformats.org/officeDocument/2006/relationships/image" Target="../media/image6.png"/><Relationship Id="rId4" Type="http://schemas.openxmlformats.org/officeDocument/2006/relationships/tags" Target="../tags/tag84.xml"/><Relationship Id="rId9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13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12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.png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7.png"/><Relationship Id="rId5" Type="http://schemas.openxmlformats.org/officeDocument/2006/relationships/tags" Target="../tags/tag101.xml"/><Relationship Id="rId10" Type="http://schemas.openxmlformats.org/officeDocument/2006/relationships/image" Target="../media/image6.png"/><Relationship Id="rId4" Type="http://schemas.openxmlformats.org/officeDocument/2006/relationships/tags" Target="../tags/tag100.xml"/><Relationship Id="rId9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7.png"/><Relationship Id="rId5" Type="http://schemas.openxmlformats.org/officeDocument/2006/relationships/tags" Target="../tags/tag108.xml"/><Relationship Id="rId10" Type="http://schemas.openxmlformats.org/officeDocument/2006/relationships/image" Target="../media/image1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7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1.png"/><Relationship Id="rId5" Type="http://schemas.openxmlformats.org/officeDocument/2006/relationships/tags" Target="../tags/tag12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3.xml"/><Relationship Id="rId9" Type="http://schemas.openxmlformats.org/officeDocument/2006/relationships/tags" Target="../tags/tag12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10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image" Target="../media/image1.png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image" Target="../media/image7.png"/><Relationship Id="rId5" Type="http://schemas.openxmlformats.org/officeDocument/2006/relationships/tags" Target="../tags/tag152.xml"/><Relationship Id="rId10" Type="http://schemas.openxmlformats.org/officeDocument/2006/relationships/image" Target="../media/image1.png"/><Relationship Id="rId4" Type="http://schemas.openxmlformats.org/officeDocument/2006/relationships/tags" Target="../tags/tag151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556"/>
            <a:ext cx="12192000" cy="6856730"/>
          </a:xfrm>
          <a:prstGeom prst="rect">
            <a:avLst/>
          </a:prstGeom>
        </p:spPr>
      </p:pic>
      <p:pic>
        <p:nvPicPr>
          <p:cNvPr id="21" name="图片 20" descr="JY01-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2032000" cy="1009020"/>
          </a:xfrm>
          <a:prstGeom prst="rect">
            <a:avLst/>
          </a:prstGeom>
        </p:spPr>
      </p:pic>
      <p:pic>
        <p:nvPicPr>
          <p:cNvPr id="23" name="图片 22" descr="JY01-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11495"/>
            <a:ext cx="1257294" cy="1252220"/>
          </a:xfrm>
          <a:prstGeom prst="rect">
            <a:avLst/>
          </a:prstGeom>
        </p:spPr>
      </p:pic>
      <p:pic>
        <p:nvPicPr>
          <p:cNvPr id="22" name="图片 21" descr="JY01-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790440" y="2028565"/>
            <a:ext cx="7401560" cy="4829423"/>
          </a:xfrm>
          <a:prstGeom prst="rect">
            <a:avLst/>
          </a:prstGeom>
        </p:spPr>
      </p:pic>
      <p:pic>
        <p:nvPicPr>
          <p:cNvPr id="19" name="图片 18" descr="JY01-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50805" y="-24765"/>
            <a:ext cx="1941195" cy="3671639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1137137" y="1044416"/>
            <a:ext cx="8927126" cy="3333296"/>
          </a:xfrm>
          <a:noFill/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</a:t>
            </a:r>
          </a:p>
          <a:p>
            <a:pPr lvl="0"/>
            <a:r>
              <a:rPr>
                <a:sym typeface="+mn-ea"/>
              </a:rPr>
              <a:t>标题</a:t>
            </a:r>
          </a:p>
        </p:txBody>
      </p:sp>
      <p:sp>
        <p:nvSpPr>
          <p:cNvPr id="7" name="副标题 6"/>
          <p:cNvSpPr txBox="1">
            <a:spLocks noGrp="1"/>
          </p:cNvSpPr>
          <p:nvPr>
            <p:ph type="subTitle" idx="2" hasCustomPrompt="1"/>
            <p:custDataLst>
              <p:tags r:id="rId10"/>
            </p:custDataLst>
          </p:nvPr>
        </p:nvSpPr>
        <p:spPr>
          <a:xfrm>
            <a:off x="1137137" y="4429560"/>
            <a:ext cx="7629063" cy="1183999"/>
          </a:xfrm>
          <a:noFill/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2800" b="1" i="0" u="none" strike="noStrike" kern="1200" cap="all" spc="4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3" name="图片 2" descr="JY01_章节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章节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1" hasCustomPrompt="1"/>
            <p:custDataLst>
              <p:tags r:id="rId7"/>
            </p:custDataLst>
          </p:nvPr>
        </p:nvSpPr>
        <p:spPr>
          <a:xfrm>
            <a:off x="2112431" y="2833012"/>
            <a:ext cx="7967137" cy="1200150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0" i="0" u="none" strike="noStrike" kern="1200" cap="none" spc="1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2680121" y="4295417"/>
            <a:ext cx="6831757" cy="827115"/>
          </a:xfrm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11" name="图片 10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10" name="图片 9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-318"/>
            <a:ext cx="12192000" cy="6858635"/>
          </a:xfrm>
          <a:prstGeom prst="rect">
            <a:avLst/>
          </a:prstGeom>
        </p:spPr>
      </p:pic>
      <p:pic>
        <p:nvPicPr>
          <p:cNvPr id="7" name="图片 6" descr="JY01_目录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388868"/>
            <a:ext cx="2132952" cy="1469132"/>
          </a:xfrm>
          <a:prstGeom prst="rect">
            <a:avLst/>
          </a:prstGeom>
        </p:spPr>
      </p:pic>
      <p:pic>
        <p:nvPicPr>
          <p:cNvPr id="6" name="图片 5" descr="JY01_目录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45375" y="0"/>
            <a:ext cx="4746625" cy="44114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2026/4/7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2" name="图片 1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6" name="图片 5" descr="JY01_结束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结束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2153288" y="2533739"/>
            <a:ext cx="7885427" cy="1353881"/>
          </a:xfrm>
          <a:noFill/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1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8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 flipH="1">
            <a:off x="2153285" y="3996025"/>
            <a:ext cx="7885428" cy="928995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  <p:sp>
        <p:nvSpPr>
          <p:cNvPr id="10" name="副标题 3"/>
          <p:cNvSpPr>
            <a:spLocks noGrp="1"/>
          </p:cNvSpPr>
          <p:nvPr>
            <p:ph type="subTitle" idx="3" hasCustomPrompt="1"/>
            <p:custDataLst>
              <p:tags r:id="rId9"/>
            </p:custDataLst>
          </p:nvPr>
        </p:nvSpPr>
        <p:spPr>
          <a:xfrm>
            <a:off x="2153288" y="1932968"/>
            <a:ext cx="7885427" cy="492366"/>
          </a:xfrm>
          <a:noFill/>
        </p:spPr>
        <p:txBody>
          <a:bodyPr vert="horz" wrap="square" lIns="90000" tIns="46800" rIns="90000" bIns="4680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1" i="0" u="none" strike="noStrike" kern="0" cap="none" spc="6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7" name="图片 6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3594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5" y="5589270"/>
            <a:ext cx="1314622" cy="1268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5" y="-318"/>
            <a:ext cx="12192622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94" y="1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0"/>
            <a:ext cx="12192000" cy="6858318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9" y="5029202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317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3175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36260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429" y="958590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635625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MdEZjSQDT0s" TargetMode="Externa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image" Target="../media/image24.jpe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DKF5dKo_r_Y" TargetMode="Externa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image" Target="../media/image25.jpeg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5.xml"/><Relationship Id="rId1" Type="http://schemas.openxmlformats.org/officeDocument/2006/relationships/tags" Target="../tags/tag18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1.xml"/><Relationship Id="rId1" Type="http://schemas.openxmlformats.org/officeDocument/2006/relationships/tags" Target="../tags/tag19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084128" y="5658615"/>
            <a:ext cx="7629063" cy="1183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17C5F-D582-80A6-4DE3-CCB3F46F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466312"/>
            <a:ext cx="904875" cy="1428750"/>
          </a:xfrm>
          <a:prstGeom prst="rect">
            <a:avLst/>
          </a:prstGeom>
        </p:spPr>
      </p:pic>
      <p:sp>
        <p:nvSpPr>
          <p:cNvPr id="5" name="文本框 21">
            <a:extLst>
              <a:ext uri="{FF2B5EF4-FFF2-40B4-BE49-F238E27FC236}">
                <a16:creationId xmlns:a16="http://schemas.microsoft.com/office/drawing/2014/main" id="{8291BEAF-DC80-7114-D7E5-4D33D4D73E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17374" y="2036310"/>
            <a:ext cx="8719930" cy="174052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CERTIFICATE III IN AUTOMOTIVE REPAIR &amp; MAINTE</a:t>
            </a: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NANCE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25F2-350A-E959-A436-C1320A9A1827}"/>
              </a:ext>
            </a:extLst>
          </p:cNvPr>
          <p:cNvSpPr txBox="1"/>
          <p:nvPr/>
        </p:nvSpPr>
        <p:spPr>
          <a:xfrm>
            <a:off x="821635" y="4015155"/>
            <a:ext cx="9415669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AD63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SUBJECT:  </a:t>
            </a:r>
            <a:r>
              <a:rPr lang="en-US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Workshop 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232451" y="1911648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kumimoji="0" lang="en-US" altLang="zh-CN" sz="2400" b="1" i="0" u="none" strike="noStrike" kern="1200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dirty="0"/>
              <a:t>Internal combustion (IC) engines convert chemical energy in fuel into mechanical work.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dirty="0"/>
              <a:t>Two main types: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lvl="1"/>
            <a:r>
              <a:rPr lang="en-US" b="1" dirty="0"/>
              <a:t>Petrol (Gasoline) Engines</a:t>
            </a:r>
            <a:endParaRPr lang="en-US" dirty="0"/>
          </a:p>
          <a:p>
            <a:pPr lvl="1"/>
            <a:r>
              <a:rPr lang="en-US" b="1" dirty="0"/>
              <a:t>Diesel Engines</a:t>
            </a:r>
          </a:p>
          <a:p>
            <a:pPr lvl="1"/>
            <a:endParaRPr lang="en-US" dirty="0"/>
          </a:p>
          <a:p>
            <a:pPr lvl="0"/>
            <a:r>
              <a:rPr lang="en-US" dirty="0"/>
              <a:t>Both are widely used in transportation, power generation, and industrial applications.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8384-A138-74B7-DF16-BB03399C9D56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69EAF-2A2E-E7B9-70FB-97F07A033829}"/>
              </a:ext>
            </a:extLst>
          </p:cNvPr>
          <p:cNvSpPr txBox="1"/>
          <p:nvPr/>
        </p:nvSpPr>
        <p:spPr>
          <a:xfrm>
            <a:off x="1404730" y="57386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82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57F54-7118-38CE-96F1-793084FC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7B495CB4-2D27-A598-94D9-48C86CBA7D1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451" y="1089581"/>
            <a:ext cx="10018643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36194-AF18-8D82-0D78-5E5ADD85E24F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F62F4-E3A4-8D9E-B361-3D0A2D25AC19}"/>
              </a:ext>
            </a:extLst>
          </p:cNvPr>
          <p:cNvSpPr txBox="1"/>
          <p:nvPr/>
        </p:nvSpPr>
        <p:spPr>
          <a:xfrm>
            <a:off x="1404730" y="57386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90F86-519C-9A47-029A-009D17518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279" y="1688159"/>
            <a:ext cx="5208104" cy="46967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2446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89293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34089C-1257-3F1B-221A-F814B0912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174" y="1422060"/>
            <a:ext cx="5174371" cy="3763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A8E21-B911-6867-20DC-20A955371D79}"/>
              </a:ext>
            </a:extLst>
          </p:cNvPr>
          <p:cNvSpPr txBox="1"/>
          <p:nvPr/>
        </p:nvSpPr>
        <p:spPr>
          <a:xfrm>
            <a:off x="2300720" y="5213288"/>
            <a:ext cx="49563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Otto A theoretical model that describes the functioning of a spark-ignition internal combustion engine, commonly known as a four-stroke engine.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F46A4-32EF-C87F-2892-58B9BF32241E}"/>
              </a:ext>
            </a:extLst>
          </p:cNvPr>
          <p:cNvSpPr txBox="1"/>
          <p:nvPr/>
        </p:nvSpPr>
        <p:spPr>
          <a:xfrm>
            <a:off x="7063407" y="5157714"/>
            <a:ext cx="4187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thermodynamic model of a four-stroke internal combustion engine that uses compression to ignite fuel, not a spark plug.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1" y="1422060"/>
            <a:ext cx="5270223" cy="37944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345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89293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928" y="1743400"/>
            <a:ext cx="2646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Four-Stroke Cycle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35928" y="2112732"/>
            <a:ext cx="10628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Most modern engines operate on a </a:t>
            </a:r>
            <a:r>
              <a:rPr lang="en-US" b="1" dirty="0"/>
              <a:t>Four-Stroke Cycle</a:t>
            </a:r>
            <a:r>
              <a:rPr lang="en-US" dirty="0"/>
              <a:t>, discovered by </a:t>
            </a:r>
            <a:r>
              <a:rPr lang="en-US" b="1" dirty="0" err="1"/>
              <a:t>Nikolaus</a:t>
            </a:r>
            <a:r>
              <a:rPr lang="en-US" b="1" dirty="0"/>
              <a:t> Otto (1876)</a:t>
            </a:r>
            <a:r>
              <a:rPr lang="en-US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928" y="257984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four strokes are:</a:t>
            </a:r>
          </a:p>
          <a:p>
            <a:pPr lvl="0"/>
            <a:r>
              <a:rPr lang="en-US" b="1" dirty="0"/>
              <a:t>1- Intake (Suction) Stroke</a:t>
            </a:r>
            <a:endParaRPr lang="en-US" dirty="0"/>
          </a:p>
          <a:p>
            <a:pPr lvl="0"/>
            <a:r>
              <a:rPr lang="en-US" b="1" dirty="0"/>
              <a:t>2- Compression Stroke</a:t>
            </a:r>
            <a:endParaRPr lang="en-US" dirty="0"/>
          </a:p>
          <a:p>
            <a:pPr lvl="0"/>
            <a:r>
              <a:rPr lang="en-US" b="1" dirty="0"/>
              <a:t>3- Power (Expansion) Stroke</a:t>
            </a:r>
            <a:endParaRPr lang="en-US" dirty="0"/>
          </a:p>
          <a:p>
            <a:pPr lvl="0"/>
            <a:r>
              <a:rPr lang="en-US" b="1" dirty="0"/>
              <a:t>4- Exhaust Stroke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413" y="2747706"/>
            <a:ext cx="5761798" cy="29427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667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89293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50" y="1631190"/>
            <a:ext cx="751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Intake (Suction) Stroke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18161" y="2467879"/>
            <a:ext cx="6096000" cy="19928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Piston moves downward.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Inlet valve opens</a:t>
            </a: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exhaust valve closes</a:t>
            </a: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Air-fuel mixture (in petrol engine) or air (in diesel engine) enters the cylinder.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Objective:</a:t>
            </a: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Fill cylinder with charge for combustion.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091" y="2087942"/>
            <a:ext cx="2381250" cy="27527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512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89293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" y="1558734"/>
            <a:ext cx="751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</a:t>
            </a:r>
            <a:r>
              <a:rPr lang="en-US" b="1" dirty="0" smtClean="0"/>
              <a:t>. </a:t>
            </a:r>
            <a:r>
              <a:rPr lang="en-US" b="1" dirty="0"/>
              <a:t>Compression Stroke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77491" y="2132760"/>
            <a:ext cx="6096000" cy="187948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Both valves closed.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Piston moves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upward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, compressing the mixture (or air).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Compression increases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pressure and temperature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 inside the cylinder.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At the end of this stroke: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Petrol Engine: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Spark plug ignites the mixture.</a:t>
            </a:r>
            <a:endParaRPr lang="en-US" sz="12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200" b="1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Diesel Engine: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Fuel is injected and ignites due to heat of compression</a:t>
            </a:r>
            <a:r>
              <a:rPr lang="en-US" sz="12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857" y="2362371"/>
            <a:ext cx="1943100" cy="2362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36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89293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79815" y="1631190"/>
            <a:ext cx="751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</a:t>
            </a:r>
            <a:r>
              <a:rPr lang="en-US" b="1" dirty="0" smtClean="0"/>
              <a:t>. </a:t>
            </a:r>
            <a:r>
              <a:rPr lang="en-US" b="1" dirty="0"/>
              <a:t>Power (Expansion) Stroke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79815" y="2213502"/>
            <a:ext cx="6190210" cy="1249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Combustion occurs, producing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high-pressure gases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The expanding gases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push the piston downward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This is the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only stroke that produces power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Crankshaft converts this movement into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rotational energy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200" kern="100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273" y="2223513"/>
            <a:ext cx="2000250" cy="2286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690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75668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" y="1603940"/>
            <a:ext cx="7519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4</a:t>
            </a:r>
            <a:r>
              <a:rPr lang="en-US" b="1" dirty="0" smtClean="0"/>
              <a:t>. </a:t>
            </a:r>
            <a:r>
              <a:rPr lang="en-US" b="1" dirty="0"/>
              <a:t>Exhaust Stroke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26474" y="2314549"/>
            <a:ext cx="6096000" cy="9346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Exhaust valve opens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inlet valve closes.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Piston moves </a:t>
            </a:r>
            <a:r>
              <a:rPr lang="en-US" sz="12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upward</a:t>
            </a: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, pushing out the burnt gases.</a:t>
            </a:r>
            <a:endParaRPr lang="en-US" sz="1200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Cylinder becomes ready for the next cycle.</a:t>
            </a:r>
            <a:endParaRPr lang="en-US" sz="1200" kern="100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9123" y="2109127"/>
            <a:ext cx="2167370" cy="2819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391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75668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50" y="1729775"/>
            <a:ext cx="5354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Two-Stroke Engine Principle (Optional Slide)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16019" y="2428125"/>
            <a:ext cx="6096000" cy="16065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In a two-stroke engine, all four operations occur in two piston strokes (one revolution of crankshaft).</a:t>
            </a:r>
            <a:endParaRPr lang="en-US" sz="1400" b="1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Advantages: Simple design, lightweight, more power for size.</a:t>
            </a:r>
            <a:endParaRPr lang="en-US" sz="1400" b="1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0" dirty="0"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Used in: Motorbikes, scooters, chainsaws.</a:t>
            </a:r>
            <a:endParaRPr lang="en-US" sz="1400" b="1" kern="1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US" sz="1400" b="1" kern="0" dirty="0">
                <a:latin typeface="+mj-lt"/>
                <a:ea typeface="Times New Roman" panose="02020603050405020304" pitchFamily="18" charset="0"/>
              </a:rPr>
              <a:t>Disadvantages: Less fuel efficient, more pollution</a:t>
            </a:r>
            <a:endParaRPr lang="en-US" sz="2000" b="1" dirty="0">
              <a:latin typeface="+mj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10" y="2968690"/>
            <a:ext cx="4164678" cy="28765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131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75668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87135" y="1603940"/>
            <a:ext cx="50663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Two-Stroke Engine Principle (Optional Slide)</a:t>
            </a:r>
            <a:endParaRPr lang="en-US" dirty="0"/>
          </a:p>
        </p:txBody>
      </p:sp>
      <p:pic>
        <p:nvPicPr>
          <p:cNvPr id="11" name="MdEZjSQDT0s"/>
          <p:cNvPicPr>
            <a:picLocks noRot="1" noChangeAspect="1"/>
          </p:cNvPicPr>
          <p:nvPr>
            <a:videoFile r:link="rId3"/>
          </p:nvPr>
        </p:nvPicPr>
        <p:blipFill>
          <a:blip r:embed="rId5"/>
          <a:stretch>
            <a:fillRect/>
          </a:stretch>
        </p:blipFill>
        <p:spPr>
          <a:xfrm>
            <a:off x="2546466" y="2530770"/>
            <a:ext cx="5325687" cy="29399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141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1ACC-30DC-2A22-D547-376EE4630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5734F1CE-3908-CCC8-02C4-9CBA630ABD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61950" y="775668"/>
            <a:ext cx="10018643" cy="486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SzPct val="100000"/>
              <a:defRPr/>
            </a:pPr>
            <a:r>
              <a:rPr lang="en-US" sz="2400" b="1" dirty="0"/>
              <a:t>Chapter 1  Applications of Petrol and Diesel Engines</a:t>
            </a:r>
            <a:r>
              <a:rPr lang="en-US" dirty="0"/>
              <a:t/>
            </a:r>
            <a:br>
              <a:rPr lang="en-US" dirty="0"/>
            </a:br>
            <a:r>
              <a:rPr lang="en-US" sz="20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Basic Working Principle</a:t>
            </a:r>
            <a:endParaRPr lang="en-US" sz="2000" dirty="0"/>
          </a:p>
          <a:p>
            <a:pPr lvl="0">
              <a:buSzPct val="100000"/>
              <a:defRPr/>
            </a:pPr>
            <a:endParaRPr kumimoji="0" lang="en-US" altLang="zh-CN" sz="24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E9741-123A-4050-57AF-6019981608F0}"/>
              </a:ext>
            </a:extLst>
          </p:cNvPr>
          <p:cNvSpPr txBox="1"/>
          <p:nvPr/>
        </p:nvSpPr>
        <p:spPr>
          <a:xfrm>
            <a:off x="2920297" y="65059"/>
            <a:ext cx="60325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7233F-6D70-51E1-48CF-CE14AB9C7E93}"/>
              </a:ext>
            </a:extLst>
          </p:cNvPr>
          <p:cNvSpPr txBox="1"/>
          <p:nvPr/>
        </p:nvSpPr>
        <p:spPr>
          <a:xfrm>
            <a:off x="361950" y="6096433"/>
            <a:ext cx="3877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7" name="DKF5dKo_r_Y"/>
          <p:cNvPicPr>
            <a:picLocks noRot="1" noChangeAspect="1"/>
          </p:cNvPicPr>
          <p:nvPr>
            <a:videoFile r:link="rId3"/>
          </p:nvPr>
        </p:nvPicPr>
        <p:blipFill>
          <a:blip r:embed="rId5"/>
          <a:stretch>
            <a:fillRect/>
          </a:stretch>
        </p:blipFill>
        <p:spPr>
          <a:xfrm>
            <a:off x="3726873" y="2226119"/>
            <a:ext cx="5167745" cy="29068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1416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24A1-124F-9BE9-E0AC-D62162EE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3FCF3C34-3021-EACD-A011-855E90C076A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38284" y="1082503"/>
            <a:ext cx="10018643" cy="7025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000" b="1" dirty="0"/>
              <a:t>Chapter 1  Applications of Petrol and Diesel Engines</a:t>
            </a:r>
            <a:r>
              <a:rPr lang="en-US" sz="1600" dirty="0"/>
              <a:t/>
            </a:r>
            <a:br>
              <a:rPr lang="en-US" sz="1600" dirty="0"/>
            </a:br>
            <a:endParaRPr kumimoji="0" lang="en-US" altLang="zh-CN" sz="2000" b="1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altLang="zh-CN" sz="20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E8C24-160E-25B5-8FAC-0EE8CA727BD3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1EF87-7503-D481-4781-52305A52B506}"/>
              </a:ext>
            </a:extLst>
          </p:cNvPr>
          <p:cNvSpPr txBox="1"/>
          <p:nvPr/>
        </p:nvSpPr>
        <p:spPr>
          <a:xfrm>
            <a:off x="380095" y="60314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8E3283-D84A-5350-7374-10985A558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99072"/>
              </p:ext>
            </p:extLst>
          </p:nvPr>
        </p:nvGraphicFramePr>
        <p:xfrm>
          <a:off x="438284" y="2043603"/>
          <a:ext cx="6719916" cy="3460704"/>
        </p:xfrm>
        <a:graphic>
          <a:graphicData uri="http://schemas.openxmlformats.org/drawingml/2006/table">
            <a:tbl>
              <a:tblPr firstRow="1" firstCol="1" bandRow="1"/>
              <a:tblGrid>
                <a:gridCol w="2239972">
                  <a:extLst>
                    <a:ext uri="{9D8B030D-6E8A-4147-A177-3AD203B41FA5}">
                      <a16:colId xmlns:a16="http://schemas.microsoft.com/office/drawing/2014/main" val="2337305897"/>
                    </a:ext>
                  </a:extLst>
                </a:gridCol>
                <a:gridCol w="2239972">
                  <a:extLst>
                    <a:ext uri="{9D8B030D-6E8A-4147-A177-3AD203B41FA5}">
                      <a16:colId xmlns:a16="http://schemas.microsoft.com/office/drawing/2014/main" val="3566723683"/>
                    </a:ext>
                  </a:extLst>
                </a:gridCol>
                <a:gridCol w="2239972">
                  <a:extLst>
                    <a:ext uri="{9D8B030D-6E8A-4147-A177-3AD203B41FA5}">
                      <a16:colId xmlns:a16="http://schemas.microsoft.com/office/drawing/2014/main" val="838400505"/>
                    </a:ext>
                  </a:extLst>
                </a:gridCol>
              </a:tblGrid>
              <a:tr h="4714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Petrol Engine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Diesel Engine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200923"/>
                  </a:ext>
                </a:extLst>
              </a:tr>
              <a:tr h="563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Fuel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Petrol (Gasoline)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Diesel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6786"/>
                  </a:ext>
                </a:extLst>
              </a:tr>
              <a:tr h="73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Ignition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Spark Ignition (SI)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Compression Ignition (CI)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197352"/>
                  </a:ext>
                </a:extLst>
              </a:tr>
              <a:tr h="563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Compression Ratio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 (6:1 to 10:1)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 (14:1 to 22:1)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875273"/>
                  </a:ext>
                </a:extLst>
              </a:tr>
              <a:tr h="563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Efficiency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Lower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Higher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90182"/>
                  </a:ext>
                </a:extLst>
              </a:tr>
              <a:tr h="5637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Maintenance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Lower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Higher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020631"/>
                  </a:ext>
                </a:extLst>
              </a:tr>
            </a:tbl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81C0335A-3569-68B0-2ED0-C0C20CE04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84" y="1426312"/>
            <a:ext cx="56340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Basic Difference Between Petrol and Diesel Engines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7871E2-4D21-F965-A02E-7933A6B6D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200" y="1536296"/>
            <a:ext cx="4563620" cy="35942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92010" y="506684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compression ratio is the measure of the maximum cylinder volume (piston at bottom) compared to the minimum volume (piston at top) in an engine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614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DFD0-018A-FC6A-85FD-22195AA8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A5B3BD-0366-449E-7DDC-7FE8D225F335}"/>
              </a:ext>
            </a:extLst>
          </p:cNvPr>
          <p:cNvSpPr txBox="1"/>
          <p:nvPr/>
        </p:nvSpPr>
        <p:spPr>
          <a:xfrm>
            <a:off x="2816087" y="3551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CA6E0-67A4-5418-CF04-F428242D842E}"/>
              </a:ext>
            </a:extLst>
          </p:cNvPr>
          <p:cNvSpPr txBox="1"/>
          <p:nvPr/>
        </p:nvSpPr>
        <p:spPr>
          <a:xfrm>
            <a:off x="742582" y="624445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4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4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4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60" y="821334"/>
            <a:ext cx="6639119" cy="5364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4760" y="156087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Automobiles</a:t>
            </a:r>
            <a:r>
              <a:rPr lang="en-US" b="1" dirty="0"/>
              <a:t>:</a:t>
            </a:r>
            <a:endParaRPr lang="en-US" dirty="0"/>
          </a:p>
          <a:p>
            <a:pPr lvl="0"/>
            <a:r>
              <a:rPr lang="en-US" dirty="0"/>
              <a:t>Cars, motorbikes, scooters, and small trucks.</a:t>
            </a:r>
          </a:p>
          <a:p>
            <a:pPr lvl="0"/>
            <a:r>
              <a:rPr lang="en-US" dirty="0"/>
              <a:t>Popular for light-duty vehicles due to smooth and quiet operation.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896" y="1089581"/>
            <a:ext cx="2891423" cy="36399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4760" y="286492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Small </a:t>
            </a:r>
            <a:r>
              <a:rPr lang="en-US" b="1" dirty="0"/>
              <a:t>Machinery:</a:t>
            </a:r>
            <a:endParaRPr lang="en-US" dirty="0"/>
          </a:p>
          <a:p>
            <a:pPr lvl="0"/>
            <a:r>
              <a:rPr lang="en-US" dirty="0"/>
              <a:t>Lawn mowers, chainsaws, generators, and portable pumps.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4760" y="39267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Aviation </a:t>
            </a:r>
            <a:r>
              <a:rPr lang="en-US" b="1" dirty="0"/>
              <a:t>(Light Aircraft):</a:t>
            </a:r>
            <a:endParaRPr lang="en-US" dirty="0"/>
          </a:p>
          <a:p>
            <a:r>
              <a:rPr lang="en-US" dirty="0"/>
              <a:t>Used in small aircraft with piston engines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582" y="469418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Marine</a:t>
            </a:r>
            <a:r>
              <a:rPr lang="en-US" b="1" dirty="0"/>
              <a:t>:</a:t>
            </a:r>
            <a:endParaRPr lang="en-US" dirty="0"/>
          </a:p>
          <a:p>
            <a:pPr lvl="0"/>
            <a:r>
              <a:rPr lang="en-US" dirty="0"/>
              <a:t>Small boats and jet skis where compactness and low vibration are preferred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4760" y="1225019"/>
            <a:ext cx="3820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b="1" dirty="0"/>
              <a:t>Applications of </a:t>
            </a:r>
            <a:r>
              <a:rPr lang="en-US" b="1" dirty="0" smtClean="0"/>
              <a:t>Petrol </a:t>
            </a:r>
            <a:r>
              <a:rPr lang="en-US" b="1" dirty="0"/>
              <a:t>Engines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51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B98C-080D-FD78-D66F-8CFF0FD48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1009277-9A86-968C-A25B-25C0C3DFAB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451" y="1089581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1  Applications of Petrol and Diesel Engines</a:t>
            </a:r>
          </a:p>
          <a:p>
            <a:pPr lvl="0">
              <a:buSzPct val="100000"/>
              <a:defRPr/>
            </a:pPr>
            <a:r>
              <a:rPr lang="en-US" dirty="0"/>
              <a:t/>
            </a:r>
            <a:br>
              <a:rPr lang="en-US" dirty="0"/>
            </a:br>
            <a:r>
              <a:rPr lang="en-US" sz="2000" b="1" dirty="0"/>
              <a:t>Applications of Diesel Engines</a:t>
            </a:r>
            <a:endParaRPr lang="en-US" sz="2000" dirty="0"/>
          </a:p>
          <a:p>
            <a:r>
              <a:rPr lang="en-US" sz="2000" b="1" dirty="0"/>
              <a:t>1. Heavy-Duty Transport:</a:t>
            </a:r>
            <a:endParaRPr lang="en-US" sz="2000" dirty="0"/>
          </a:p>
          <a:p>
            <a:pPr lvl="0"/>
            <a:r>
              <a:rPr lang="en-US" sz="2000" dirty="0"/>
              <a:t>Trucks, buses, tractors, and lorries use diesel for high torque and fuel efficiency.</a:t>
            </a:r>
          </a:p>
          <a:p>
            <a:r>
              <a:rPr lang="en-US" sz="2000" b="1" dirty="0"/>
              <a:t>2. Power Generation:</a:t>
            </a:r>
            <a:endParaRPr lang="en-US" sz="2000" dirty="0"/>
          </a:p>
          <a:p>
            <a:pPr lvl="0"/>
            <a:r>
              <a:rPr lang="en-US" sz="2000" dirty="0"/>
              <a:t>Diesel generator sets (DG sets) for electricity backup and remote power supply.</a:t>
            </a:r>
          </a:p>
          <a:p>
            <a:r>
              <a:rPr lang="en-US" sz="2000" b="1" dirty="0"/>
              <a:t>3. Marine Applications:</a:t>
            </a:r>
            <a:endParaRPr lang="en-US" sz="2000" dirty="0"/>
          </a:p>
          <a:p>
            <a:pPr lvl="0"/>
            <a:r>
              <a:rPr lang="en-US" sz="2000" dirty="0"/>
              <a:t>Large ships, cargo vessels, and submarines rely on diesel engines.</a:t>
            </a:r>
          </a:p>
          <a:p>
            <a:r>
              <a:rPr lang="en-US" sz="2000" b="1" dirty="0"/>
              <a:t>4. Industrial Equipment:</a:t>
            </a:r>
            <a:endParaRPr lang="en-US" sz="2000" dirty="0"/>
          </a:p>
          <a:p>
            <a:pPr lvl="0"/>
            <a:r>
              <a:rPr lang="en-US" sz="2000" dirty="0"/>
              <a:t>Excavators, cranes, compressors, and mining equipment.</a:t>
            </a:r>
          </a:p>
          <a:p>
            <a:r>
              <a:rPr lang="en-US" sz="2000" b="1" dirty="0"/>
              <a:t>5. Locomotives:</a:t>
            </a:r>
            <a:endParaRPr lang="en-US" sz="2000" dirty="0"/>
          </a:p>
          <a:p>
            <a:pPr lvl="0"/>
            <a:r>
              <a:rPr lang="en-US" sz="2000" dirty="0"/>
              <a:t>Diesel-electric locomotives for rail transport.</a:t>
            </a:r>
          </a:p>
          <a:p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B7151-65E1-FF04-13BB-08369F42AD08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0FE59-C575-96DF-2BA9-58B74CF987EB}"/>
              </a:ext>
            </a:extLst>
          </p:cNvPr>
          <p:cNvSpPr txBox="1"/>
          <p:nvPr/>
        </p:nvSpPr>
        <p:spPr>
          <a:xfrm>
            <a:off x="848139" y="59532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874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7F677-6E99-7C4C-88D0-0F9BA3478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D2CCDC8A-3B57-70C8-F5C5-AA175314C3D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3687" y="1058703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1  Applications of Petrol and Diesel Engines</a:t>
            </a:r>
          </a:p>
          <a:p>
            <a:pPr lvl="0">
              <a:buSzPct val="100000"/>
              <a:defRPr/>
            </a:pPr>
            <a:r>
              <a:rPr lang="en-US" dirty="0"/>
              <a:t/>
            </a:r>
            <a:br>
              <a:rPr lang="en-US" dirty="0"/>
            </a:b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F1200-565F-7B03-2269-9514E9B2507C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5C858-15B5-5068-AB97-F98C01402856}"/>
              </a:ext>
            </a:extLst>
          </p:cNvPr>
          <p:cNvSpPr txBox="1"/>
          <p:nvPr/>
        </p:nvSpPr>
        <p:spPr>
          <a:xfrm>
            <a:off x="669925" y="62192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2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2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2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2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91591E-8646-FB25-0C3D-A973D4A88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588103"/>
              </p:ext>
            </p:extLst>
          </p:nvPr>
        </p:nvGraphicFramePr>
        <p:xfrm>
          <a:off x="669925" y="2283782"/>
          <a:ext cx="7268128" cy="3364240"/>
        </p:xfrm>
        <a:graphic>
          <a:graphicData uri="http://schemas.openxmlformats.org/drawingml/2006/table">
            <a:tbl>
              <a:tblPr firstRow="1" firstCol="1" bandRow="1"/>
              <a:tblGrid>
                <a:gridCol w="3634064">
                  <a:extLst>
                    <a:ext uri="{9D8B030D-6E8A-4147-A177-3AD203B41FA5}">
                      <a16:colId xmlns:a16="http://schemas.microsoft.com/office/drawing/2014/main" val="3168023430"/>
                    </a:ext>
                  </a:extLst>
                </a:gridCol>
                <a:gridCol w="3634064">
                  <a:extLst>
                    <a:ext uri="{9D8B030D-6E8A-4147-A177-3AD203B41FA5}">
                      <a16:colId xmlns:a16="http://schemas.microsoft.com/office/drawing/2014/main" val="518536415"/>
                    </a:ext>
                  </a:extLst>
                </a:gridCol>
              </a:tblGrid>
              <a:tr h="6909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Petrol Engine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Diesel Engine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84499"/>
                  </a:ext>
                </a:extLst>
              </a:tr>
              <a:tr h="6909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Smooth, quiet operation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Better fuel economy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585370"/>
                  </a:ext>
                </a:extLst>
              </a:tr>
              <a:tr h="6909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Easy starting, especially in cold weather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Higher torque and power for heavy loads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568648"/>
                  </a:ext>
                </a:extLst>
              </a:tr>
              <a:tr h="6909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Lower initial cost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Longer lifespan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90795"/>
                  </a:ext>
                </a:extLst>
              </a:tr>
              <a:tr h="571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Lightweight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More durable under high load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891319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35B48E75-44FA-308D-925F-001105CAD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1549277"/>
            <a:ext cx="3108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Comparative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Advantages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3DFEE2-C64E-398C-AF2E-590D36035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053" y="2283782"/>
            <a:ext cx="3313042" cy="35715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377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CA62-346D-8E23-3A97-7CCCBA93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D73C97C-28E5-FE82-3536-F9A5FCE991A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82732" y="757072"/>
            <a:ext cx="8839201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buSzPct val="100000"/>
              <a:defRPr/>
            </a:pPr>
            <a:r>
              <a:rPr lang="en-US" sz="2400" b="1" dirty="0"/>
              <a:t>Chapter 1  Applications of Petrol and Diesel Engines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Environmental Considerations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Petrol Engines: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Emit more </a:t>
            </a:r>
            <a:r>
              <a:rPr lang="en-US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</a:t>
            </a:r>
            <a:r>
              <a:rPr lang="en-US" sz="14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and unburned hydrocarbons.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Diesel Engines:</a:t>
            </a: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Produce more NOx and particulates but less </a:t>
            </a:r>
            <a:r>
              <a:rPr lang="en-US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</a:t>
            </a:r>
            <a:r>
              <a:rPr lang="en-US" sz="12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Both are being improved with </a:t>
            </a: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turbocharging, fuel injection, and emission control systems</a:t>
            </a:r>
            <a:r>
              <a:rPr lang="en-US" sz="24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kern="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buSzPct val="100000"/>
              <a:defRPr/>
            </a:pPr>
            <a:r>
              <a:rPr lang="en-US" altLang="zh-CN" spc="1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Particulate Matter (PM)</a:t>
            </a:r>
          </a:p>
          <a:p>
            <a:pPr lvl="0">
              <a:buSzPct val="100000"/>
              <a:defRPr/>
            </a:pPr>
            <a:r>
              <a:rPr lang="en-US" dirty="0"/>
              <a:t>Hydrocarbons + Nitrogen Oxides</a:t>
            </a:r>
          </a:p>
          <a:p>
            <a:pPr>
              <a:buSzPct val="100000"/>
              <a:defRPr/>
            </a:pPr>
            <a:r>
              <a:rPr lang="en-US" dirty="0"/>
              <a:t>Nitrogen Oxides</a:t>
            </a:r>
          </a:p>
          <a:p>
            <a:pPr lvl="0">
              <a:buSzPct val="100000"/>
              <a:defRPr/>
            </a:pPr>
            <a:r>
              <a:rPr lang="en-US" dirty="0"/>
              <a:t>Hydrocarbons</a:t>
            </a:r>
          </a:p>
          <a:p>
            <a:pPr lvl="0">
              <a:buSzPct val="100000"/>
              <a:defRPr/>
            </a:pPr>
            <a:r>
              <a:rPr lang="en-US" dirty="0"/>
              <a:t>Carbon monoxide</a:t>
            </a:r>
            <a:endParaRPr lang="en-US" altLang="zh-CN" sz="1600" spc="1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AD902-36C1-C2B0-306B-5C2752C967F8}"/>
              </a:ext>
            </a:extLst>
          </p:cNvPr>
          <p:cNvSpPr txBox="1"/>
          <p:nvPr/>
        </p:nvSpPr>
        <p:spPr>
          <a:xfrm>
            <a:off x="2862107" y="-74053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3E240-9366-4741-21C8-2B6BA81C1749}"/>
              </a:ext>
            </a:extLst>
          </p:cNvPr>
          <p:cNvSpPr txBox="1"/>
          <p:nvPr/>
        </p:nvSpPr>
        <p:spPr>
          <a:xfrm>
            <a:off x="540568" y="628171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2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sz="1200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sz="1200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1200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2050" name="Picture 2" descr="Petrol vs Diesel - which is a better choice for us?">
            <a:extLst>
              <a:ext uri="{FF2B5EF4-FFF2-40B4-BE49-F238E27FC236}">
                <a16:creationId xmlns:a16="http://schemas.microsoft.com/office/drawing/2014/main" id="{28A34E53-4C85-1EAF-D38C-E2E484D21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197" y="3850716"/>
            <a:ext cx="4185903" cy="243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823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2C52-669F-558C-62C9-41AA3790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AAFE696-35F9-5783-E800-A5E2EDE3908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58873" y="214981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b="1" dirty="0"/>
              <a:t>Chapter 1  Applications of Petrol and Diesel Engines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Future Trends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Hybrid systems (petrol-electric and diesel-electric).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Cleaner fuels and biodiesel.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Advancements in emission reduction (e.g., catalytic converters, SCR).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Shift toward electric mobility</a:t>
            </a:r>
            <a:endParaRPr kumimoji="0" lang="en-US" altLang="zh-CN" sz="2400" i="0" u="none" strike="noStrike" kern="1200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4AE74-FC0E-D8E4-41FE-72B492FF0678}"/>
              </a:ext>
            </a:extLst>
          </p:cNvPr>
          <p:cNvSpPr txBox="1"/>
          <p:nvPr/>
        </p:nvSpPr>
        <p:spPr>
          <a:xfrm>
            <a:off x="2670914" y="0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697B0-A534-09F5-EE12-B78D00D784D4}"/>
              </a:ext>
            </a:extLst>
          </p:cNvPr>
          <p:cNvSpPr txBox="1"/>
          <p:nvPr/>
        </p:nvSpPr>
        <p:spPr>
          <a:xfrm>
            <a:off x="848139" y="59532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005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2AE2-A90D-05D3-0065-AC7BECDDD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9411C559-57C5-2544-119F-106FD4FAA5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451" y="1089581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b="1" dirty="0"/>
              <a:t>Chapter 1  Applications of Petrol and Diesel Engines</a:t>
            </a:r>
          </a:p>
          <a:p>
            <a:r>
              <a:rPr lang="en-US" b="1" dirty="0"/>
              <a:t>Conclusion</a:t>
            </a:r>
            <a:endParaRPr lang="en-US" dirty="0"/>
          </a:p>
          <a:p>
            <a:pPr lvl="0"/>
            <a:r>
              <a:rPr lang="en-US" dirty="0"/>
              <a:t>Both petrol and diesel engines play vital roles in modern life.</a:t>
            </a:r>
          </a:p>
          <a:p>
            <a:pPr lvl="0"/>
            <a:r>
              <a:rPr lang="en-US" dirty="0"/>
              <a:t>Petrol engines dominate light vehicles and portable machinery.</a:t>
            </a:r>
          </a:p>
          <a:p>
            <a:pPr lvl="0"/>
            <a:r>
              <a:rPr lang="en-US" dirty="0"/>
              <a:t>Diesel engines are preferred for heavy-duty and industrial applications.</a:t>
            </a:r>
          </a:p>
          <a:p>
            <a:r>
              <a:rPr lang="en-US" dirty="0"/>
              <a:t>Continuous innovations aim to make both more efficient and eco-friendly</a:t>
            </a: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06B8C-3AA3-03B3-72F2-5666F79065E0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179E0-51A7-5936-0CB2-F78542563DFF}"/>
              </a:ext>
            </a:extLst>
          </p:cNvPr>
          <p:cNvSpPr txBox="1"/>
          <p:nvPr/>
        </p:nvSpPr>
        <p:spPr>
          <a:xfrm>
            <a:off x="848139" y="59532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185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1FEF-1F46-260F-DE89-DF3B006F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82893E04-CA3F-F94C-E4DC-84E87D39044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451" y="1089581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b="1" dirty="0"/>
              <a:t>Chapter 1  Applications of Petrol and Diesel Engines</a:t>
            </a:r>
          </a:p>
          <a:p>
            <a:r>
              <a:rPr lang="en-US" b="1" dirty="0"/>
              <a:t>References</a:t>
            </a:r>
            <a:endParaRPr lang="en-US" dirty="0"/>
          </a:p>
          <a:p>
            <a:pPr lvl="0"/>
            <a:r>
              <a:rPr lang="en-US" dirty="0"/>
              <a:t>Textbooks on IC Engines (e.g., V. Ganesan, M.L. Mathur &amp; R.P. Sharma)</a:t>
            </a:r>
          </a:p>
          <a:p>
            <a:pPr lvl="0"/>
            <a:r>
              <a:rPr lang="en-US" dirty="0"/>
              <a:t>Manufacturer websites (Cummins, Caterpillar, Honda, Toyota)</a:t>
            </a:r>
          </a:p>
          <a:p>
            <a:pPr lvl="0"/>
            <a:r>
              <a:rPr lang="en-US" dirty="0"/>
              <a:t>Government and automotive energy reports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A8ABE-874A-4ACB-E236-1D6A8B6F7C6E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65287-30B9-9E36-C489-89D62AA1C16A}"/>
              </a:ext>
            </a:extLst>
          </p:cNvPr>
          <p:cNvSpPr txBox="1"/>
          <p:nvPr/>
        </p:nvSpPr>
        <p:spPr>
          <a:xfrm>
            <a:off x="848139" y="59532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181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3CC4-02B2-6DC1-CB24-BA328DB3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B4AB961F-FB81-3396-674A-45AB064F89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32451" y="1089581"/>
            <a:ext cx="10018643" cy="31771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US" sz="2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800" b="1" dirty="0"/>
              <a:t>Chapter 1  Applications of Petrol and Diesel Engines</a:t>
            </a:r>
          </a:p>
          <a:p>
            <a:r>
              <a:rPr lang="en-US" b="1" dirty="0"/>
              <a:t>References</a:t>
            </a:r>
            <a:endParaRPr lang="en-US" dirty="0"/>
          </a:p>
          <a:p>
            <a:pPr lvl="0"/>
            <a:r>
              <a:rPr lang="en-US" dirty="0"/>
              <a:t>Textbooks on IC Engines (e.g., V. Ganesan, M.L. Mathur &amp; R.P. Sharma)</a:t>
            </a:r>
          </a:p>
          <a:p>
            <a:pPr lvl="0"/>
            <a:r>
              <a:rPr lang="en-US" dirty="0"/>
              <a:t>Manufacturer websites (Cummins, Caterpillar, Honda, Toyota)</a:t>
            </a:r>
          </a:p>
          <a:p>
            <a:pPr lvl="0"/>
            <a:r>
              <a:rPr lang="en-US" dirty="0"/>
              <a:t>Government and automotive energy reports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D90C7-08FA-A0C4-71B5-C2ADEE04A58D}"/>
              </a:ext>
            </a:extLst>
          </p:cNvPr>
          <p:cNvSpPr txBox="1"/>
          <p:nvPr/>
        </p:nvSpPr>
        <p:spPr>
          <a:xfrm>
            <a:off x="2961860" y="258456"/>
            <a:ext cx="6559826" cy="831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Engineering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575D3-C9AC-9C8B-3D9C-B8CC728F45C1}"/>
              </a:ext>
            </a:extLst>
          </p:cNvPr>
          <p:cNvSpPr txBox="1"/>
          <p:nvPr/>
        </p:nvSpPr>
        <p:spPr>
          <a:xfrm>
            <a:off x="848139" y="59532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502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192696" y="1527335"/>
            <a:ext cx="10018643" cy="40868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US" altLang="zh-CN" sz="2400" b="1" i="0" u="none" strike="noStrike" kern="1200" cap="all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D334A-8353-F612-C4E0-A0790F8E500E}"/>
              </a:ext>
            </a:extLst>
          </p:cNvPr>
          <p:cNvSpPr txBox="1"/>
          <p:nvPr/>
        </p:nvSpPr>
        <p:spPr>
          <a:xfrm>
            <a:off x="3677478" y="3309126"/>
            <a:ext cx="4412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587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4MGY0NjJhMzczNGQ0NjZmYzYxODFkYTNkOWQ4N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23075"/>
  <p:tag name="KSO_WM_CHIP_COLORIN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4*i*1"/>
  <p:tag name="KSO_WM_BEAUTIFY_FLAG" val="#wm#"/>
  <p:tag name="KSO_WM_TAG_VERSION" val="1.0"/>
  <p:tag name="KSO_WM_CHIP_GROUPID" val="62cb92ed67e1b3ac3a0df933"/>
  <p:tag name="KSO_WM_CHIP_XID" val="62cb92f267e1b3ac3a0dfd51"/>
  <p:tag name="KSO_WM_UNIT_DEC_AREA_ID" val="a11a73839daf4afd8c8eecb70bd8d2c5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4db68e000024515aa2d711777418aa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6*i*1"/>
  <p:tag name="KSO_WM_BEAUTIFY_FLAG" val="#wm#"/>
  <p:tag name="KSO_WM_TAG_VERSION" val="1.0"/>
  <p:tag name="KSO_WM_CHIP_GROUPID" val="62cb92ed67e1b3ac3a0df933"/>
  <p:tag name="KSO_WM_CHIP_XID" val="62cb92f267e1b3ac3a0dfc96"/>
  <p:tag name="KSO_WM_UNIT_DEC_AREA_ID" val="9fcaac9ea3384a638db80c6bdc5589bd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c0d64f86cd3483cab8a5ed4c0ff90c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8*i*1"/>
  <p:tag name="KSO_WM_BEAUTIFY_FLAG" val="#wm#"/>
  <p:tag name="KSO_WM_TAG_VERSION" val="1.0"/>
  <p:tag name="KSO_WM_CHIP_GROUPID" val="62cb92ed67e1b3ac3a0df933"/>
  <p:tag name="KSO_WM_CHIP_XID" val="62cb92f267e1b3ac3a0dfcb7"/>
  <p:tag name="KSO_WM_UNIT_DEC_AREA_ID" val="0b6e32bb8e9b4cd59a73ec1ab58588a3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252d6d1848c46529fc1ac4283ac4f7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15*i*1"/>
  <p:tag name="KSO_WM_BEAUTIFY_FLAG" val="#wm#"/>
  <p:tag name="KSO_WM_TAG_VERSION" val="1.0"/>
  <p:tag name="KSO_WM_CHIP_GROUPID" val="62cb92ed67e1b3ac3a0df933"/>
  <p:tag name="KSO_WM_CHIP_XID" val="62cb92f267e1b3ac3a0dfd31"/>
  <p:tag name="KSO_WM_UNIT_DEC_AREA_ID" val="cedfc75459a64b91839f7c4e93fc4ab0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307ef49eb7844ab8170517694ba29c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7*i*1"/>
  <p:tag name="KSO_WM_BEAUTIFY_FLAG" val="#wm#"/>
  <p:tag name="KSO_WM_TAG_VERSION" val="1.0"/>
  <p:tag name="KSO_WM_CHIP_GROUPID" val="62cb92ed67e1b3ac3a0df933"/>
  <p:tag name="KSO_WM_CHIP_XID" val="62cb92f267e1b3ac3a0dfcb1"/>
  <p:tag name="KSO_WM_UNIT_DEC_AREA_ID" val="d0ce6c47bdc440d196dfdadc5c19a3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b4fe2c4d5bb440eb7542455658eee6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*i*1"/>
  <p:tag name="KSO_WM_BEAUTIFY_FLAG" val="#wm#"/>
  <p:tag name="KSO_WM_TAG_VERSION" val="1.0"/>
  <p:tag name="KSO_WM_CHIP_GROUPID" val="62cb92ed67e1b3ac3a0df933"/>
  <p:tag name="KSO_WM_CHIP_XID" val="62cb92f267e1b3ac3a0dfbd8"/>
  <p:tag name="KSO_WM_UNIT_DEC_AREA_ID" val="353a2ba7688d4d109d88d8fbf076f1b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821e70711df4ae0a04b6ba18360b86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4*i*1"/>
  <p:tag name="KSO_WM_BEAUTIFY_FLAG" val="#wm#"/>
  <p:tag name="KSO_WM_TAG_VERSION" val="1.0"/>
  <p:tag name="KSO_WM_CHIP_GROUPID" val="62cb92ed67e1b3ac3a0df933"/>
  <p:tag name="KSO_WM_CHIP_XID" val="62cb92f267e1b3ac3a0dfbcb"/>
  <p:tag name="KSO_WM_UNIT_DEC_AREA_ID" val="4ab4fedb6c6640b484a0fdb113c32716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b2380889160463abab291528e337d2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3*i*1"/>
  <p:tag name="KSO_WM_BEAUTIFY_FLAG" val="#wm#"/>
  <p:tag name="KSO_WM_TAG_VERSION" val="1.0"/>
  <p:tag name="KSO_WM_CHIP_GROUPID" val="62cb92ed67e1b3ac3a0df933"/>
  <p:tag name="KSO_WM_CHIP_XID" val="62cb92f267e1b3ac3a0dfbc7"/>
  <p:tag name="KSO_WM_UNIT_DEC_AREA_ID" val="f51db6bba423479a96c7def23f363aa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eb048d58f74aaaaaf7557c2b39a70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e5577524724345448ce6d9c2ce3939e0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1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14;14;2"/>
  <p:tag name="KSO_WM_UNIT_BLOCK" val="0"/>
  <p:tag name="KSO_WM_UNIT_DEC_AREA_ID" val="35127bff71ec4a98b1f1a512400e582e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6*i*1"/>
  <p:tag name="KSO_WM_BEAUTIFY_FLAG" val="#wm#"/>
  <p:tag name="KSO_WM_TAG_VERSION" val="1.0"/>
  <p:tag name="KSO_WM_CHIP_GROUPID" val="62cb92ed67e1b3ac3a0df933"/>
  <p:tag name="KSO_WM_CHIP_XID" val="62cb92f267e1b3ac3a0df99b"/>
  <p:tag name="KSO_WM_UNIT_DEC_AREA_ID" val="7ae053233a014cf5b087ba4b069db75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d0fe025b92a4121b116f65108e5c0b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7*i*1"/>
  <p:tag name="KSO_WM_BEAUTIFY_FLAG" val="#wm#"/>
  <p:tag name="KSO_WM_TAG_VERSION" val="1.0"/>
  <p:tag name="KSO_WM_CHIP_GROUPID" val="62cb92ed67e1b3ac3a0df933"/>
  <p:tag name="KSO_WM_CHIP_XID" val="62cb92f267e1b3ac3a0df93d"/>
  <p:tag name="KSO_WM_UNIT_DEC_AREA_ID" val="7aac52c509324246a2139159652c9dc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6a1af26a8d74008b1380f22ba29d46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8*i*1"/>
  <p:tag name="KSO_WM_BEAUTIFY_FLAG" val="#wm#"/>
  <p:tag name="KSO_WM_TAG_VERSION" val="1.0"/>
  <p:tag name="KSO_WM_CHIP_GROUPID" val="62cb92ed67e1b3ac3a0df933"/>
  <p:tag name="KSO_WM_CHIP_XID" val="62cb92f267e1b3ac3a0df990"/>
  <p:tag name="KSO_WM_UNIT_DEC_AREA_ID" val="b20fbc8bd01f4b7ebdd46d90e2647b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68a292b1c74438a8be59c5e124aa1e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0*i*1"/>
  <p:tag name="KSO_WM_BEAUTIFY_FLAG" val="#wm#"/>
  <p:tag name="KSO_WM_TAG_VERSION" val="1.0"/>
  <p:tag name="KSO_WM_CHIP_GROUPID" val="62cb92ed67e1b3ac3a0df933"/>
  <p:tag name="KSO_WM_CHIP_XID" val="62cb92f267e1b3ac3a0dfaaf"/>
  <p:tag name="KSO_WM_UNIT_DEC_AREA_ID" val="511aa335ee7d4245a08946cb05b9faa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6cad2575e594576b80f3f7814fb08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2*i*1"/>
  <p:tag name="KSO_WM_BEAUTIFY_FLAG" val="#wm#"/>
  <p:tag name="KSO_WM_TAG_VERSION" val="1.0"/>
  <p:tag name="KSO_WM_CHIP_GROUPID" val="62cb92ed67e1b3ac3a0df933"/>
  <p:tag name="KSO_WM_CHIP_XID" val="62cb92f267e1b3ac3a0dfa9c"/>
  <p:tag name="KSO_WM_UNIT_DEC_AREA_ID" val="cd0b699e343a426dbd8923da658f7258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079dca97b54b6f8f260c458203cdd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1*i*1"/>
  <p:tag name="KSO_WM_BEAUTIFY_FLAG" val="#wm#"/>
  <p:tag name="KSO_WM_TAG_VERSION" val="1.0"/>
  <p:tag name="KSO_WM_CHIP_GROUPID" val="62cb92ed67e1b3ac3a0df933"/>
  <p:tag name="KSO_WM_CHIP_XID" val="62cb92f267e1b3ac3a0dfa7d"/>
  <p:tag name="KSO_WM_UNIT_DEC_AREA_ID" val="61fe8ffa078a456db36c7c5a609a0b36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844cc6be254379824c635ec2fa732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4;2"/>
  <p:tag name="KSO_WM_UNIT_BLOCK" val="0"/>
  <p:tag name="KSO_WM_UNIT_DEC_AREA_ID" val="024cb455de114c8590873753d08ef7c9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6;18;2"/>
  <p:tag name="KSO_WM_UNIT_BLOCK" val="0"/>
  <p:tag name="KSO_WM_UNIT_DEC_AREA_ID" val="59dd0d01bf8d46bc94fd640b0712b633"/>
  <p:tag name="KSO_WM_UNIT_SUBTYPE" val="a"/>
  <p:tag name="KSO_WM_UNIT_PRESET_TEXT" val="点击此处添加正文，文字是您思想的提炼，为了演示发布的良好效果，请言简意赅地阐述您的观点。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0;22;2"/>
  <p:tag name="KSO_WM_UNIT_BLOCK" val="0"/>
  <p:tag name="KSO_WM_UNIT_DEC_AREA_ID" val="c54f68c39bda4efea42a2b1659b9e2ea"/>
  <p:tag name="KSO_WM_UNIT_ISCONTENTSTITLE" val="0"/>
  <p:tag name="KSO_WM_UNIT_ISNUMDGMTITLE" val="0"/>
  <p:tag name="KSO_WM_UNIT_PRESET_TEXT" val="单击此处添加副标题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075_1*b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  <p:tag name="KSO_WM_SLIDE_BACKGROUND_TYPE" val="genera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  <p:tag name="KSO_WM_SLIDE_BACKGROUND_TYPE" val="genera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  <p:tag name="KSO_WM_SLIDE_BACKGROUND_TYPE" val="genera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5ce45d99c9346cabff41e6ef0eb7af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537d4269ae34ae59ff37b0111906262"/>
  <p:tag name="KSO_WM_SLIDE_BACKGROUND_TYPE" val="fram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9f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42cf1ad8d3b4eb0bc92d6509446e45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066acbe25924c35ba7e4d0e178721a0"/>
  <p:tag name="KSO_WM_SLIDE_BACKGROUND_TYPE" val="fram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2039976cc11543efbf63e0c103feb90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b60c42fd64e447c9b8f4cd9ce8e4ce2"/>
  <p:tag name="KSO_WM_SLIDE_BACKGROUND_TYPE" val="leftR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2ad48e2b17a4f77b87a10486738724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3575a3699ba4e9590b75c31e722b4ff"/>
  <p:tag name="KSO_WM_SLIDE_BACKGROUND_TYPE" val="topBot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e58b3c5437b14b488da16b18285e6cb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9d04b894b834011bbf293d67fba658e"/>
  <p:tag name="KSO_WM_SLIDE_BACKGROUND_TYPE" val="topBot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f00e2266f384317bf6fac64cc483b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2e98fb069d54a89a4b8b1732f73ed81"/>
  <p:tag name="KSO_WM_SLIDE_BACKGROUND_TYPE" val="bottomTop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bb42711b180428ea5bd2cfefbce329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6697363c1ad4851b9c268ca0b1630f5"/>
  <p:tag name="KSO_WM_SLIDE_BACKGROUND_TYPE" val="navigati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2b1a7f510dda4678a34427de5d8de730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bf646edba524302864a0e38be5e443b"/>
  <p:tag name="KSO_WM_SLIDE_BACKGROUND_TYPE" val="navigation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a69f6163a09d4335b371cbcbaaa3e57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cb46b93d9964b6e9394b5aded1e27e0"/>
  <p:tag name="KSO_WM_SLIDE_BACKGROUND_TYPE" val="bel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a4ccf5ccfb9b44a896f37319a9a629a5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30d658cf74450e8cb5f979b7fa71d8"/>
  <p:tag name="KSO_WM_SLIDE_BACKGROUND_TYPE" val="bel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D88D7B"/>
      </a:dk2>
      <a:lt2>
        <a:srgbClr val="FFFFFF"/>
      </a:lt2>
      <a:accent1>
        <a:srgbClr val="FE7959"/>
      </a:accent1>
      <a:accent2>
        <a:srgbClr val="FE935E"/>
      </a:accent2>
      <a:accent3>
        <a:srgbClr val="FFAD63"/>
      </a:accent3>
      <a:accent4>
        <a:srgbClr val="FFA965"/>
      </a:accent4>
      <a:accent5>
        <a:srgbClr val="FF8864"/>
      </a:accent5>
      <a:accent6>
        <a:srgbClr val="FF676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2000</TotalTime>
  <Words>977</Words>
  <Application>Microsoft Office PowerPoint</Application>
  <PresentationFormat>Widescreen</PresentationFormat>
  <Paragraphs>212</Paragraphs>
  <Slides>22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Microsoft YaHei</vt:lpstr>
      <vt:lpstr>SimSun</vt:lpstr>
      <vt:lpstr>Arial</vt:lpstr>
      <vt:lpstr>Calibri</vt:lpstr>
      <vt:lpstr>Courier New</vt:lpstr>
      <vt:lpstr>Google Sans</vt:lpstr>
      <vt:lpstr>Symbol</vt:lpstr>
      <vt:lpstr>Times New Roman</vt:lpstr>
      <vt:lpstr>Wingdings</vt:lpstr>
      <vt:lpstr>汉仪文黑-55简</vt:lpstr>
      <vt:lpstr>汉仪文黑-85简</vt:lpstr>
      <vt:lpstr>2_Office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 Jiajing</dc:creator>
  <cp:lastModifiedBy>Ibrahim Siraj</cp:lastModifiedBy>
  <cp:revision>206</cp:revision>
  <dcterms:created xsi:type="dcterms:W3CDTF">2019-06-19T02:08:00Z</dcterms:created>
  <dcterms:modified xsi:type="dcterms:W3CDTF">2026-04-07T09:17:35Z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A05E1846C5A840C580943081378365C3_11</vt:lpwstr>
  </property>
</Properties>
</file>